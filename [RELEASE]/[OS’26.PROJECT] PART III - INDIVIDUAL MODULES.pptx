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5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ink/ink1.xml" ContentType="application/inkml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8"/>
  </p:notesMasterIdLst>
  <p:sldIdLst>
    <p:sldId id="256" r:id="rId2"/>
    <p:sldId id="257" r:id="rId3"/>
    <p:sldId id="1707" r:id="rId4"/>
    <p:sldId id="477" r:id="rId5"/>
    <p:sldId id="1731" r:id="rId6"/>
    <p:sldId id="1748" r:id="rId7"/>
    <p:sldId id="1835" r:id="rId8"/>
    <p:sldId id="933" r:id="rId9"/>
    <p:sldId id="1750" r:id="rId10"/>
    <p:sldId id="1803" r:id="rId11"/>
    <p:sldId id="969" r:id="rId12"/>
    <p:sldId id="420" r:id="rId13"/>
    <p:sldId id="421" r:id="rId14"/>
    <p:sldId id="422" r:id="rId15"/>
    <p:sldId id="423" r:id="rId16"/>
    <p:sldId id="425" r:id="rId17"/>
    <p:sldId id="424" r:id="rId18"/>
    <p:sldId id="426" r:id="rId19"/>
    <p:sldId id="1241" r:id="rId20"/>
    <p:sldId id="1757" r:id="rId21"/>
    <p:sldId id="1804" r:id="rId22"/>
    <p:sldId id="1806" r:id="rId23"/>
    <p:sldId id="1807" r:id="rId24"/>
    <p:sldId id="1805" r:id="rId25"/>
    <p:sldId id="1779" r:id="rId26"/>
    <p:sldId id="1808" r:id="rId27"/>
    <p:sldId id="1744" r:id="rId28"/>
    <p:sldId id="1836" r:id="rId29"/>
    <p:sldId id="469" r:id="rId30"/>
    <p:sldId id="900" r:id="rId31"/>
    <p:sldId id="902" r:id="rId32"/>
    <p:sldId id="903" r:id="rId33"/>
    <p:sldId id="904" r:id="rId34"/>
    <p:sldId id="870" r:id="rId35"/>
    <p:sldId id="871" r:id="rId36"/>
    <p:sldId id="876" r:id="rId37"/>
    <p:sldId id="1745" r:id="rId38"/>
    <p:sldId id="897" r:id="rId39"/>
    <p:sldId id="867" r:id="rId40"/>
    <p:sldId id="1801" r:id="rId41"/>
    <p:sldId id="1755" r:id="rId42"/>
    <p:sldId id="1809" r:id="rId43"/>
    <p:sldId id="1810" r:id="rId44"/>
    <p:sldId id="921" r:id="rId45"/>
    <p:sldId id="926" r:id="rId46"/>
    <p:sldId id="922" r:id="rId47"/>
    <p:sldId id="928" r:id="rId48"/>
    <p:sldId id="1787" r:id="rId49"/>
    <p:sldId id="1811" r:id="rId50"/>
    <p:sldId id="1789" r:id="rId51"/>
    <p:sldId id="1729" r:id="rId52"/>
    <p:sldId id="1813" r:id="rId53"/>
    <p:sldId id="1747" r:id="rId54"/>
    <p:sldId id="1790" r:id="rId55"/>
    <p:sldId id="1812" r:id="rId56"/>
    <p:sldId id="1722" r:id="rId57"/>
    <p:sldId id="1148" r:id="rId58"/>
    <p:sldId id="1791" r:id="rId59"/>
    <p:sldId id="932" r:id="rId60"/>
    <p:sldId id="1727" r:id="rId61"/>
    <p:sldId id="967" r:id="rId62"/>
    <p:sldId id="968" r:id="rId63"/>
    <p:sldId id="1254" r:id="rId64"/>
    <p:sldId id="1793" r:id="rId65"/>
    <p:sldId id="1814" r:id="rId66"/>
    <p:sldId id="1795" r:id="rId67"/>
    <p:sldId id="1838" r:id="rId68"/>
    <p:sldId id="1816" r:id="rId69"/>
    <p:sldId id="1817" r:id="rId70"/>
    <p:sldId id="1818" r:id="rId71"/>
    <p:sldId id="1820" r:id="rId72"/>
    <p:sldId id="1819" r:id="rId73"/>
    <p:sldId id="1821" r:id="rId74"/>
    <p:sldId id="1822" r:id="rId75"/>
    <p:sldId id="506" r:id="rId76"/>
    <p:sldId id="1824" r:id="rId77"/>
    <p:sldId id="1826" r:id="rId78"/>
    <p:sldId id="1828" r:id="rId79"/>
    <p:sldId id="1827" r:id="rId80"/>
    <p:sldId id="1851" r:id="rId81"/>
    <p:sldId id="1831" r:id="rId82"/>
    <p:sldId id="1832" r:id="rId83"/>
    <p:sldId id="1829" r:id="rId84"/>
    <p:sldId id="1830" r:id="rId85"/>
    <p:sldId id="1833" r:id="rId86"/>
    <p:sldId id="1834" r:id="rId87"/>
    <p:sldId id="1823" r:id="rId88"/>
    <p:sldId id="1815" r:id="rId89"/>
    <p:sldId id="1853" r:id="rId90"/>
    <p:sldId id="1840" r:id="rId91"/>
    <p:sldId id="1849" r:id="rId92"/>
    <p:sldId id="1841" r:id="rId93"/>
    <p:sldId id="1850" r:id="rId94"/>
    <p:sldId id="1852" r:id="rId95"/>
    <p:sldId id="1842" r:id="rId96"/>
    <p:sldId id="1843" r:id="rId97"/>
    <p:sldId id="1844" r:id="rId98"/>
    <p:sldId id="1845" r:id="rId99"/>
    <p:sldId id="1846" r:id="rId100"/>
    <p:sldId id="1847" r:id="rId101"/>
    <p:sldId id="1848" r:id="rId102"/>
    <p:sldId id="1781" r:id="rId103"/>
    <p:sldId id="1854" r:id="rId104"/>
    <p:sldId id="1782" r:id="rId105"/>
    <p:sldId id="1837" r:id="rId106"/>
    <p:sldId id="516" r:id="rId107"/>
    <p:sldId id="505" r:id="rId108"/>
    <p:sldId id="344" r:id="rId109"/>
    <p:sldId id="345" r:id="rId110"/>
    <p:sldId id="346" r:id="rId111"/>
    <p:sldId id="1783" r:id="rId112"/>
    <p:sldId id="347" r:id="rId113"/>
    <p:sldId id="348" r:id="rId114"/>
    <p:sldId id="350" r:id="rId115"/>
    <p:sldId id="1726" r:id="rId116"/>
    <p:sldId id="1855" r:id="rId117"/>
    <p:sldId id="1857" r:id="rId118"/>
    <p:sldId id="1724" r:id="rId119"/>
    <p:sldId id="1858" r:id="rId120"/>
    <p:sldId id="357" r:id="rId121"/>
    <p:sldId id="1859" r:id="rId122"/>
    <p:sldId id="1728" r:id="rId123"/>
    <p:sldId id="1730" r:id="rId124"/>
    <p:sldId id="1780" r:id="rId125"/>
    <p:sldId id="1732" r:id="rId126"/>
    <p:sldId id="1742" r:id="rId1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61657DA-D723-4124-B22B-C8A3DC9AAA70}">
          <p14:sldIdLst>
            <p14:sldId id="256"/>
            <p14:sldId id="257"/>
            <p14:sldId id="1707"/>
          </p14:sldIdLst>
        </p14:section>
        <p14:section name="M#1: Fault Handler II (Repl)" id="{983D029D-6640-43EA-B004-F4FA6FE3ABF1}">
          <p14:sldIdLst>
            <p14:sldId id="477"/>
            <p14:sldId id="1731"/>
            <p14:sldId id="1748"/>
            <p14:sldId id="1835"/>
            <p14:sldId id="933"/>
            <p14:sldId id="1750"/>
            <p14:sldId id="1803"/>
            <p14:sldId id="969"/>
            <p14:sldId id="420"/>
            <p14:sldId id="421"/>
            <p14:sldId id="422"/>
            <p14:sldId id="423"/>
            <p14:sldId id="425"/>
            <p14:sldId id="424"/>
            <p14:sldId id="426"/>
            <p14:sldId id="1241"/>
            <p14:sldId id="1757"/>
            <p14:sldId id="1804"/>
            <p14:sldId id="1806"/>
            <p14:sldId id="1807"/>
            <p14:sldId id="1805"/>
          </p14:sldIdLst>
        </p14:section>
        <p14:section name="User Heap" id="{C0DB9563-CEDC-4B1A-9DBA-21C6F340D583}">
          <p14:sldIdLst>
            <p14:sldId id="1779"/>
            <p14:sldId id="1808"/>
            <p14:sldId id="1744"/>
            <p14:sldId id="1836"/>
            <p14:sldId id="469"/>
            <p14:sldId id="900"/>
            <p14:sldId id="902"/>
            <p14:sldId id="903"/>
            <p14:sldId id="904"/>
            <p14:sldId id="870"/>
            <p14:sldId id="871"/>
            <p14:sldId id="876"/>
            <p14:sldId id="1745"/>
            <p14:sldId id="897"/>
            <p14:sldId id="867"/>
            <p14:sldId id="1801"/>
            <p14:sldId id="1755"/>
            <p14:sldId id="1809"/>
            <p14:sldId id="1810"/>
            <p14:sldId id="921"/>
            <p14:sldId id="926"/>
            <p14:sldId id="922"/>
            <p14:sldId id="928"/>
          </p14:sldIdLst>
        </p14:section>
        <p14:section name="CPU Sched" id="{DA79EF7D-FB89-4DA8-ADF8-17746D1B4CD5}">
          <p14:sldIdLst>
            <p14:sldId id="1787"/>
            <p14:sldId id="1811"/>
            <p14:sldId id="1789"/>
            <p14:sldId id="1729"/>
            <p14:sldId id="1813"/>
            <p14:sldId id="1747"/>
            <p14:sldId id="1790"/>
            <p14:sldId id="1812"/>
            <p14:sldId id="1722"/>
            <p14:sldId id="1148"/>
            <p14:sldId id="1791"/>
            <p14:sldId id="932"/>
            <p14:sldId id="1727"/>
            <p14:sldId id="967"/>
            <p14:sldId id="968"/>
            <p14:sldId id="1254"/>
          </p14:sldIdLst>
        </p14:section>
        <p14:section name="IPC" id="{21948594-3882-473E-ABB2-816CA49734BA}">
          <p14:sldIdLst>
            <p14:sldId id="1793"/>
            <p14:sldId id="1814"/>
            <p14:sldId id="1795"/>
            <p14:sldId id="1838"/>
            <p14:sldId id="1816"/>
            <p14:sldId id="1817"/>
            <p14:sldId id="1818"/>
            <p14:sldId id="1820"/>
            <p14:sldId id="1819"/>
            <p14:sldId id="1821"/>
          </p14:sldIdLst>
        </p14:section>
        <p14:section name="IPC#1" id="{A8AE2DFE-7F97-4C72-9650-211C4DA438C7}">
          <p14:sldIdLst>
            <p14:sldId id="1822"/>
            <p14:sldId id="506"/>
            <p14:sldId id="1824"/>
            <p14:sldId id="1826"/>
            <p14:sldId id="1828"/>
            <p14:sldId id="1827"/>
            <p14:sldId id="1851"/>
            <p14:sldId id="1831"/>
            <p14:sldId id="1832"/>
            <p14:sldId id="1829"/>
            <p14:sldId id="1830"/>
            <p14:sldId id="1833"/>
            <p14:sldId id="1834"/>
          </p14:sldIdLst>
        </p14:section>
        <p14:section name="IPC#2" id="{F703F13E-8F83-4590-946C-9CDDA5781C24}">
          <p14:sldIdLst>
            <p14:sldId id="1823"/>
            <p14:sldId id="1815"/>
            <p14:sldId id="1853"/>
            <p14:sldId id="1840"/>
            <p14:sldId id="1849"/>
            <p14:sldId id="1841"/>
            <p14:sldId id="1850"/>
            <p14:sldId id="1852"/>
            <p14:sldId id="1842"/>
            <p14:sldId id="1843"/>
            <p14:sldId id="1844"/>
            <p14:sldId id="1845"/>
            <p14:sldId id="1846"/>
            <p14:sldId id="1847"/>
            <p14:sldId id="1848"/>
          </p14:sldIdLst>
        </p14:section>
        <p14:section name="Shared Memory" id="{361A846B-5C7F-4CD2-AE9F-FC5B6B490F3C}">
          <p14:sldIdLst>
            <p14:sldId id="1781"/>
            <p14:sldId id="1854"/>
            <p14:sldId id="1782"/>
            <p14:sldId id="1837"/>
            <p14:sldId id="516"/>
            <p14:sldId id="505"/>
            <p14:sldId id="344"/>
            <p14:sldId id="345"/>
            <p14:sldId id="346"/>
            <p14:sldId id="1783"/>
            <p14:sldId id="347"/>
            <p14:sldId id="348"/>
            <p14:sldId id="350"/>
            <p14:sldId id="1726"/>
            <p14:sldId id="1855"/>
            <p14:sldId id="1857"/>
            <p14:sldId id="1724"/>
            <p14:sldId id="1858"/>
            <p14:sldId id="357"/>
            <p14:sldId id="1859"/>
            <p14:sldId id="1728"/>
            <p14:sldId id="1730"/>
            <p14:sldId id="1780"/>
            <p14:sldId id="1732"/>
            <p14:sldId id="174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31E923"/>
    <a:srgbClr val="0066FF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3E8146-CF74-A53F-382A-673F579303B0}" v="1" dt="2025-11-19T15:11:25.5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86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customXml" Target="../customXml/item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viewProps" Target="viewProps.xml"/><Relationship Id="rId135" Type="http://schemas.openxmlformats.org/officeDocument/2006/relationships/customXml" Target="../customXml/item2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theme" Target="theme/theme1.xml"/><Relationship Id="rId136" Type="http://schemas.openxmlformats.org/officeDocument/2006/relationships/customXml" Target="../customXml/item3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tableStyles" Target="tableStyle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microsoft.com/office/2015/10/relationships/revisionInfo" Target="revisionInfo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6-10-12T04:39:12.8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31044 4974 0,'0'18'297,"0"52"-281,0 54-1,0-54 1,0-17 0,18 0-1,-18-35 1,0-1-16,18-17 15</inkml:trace>
  <inkml:trace contextRef="#ctx0" brushRef="#br0" timeOffset="2537">30939 6103 0,'0'-35'125,"0"-1"-109,0 19-1,0-89 17,0 88-17,0-35 1,17 53 0,1-17-1,0 17 63,-1 0-62,18 0 15,-17 0-15,0 0-1,-1 0 17,1 35-1,0-35-15,-18 18-1,35-1 1,-17 1 31,-18 17-16,0-17 16,0 0-32,0-1 17,0 18-17,0 1 1,0-19 0,0 19-1,0-1 1,0 18-1,0 0 1,-18-18 0,18-17-1,-18 17 1,1 0 0,-1 1-1,18-19 1,-18-17-1,1 18 235,-19-18-218,1 0-17,0 0 1,17 0 0,1 0-1,87 0 266,18 0-265,-52 0-16,-1 0 16,0 0-16,0 0 15,-17 0 1,17 0 0,1 0 46,-1 0-31,-17 0 1,-1 0 14</inkml:trace>
  <inkml:trace contextRef="#ctx0" brushRef="#br0" timeOffset="4474.99">31009 7073 0,'35'-17'140,"18"-1"-108,-17 18 15,-19 0-47,1 0 31,35 0 0,-18 0 0,-17 0 16,-1 0-31,1 0-1,0 0 17,-1 0-17,-17 18 1,0 34 46,-17 19-30,-1-71-17,0 18 1,18-1-16,-17-17 16,-1 0-1,-17 18 1,17-18 15,1 0-15,34 18 265,36-1-265,-18 1-16,-17-18 15,0 17-15,70 36 16,-53-17-1,-35-19 17,18-17-32,-18 36 109,0-19-78,0 19 1,-18-19-1,-17 36 0,17-35-15,-17-1-1,17 1 1,1-18 0,-19 18-1,1-18 1,17 0-1,1 17 1,-1-17 15</inkml:trace>
  <inkml:trace contextRef="#ctx0" brushRef="#br0" timeOffset="5857.99">31362 8132 0,'-18'0'125,"18"35"-93,0-18-17,0 142 1,0-141-1,0 70 17,18-53-17,0 18 1,-18-35-16,17 52 16,-17-52-1,0 17 1,0 1-1,0-19 1,0 1 15</inkml:trace>
  <inkml:trace contextRef="#ctx0" brushRef="#br0" timeOffset="7564.99">31468 8467 0,'-18'0'62,"-17"0"-46,-18 0 15,18 0 0,17 0-15,-17 0 0,-1 0-1,19 0 1,-18 0-1,17 0 1,0 0 0,1 0-1,-1 0 1,0 0-16,1 0 78,-1 0-62,18-18 140,-18 0-125,18-17-15,-17 35-16,-18-88 31,17 17-15,18 1-1,-35 35 1,35-1 0,0 19-1,0-1 1</inkml:trace>
  <inkml:trace contextRef="#ctx0" brushRef="#br0" timeOffset="10753.84">31609 6967 0,'-18'36'281,"1"-36"-265,-19 17 15,-52 54 1,0-1-1,35 1 0,-35 35 0,53-71-15,17-35-16,0 53 16,1-35-1,-1-1 1,0-17-1,1 18-15,17 0 16,-18-18 0,0 17-1,18 18 1,-17-17 15,-18 0-15,35-1 46</inkml:trace>
  <inkml:trace contextRef="#ctx0" brushRef="#br0" timeOffset="24923.84">29792 7444 0,'0'-18'297,"0"0"-282,35 1 17,-17 17-17,17-36 1,1 36 0,-19 0-1,18 0 1,1-35-1,-19 35 1,1 0 0,17 0-1,-17 0 17,0 0-17,-1 0-15,1 0 16,-1 0-1,19 0 17,-19-18-17,1 1 1,0 17 0,35 0-1,-18 0 1,0 0-1,0 0 1,1 0 0,-19 0-1,1 0 1,0 0 0,-1 0-1,1 0 1,17 0 15,-17 0 0,-1 0-15,1 0 0,0 0-1,-1 0 1,19 0-1,-36-35 423,-18 17-407,0 18-15,1-18-1,-1 18 1,18-17 15,-35 17-15,17-18 0,1 18 15,-1-18 31,0 18-15,36 0 266,0 0-298,-1 0-15,18 18 47,1-18 0,-1 0 0,-17 18-31,-1-18 46,1 0 1,0 0-17,-1 0-14,1 0-17,-1 17 267,-17 1-251,-17 17-16,-1-35 1,1 18 0,-19-1 15,-17 1 31,53 0-30,-17-18-17,-1 0 48,18 17-16,0 1 250,-18 0-266</inkml:trace>
  <inkml:trace contextRef="#ctx0" brushRef="#br0" timeOffset="33513.83">30251 8520 0,'35'0'188,"0"0"-172,36 0 15,-36 0 0,18 0-15,0 0-1,-18 0 1,0 0 0,-17 0-16,0 0 15,-1 0 1,1 0-1,17 0 1,-17-18 0,0 0-1,-1 18 17,18 0-17,1 0 79</inkml:trace>
  <inkml:trace contextRef="#ctx0" brushRef="#br0" timeOffset="33825.83">30745 8361 0,'-18'0'0,"0"0"47,1-18-32,-1 18 17</inkml:trace>
  <inkml:trace contextRef="#ctx0" brushRef="#br0" timeOffset="35329.83">30674 8343 0,'18'0'188,"-1"0"-157,1 0-16,0 0 17,-18 18-17,35-1 17,-18-17-17,19 18 32,-19-18-16,19 18 1,-1-1 30,-17-17 16,-1 0-62,-17 18 234,18-18-219,-53 35 0,-18 1 1,-18-1-1,36 18 0,17-53-31,1 17 31,-1 1-15,18 0 0</inkml:trace>
  <inkml:trace contextRef="#ctx0" brushRef="#br0" timeOffset="55173.37">31432 9172 0,'0'-35'94,"-17"17"-47,-18 18-32,-18-35 17,35 35-17,-17 0 1,-1 0 0,1 0-1,0 0 1,17 0 31,1 0 203,17 35-235,0 1 17,0-1 14,0-18-30,0 1 0,0 0-1,0-1 1,0 19 15,0-1-15,0 0 15,17-35 344,1 0-359,0 0 15,17 0-15,-18 0 15,1 0-16,0-17 1,17 17 47,-17 0-32,-1 0 0,1 0-15,0 0 31,-1 0-32,-17 17 1,18-17-1,-18 18 1,17 17 0,1-35-16,-18 18 15,0-1 1,0 1 0,0 0-1,0-1 16,0 19 1,0-1-1,0-17-15,0-1-1,0 1 1,0-1 15,-35 19-15,0-36-1,-18 0 1,35 0-16,0 0 16,-17 0-1,17 0-15,1 0 16,-1 0-1,-17 0 17,17 0-17</inkml:trace>
  <inkml:trace contextRef="#ctx0" brushRef="#br0" timeOffset="58075.37">31715 9066 0,'-36'0'78,"19"18"-62,-18 17-1,17-17 1,-53 52-1,-35 1 1,71-53-16,-35 35 16,52-36-16,-70 36 15,-18 35 1,53-52 0,18 17-1,0-36 1,-1 18 15,19-35-31,-19 36 16,19-36-1,-19 35 1,19-35 15,-1 18-15</inkml:trace>
  <inkml:trace contextRef="#ctx0" brushRef="#br0" timeOffset="66669.89">32914 5115 0,'18'18'62,"-18"0"-46,0 70 15,0-53-15,0 18-1,0-18 1,0 36-1,0-18 1,0-36-16,0 36 16,0 0-1,0 0 1,0 0 0,0-35-1,0 35 1,0-18 15</inkml:trace>
  <inkml:trace contextRef="#ctx0" brushRef="#br0" timeOffset="69001.89">33143 5468 0,'0'-18'125,"-17"18"-93,-18 0-1,17 0-15,-17 0-1,17 0 16,-17 18-15,-1-18 15,19 0-15,-1 0 0,-17 0-1,17 0 1,1 0 15,-1 0 0,-17 0 1,17 18-17,0-18 16,1 0-15,-1 0 15,-17 17-15,17-17 78,1 0-63,17-17 125,0-19-140,0-17 15,0 18-15,0 18 31,0-19-32,0 1 16,0 0-15,0 17 47,0 0-32</inkml:trace>
  <inkml:trace contextRef="#ctx0" brushRef="#br0" timeOffset="70505.47">32949 6262 0,'18'35'140,"-18"0"-124,0-17-1,0 70 17,0-70-32,0-1 15,0 19 1,0-19 0,0 1-1,0 0 1,0 17-1,0 0 1,0 18 0,0 18-1,0 17 1,0-35 0,0 17-1,0-52 1,0 0 31</inkml:trace>
  <inkml:trace contextRef="#ctx0" brushRef="#br0" timeOffset="73297.47">32879 7602 0,'0'-17'203,"0"-36"-171,0 35-1,18 1 78,-1 17-31,1 0-62,17 0 0,-17 0-1,-1 0 1,1 0-1,17 0 48,-17 0-16,0 17-16,-1-17 0,-17 35-15,0-17 15,0 0-15,0-1-1,0 19 1,0-19 0,0 1-1,0 0 1,0 17 15,0-18-15,0 1 31,0 17-32,0-17 1,0 35 0,-17-18-1,-1 0 1,0-17-1,1 0 1,-1-1 0,-17 1-1,35 17 1,-36-17 0,36 0-1,-17-18 16,-18 17-15,35 1 0,-18 0-1,0-1 1,-17 1 15,17-1-15,18 1-1,-17 0 1,-1-1 0,18 1-1,35-36 204,36 18-203,52-17 15,-52-1 0,-53 0 0,-1 18 1,1 0-17,-1 0 79,1 0-31</inkml:trace>
  <inkml:trace contextRef="#ctx0" brushRef="#br0" timeOffset="77107.47">33232 8696 0,'-18'0'47,"0"-18"-31,-35 18 15,-17-17 0,70-1-31,-18 18 16,-17 0-1,0 0 1,17 0 0,-17 0-1,17 0 1,1 0-1,-19 0 17,19 0-17,-1 0-15,0 0 16,-17 0 15,17 18 32,1-18 93,17 17-140,0 36-1,17 18 1,1-18 15,0 0-15,-18-36-16,0 1 0,17 17 15,-17-17 1,0-1 0,0 1 93,18-18-93,17 0 155,1-18-155,-19 18 0,36-35-1,-53 18 17,18 17-17,-1 0 1,1 0 15,17 0-15,-35 17-1,18-17-15,0 18 16,-1-18 0,18 17-1,-35 1-15,36 0 31,-36-1-15,17 19 0,1-19-1,-18 1 1,18 0 0,-18-1 15,0 1 16,0-1-32,0 1 17,0 0-17,-18 17 16,-35-17-15,0-18 15,18 0-15,17 0 0,1 0-1,-1 0 1,0 0 15,1 0-15</inkml:trace>
  <inkml:trace contextRef="#ctx0" brushRef="#br0" timeOffset="81570.52">31821 5574 0,'17'0'47,"54"0"-16,-18 0 1,0 0-1,-36 0-16,18 0 1,-17 0 0,17 0-1,1 0 1,-19 0 0,36 0-1,0 0 1,124 0 109,-160 0-110,-52 0 251,-18 0-250,35-18-16,1 1 15,-36-1 1,53 0-16,-18 18 31,1-17 16,17-1 250,52 36-266,19 17 0,-71-17-15,53-18 0,-18 35-1,18 0 17,-35-35-17,-1 18 1,-17-1 15,18 1-15,0-18-1,-18 35 298,0 1-298,0-19-15,-18-17 16,18 18 0,-35 0-1,17-18-15,0 0 16,1 17-16,-1-17 31,-17 35-15,17-35 62,1 0-62,-1 0 124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D6DBDB-0F3D-4109-A58A-C28AD499EF3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B36D04-5011-4B5C-B00A-65685CFA9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648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FF211-DCD5-ACA7-61DC-CB1D5891F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40F96B-138F-3001-489B-A8A9F4318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21A566-1120-5A73-791C-700AC031A7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err="1"/>
              <a:t>Inshaa’ALLAH</a:t>
            </a:r>
            <a:endParaRPr lang="ar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6B901-53A5-2B0E-5047-6EBFD11F60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F95C63-9540-4739-B9F5-60777EA6CC14}" type="slidenum">
              <a:rPr kumimoji="0" lang="ar-E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ar-E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8824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NZ" dirty="0"/>
              <a:t>The first-in-first-out (FIFO) policy treats the page frames allocated to a process as a circular buffer, and pages are removed in round-robin style.</a:t>
            </a:r>
          </a:p>
          <a:p>
            <a:endParaRPr lang="en-NZ" dirty="0"/>
          </a:p>
          <a:p>
            <a:r>
              <a:rPr lang="en-NZ" dirty="0"/>
              <a:t>All that is required is a pointer that circles through the page frames of the process. </a:t>
            </a:r>
          </a:p>
          <a:p>
            <a:pPr lvl="1"/>
            <a:r>
              <a:rPr lang="en-NZ" dirty="0"/>
              <a:t>This is one of the simplest page replacement policies to implement.</a:t>
            </a:r>
          </a:p>
          <a:p>
            <a:pPr lvl="1"/>
            <a:endParaRPr lang="en-NZ" dirty="0"/>
          </a:p>
          <a:p>
            <a:pPr lvl="0"/>
            <a:r>
              <a:rPr lang="en-NZ" dirty="0"/>
              <a:t>The logic behind this choice is that one is replacing the page that has been in memory the longest:</a:t>
            </a:r>
          </a:p>
          <a:p>
            <a:pPr lvl="1">
              <a:buFont typeface="Arial" pitchFamily="34" charset="0"/>
              <a:buChar char="•"/>
            </a:pPr>
            <a:r>
              <a:rPr lang="en-NZ" dirty="0"/>
              <a:t>A page fetched into memory a long time ago may have now fallen out of use.</a:t>
            </a:r>
          </a:p>
          <a:p>
            <a:pPr lvl="1">
              <a:buFont typeface="Arial" pitchFamily="34" charset="0"/>
              <a:buChar char="•"/>
            </a:pPr>
            <a:r>
              <a:rPr lang="en-NZ" dirty="0"/>
              <a:t> This reasoning will often be wrong, because there will often be regions of program or data that are heavily used throughout the life of a program.</a:t>
            </a:r>
          </a:p>
          <a:p>
            <a:pPr lvl="1">
              <a:buFont typeface="Arial" pitchFamily="34" charset="0"/>
              <a:buChar char="•"/>
            </a:pPr>
            <a:r>
              <a:rPr lang="en-NZ" baseline="0" dirty="0"/>
              <a:t> </a:t>
            </a:r>
            <a:r>
              <a:rPr lang="en-NZ" dirty="0"/>
              <a:t>Those pages will be repeatedly paged in and out by the FIFO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F781F4-099F-4112-9B1E-8A4E4163911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12877-FE83-921A-7A35-4D49B77E5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3F2A79-A6C8-79C7-B834-1A84C9FD67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C27351-562C-DE29-0A5A-B34DABB0DF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err="1"/>
              <a:t>Inshaa’ALLAH</a:t>
            </a:r>
            <a:endParaRPr lang="ar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56BA7-75C4-D621-AA21-A4B3F176A3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F95C63-9540-4739-B9F5-60777EA6CC14}" type="slidenum">
              <a:rPr kumimoji="0" lang="ar-E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ar-E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07077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46951-FE31-F857-D489-97F7D2179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ACA188-41BA-029A-ED47-9872912EC1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2ADB4E-0F82-7BC7-E4C5-55AC94F58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err="1"/>
              <a:t>Inshaa’ALLAH</a:t>
            </a:r>
            <a:endParaRPr lang="ar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3FB40-A332-3A2E-A784-8E424E76DF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F95C63-9540-4739-B9F5-60777EA6CC14}" type="slidenum">
              <a:rPr kumimoji="0" lang="ar-E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ar-E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8550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65D20-279D-2215-D646-6F4249FB4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E4DAEC-07C5-D80C-22B6-5F25E01EFA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BFE613-F068-C683-B4AD-663C56CEB8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err="1"/>
              <a:t>Inshaa’ALLAH</a:t>
            </a:r>
            <a:endParaRPr lang="ar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FDC16-5DA2-82BD-5208-8CCF14A4B2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F95C63-9540-4739-B9F5-60777EA6CC14}" type="slidenum">
              <a:rPr kumimoji="0" lang="ar-E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ar-E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66593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0C1FF-0AC5-64D0-C971-661AE8FD0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AF490A-71F3-3F29-1CF1-BB4F3CB2A3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74E55A-EC01-0CEF-FF8F-952B411B27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err="1"/>
              <a:t>Inshaa’ALLAH</a:t>
            </a:r>
            <a:endParaRPr lang="ar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D5526B-AF12-CFD7-2063-F3599FDC6C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F95C63-9540-4739-B9F5-60777EA6CC14}" type="slidenum">
              <a:rPr kumimoji="0" lang="ar-E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103</a:t>
            </a:fld>
            <a:endParaRPr kumimoji="0" lang="ar-E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05384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275033A-9A5A-4DF7-BD42-F7C63168BAA9}" type="slidenum">
              <a:rPr lang="ar-EG" smtClean="0"/>
              <a:pPr>
                <a:defRPr/>
              </a:pPr>
              <a:t>126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369788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814C3-5790-45F3-968A-E9170C0AEB62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297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F11C-1F9A-458C-BFCD-11278D270FD7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39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3A729-173D-4100-9E93-E750DC9C7B4C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8407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E4902-8201-431E-872A-E02958C7C1ED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632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F2CA-6856-47AD-8FEF-A7F04EC7FA05}" type="datetime1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99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FF5E-8A22-4D2F-A7DB-15AEDD690145}" type="datetime1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795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08D14-7D5B-43FF-AD9A-7E175364C69D}" type="datetime1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965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E2F64E6-D37A-4076-885E-33767E7CCBCE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628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3FC57-5D34-4C65-9BD8-CF64D8739E0B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375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B8998-9E6E-4D5F-B785-6A36BB5236AB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733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025EB-7E9A-4088-BC0E-41A20DAE8FD1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889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08B8E24-D3D3-4496-AB4A-F6A693EC6685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7925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MATERIALS/OS%20PROJECT%20APPENDICES.pdf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MATERIALS/OS%20PROJECT%20APPENDICES.pdf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MATERIALS/OS%20PROJECT%20APPENDICES.pdf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MATERIALS/OS%20PROJECT%20APPENDICES.pdf" TargetMode="Externa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7" Type="http://schemas.openxmlformats.org/officeDocument/2006/relationships/image" Target="../media/image18.png"/><Relationship Id="rId2" Type="http://schemas.openxmlformats.org/officeDocument/2006/relationships/hyperlink" Target="Materials/MS3%20Appendix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hyperlink" Target="Materials/MS3%20Appendix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4.jpeg"/><Relationship Id="rId4" Type="http://schemas.openxmlformats.org/officeDocument/2006/relationships/image" Target="../media/image1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hyperlink" Target="Materials/MS3%20Appendix.pdf" TargetMode="External"/><Relationship Id="rId4" Type="http://schemas.openxmlformats.org/officeDocument/2006/relationships/image" Target="../media/image18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6.jpeg"/><Relationship Id="rId4" Type="http://schemas.openxmlformats.org/officeDocument/2006/relationships/hyperlink" Target="Materials/MS3%20Appendix.pdf" TargetMode="Externa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hyperlink" Target="Materials/MS3%20Appendix.pdf" TargetMode="Externa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Materials/MS3%20Appendix.pdf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hyperlink" Target="Materials/MS3%20Appendix.pdf" TargetMode="Externa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hyperlink" Target="Materials/MS3%20Appendix.pdf" TargetMode="Externa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9044F-A993-07CB-D1DD-01EB559068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OS’26-27 Project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4D10DF-2536-BB92-0FC3-80368303D0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455620"/>
            <a:ext cx="12192000" cy="1643428"/>
          </a:xfrm>
        </p:spPr>
        <p:txBody>
          <a:bodyPr>
            <a:normAutofit/>
          </a:bodyPr>
          <a:lstStyle/>
          <a:p>
            <a:pPr algn="ctr"/>
            <a:r>
              <a:rPr lang="en-US" sz="3900" dirty="0"/>
              <a:t>PART III: </a:t>
            </a:r>
            <a:r>
              <a:rPr lang="en-US" sz="3900" b="1" dirty="0"/>
              <a:t>INDIVIDUAL MODULES</a:t>
            </a:r>
          </a:p>
          <a:p>
            <a:pPr algn="ctr"/>
            <a:r>
              <a:rPr lang="en-US" b="1" dirty="0"/>
              <a:t>(</a:t>
            </a:r>
            <a:r>
              <a:rPr lang="en-US" dirty="0"/>
              <a:t>fault handler ii, USER HEAP, CPU SCHED, IPC, SHARED MEMORY</a:t>
            </a:r>
            <a:r>
              <a:rPr lang="en-US" b="1" dirty="0"/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F6BA8C-5654-AF8F-C60C-0CBCB05AE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194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7772D-765F-870E-3632-73E0D2B68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8471A-C9D0-5A9A-5A1E-FE77062D3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8839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>
                <a:solidFill>
                  <a:schemeClr val="bg1">
                    <a:lumMod val="65000"/>
                  </a:schemeClr>
                </a:solidFill>
              </a:rPr>
              <a:t>PART 0: ROADMAP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>
                <a:solidFill>
                  <a:schemeClr val="bg1">
                    <a:lumMod val="65000"/>
                  </a:schemeClr>
                </a:solidFill>
              </a:rPr>
              <a:t>PART I: PREREQUISITES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>
                <a:solidFill>
                  <a:schemeClr val="bg1">
                    <a:lumMod val="65000"/>
                  </a:schemeClr>
                </a:solidFill>
              </a:rPr>
              <a:t>PART II: GROUP MODULES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/>
              <a:t>PART III: INDIVIDUAL MODULES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/>
              <a:t>PART IV: OVERALL TESTING &amp; BONUSES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400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78EB8-E269-680F-9D36-3D32E91AF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006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B06E4-01C6-BB48-07BD-E3BC786AE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7A26D-23AF-3E30-49D2-D4ED592D5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B2B0A-81CC-05B1-F8D2-B887BC139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8839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/>
              <a:t>PART II: INDIVIDUAL MODULES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/>
              <a:t>Fault Handler II (Replacement)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/>
              <a:t>User Heap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/>
              <a:t>CPU Scheduling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/>
              <a:t>Inter-process Communication #1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/>
              <a:t>Inter-process Communication #2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/>
              <a:t>Shared Memory</a:t>
            </a:r>
          </a:p>
          <a:p>
            <a:pPr marL="201168" lvl="1" indent="0">
              <a:lnSpc>
                <a:spcPct val="150000"/>
              </a:lnSpc>
              <a:buNone/>
            </a:pPr>
            <a:endParaRPr lang="en-US" sz="22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EBC8B-427C-D9AC-D220-60F6A3B36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413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8C8D7F9-4BC9-DCF5-DA37-887FE454D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Fault Handler II </a:t>
            </a:r>
            <a:r>
              <a:rPr lang="en-US" sz="5400"/>
              <a:t>(Replace)</a:t>
            </a:r>
            <a:endParaRPr lang="en-A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20E736-AB6F-216C-1931-A35FD64C78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PART III: INDIVIDUAL module </a:t>
            </a:r>
            <a:r>
              <a:rPr lang="en-US" b="1">
                <a:solidFill>
                  <a:srgbClr val="FF0000"/>
                </a:solidFill>
              </a:rPr>
              <a:t>#1</a:t>
            </a:r>
            <a:endParaRPr lang="en-AE" b="1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D38FA3-02BC-C0B3-00E7-931D9D6E9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4</a:t>
            </a:fld>
            <a:endParaRPr lang="en-US"/>
          </a:p>
        </p:txBody>
      </p:sp>
      <p:pic>
        <p:nvPicPr>
          <p:cNvPr id="8" name="Picture 7" descr="A clock with a number on it&#10;&#10;AI-generated content may be incorrect.">
            <a:extLst>
              <a:ext uri="{FF2B5EF4-FFF2-40B4-BE49-F238E27FC236}">
                <a16:creationId xmlns:a16="http://schemas.microsoft.com/office/drawing/2014/main" id="{4411A9F2-352A-62A1-63F7-F9889E991C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1375" y="0"/>
            <a:ext cx="1190625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160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53AC4-84EE-D547-45A2-8E8280E86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C9ABE-ED17-24EC-A353-756427A7A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Overview</a:t>
            </a:r>
            <a:endParaRPr lang="ar-EG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C15ABAD-C7AD-B689-8450-8C245CDCBAF1}"/>
              </a:ext>
            </a:extLst>
          </p:cNvPr>
          <p:cNvSpPr/>
          <p:nvPr/>
        </p:nvSpPr>
        <p:spPr>
          <a:xfrm>
            <a:off x="235394" y="364720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Individual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Module#1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AD62810-3351-7F14-FB7D-7D6EB0B9607C}"/>
              </a:ext>
            </a:extLst>
          </p:cNvPr>
          <p:cNvSpPr/>
          <p:nvPr/>
        </p:nvSpPr>
        <p:spPr>
          <a:xfrm>
            <a:off x="2220990" y="364720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Individual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Module#2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5A829AF-639F-9D07-A936-15B5AEA4D231}"/>
              </a:ext>
            </a:extLst>
          </p:cNvPr>
          <p:cNvSpPr/>
          <p:nvPr/>
        </p:nvSpPr>
        <p:spPr>
          <a:xfrm>
            <a:off x="4206586" y="364720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Individual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Module#3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4DB985B-A991-A294-154A-30920352E1A5}"/>
              </a:ext>
            </a:extLst>
          </p:cNvPr>
          <p:cNvSpPr/>
          <p:nvPr/>
        </p:nvSpPr>
        <p:spPr>
          <a:xfrm>
            <a:off x="6192182" y="364720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Individual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Module#4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3A3AAEBE-50A2-4A28-0EA4-347FC571D166}"/>
              </a:ext>
            </a:extLst>
          </p:cNvPr>
          <p:cNvCxnSpPr>
            <a:cxnSpLocks/>
            <a:stCxn id="13" idx="2"/>
            <a:endCxn id="5" idx="0"/>
          </p:cNvCxnSpPr>
          <p:nvPr/>
        </p:nvCxnSpPr>
        <p:spPr>
          <a:xfrm rot="5400000">
            <a:off x="3215515" y="740890"/>
            <a:ext cx="859648" cy="4952990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85F2CEF0-25E6-531F-3868-FB1E40890363}"/>
              </a:ext>
            </a:extLst>
          </p:cNvPr>
          <p:cNvCxnSpPr>
            <a:cxnSpLocks/>
            <a:stCxn id="13" idx="2"/>
            <a:endCxn id="7" idx="0"/>
          </p:cNvCxnSpPr>
          <p:nvPr/>
        </p:nvCxnSpPr>
        <p:spPr>
          <a:xfrm rot="5400000">
            <a:off x="4208313" y="1733688"/>
            <a:ext cx="859648" cy="296739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9F7B5768-48FF-A1CB-2D6F-CD358831DA61}"/>
              </a:ext>
            </a:extLst>
          </p:cNvPr>
          <p:cNvCxnSpPr>
            <a:cxnSpLocks/>
            <a:stCxn id="13" idx="2"/>
            <a:endCxn id="8" idx="0"/>
          </p:cNvCxnSpPr>
          <p:nvPr/>
        </p:nvCxnSpPr>
        <p:spPr>
          <a:xfrm rot="5400000">
            <a:off x="5201111" y="2726486"/>
            <a:ext cx="859648" cy="98179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CA611924-9452-26BE-3343-E74B68891F70}"/>
              </a:ext>
            </a:extLst>
          </p:cNvPr>
          <p:cNvCxnSpPr>
            <a:cxnSpLocks/>
            <a:stCxn id="13" idx="2"/>
            <a:endCxn id="9" idx="0"/>
          </p:cNvCxnSpPr>
          <p:nvPr/>
        </p:nvCxnSpPr>
        <p:spPr>
          <a:xfrm rot="16200000" flipH="1">
            <a:off x="6193909" y="2715486"/>
            <a:ext cx="859648" cy="100379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43B2151E-A0BA-84DE-0203-C7DF50E6B38F}"/>
              </a:ext>
            </a:extLst>
          </p:cNvPr>
          <p:cNvCxnSpPr>
            <a:cxnSpLocks/>
            <a:stCxn id="5" idx="2"/>
            <a:endCxn id="23" idx="0"/>
          </p:cNvCxnSpPr>
          <p:nvPr/>
        </p:nvCxnSpPr>
        <p:spPr>
          <a:xfrm rot="16200000" flipH="1">
            <a:off x="3229415" y="2501037"/>
            <a:ext cx="831849" cy="495299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968F9C6A-61D1-5700-9C6C-06BD56549A99}"/>
              </a:ext>
            </a:extLst>
          </p:cNvPr>
          <p:cNvCxnSpPr>
            <a:cxnSpLocks/>
            <a:stCxn id="7" idx="2"/>
            <a:endCxn id="23" idx="0"/>
          </p:cNvCxnSpPr>
          <p:nvPr/>
        </p:nvCxnSpPr>
        <p:spPr>
          <a:xfrm rot="16200000" flipH="1">
            <a:off x="4222213" y="3493835"/>
            <a:ext cx="831849" cy="296739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B80226F0-08D1-DAE8-4FF3-1F533E5A6123}"/>
              </a:ext>
            </a:extLst>
          </p:cNvPr>
          <p:cNvCxnSpPr>
            <a:cxnSpLocks/>
            <a:stCxn id="8" idx="2"/>
            <a:endCxn id="23" idx="0"/>
          </p:cNvCxnSpPr>
          <p:nvPr/>
        </p:nvCxnSpPr>
        <p:spPr>
          <a:xfrm rot="16200000" flipH="1">
            <a:off x="5215011" y="4486633"/>
            <a:ext cx="831849" cy="98179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C0EFEC7C-1DE5-6AE1-0333-B7146843B6BC}"/>
              </a:ext>
            </a:extLst>
          </p:cNvPr>
          <p:cNvCxnSpPr>
            <a:cxnSpLocks/>
            <a:stCxn id="9" idx="2"/>
            <a:endCxn id="23" idx="0"/>
          </p:cNvCxnSpPr>
          <p:nvPr/>
        </p:nvCxnSpPr>
        <p:spPr>
          <a:xfrm rot="5400000">
            <a:off x="6207810" y="4475635"/>
            <a:ext cx="831849" cy="100379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3075671-8605-4BA6-3317-238F8EE1B4E1}"/>
              </a:ext>
            </a:extLst>
          </p:cNvPr>
          <p:cNvSpPr/>
          <p:nvPr/>
        </p:nvSpPr>
        <p:spPr>
          <a:xfrm>
            <a:off x="2220989" y="1873161"/>
            <a:ext cx="7801689" cy="914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[TW]</a:t>
            </a:r>
            <a:r>
              <a:rPr kumimoji="0" lang="en-US" sz="28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Prerequisite Modules </a:t>
            </a:r>
          </a:p>
          <a:p>
            <a:pPr lvl="0" algn="ctr" defTabSz="914400">
              <a:defRPr/>
            </a:pPr>
            <a:r>
              <a:rPr lang="en-US" sz="2400" b="1" dirty="0">
                <a:solidFill>
                  <a:prstClr val="black"/>
                </a:solidFill>
                <a:latin typeface="Calibri"/>
              </a:rPr>
              <a:t>Dyn. </a:t>
            </a:r>
            <a:r>
              <a:rPr lang="en-US" sz="2400" b="1" dirty="0" err="1">
                <a:solidFill>
                  <a:prstClr val="black"/>
                </a:solidFill>
                <a:latin typeface="Calibri"/>
              </a:rPr>
              <a:t>Alloc</a:t>
            </a:r>
            <a:r>
              <a:rPr lang="en-US" sz="2400" b="1" dirty="0">
                <a:solidFill>
                  <a:prstClr val="black"/>
                </a:solidFill>
                <a:latin typeface="Calibri"/>
              </a:rPr>
              <a:t>, Kern Heap, Fault Handl. 1, Blocking</a:t>
            </a:r>
            <a:endParaRPr lang="en-AE" sz="28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71F111F-D255-0D68-BD20-696AEDFF9053}"/>
              </a:ext>
            </a:extLst>
          </p:cNvPr>
          <p:cNvSpPr/>
          <p:nvPr/>
        </p:nvSpPr>
        <p:spPr>
          <a:xfrm>
            <a:off x="229044" y="3640858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[M#1]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>
                <a:solidFill>
                  <a:prstClr val="black"/>
                </a:solidFill>
                <a:latin typeface="Calibri"/>
              </a:rPr>
              <a:t>Fault Handl. 2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BB9B4E6-2E85-866F-811B-5D062C66BFE7}"/>
              </a:ext>
            </a:extLst>
          </p:cNvPr>
          <p:cNvSpPr/>
          <p:nvPr/>
        </p:nvSpPr>
        <p:spPr>
          <a:xfrm>
            <a:off x="2220990" y="364720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[M#2]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>
                <a:solidFill>
                  <a:prstClr val="black"/>
                </a:solidFill>
                <a:latin typeface="Calibri"/>
              </a:rPr>
              <a:t>User Heap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5B015F1-0B07-7967-119E-36204B801A59}"/>
              </a:ext>
            </a:extLst>
          </p:cNvPr>
          <p:cNvSpPr/>
          <p:nvPr/>
        </p:nvSpPr>
        <p:spPr>
          <a:xfrm>
            <a:off x="4212936" y="365355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[M#3]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lvl="0" algn="ctr" defTabSz="914400"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CPU Sched.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3C7191C-5CC3-4051-09B7-C6BC13077040}"/>
              </a:ext>
            </a:extLst>
          </p:cNvPr>
          <p:cNvSpPr/>
          <p:nvPr/>
        </p:nvSpPr>
        <p:spPr>
          <a:xfrm>
            <a:off x="6198532" y="3650583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[M#4]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lvl="0" algn="ctr" defTabSz="914400"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IPC #1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9AC7792B-71B0-4334-F187-767AFBE54902}"/>
              </a:ext>
            </a:extLst>
          </p:cNvPr>
          <p:cNvCxnSpPr>
            <a:cxnSpLocks/>
            <a:stCxn id="13" idx="2"/>
            <a:endCxn id="22" idx="0"/>
          </p:cNvCxnSpPr>
          <p:nvPr/>
        </p:nvCxnSpPr>
        <p:spPr>
          <a:xfrm rot="16200000" flipH="1">
            <a:off x="7178883" y="1730511"/>
            <a:ext cx="853297" cy="296739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A7BEFFCA-25FC-3143-1BE2-75293A2AC132}"/>
              </a:ext>
            </a:extLst>
          </p:cNvPr>
          <p:cNvCxnSpPr>
            <a:cxnSpLocks/>
            <a:stCxn id="22" idx="2"/>
            <a:endCxn id="23" idx="0"/>
          </p:cNvCxnSpPr>
          <p:nvPr/>
        </p:nvCxnSpPr>
        <p:spPr>
          <a:xfrm rot="5400000">
            <a:off x="7186432" y="3490661"/>
            <a:ext cx="838200" cy="296739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9D1142D-EA21-8B83-26C4-CC53FD7158AE}"/>
              </a:ext>
            </a:extLst>
          </p:cNvPr>
          <p:cNvSpPr/>
          <p:nvPr/>
        </p:nvSpPr>
        <p:spPr>
          <a:xfrm>
            <a:off x="8155779" y="3640858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[M#5]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lvl="0" algn="ctr" defTabSz="914400"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IPC #2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D4C4D98-AB2E-F8E0-13FE-C6332FEE662C}"/>
              </a:ext>
            </a:extLst>
          </p:cNvPr>
          <p:cNvSpPr/>
          <p:nvPr/>
        </p:nvSpPr>
        <p:spPr>
          <a:xfrm>
            <a:off x="3154440" y="5393458"/>
            <a:ext cx="5934789" cy="9144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[TW]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Integration &amp; Overall Testing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prstClr val="black"/>
                </a:solidFill>
                <a:latin typeface="Calibri"/>
              </a:rPr>
              <a:t>Scenarios &amp; Bonuses</a:t>
            </a:r>
            <a:endParaRPr kumimoji="0" lang="en-AE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E3C8661-894D-1FB5-F99E-E7C65C11AB8C}"/>
              </a:ext>
            </a:extLst>
          </p:cNvPr>
          <p:cNvSpPr/>
          <p:nvPr/>
        </p:nvSpPr>
        <p:spPr>
          <a:xfrm>
            <a:off x="10157026" y="364720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lvl="0" algn="ctr" defTabSz="914400">
              <a:defRPr/>
            </a:pPr>
            <a:r>
              <a:rPr lang="en-US" sz="2400" b="1" dirty="0">
                <a:solidFill>
                  <a:prstClr val="black"/>
                </a:solidFill>
                <a:latin typeface="Calibri"/>
              </a:rPr>
              <a:t>[M#6]</a:t>
            </a:r>
            <a:r>
              <a:rPr lang="en-US" sz="2800" dirty="0">
                <a:solidFill>
                  <a:prstClr val="black"/>
                </a:solidFill>
                <a:latin typeface="Calibri"/>
              </a:rPr>
              <a:t> </a:t>
            </a:r>
          </a:p>
          <a:p>
            <a:pPr lvl="0" algn="ctr" defTabSz="914400"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Shared Memory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EBD1D8E6-552C-A5D8-3CEA-CFFA941A23CF}"/>
              </a:ext>
            </a:extLst>
          </p:cNvPr>
          <p:cNvCxnSpPr>
            <a:cxnSpLocks/>
            <a:stCxn id="13" idx="2"/>
            <a:endCxn id="28" idx="0"/>
          </p:cNvCxnSpPr>
          <p:nvPr/>
        </p:nvCxnSpPr>
        <p:spPr>
          <a:xfrm rot="16200000" flipH="1">
            <a:off x="8176331" y="733064"/>
            <a:ext cx="859648" cy="496864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708FE76F-2755-1F49-5E87-F37B6A245FC6}"/>
              </a:ext>
            </a:extLst>
          </p:cNvPr>
          <p:cNvCxnSpPr>
            <a:cxnSpLocks/>
            <a:stCxn id="28" idx="2"/>
            <a:endCxn id="23" idx="0"/>
          </p:cNvCxnSpPr>
          <p:nvPr/>
        </p:nvCxnSpPr>
        <p:spPr>
          <a:xfrm rot="5400000">
            <a:off x="8190232" y="2493213"/>
            <a:ext cx="831849" cy="496864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1929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12C1C-768E-67BA-CE7E-057E322C6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Objective</a:t>
            </a:r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FD3C8C65-1369-EE38-B323-45647228EE27}"/>
              </a:ext>
            </a:extLst>
          </p:cNvPr>
          <p:cNvSpPr/>
          <p:nvPr/>
        </p:nvSpPr>
        <p:spPr>
          <a:xfrm>
            <a:off x="1066800" y="2004143"/>
            <a:ext cx="10058400" cy="2341939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200"/>
              <a:t>Handle the page fault exception by choosing a </a:t>
            </a:r>
            <a:r>
              <a:rPr lang="en-US" sz="2200" b="1"/>
              <a:t>victim page </a:t>
            </a:r>
            <a:r>
              <a:rPr lang="en-US" sz="2200"/>
              <a:t>to be </a:t>
            </a:r>
            <a:r>
              <a:rPr lang="en-US" sz="2200" b="1"/>
              <a:t>replaced</a:t>
            </a:r>
            <a:r>
              <a:rPr lang="en-US" sz="2200"/>
              <a:t> with the </a:t>
            </a:r>
            <a:r>
              <a:rPr lang="en-US" sz="2200" b="1"/>
              <a:t>faulted page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AE487D-FCB8-AE5A-2ADD-FA62E1A87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6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F2D1846-ED46-5BF9-7709-A36015BB28DD}"/>
              </a:ext>
            </a:extLst>
          </p:cNvPr>
          <p:cNvGrpSpPr/>
          <p:nvPr/>
        </p:nvGrpSpPr>
        <p:grpSpPr>
          <a:xfrm>
            <a:off x="5170068" y="4612865"/>
            <a:ext cx="1851864" cy="1702661"/>
            <a:chOff x="9242856" y="0"/>
            <a:chExt cx="1851864" cy="170266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2EF5B62-A719-ADBD-C670-CF9E5FDC18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2320" t="42750" r="51366" b="30584"/>
            <a:stretch/>
          </p:blipFill>
          <p:spPr>
            <a:xfrm>
              <a:off x="9242856" y="0"/>
              <a:ext cx="1851864" cy="170266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7CE100C-2E8A-95B0-C9B0-C0F74CC27079}"/>
                </a:ext>
              </a:extLst>
            </p:cNvPr>
            <p:cNvSpPr txBox="1"/>
            <p:nvPr/>
          </p:nvSpPr>
          <p:spPr>
            <a:xfrm>
              <a:off x="9610649" y="286603"/>
              <a:ext cx="1167627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b="1">
                  <a:solidFill>
                    <a:schemeClr val="bg1"/>
                  </a:solidFill>
                </a:rPr>
                <a:t>(N</a:t>
              </a:r>
              <a:r>
                <a:rPr lang="en-US" sz="1200" b="1" baseline="30000">
                  <a:solidFill>
                    <a:schemeClr val="bg1"/>
                  </a:solidFill>
                </a:rPr>
                <a:t>th </a:t>
              </a:r>
              <a:r>
                <a:rPr lang="en-US" sz="1200" b="1">
                  <a:solidFill>
                    <a:schemeClr val="bg1"/>
                  </a:solidFill>
                </a:rPr>
                <a:t>Chance CLK)</a:t>
              </a:r>
              <a:endParaRPr lang="en-AE" sz="1200" b="1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3206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885BD-0AC3-1681-B0D1-2727B5B57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DE7C2-4FB2-4F76-6219-101945C93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Fault Handler II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F89F4E-9A9A-C968-1227-CF40F18B8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7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DB86DAF-1543-558E-FAF9-CBFA096D7BFD}"/>
              </a:ext>
            </a:extLst>
          </p:cNvPr>
          <p:cNvSpPr/>
          <p:nvPr/>
        </p:nvSpPr>
        <p:spPr>
          <a:xfrm>
            <a:off x="893618" y="2674203"/>
            <a:ext cx="10726882" cy="145075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400" b="1" dirty="0">
                <a:solidFill>
                  <a:srgbClr val="FF0000"/>
                </a:solidFill>
              </a:rPr>
              <a:t>DEPENDENCIES: </a:t>
            </a:r>
            <a:r>
              <a:rPr lang="en-US" sz="3600" b="1" dirty="0"/>
              <a:t>Kernel Heap + Fault Handler I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84190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F8E9F-7477-40C4-8B93-7CEFF71F6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1094720" cy="1450757"/>
          </a:xfrm>
        </p:spPr>
        <p:txBody>
          <a:bodyPr/>
          <a:lstStyle/>
          <a:p>
            <a:pPr marL="514440" indent="-514080">
              <a:tabLst>
                <a:tab pos="0" algn="l"/>
              </a:tabLst>
            </a:pPr>
            <a:r>
              <a:rPr lang="en-US" sz="4800" dirty="0"/>
              <a:t>Fault Handler I</a:t>
            </a:r>
            <a:r>
              <a:rPr lang="en-US" dirty="0"/>
              <a:t>I: </a:t>
            </a:r>
            <a:r>
              <a:rPr lang="en-US" sz="4800" b="1" dirty="0"/>
              <a:t>Replacement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3B4CD-FA65-7FC5-E1E6-C7593B7AC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083" y="1956266"/>
            <a:ext cx="10058400" cy="4023360"/>
          </a:xfrm>
        </p:spPr>
        <p:txBody>
          <a:bodyPr/>
          <a:lstStyle/>
          <a:p>
            <a:r>
              <a:rPr lang="en-US" dirty="0"/>
              <a:t>The main functions required by MS3 to handle “</a:t>
            </a:r>
            <a:r>
              <a:rPr lang="en-US" sz="2000" b="1" dirty="0"/>
              <a:t>Page Fault</a:t>
            </a:r>
            <a:r>
              <a:rPr lang="en-US" dirty="0"/>
              <a:t>” are: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24B4C-0DDB-3DB5-39C9-38870873F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EB3F582C-50B4-3B50-7B6B-4D91F3DED128}"/>
              </a:ext>
            </a:extLst>
          </p:cNvPr>
          <p:cNvGraphicFramePr>
            <a:graphicFrameLocks noGrp="1"/>
          </p:cNvGraphicFramePr>
          <p:nvPr/>
        </p:nvGraphicFramePr>
        <p:xfrm>
          <a:off x="900419" y="2582192"/>
          <a:ext cx="10565727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3420">
                  <a:extLst>
                    <a:ext uri="{9D8B030D-6E8A-4147-A177-3AD203B41FA5}">
                      <a16:colId xmlns:a16="http://schemas.microsoft.com/office/drawing/2014/main" val="422314023"/>
                    </a:ext>
                  </a:extLst>
                </a:gridCol>
                <a:gridCol w="4038325">
                  <a:extLst>
                    <a:ext uri="{9D8B030D-6E8A-4147-A177-3AD203B41FA5}">
                      <a16:colId xmlns:a16="http://schemas.microsoft.com/office/drawing/2014/main" val="1877600023"/>
                    </a:ext>
                  </a:extLst>
                </a:gridCol>
                <a:gridCol w="4983982">
                  <a:extLst>
                    <a:ext uri="{9D8B030D-6E8A-4147-A177-3AD203B41FA5}">
                      <a16:colId xmlns:a16="http://schemas.microsoft.com/office/drawing/2014/main" val="2719033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424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page_fault_handler</a:t>
                      </a:r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u="none" dirty="0">
                          <a:solidFill>
                            <a:srgbClr val="C00000"/>
                          </a:solidFill>
                        </a:rPr>
                        <a:t>Functions definitions </a:t>
                      </a:r>
                      <a:r>
                        <a:rPr lang="en-US" b="1" u="sng" dirty="0">
                          <a:solidFill>
                            <a:srgbClr val="C00000"/>
                          </a:solidFill>
                        </a:rPr>
                        <a:t>TO DO </a:t>
                      </a:r>
                      <a:r>
                        <a:rPr lang="en-US" b="1" u="none" dirty="0">
                          <a:solidFill>
                            <a:srgbClr val="C00000"/>
                          </a:solidFill>
                        </a:rPr>
                        <a:t>in: kern/trap/</a:t>
                      </a:r>
                      <a:r>
                        <a:rPr lang="en-US" b="1" u="none" dirty="0" err="1">
                          <a:solidFill>
                            <a:srgbClr val="C00000"/>
                          </a:solidFill>
                        </a:rPr>
                        <a:t>fault_handler.c</a:t>
                      </a:r>
                      <a:endParaRPr lang="en-US" b="1" u="none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7880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1629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3B4CD-FA65-7FC5-E1E6-C7593B7AC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Fault:</a:t>
            </a: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is an exception thrown by the processor (MMU) to indicate that:</a:t>
            </a:r>
          </a:p>
          <a:p>
            <a:pPr marL="74295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000" b="1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 page table</a:t>
            </a:r>
            <a:r>
              <a:rPr 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is not exist in the main memory (i.e. new table). (see the following figure) </a:t>
            </a:r>
            <a:r>
              <a:rPr lang="en-US" sz="2000" b="1" u="sng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OR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 page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can’t be accessed due to either it’s not present in the main memory</a:t>
            </a:r>
            <a:endParaRPr lang="en-US" sz="2000" b="1" u="sng" dirty="0">
              <a:solidFill>
                <a:srgbClr val="FF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24B4C-0DDB-3DB5-39C9-38870873F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9A7B34-3433-CCE1-F69A-F0F604B423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274" y="3008961"/>
            <a:ext cx="8641317" cy="314755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A424691B-3124-09B2-BB04-86C39F396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/>
              <a:t>Fault Handler II: </a:t>
            </a:r>
            <a:r>
              <a:rPr lang="en-US" sz="4800" b="1"/>
              <a:t>Introduction</a:t>
            </a:r>
            <a:endParaRPr lang="en-AE" b="1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F90A49B-7A0E-72FE-33E8-BF88906E7A38}"/>
              </a:ext>
            </a:extLst>
          </p:cNvPr>
          <p:cNvGrpSpPr/>
          <p:nvPr/>
        </p:nvGrpSpPr>
        <p:grpSpPr>
          <a:xfrm>
            <a:off x="5194798" y="2913668"/>
            <a:ext cx="5457793" cy="3338140"/>
            <a:chOff x="5194798" y="2837468"/>
            <a:chExt cx="5457793" cy="333814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6E6590E-7187-ED09-82E3-1FC7B12B9967}"/>
                </a:ext>
              </a:extLst>
            </p:cNvPr>
            <p:cNvSpPr/>
            <p:nvPr/>
          </p:nvSpPr>
          <p:spPr>
            <a:xfrm>
              <a:off x="5844619" y="2837468"/>
              <a:ext cx="4807972" cy="32428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62A0E95-B8C1-118D-E20B-7F4F59A53BBE}"/>
                </a:ext>
              </a:extLst>
            </p:cNvPr>
            <p:cNvSpPr/>
            <p:nvPr/>
          </p:nvSpPr>
          <p:spPr>
            <a:xfrm>
              <a:off x="5194798" y="5344452"/>
              <a:ext cx="931682" cy="8311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</p:spTree>
    <p:extLst>
      <p:ext uri="{BB962C8B-B14F-4D97-AF65-F5344CB8AC3E}">
        <p14:creationId xmlns:p14="http://schemas.microsoft.com/office/powerpoint/2010/main" val="3774966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Replac#1: </a:t>
            </a:r>
            <a:r>
              <a:rPr lang="en-US" b="1" dirty="0"/>
              <a:t>FIFO – </a:t>
            </a:r>
            <a:r>
              <a:rPr lang="en-US" b="1" dirty="0">
                <a:solidFill>
                  <a:srgbClr val="FF0000"/>
                </a:solidFill>
              </a:rPr>
              <a:t>Idea</a:t>
            </a:r>
            <a:r>
              <a:rPr lang="en-US" b="1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sz="2400" dirty="0"/>
              <a:t>Treats allocated frames as a circular buffer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Pages are removed in round-robin style</a:t>
            </a:r>
          </a:p>
          <a:p>
            <a:pPr lvl="1">
              <a:lnSpc>
                <a:spcPct val="150000"/>
              </a:lnSpc>
            </a:pPr>
            <a:r>
              <a:rPr lang="en-US" sz="2400" b="1" dirty="0">
                <a:solidFill>
                  <a:srgbClr val="00B050"/>
                </a:solidFill>
              </a:rPr>
              <a:t>Adv: </a:t>
            </a:r>
            <a:r>
              <a:rPr lang="en-US" sz="2400" b="1" dirty="0"/>
              <a:t>Simplest </a:t>
            </a:r>
            <a:r>
              <a:rPr lang="en-US" sz="2400" dirty="0"/>
              <a:t>to implement</a:t>
            </a:r>
          </a:p>
          <a:p>
            <a:pPr lvl="1">
              <a:lnSpc>
                <a:spcPct val="150000"/>
              </a:lnSpc>
            </a:pPr>
            <a:r>
              <a:rPr lang="en-US" sz="2400" b="1" dirty="0" err="1">
                <a:solidFill>
                  <a:srgbClr val="FF0000"/>
                </a:solidFill>
              </a:rPr>
              <a:t>DisAdv</a:t>
            </a:r>
            <a:r>
              <a:rPr lang="en-US" sz="2400" b="1" dirty="0">
                <a:solidFill>
                  <a:srgbClr val="FF0000"/>
                </a:solidFill>
              </a:rPr>
              <a:t>: </a:t>
            </a:r>
            <a:r>
              <a:rPr lang="en-US" sz="2400" dirty="0"/>
              <a:t>first-loaded pages may be needed again very soon</a:t>
            </a:r>
            <a:endParaRPr lang="en-US" sz="20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C08CF8F-F643-2918-7E74-DA6332AB3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3745" r="9530" b="39810"/>
          <a:stretch>
            <a:fillRect/>
          </a:stretch>
        </p:blipFill>
        <p:spPr bwMode="auto">
          <a:xfrm>
            <a:off x="1549908" y="4323080"/>
            <a:ext cx="9153144" cy="2011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D2798-B522-492C-95EB-DEDF30CD5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Replac#2: </a:t>
            </a:r>
            <a:r>
              <a:rPr lang="en-NZ" b="1" dirty="0"/>
              <a:t>LRU – </a:t>
            </a:r>
            <a:r>
              <a:rPr lang="en-NZ" b="1" dirty="0">
                <a:solidFill>
                  <a:srgbClr val="FF0000"/>
                </a:solidFill>
              </a:rPr>
              <a:t>Idea#1</a:t>
            </a:r>
            <a:r>
              <a:rPr lang="en-NZ" b="1" dirty="0"/>
              <a:t> 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5608E-2543-4D51-BCE7-B6508928B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99920"/>
            <a:ext cx="9494520" cy="422624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Replaces the page that has </a:t>
            </a:r>
            <a:r>
              <a:rPr lang="en-US" sz="2400" b="1" dirty="0"/>
              <a:t>not been referenced for the longest time.</a:t>
            </a:r>
          </a:p>
          <a:p>
            <a:pPr lvl="1">
              <a:lnSpc>
                <a:spcPct val="150000"/>
              </a:lnSpc>
            </a:pPr>
            <a:r>
              <a:rPr lang="en-US" sz="2000" b="1" dirty="0">
                <a:solidFill>
                  <a:srgbClr val="00B050"/>
                </a:solidFill>
              </a:rPr>
              <a:t>Adv: </a:t>
            </a:r>
            <a:r>
              <a:rPr lang="en-US" sz="2000" b="1" dirty="0"/>
              <a:t>BEST </a:t>
            </a:r>
            <a:r>
              <a:rPr lang="en-US" sz="2000" dirty="0"/>
              <a:t>feasible</a:t>
            </a:r>
          </a:p>
          <a:p>
            <a:pPr lvl="1"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Probs:</a:t>
            </a:r>
            <a:r>
              <a:rPr lang="en-US" sz="2000" b="1" dirty="0">
                <a:solidFill>
                  <a:srgbClr val="00B050"/>
                </a:solidFill>
              </a:rPr>
              <a:t> </a:t>
            </a:r>
            <a:r>
              <a:rPr lang="en-US" sz="2000" b="1" dirty="0"/>
              <a:t>Difficult </a:t>
            </a:r>
            <a:r>
              <a:rPr lang="en-US" sz="2000" dirty="0"/>
              <a:t>to implement .. WHY?? </a:t>
            </a:r>
          </a:p>
          <a:p>
            <a:pPr lvl="2">
              <a:lnSpc>
                <a:spcPct val="150000"/>
              </a:lnSpc>
            </a:pPr>
            <a:r>
              <a:rPr lang="en-US" sz="1800" dirty="0"/>
              <a:t>HOW do you tag each page with the </a:t>
            </a:r>
            <a:r>
              <a:rPr lang="en-US" sz="1800" b="1" dirty="0"/>
              <a:t>time </a:t>
            </a:r>
            <a:r>
              <a:rPr lang="en-US" sz="1800" dirty="0"/>
              <a:t>of last </a:t>
            </a:r>
            <a:r>
              <a:rPr lang="en-US" sz="1800" b="1" dirty="0"/>
              <a:t>reference to be able to implement LRU</a:t>
            </a:r>
            <a:r>
              <a:rPr lang="en-US" sz="1800" dirty="0"/>
              <a:t>. </a:t>
            </a:r>
          </a:p>
          <a:p>
            <a:pPr>
              <a:lnSpc>
                <a:spcPct val="150000"/>
              </a:lnSpc>
            </a:pPr>
            <a:endParaRPr lang="en-US" sz="2400" b="1" dirty="0"/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4A343-AB64-40FE-9E70-169FA3344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9CADCB8-6808-433A-BFD9-5A233FA68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4765" r="9463" b="36562"/>
          <a:stretch>
            <a:fillRect/>
          </a:stretch>
        </p:blipFill>
        <p:spPr bwMode="auto">
          <a:xfrm>
            <a:off x="1513608" y="4160204"/>
            <a:ext cx="9164784" cy="2128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053466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84BF7-E9B6-4529-8A31-835F285F1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Replac#2: </a:t>
            </a:r>
            <a:r>
              <a:rPr lang="en-NZ" b="1" dirty="0"/>
              <a:t>LRU – </a:t>
            </a:r>
            <a:r>
              <a:rPr lang="en-NZ" b="1" dirty="0">
                <a:solidFill>
                  <a:srgbClr val="FF0000"/>
                </a:solidFill>
              </a:rPr>
              <a:t>Idea#1</a:t>
            </a:r>
            <a:r>
              <a:rPr lang="en-NZ" b="1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3B70B-3146-4890-85A8-51773A165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69440"/>
            <a:ext cx="9570720" cy="4256724"/>
          </a:xfrm>
        </p:spPr>
        <p:txBody>
          <a:bodyPr>
            <a:normAutofit/>
          </a:bodyPr>
          <a:lstStyle/>
          <a:p>
            <a:r>
              <a:rPr lang="en-US" sz="2800" dirty="0"/>
              <a:t>So, how to implement LRU?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ea typeface="굴림" panose="020B0600000101010101" pitchFamily="34" charset="-127"/>
              </a:rPr>
              <a:t>On each use, remove page from list and place at head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ea typeface="굴림" panose="020B0600000101010101" pitchFamily="34" charset="-127"/>
              </a:rPr>
              <a:t>LRU page is at tail</a:t>
            </a:r>
          </a:p>
          <a:p>
            <a:pPr lvl="1">
              <a:lnSpc>
                <a:spcPct val="150000"/>
              </a:lnSpc>
            </a:pPr>
            <a:endParaRPr lang="en-US" altLang="ko-KR" sz="2000" dirty="0">
              <a:ea typeface="굴림" panose="020B0600000101010101" pitchFamily="34" charset="-127"/>
            </a:endParaRPr>
          </a:p>
          <a:p>
            <a:pPr lvl="1">
              <a:lnSpc>
                <a:spcPct val="150000"/>
              </a:lnSpc>
            </a:pPr>
            <a:endParaRPr lang="en-US" altLang="ko-KR" sz="2000" dirty="0">
              <a:ea typeface="굴림" panose="020B0600000101010101" pitchFamily="34" charset="-127"/>
            </a:endParaRPr>
          </a:p>
          <a:p>
            <a:pPr lvl="1">
              <a:lnSpc>
                <a:spcPct val="150000"/>
              </a:lnSpc>
            </a:pPr>
            <a:endParaRPr lang="en-US" altLang="ko-KR" sz="2000" dirty="0">
              <a:ea typeface="굴림" panose="020B0600000101010101" pitchFamily="34" charset="-127"/>
            </a:endParaRPr>
          </a:p>
          <a:p>
            <a:pPr lvl="1"/>
            <a:endParaRPr lang="en-US" altLang="ko-KR" dirty="0">
              <a:ea typeface="굴림" panose="020B0600000101010101" pitchFamily="34" charset="-127"/>
            </a:endParaRPr>
          </a:p>
          <a:p>
            <a:pPr marL="457200" lvl="1" indent="0">
              <a:lnSpc>
                <a:spcPct val="80000"/>
              </a:lnSpc>
              <a:buNone/>
            </a:pPr>
            <a:endParaRPr lang="en-US" altLang="ko-KR" dirty="0">
              <a:ea typeface="굴림" panose="020B0600000101010101" pitchFamily="34" charset="-127"/>
            </a:endParaRPr>
          </a:p>
          <a:p>
            <a:pPr marL="457200" lvl="1" indent="0">
              <a:lnSpc>
                <a:spcPct val="80000"/>
              </a:lnSpc>
              <a:buNone/>
            </a:pPr>
            <a:endParaRPr lang="en-US" altLang="ko-KR" dirty="0">
              <a:ea typeface="굴림" panose="020B0600000101010101" pitchFamily="34" charset="-127"/>
            </a:endParaRP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86168B-DAA3-404D-BDD5-15B9C9004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6A3F740-2C2C-4889-B5B9-444E8D625551}"/>
              </a:ext>
            </a:extLst>
          </p:cNvPr>
          <p:cNvGrpSpPr/>
          <p:nvPr/>
        </p:nvGrpSpPr>
        <p:grpSpPr>
          <a:xfrm>
            <a:off x="8173720" y="1869440"/>
            <a:ext cx="2171700" cy="1829427"/>
            <a:chOff x="6705600" y="1417638"/>
            <a:chExt cx="2171700" cy="1829427"/>
          </a:xfrm>
        </p:grpSpPr>
        <p:sp>
          <p:nvSpPr>
            <p:cNvPr id="6" name="Thought Bubble: Cloud 5">
              <a:extLst>
                <a:ext uri="{FF2B5EF4-FFF2-40B4-BE49-F238E27FC236}">
                  <a16:creationId xmlns:a16="http://schemas.microsoft.com/office/drawing/2014/main" id="{AE26C3DB-EBF6-4511-9339-BB7590CE8369}"/>
                </a:ext>
              </a:extLst>
            </p:cNvPr>
            <p:cNvSpPr/>
            <p:nvPr/>
          </p:nvSpPr>
          <p:spPr>
            <a:xfrm>
              <a:off x="6847367" y="1417638"/>
              <a:ext cx="2029933" cy="719506"/>
            </a:xfrm>
            <a:prstGeom prst="cloudCallou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Use a list!</a:t>
              </a:r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F5A52855-F301-472D-814D-A446F67B1C8C}"/>
                </a:ext>
              </a:extLst>
            </p:cNvPr>
            <p:cNvGrpSpPr/>
            <p:nvPr/>
          </p:nvGrpSpPr>
          <p:grpSpPr>
            <a:xfrm>
              <a:off x="6705600" y="2408037"/>
              <a:ext cx="914400" cy="305202"/>
              <a:chOff x="2640782" y="2280268"/>
              <a:chExt cx="914400" cy="305202"/>
            </a:xfrm>
          </p:grpSpPr>
          <p:sp>
            <p:nvSpPr>
              <p:cNvPr id="60" name="Line 11">
                <a:extLst>
                  <a:ext uri="{FF2B5EF4-FFF2-40B4-BE49-F238E27FC236}">
                    <a16:creationId xmlns:a16="http://schemas.microsoft.com/office/drawing/2014/main" id="{1E53AFE9-5364-4271-B105-F5043A53D9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9751" y="2432869"/>
                <a:ext cx="35543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78" tIns="44445" rIns="90478" bIns="44445" anchor="ctr"/>
              <a:lstStyle/>
              <a:p>
                <a:endParaRPr lang="en-US"/>
              </a:p>
            </p:txBody>
          </p:sp>
          <p:sp>
            <p:nvSpPr>
              <p:cNvPr id="61" name="Text Box 12">
                <a:extLst>
                  <a:ext uri="{FF2B5EF4-FFF2-40B4-BE49-F238E27FC236}">
                    <a16:creationId xmlns:a16="http://schemas.microsoft.com/office/drawing/2014/main" id="{4501EB62-E50A-4913-8F0D-ACC880B5F1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782" y="2280268"/>
                <a:ext cx="626755" cy="3052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66CC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78" tIns="44445" rIns="90478" bIns="44445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r>
                  <a:rPr lang="en-US" altLang="ko-KR" sz="1400" dirty="0">
                    <a:ea typeface="굴림" panose="020B0600000101010101" pitchFamily="34" charset="-127"/>
                  </a:rPr>
                  <a:t>Head</a:t>
                </a: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0FEEBCE-624D-404E-BECE-270DC368A236}"/>
                </a:ext>
              </a:extLst>
            </p:cNvPr>
            <p:cNvGrpSpPr/>
            <p:nvPr/>
          </p:nvGrpSpPr>
          <p:grpSpPr>
            <a:xfrm>
              <a:off x="7755098" y="2726417"/>
              <a:ext cx="863220" cy="520648"/>
              <a:chOff x="3742061" y="2739969"/>
              <a:chExt cx="863220" cy="520648"/>
            </a:xfrm>
          </p:grpSpPr>
          <p:sp>
            <p:nvSpPr>
              <p:cNvPr id="58" name="Text Box 12">
                <a:extLst>
                  <a:ext uri="{FF2B5EF4-FFF2-40B4-BE49-F238E27FC236}">
                    <a16:creationId xmlns:a16="http://schemas.microsoft.com/office/drawing/2014/main" id="{13802D09-70A7-425B-87F2-FCD282CD49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2061" y="2739972"/>
                <a:ext cx="662022" cy="5206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66CC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78" tIns="44445" rIns="90478" bIns="44445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r>
                  <a:rPr lang="en-US" altLang="ko-KR" sz="1400" dirty="0">
                    <a:ea typeface="굴림" panose="020B0600000101010101" pitchFamily="34" charset="-127"/>
                  </a:rPr>
                  <a:t>Tail </a:t>
                </a:r>
                <a:br>
                  <a:rPr lang="en-US" altLang="ko-KR" sz="1400" dirty="0">
                    <a:ea typeface="굴림" panose="020B0600000101010101" pitchFamily="34" charset="-127"/>
                  </a:rPr>
                </a:br>
                <a:r>
                  <a:rPr lang="en-US" altLang="ko-KR" sz="1400" dirty="0">
                    <a:ea typeface="굴림" panose="020B0600000101010101" pitchFamily="34" charset="-127"/>
                  </a:rPr>
                  <a:t>(LRU)</a:t>
                </a:r>
              </a:p>
            </p:txBody>
          </p:sp>
          <p:cxnSp>
            <p:nvCxnSpPr>
              <p:cNvPr id="59" name="Connector: Elbow 58">
                <a:extLst>
                  <a:ext uri="{FF2B5EF4-FFF2-40B4-BE49-F238E27FC236}">
                    <a16:creationId xmlns:a16="http://schemas.microsoft.com/office/drawing/2014/main" id="{683B80AB-2D6C-4896-A20B-065F6FA53E2C}"/>
                  </a:ext>
                </a:extLst>
              </p:cNvPr>
              <p:cNvCxnSpPr>
                <a:cxnSpLocks/>
                <a:stCxn id="58" idx="3"/>
              </p:cNvCxnSpPr>
              <p:nvPr/>
            </p:nvCxnSpPr>
            <p:spPr>
              <a:xfrm flipV="1">
                <a:off x="4404083" y="2739969"/>
                <a:ext cx="201198" cy="260326"/>
              </a:xfrm>
              <a:prstGeom prst="bentConnector2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444178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84BF7-E9B6-4529-8A31-835F285F1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Replac#2: </a:t>
            </a:r>
            <a:r>
              <a:rPr lang="en-NZ" b="1" dirty="0"/>
              <a:t>LRU – </a:t>
            </a:r>
            <a:r>
              <a:rPr lang="en-NZ" b="1" dirty="0">
                <a:solidFill>
                  <a:srgbClr val="FF0000"/>
                </a:solidFill>
              </a:rPr>
              <a:t>Idea#1</a:t>
            </a:r>
            <a:r>
              <a:rPr lang="en-NZ" b="1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3B70B-3146-4890-85A8-51773A165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0" y="1737360"/>
            <a:ext cx="8229600" cy="5120322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altLang="ko-KR" dirty="0">
                <a:ea typeface="굴림" panose="020B0600000101010101" pitchFamily="34" charset="-127"/>
              </a:rPr>
              <a:t>Example - If we have the following references:</a:t>
            </a:r>
          </a:p>
          <a:p>
            <a:pPr lvl="1"/>
            <a:r>
              <a:rPr lang="en-US" altLang="ko-KR" sz="1600" dirty="0">
                <a:ea typeface="굴림" panose="020B0600000101010101" pitchFamily="34" charset="-127"/>
              </a:rPr>
              <a:t>Page 2: </a:t>
            </a:r>
          </a:p>
          <a:p>
            <a:pPr marL="457200" lvl="1" indent="0">
              <a:buNone/>
            </a:pPr>
            <a:r>
              <a:rPr lang="en-US" altLang="ko-KR" sz="1600" dirty="0">
                <a:ea typeface="굴림" panose="020B0600000101010101" pitchFamily="34" charset="-127"/>
              </a:rPr>
              <a:t>(Page Fault)</a:t>
            </a:r>
          </a:p>
          <a:p>
            <a:pPr lvl="1"/>
            <a:endParaRPr lang="en-US" altLang="ko-KR" sz="1600" dirty="0">
              <a:ea typeface="굴림" panose="020B0600000101010101" pitchFamily="34" charset="-127"/>
            </a:endParaRPr>
          </a:p>
          <a:p>
            <a:pPr marL="457200" lvl="1" indent="0">
              <a:buNone/>
            </a:pPr>
            <a:endParaRPr lang="en-US" altLang="ko-KR" sz="1600" dirty="0">
              <a:ea typeface="굴림" panose="020B0600000101010101" pitchFamily="34" charset="-127"/>
            </a:endParaRPr>
          </a:p>
          <a:p>
            <a:pPr lvl="1"/>
            <a:r>
              <a:rPr lang="en-US" altLang="ko-KR" sz="1600" dirty="0">
                <a:ea typeface="굴림" panose="020B0600000101010101" pitchFamily="34" charset="-127"/>
              </a:rPr>
              <a:t>Page 1: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ko-KR" sz="1600" dirty="0">
                <a:ea typeface="굴림" panose="020B0600000101010101" pitchFamily="34" charset="-127"/>
              </a:rPr>
              <a:t>(Page Fault)</a:t>
            </a:r>
          </a:p>
          <a:p>
            <a:pPr marL="457200" lvl="1" indent="0">
              <a:lnSpc>
                <a:spcPct val="80000"/>
              </a:lnSpc>
              <a:buNone/>
            </a:pPr>
            <a:endParaRPr lang="en-US" altLang="ko-KR" sz="2000" dirty="0">
              <a:ea typeface="굴림" panose="020B0600000101010101" pitchFamily="34" charset="-127"/>
            </a:endParaRPr>
          </a:p>
          <a:p>
            <a:pPr lvl="1"/>
            <a:endParaRPr lang="en-US" sz="2000" dirty="0"/>
          </a:p>
          <a:p>
            <a:pPr lvl="1"/>
            <a:r>
              <a:rPr lang="en-US" altLang="ko-KR" sz="1600" dirty="0">
                <a:ea typeface="굴림" panose="020B0600000101010101" pitchFamily="34" charset="-127"/>
              </a:rPr>
              <a:t>Page 6:</a:t>
            </a:r>
          </a:p>
          <a:p>
            <a:pPr marL="457200" lvl="1" indent="0">
              <a:buNone/>
            </a:pPr>
            <a:r>
              <a:rPr lang="en-US" altLang="ko-KR" sz="1600" dirty="0">
                <a:ea typeface="굴림" panose="020B0600000101010101" pitchFamily="34" charset="-127"/>
              </a:rPr>
              <a:t>(Page Fault)</a:t>
            </a:r>
          </a:p>
          <a:p>
            <a:pPr marL="457200" lvl="1" indent="0">
              <a:buNone/>
            </a:pPr>
            <a:endParaRPr lang="en-US" sz="2000" dirty="0"/>
          </a:p>
          <a:p>
            <a:pPr lvl="1"/>
            <a:endParaRPr lang="en-US" altLang="ko-KR" sz="1600" dirty="0">
              <a:ea typeface="굴림" panose="020B0600000101010101" pitchFamily="34" charset="-127"/>
            </a:endParaRPr>
          </a:p>
          <a:p>
            <a:pPr lvl="1"/>
            <a:r>
              <a:rPr lang="en-US" altLang="ko-KR" sz="1600" dirty="0">
                <a:ea typeface="굴림" panose="020B0600000101010101" pitchFamily="34" charset="-127"/>
              </a:rPr>
              <a:t>Page 1:</a:t>
            </a:r>
          </a:p>
          <a:p>
            <a:pPr marL="457200" lvl="1" indent="0">
              <a:buNone/>
            </a:pPr>
            <a:r>
              <a:rPr lang="en-US" altLang="ko-KR" sz="1600" dirty="0">
                <a:ea typeface="굴림" panose="020B0600000101010101" pitchFamily="34" charset="-127"/>
              </a:rPr>
              <a:t>(</a:t>
            </a:r>
            <a:r>
              <a:rPr lang="en-US" altLang="ko-KR" sz="1600" b="1" dirty="0">
                <a:highlight>
                  <a:srgbClr val="FFFF00"/>
                </a:highlight>
                <a:ea typeface="굴림" panose="020B0600000101010101" pitchFamily="34" charset="-127"/>
              </a:rPr>
              <a:t>ACCESS</a:t>
            </a:r>
            <a:r>
              <a:rPr lang="en-US" altLang="ko-KR" sz="1600" dirty="0">
                <a:ea typeface="굴림" panose="020B0600000101010101" pitchFamily="34" charset="-127"/>
              </a:rPr>
              <a:t> already</a:t>
            </a:r>
            <a:br>
              <a:rPr lang="en-US" altLang="ko-KR" sz="1600" dirty="0">
                <a:ea typeface="굴림" panose="020B0600000101010101" pitchFamily="34" charset="-127"/>
              </a:rPr>
            </a:br>
            <a:r>
              <a:rPr lang="en-US" altLang="ko-KR" sz="1600" dirty="0">
                <a:ea typeface="굴림" panose="020B0600000101010101" pitchFamily="34" charset="-127"/>
              </a:rPr>
              <a:t>Existing page)</a:t>
            </a:r>
          </a:p>
          <a:p>
            <a:pPr lvl="1"/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86168B-DAA3-404D-BDD5-15B9C9004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1A502C1-B9DC-4013-94FB-9A071620BDFA}"/>
              </a:ext>
            </a:extLst>
          </p:cNvPr>
          <p:cNvGrpSpPr/>
          <p:nvPr/>
        </p:nvGrpSpPr>
        <p:grpSpPr>
          <a:xfrm>
            <a:off x="2794000" y="2073009"/>
            <a:ext cx="1629150" cy="993909"/>
            <a:chOff x="116186" y="3123798"/>
            <a:chExt cx="1629150" cy="993909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67D0E6CB-F65D-496C-B633-E7EE7D1AAE90}"/>
                </a:ext>
              </a:extLst>
            </p:cNvPr>
            <p:cNvGrpSpPr/>
            <p:nvPr/>
          </p:nvGrpSpPr>
          <p:grpSpPr>
            <a:xfrm>
              <a:off x="116186" y="3123798"/>
              <a:ext cx="950614" cy="305202"/>
              <a:chOff x="116186" y="3390043"/>
              <a:chExt cx="950614" cy="305202"/>
            </a:xfrm>
          </p:grpSpPr>
          <p:sp>
            <p:nvSpPr>
              <p:cNvPr id="42" name="Line 11">
                <a:extLst>
                  <a:ext uri="{FF2B5EF4-FFF2-40B4-BE49-F238E27FC236}">
                    <a16:creationId xmlns:a16="http://schemas.microsoft.com/office/drawing/2014/main" id="{A71CF779-2A1E-447C-B8B7-3C4DA5C63F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1369" y="3581400"/>
                <a:ext cx="35543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78" tIns="44445" rIns="90478" bIns="44445" anchor="ctr"/>
              <a:lstStyle/>
              <a:p>
                <a:endParaRPr lang="en-US"/>
              </a:p>
            </p:txBody>
          </p:sp>
          <p:sp>
            <p:nvSpPr>
              <p:cNvPr id="43" name="Text Box 12">
                <a:extLst>
                  <a:ext uri="{FF2B5EF4-FFF2-40B4-BE49-F238E27FC236}">
                    <a16:creationId xmlns:a16="http://schemas.microsoft.com/office/drawing/2014/main" id="{590B5ABD-0578-4EEE-B101-65AEFC46FE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6186" y="3390043"/>
                <a:ext cx="626755" cy="3052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66CC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78" tIns="44445" rIns="90478" bIns="44445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r>
                  <a:rPr lang="en-US" altLang="ko-KR" sz="1400" dirty="0">
                    <a:ea typeface="굴림" panose="020B0600000101010101" pitchFamily="34" charset="-127"/>
                  </a:rPr>
                  <a:t>Head</a:t>
                </a:r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DB30A24D-7019-4396-9637-E414203A427E}"/>
                </a:ext>
              </a:extLst>
            </p:cNvPr>
            <p:cNvGrpSpPr/>
            <p:nvPr/>
          </p:nvGrpSpPr>
          <p:grpSpPr>
            <a:xfrm>
              <a:off x="543047" y="3597059"/>
              <a:ext cx="863220" cy="520648"/>
              <a:chOff x="594828" y="4004625"/>
              <a:chExt cx="863220" cy="520648"/>
            </a:xfrm>
          </p:grpSpPr>
          <p:sp>
            <p:nvSpPr>
              <p:cNvPr id="45" name="Text Box 12">
                <a:extLst>
                  <a:ext uri="{FF2B5EF4-FFF2-40B4-BE49-F238E27FC236}">
                    <a16:creationId xmlns:a16="http://schemas.microsoft.com/office/drawing/2014/main" id="{7DC18D2C-4C7E-4FBB-AACD-9311D57055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4828" y="4004628"/>
                <a:ext cx="662022" cy="5206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66CC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78" tIns="44445" rIns="90478" bIns="44445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r>
                  <a:rPr lang="en-US" altLang="ko-KR" sz="1400" dirty="0">
                    <a:ea typeface="굴림" panose="020B0600000101010101" pitchFamily="34" charset="-127"/>
                  </a:rPr>
                  <a:t>Tail </a:t>
                </a:r>
                <a:br>
                  <a:rPr lang="en-US" altLang="ko-KR" sz="1400" dirty="0">
                    <a:ea typeface="굴림" panose="020B0600000101010101" pitchFamily="34" charset="-127"/>
                  </a:rPr>
                </a:br>
                <a:r>
                  <a:rPr lang="en-US" altLang="ko-KR" sz="1400" dirty="0">
                    <a:ea typeface="굴림" panose="020B0600000101010101" pitchFamily="34" charset="-127"/>
                  </a:rPr>
                  <a:t>(LRU)</a:t>
                </a:r>
              </a:p>
            </p:txBody>
          </p:sp>
          <p:cxnSp>
            <p:nvCxnSpPr>
              <p:cNvPr id="47" name="Connector: Elbow 46">
                <a:extLst>
                  <a:ext uri="{FF2B5EF4-FFF2-40B4-BE49-F238E27FC236}">
                    <a16:creationId xmlns:a16="http://schemas.microsoft.com/office/drawing/2014/main" id="{A26E630A-4DFF-4E89-B7B1-093CCBB65233}"/>
                  </a:ext>
                </a:extLst>
              </p:cNvPr>
              <p:cNvCxnSpPr>
                <a:cxnSpLocks/>
                <a:stCxn id="45" idx="3"/>
              </p:cNvCxnSpPr>
              <p:nvPr/>
            </p:nvCxnSpPr>
            <p:spPr>
              <a:xfrm flipV="1">
                <a:off x="1256850" y="4004625"/>
                <a:ext cx="201198" cy="260326"/>
              </a:xfrm>
              <a:prstGeom prst="bentConnector2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33DBF7C1-E665-4859-9FF6-E938D5C72B1D}"/>
                </a:ext>
              </a:extLst>
            </p:cNvPr>
            <p:cNvSpPr/>
            <p:nvPr/>
          </p:nvSpPr>
          <p:spPr>
            <a:xfrm>
              <a:off x="1135736" y="3123798"/>
              <a:ext cx="609600" cy="476284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P2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6ABB7E4-1BA4-4ADB-9D97-B6B9EFB5AE03}"/>
              </a:ext>
            </a:extLst>
          </p:cNvPr>
          <p:cNvGrpSpPr/>
          <p:nvPr/>
        </p:nvGrpSpPr>
        <p:grpSpPr>
          <a:xfrm>
            <a:off x="2636428" y="3179116"/>
            <a:ext cx="2595972" cy="1048409"/>
            <a:chOff x="2085206" y="3035287"/>
            <a:chExt cx="2595972" cy="104840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27C00DE-086D-4749-ADBB-E3AE7C2BED21}"/>
                </a:ext>
              </a:extLst>
            </p:cNvPr>
            <p:cNvGrpSpPr/>
            <p:nvPr/>
          </p:nvGrpSpPr>
          <p:grpSpPr>
            <a:xfrm>
              <a:off x="2085206" y="3035287"/>
              <a:ext cx="2595972" cy="1048409"/>
              <a:chOff x="2085206" y="3035287"/>
              <a:chExt cx="2595972" cy="1048409"/>
            </a:xfrm>
          </p:grpSpPr>
          <p:sp>
            <p:nvSpPr>
              <p:cNvPr id="57" name="Rectangle: Rounded Corners 56">
                <a:extLst>
                  <a:ext uri="{FF2B5EF4-FFF2-40B4-BE49-F238E27FC236}">
                    <a16:creationId xmlns:a16="http://schemas.microsoft.com/office/drawing/2014/main" id="{CFA6B00A-1539-4692-AEAD-DD7DFE97AB4D}"/>
                  </a:ext>
                </a:extLst>
              </p:cNvPr>
              <p:cNvSpPr/>
              <p:nvPr/>
            </p:nvSpPr>
            <p:spPr>
              <a:xfrm>
                <a:off x="3048000" y="3048000"/>
                <a:ext cx="609600" cy="476284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P1</a:t>
                </a:r>
              </a:p>
            </p:txBody>
          </p: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4E2CFD92-36CF-4280-99C4-1132886C73D5}"/>
                  </a:ext>
                </a:extLst>
              </p:cNvPr>
              <p:cNvGrpSpPr/>
              <p:nvPr/>
            </p:nvGrpSpPr>
            <p:grpSpPr>
              <a:xfrm>
                <a:off x="2085206" y="3035287"/>
                <a:ext cx="2595972" cy="1048409"/>
                <a:chOff x="116186" y="3038257"/>
                <a:chExt cx="2595972" cy="1048409"/>
              </a:xfrm>
            </p:grpSpPr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8ADB08E1-1F44-49B9-8502-7E621196F3F5}"/>
                    </a:ext>
                  </a:extLst>
                </p:cNvPr>
                <p:cNvGrpSpPr/>
                <p:nvPr/>
              </p:nvGrpSpPr>
              <p:grpSpPr>
                <a:xfrm>
                  <a:off x="116186" y="3123798"/>
                  <a:ext cx="950614" cy="305202"/>
                  <a:chOff x="116186" y="3390043"/>
                  <a:chExt cx="950614" cy="305202"/>
                </a:xfrm>
              </p:grpSpPr>
              <p:sp>
                <p:nvSpPr>
                  <p:cNvPr id="35" name="Line 11">
                    <a:extLst>
                      <a:ext uri="{FF2B5EF4-FFF2-40B4-BE49-F238E27FC236}">
                        <a16:creationId xmlns:a16="http://schemas.microsoft.com/office/drawing/2014/main" id="{09D1F43C-4C5A-4DEA-9E3E-835858AB5D2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711369" y="3581400"/>
                    <a:ext cx="355431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478" tIns="44445" rIns="90478" bIns="44445" anchor="ctr"/>
                  <a:lstStyle/>
                  <a:p>
                    <a:endParaRPr lang="en-US"/>
                  </a:p>
                </p:txBody>
              </p:sp>
              <p:sp>
                <p:nvSpPr>
                  <p:cNvPr id="36" name="Text Box 12">
                    <a:extLst>
                      <a:ext uri="{FF2B5EF4-FFF2-40B4-BE49-F238E27FC236}">
                        <a16:creationId xmlns:a16="http://schemas.microsoft.com/office/drawing/2014/main" id="{52DFED0A-55F5-4169-9EBF-9BB521D107D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6186" y="3390043"/>
                    <a:ext cx="626755" cy="30520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66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478" tIns="44445" rIns="90478" bIns="44445">
                    <a:spAutoFit/>
                  </a:bodyPr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5pPr>
                    <a:lvl6pPr marL="2514600" indent="-228600" algn="ctr" eaLnBrk="0" fontAlgn="base" hangingPunct="0">
                      <a:lnSpc>
                        <a:spcPct val="8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6pPr>
                    <a:lvl7pPr marL="2971800" indent="-228600" algn="ctr" eaLnBrk="0" fontAlgn="base" hangingPunct="0">
                      <a:lnSpc>
                        <a:spcPct val="8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7pPr>
                    <a:lvl8pPr marL="3429000" indent="-228600" algn="ctr" eaLnBrk="0" fontAlgn="base" hangingPunct="0">
                      <a:lnSpc>
                        <a:spcPct val="8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8pPr>
                    <a:lvl9pPr marL="3886200" indent="-228600" algn="ctr" eaLnBrk="0" fontAlgn="base" hangingPunct="0">
                      <a:lnSpc>
                        <a:spcPct val="8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9pPr>
                  </a:lstStyle>
                  <a:p>
                    <a:r>
                      <a:rPr lang="en-US" altLang="ko-KR" sz="1400" dirty="0">
                        <a:ea typeface="굴림" panose="020B0600000101010101" pitchFamily="34" charset="-127"/>
                      </a:rPr>
                      <a:t>Head</a:t>
                    </a:r>
                  </a:p>
                </p:txBody>
              </p:sp>
            </p:grpSp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03DE4B37-0DEE-48D9-A49B-3A32F8C20C10}"/>
                    </a:ext>
                  </a:extLst>
                </p:cNvPr>
                <p:cNvGrpSpPr/>
                <p:nvPr/>
              </p:nvGrpSpPr>
              <p:grpSpPr>
                <a:xfrm>
                  <a:off x="1428849" y="3566018"/>
                  <a:ext cx="863220" cy="520648"/>
                  <a:chOff x="1480630" y="3973584"/>
                  <a:chExt cx="863220" cy="520648"/>
                </a:xfrm>
              </p:grpSpPr>
              <p:sp>
                <p:nvSpPr>
                  <p:cNvPr id="33" name="Text Box 12">
                    <a:extLst>
                      <a:ext uri="{FF2B5EF4-FFF2-40B4-BE49-F238E27FC236}">
                        <a16:creationId xmlns:a16="http://schemas.microsoft.com/office/drawing/2014/main" id="{8599F95A-0F16-4458-B8E6-EDE35060669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80630" y="3973587"/>
                    <a:ext cx="662022" cy="52064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66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478" tIns="44445" rIns="90478" bIns="44445">
                    <a:spAutoFit/>
                  </a:bodyPr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5pPr>
                    <a:lvl6pPr marL="2514600" indent="-228600" algn="ctr" eaLnBrk="0" fontAlgn="base" hangingPunct="0">
                      <a:lnSpc>
                        <a:spcPct val="8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6pPr>
                    <a:lvl7pPr marL="2971800" indent="-228600" algn="ctr" eaLnBrk="0" fontAlgn="base" hangingPunct="0">
                      <a:lnSpc>
                        <a:spcPct val="8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7pPr>
                    <a:lvl8pPr marL="3429000" indent="-228600" algn="ctr" eaLnBrk="0" fontAlgn="base" hangingPunct="0">
                      <a:lnSpc>
                        <a:spcPct val="8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8pPr>
                    <a:lvl9pPr marL="3886200" indent="-228600" algn="ctr" eaLnBrk="0" fontAlgn="base" hangingPunct="0">
                      <a:lnSpc>
                        <a:spcPct val="8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9pPr>
                  </a:lstStyle>
                  <a:p>
                    <a:r>
                      <a:rPr lang="en-US" altLang="ko-KR" sz="1400" dirty="0">
                        <a:ea typeface="굴림" panose="020B0600000101010101" pitchFamily="34" charset="-127"/>
                      </a:rPr>
                      <a:t>Tail </a:t>
                    </a:r>
                    <a:br>
                      <a:rPr lang="en-US" altLang="ko-KR" sz="1400" dirty="0">
                        <a:ea typeface="굴림" panose="020B0600000101010101" pitchFamily="34" charset="-127"/>
                      </a:rPr>
                    </a:br>
                    <a:r>
                      <a:rPr lang="en-US" altLang="ko-KR" sz="1400" dirty="0">
                        <a:ea typeface="굴림" panose="020B0600000101010101" pitchFamily="34" charset="-127"/>
                      </a:rPr>
                      <a:t>(LRU)</a:t>
                    </a:r>
                  </a:p>
                </p:txBody>
              </p:sp>
              <p:cxnSp>
                <p:nvCxnSpPr>
                  <p:cNvPr id="34" name="Connector: Elbow 33">
                    <a:extLst>
                      <a:ext uri="{FF2B5EF4-FFF2-40B4-BE49-F238E27FC236}">
                        <a16:creationId xmlns:a16="http://schemas.microsoft.com/office/drawing/2014/main" id="{EEED8A16-9E29-4C88-8117-76CAE3221D49}"/>
                      </a:ext>
                    </a:extLst>
                  </p:cNvPr>
                  <p:cNvCxnSpPr>
                    <a:cxnSpLocks/>
                    <a:stCxn id="33" idx="3"/>
                  </p:cNvCxnSpPr>
                  <p:nvPr/>
                </p:nvCxnSpPr>
                <p:spPr>
                  <a:xfrm flipV="1">
                    <a:off x="2142652" y="3973584"/>
                    <a:ext cx="201198" cy="260326"/>
                  </a:xfrm>
                  <a:prstGeom prst="bentConnector2">
                    <a:avLst/>
                  </a:prstGeom>
                  <a:ln w="28575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2" name="Rectangle: Rounded Corners 31">
                  <a:extLst>
                    <a:ext uri="{FF2B5EF4-FFF2-40B4-BE49-F238E27FC236}">
                      <a16:creationId xmlns:a16="http://schemas.microsoft.com/office/drawing/2014/main" id="{3D0668A1-2874-4254-A6D7-707DE9479F4B}"/>
                    </a:ext>
                  </a:extLst>
                </p:cNvPr>
                <p:cNvSpPr/>
                <p:nvPr/>
              </p:nvSpPr>
              <p:spPr>
                <a:xfrm>
                  <a:off x="2102558" y="3038257"/>
                  <a:ext cx="609600" cy="476284"/>
                </a:xfrm>
                <a:prstGeom prst="roundRect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P2</a:t>
                  </a:r>
                </a:p>
              </p:txBody>
            </p:sp>
          </p:grpSp>
        </p:grpSp>
        <p:sp>
          <p:nvSpPr>
            <p:cNvPr id="37" name="Line 11">
              <a:extLst>
                <a:ext uri="{FF2B5EF4-FFF2-40B4-BE49-F238E27FC236}">
                  <a16:creationId xmlns:a16="http://schemas.microsoft.com/office/drawing/2014/main" id="{E2223735-F493-4D34-93DB-F1481D4F9F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4460" y="3312185"/>
              <a:ext cx="3554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/>
            <a:p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721BA6C-AA00-4F80-B79D-17CBCB196F04}"/>
              </a:ext>
            </a:extLst>
          </p:cNvPr>
          <p:cNvGrpSpPr/>
          <p:nvPr/>
        </p:nvGrpSpPr>
        <p:grpSpPr>
          <a:xfrm>
            <a:off x="2584898" y="4465320"/>
            <a:ext cx="3257103" cy="1026060"/>
            <a:chOff x="1924497" y="4191000"/>
            <a:chExt cx="3257103" cy="102606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A1C2350-D200-48E3-A31E-88224C8948AF}"/>
                </a:ext>
              </a:extLst>
            </p:cNvPr>
            <p:cNvGrpSpPr/>
            <p:nvPr/>
          </p:nvGrpSpPr>
          <p:grpSpPr>
            <a:xfrm>
              <a:off x="1924497" y="4191000"/>
              <a:ext cx="3257103" cy="1026060"/>
              <a:chOff x="1924497" y="4217230"/>
              <a:chExt cx="3257103" cy="1026060"/>
            </a:xfrm>
          </p:grpSpPr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F86D0627-7C34-4D43-AF4A-CB34ED2497CE}"/>
                  </a:ext>
                </a:extLst>
              </p:cNvPr>
              <p:cNvGrpSpPr/>
              <p:nvPr/>
            </p:nvGrpSpPr>
            <p:grpSpPr>
              <a:xfrm>
                <a:off x="1924497" y="4217230"/>
                <a:ext cx="3257103" cy="1026060"/>
                <a:chOff x="2085206" y="3088742"/>
                <a:chExt cx="3257103" cy="1026060"/>
              </a:xfrm>
            </p:grpSpPr>
            <p:sp>
              <p:nvSpPr>
                <p:cNvPr id="64" name="Rectangle: Rounded Corners 63">
                  <a:extLst>
                    <a:ext uri="{FF2B5EF4-FFF2-40B4-BE49-F238E27FC236}">
                      <a16:creationId xmlns:a16="http://schemas.microsoft.com/office/drawing/2014/main" id="{4669D22A-4483-42F3-B710-D481ADEEB99C}"/>
                    </a:ext>
                  </a:extLst>
                </p:cNvPr>
                <p:cNvSpPr/>
                <p:nvPr/>
              </p:nvSpPr>
              <p:spPr>
                <a:xfrm>
                  <a:off x="3845640" y="3088742"/>
                  <a:ext cx="609600" cy="476284"/>
                </a:xfrm>
                <a:prstGeom prst="roundRect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P1</a:t>
                  </a:r>
                </a:p>
              </p:txBody>
            </p:sp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EF2691AA-A165-448B-9790-60B53C998D2A}"/>
                    </a:ext>
                  </a:extLst>
                </p:cNvPr>
                <p:cNvGrpSpPr/>
                <p:nvPr/>
              </p:nvGrpSpPr>
              <p:grpSpPr>
                <a:xfrm>
                  <a:off x="2085206" y="3095086"/>
                  <a:ext cx="3257103" cy="1019716"/>
                  <a:chOff x="116186" y="3098056"/>
                  <a:chExt cx="3257103" cy="1019716"/>
                </a:xfrm>
              </p:grpSpPr>
              <p:grpSp>
                <p:nvGrpSpPr>
                  <p:cNvPr id="66" name="Group 65">
                    <a:extLst>
                      <a:ext uri="{FF2B5EF4-FFF2-40B4-BE49-F238E27FC236}">
                        <a16:creationId xmlns:a16="http://schemas.microsoft.com/office/drawing/2014/main" id="{3CE33A88-5E93-41FA-A0B2-217E8E8EE59F}"/>
                      </a:ext>
                    </a:extLst>
                  </p:cNvPr>
                  <p:cNvGrpSpPr/>
                  <p:nvPr/>
                </p:nvGrpSpPr>
                <p:grpSpPr>
                  <a:xfrm>
                    <a:off x="116186" y="3123798"/>
                    <a:ext cx="950614" cy="305202"/>
                    <a:chOff x="116186" y="3390043"/>
                    <a:chExt cx="950614" cy="305202"/>
                  </a:xfrm>
                </p:grpSpPr>
                <p:sp>
                  <p:nvSpPr>
                    <p:cNvPr id="71" name="Line 11">
                      <a:extLst>
                        <a:ext uri="{FF2B5EF4-FFF2-40B4-BE49-F238E27FC236}">
                          <a16:creationId xmlns:a16="http://schemas.microsoft.com/office/drawing/2014/main" id="{3564971E-A5D9-40AC-90ED-52F4B609E05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11369" y="3581400"/>
                      <a:ext cx="355431" cy="0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78" tIns="44445" rIns="90478" bIns="44445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2" name="Text Box 12">
                      <a:extLst>
                        <a:ext uri="{FF2B5EF4-FFF2-40B4-BE49-F238E27FC236}">
                          <a16:creationId xmlns:a16="http://schemas.microsoft.com/office/drawing/2014/main" id="{5B0849D0-E710-4BE3-AEBB-277C01F9A839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16186" y="3390043"/>
                      <a:ext cx="626755" cy="30520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66CC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38100" algn="ctr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78" tIns="44445" rIns="90478" bIns="44445">
                      <a:spAutoFit/>
                    </a:bodyPr>
                    <a:lstStyle>
                      <a:lvl1pPr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r>
                        <a:rPr lang="en-US" altLang="ko-KR" sz="1400" dirty="0">
                          <a:ea typeface="굴림" panose="020B0600000101010101" pitchFamily="34" charset="-127"/>
                        </a:rPr>
                        <a:t>Head</a:t>
                      </a:r>
                    </a:p>
                  </p:txBody>
                </p:sp>
              </p:grpSp>
              <p:grpSp>
                <p:nvGrpSpPr>
                  <p:cNvPr id="67" name="Group 66">
                    <a:extLst>
                      <a:ext uri="{FF2B5EF4-FFF2-40B4-BE49-F238E27FC236}">
                        <a16:creationId xmlns:a16="http://schemas.microsoft.com/office/drawing/2014/main" id="{38C8FB17-BABE-42DD-B09A-A185E9038AA0}"/>
                      </a:ext>
                    </a:extLst>
                  </p:cNvPr>
                  <p:cNvGrpSpPr/>
                  <p:nvPr/>
                </p:nvGrpSpPr>
                <p:grpSpPr>
                  <a:xfrm>
                    <a:off x="2205435" y="3597124"/>
                    <a:ext cx="863220" cy="520648"/>
                    <a:chOff x="2257216" y="4004690"/>
                    <a:chExt cx="863220" cy="520648"/>
                  </a:xfrm>
                </p:grpSpPr>
                <p:sp>
                  <p:nvSpPr>
                    <p:cNvPr id="69" name="Text Box 12">
                      <a:extLst>
                        <a:ext uri="{FF2B5EF4-FFF2-40B4-BE49-F238E27FC236}">
                          <a16:creationId xmlns:a16="http://schemas.microsoft.com/office/drawing/2014/main" id="{2A1D87C2-F0B2-4FBB-9AA6-0309173922F2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257216" y="4004693"/>
                      <a:ext cx="662022" cy="52064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66CC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38100" algn="ctr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78" tIns="44445" rIns="90478" bIns="44445">
                      <a:spAutoFit/>
                    </a:bodyPr>
                    <a:lstStyle>
                      <a:lvl1pPr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r>
                        <a:rPr lang="en-US" altLang="ko-KR" sz="1400" dirty="0">
                          <a:ea typeface="굴림" panose="020B0600000101010101" pitchFamily="34" charset="-127"/>
                        </a:rPr>
                        <a:t>Tail </a:t>
                      </a:r>
                      <a:br>
                        <a:rPr lang="en-US" altLang="ko-KR" sz="1400" dirty="0">
                          <a:ea typeface="굴림" panose="020B0600000101010101" pitchFamily="34" charset="-127"/>
                        </a:rPr>
                      </a:br>
                      <a:r>
                        <a:rPr lang="en-US" altLang="ko-KR" sz="1400" dirty="0">
                          <a:ea typeface="굴림" panose="020B0600000101010101" pitchFamily="34" charset="-127"/>
                        </a:rPr>
                        <a:t>(LRU)</a:t>
                      </a:r>
                    </a:p>
                  </p:txBody>
                </p:sp>
                <p:cxnSp>
                  <p:nvCxnSpPr>
                    <p:cNvPr id="70" name="Connector: Elbow 69">
                      <a:extLst>
                        <a:ext uri="{FF2B5EF4-FFF2-40B4-BE49-F238E27FC236}">
                          <a16:creationId xmlns:a16="http://schemas.microsoft.com/office/drawing/2014/main" id="{D1D3F482-AD13-4AD7-96A7-5BA788814110}"/>
                        </a:ext>
                      </a:extLst>
                    </p:cNvPr>
                    <p:cNvCxnSpPr>
                      <a:cxnSpLocks/>
                      <a:stCxn id="69" idx="3"/>
                    </p:cNvCxnSpPr>
                    <p:nvPr/>
                  </p:nvCxnSpPr>
                  <p:spPr>
                    <a:xfrm flipV="1">
                      <a:off x="2919238" y="4004690"/>
                      <a:ext cx="201198" cy="260326"/>
                    </a:xfrm>
                    <a:prstGeom prst="bentConnector2">
                      <a:avLst/>
                    </a:prstGeom>
                    <a:ln w="28575"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68" name="Rectangle: Rounded Corners 67">
                    <a:extLst>
                      <a:ext uri="{FF2B5EF4-FFF2-40B4-BE49-F238E27FC236}">
                        <a16:creationId xmlns:a16="http://schemas.microsoft.com/office/drawing/2014/main" id="{491D3729-7465-4004-856A-49B5C27C0CBB}"/>
                      </a:ext>
                    </a:extLst>
                  </p:cNvPr>
                  <p:cNvSpPr/>
                  <p:nvPr/>
                </p:nvSpPr>
                <p:spPr>
                  <a:xfrm>
                    <a:off x="2763689" y="3098056"/>
                    <a:ext cx="609600" cy="476284"/>
                  </a:xfrm>
                  <a:prstGeom prst="roundRect">
                    <a:avLst/>
                  </a:prstGeom>
                </p:spPr>
                <p:style>
                  <a:lnRef idx="2">
                    <a:schemeClr val="accent5">
                      <a:shade val="50000"/>
                    </a:schemeClr>
                  </a:lnRef>
                  <a:fillRef idx="1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P2</a:t>
                    </a:r>
                  </a:p>
                </p:txBody>
              </p:sp>
            </p:grpSp>
          </p:grpSp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4FCF40A5-14AB-4DFE-AE11-EE12C16DB0E6}"/>
                  </a:ext>
                </a:extLst>
              </p:cNvPr>
              <p:cNvSpPr/>
              <p:nvPr/>
            </p:nvSpPr>
            <p:spPr>
              <a:xfrm>
                <a:off x="2853336" y="4230299"/>
                <a:ext cx="609600" cy="465196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P6</a:t>
                </a:r>
              </a:p>
            </p:txBody>
          </p:sp>
          <p:sp>
            <p:nvSpPr>
              <p:cNvPr id="74" name="Line 11">
                <a:extLst>
                  <a:ext uri="{FF2B5EF4-FFF2-40B4-BE49-F238E27FC236}">
                    <a16:creationId xmlns:a16="http://schemas.microsoft.com/office/drawing/2014/main" id="{2214C4B8-9451-46AA-A426-FC46051401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62936" y="4425108"/>
                <a:ext cx="28295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78" tIns="44445" rIns="90478" bIns="44445" anchor="ctr"/>
              <a:lstStyle/>
              <a:p>
                <a:endParaRPr lang="en-US"/>
              </a:p>
            </p:txBody>
          </p:sp>
        </p:grpSp>
        <p:sp>
          <p:nvSpPr>
            <p:cNvPr id="90" name="Line 11">
              <a:extLst>
                <a:ext uri="{FF2B5EF4-FFF2-40B4-BE49-F238E27FC236}">
                  <a16:creationId xmlns:a16="http://schemas.microsoft.com/office/drawing/2014/main" id="{F906C160-15ED-4CD0-BF69-CEEE4A8759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89050" y="4398878"/>
              <a:ext cx="2829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/>
            <a:p>
              <a:endParaRPr lang="en-US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E02FA9A7-925B-48FF-BABC-446159D47351}"/>
              </a:ext>
            </a:extLst>
          </p:cNvPr>
          <p:cNvGrpSpPr/>
          <p:nvPr/>
        </p:nvGrpSpPr>
        <p:grpSpPr>
          <a:xfrm>
            <a:off x="2563591" y="5684806"/>
            <a:ext cx="2267177" cy="1070421"/>
            <a:chOff x="2914423" y="4146639"/>
            <a:chExt cx="2267177" cy="1070421"/>
          </a:xfrm>
        </p:grpSpPr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3B559410-C9A7-48C5-BDC1-81534AD50A6A}"/>
                </a:ext>
              </a:extLst>
            </p:cNvPr>
            <p:cNvGrpSpPr/>
            <p:nvPr/>
          </p:nvGrpSpPr>
          <p:grpSpPr>
            <a:xfrm>
              <a:off x="2914423" y="4146639"/>
              <a:ext cx="2267177" cy="1070421"/>
              <a:chOff x="2914423" y="4172869"/>
              <a:chExt cx="2267177" cy="1070421"/>
            </a:xfrm>
          </p:grpSpPr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02FA32CD-B526-40D3-BE13-A8D532D221E8}"/>
                  </a:ext>
                </a:extLst>
              </p:cNvPr>
              <p:cNvGrpSpPr/>
              <p:nvPr/>
            </p:nvGrpSpPr>
            <p:grpSpPr>
              <a:xfrm>
                <a:off x="2914423" y="4202914"/>
                <a:ext cx="2267177" cy="1040376"/>
                <a:chOff x="1106112" y="3077396"/>
                <a:chExt cx="2267177" cy="1040376"/>
              </a:xfrm>
            </p:grpSpPr>
            <p:sp>
              <p:nvSpPr>
                <p:cNvPr id="105" name="Text Box 12">
                  <a:extLst>
                    <a:ext uri="{FF2B5EF4-FFF2-40B4-BE49-F238E27FC236}">
                      <a16:creationId xmlns:a16="http://schemas.microsoft.com/office/drawing/2014/main" id="{E3068207-BB86-4BEA-978D-755F07FE2FC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06112" y="3146989"/>
                  <a:ext cx="626755" cy="30520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66CC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78" tIns="44445" rIns="90478" bIns="44445">
                  <a:spAutoFit/>
                </a:bodyPr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25146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defRPr sz="2000" b="1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9718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defRPr sz="2000" b="1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34290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defRPr sz="2000" b="1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8862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defRPr sz="2000" b="1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r>
                    <a:rPr lang="en-US" altLang="ko-KR" sz="1400" dirty="0">
                      <a:ea typeface="굴림" panose="020B0600000101010101" pitchFamily="34" charset="-127"/>
                    </a:rPr>
                    <a:t>Head</a:t>
                  </a:r>
                </a:p>
              </p:txBody>
            </p:sp>
            <p:grpSp>
              <p:nvGrpSpPr>
                <p:cNvPr id="100" name="Group 99">
                  <a:extLst>
                    <a:ext uri="{FF2B5EF4-FFF2-40B4-BE49-F238E27FC236}">
                      <a16:creationId xmlns:a16="http://schemas.microsoft.com/office/drawing/2014/main" id="{12429E62-DD80-4083-BD49-0FA00B6BCEC6}"/>
                    </a:ext>
                  </a:extLst>
                </p:cNvPr>
                <p:cNvGrpSpPr/>
                <p:nvPr/>
              </p:nvGrpSpPr>
              <p:grpSpPr>
                <a:xfrm>
                  <a:off x="2205435" y="3597124"/>
                  <a:ext cx="863220" cy="520648"/>
                  <a:chOff x="2257216" y="4004690"/>
                  <a:chExt cx="863220" cy="520648"/>
                </a:xfrm>
              </p:grpSpPr>
              <p:sp>
                <p:nvSpPr>
                  <p:cNvPr id="102" name="Text Box 12">
                    <a:extLst>
                      <a:ext uri="{FF2B5EF4-FFF2-40B4-BE49-F238E27FC236}">
                        <a16:creationId xmlns:a16="http://schemas.microsoft.com/office/drawing/2014/main" id="{D99674EA-9BF9-4066-BAF8-472D5C9F22D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57216" y="4004693"/>
                    <a:ext cx="662022" cy="52064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66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478" tIns="44445" rIns="90478" bIns="44445">
                    <a:spAutoFit/>
                  </a:bodyPr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5pPr>
                    <a:lvl6pPr marL="2514600" indent="-228600" algn="ctr" eaLnBrk="0" fontAlgn="base" hangingPunct="0">
                      <a:lnSpc>
                        <a:spcPct val="8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6pPr>
                    <a:lvl7pPr marL="2971800" indent="-228600" algn="ctr" eaLnBrk="0" fontAlgn="base" hangingPunct="0">
                      <a:lnSpc>
                        <a:spcPct val="8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7pPr>
                    <a:lvl8pPr marL="3429000" indent="-228600" algn="ctr" eaLnBrk="0" fontAlgn="base" hangingPunct="0">
                      <a:lnSpc>
                        <a:spcPct val="8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8pPr>
                    <a:lvl9pPr marL="3886200" indent="-228600" algn="ctr" eaLnBrk="0" fontAlgn="base" hangingPunct="0">
                      <a:lnSpc>
                        <a:spcPct val="8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9pPr>
                  </a:lstStyle>
                  <a:p>
                    <a:r>
                      <a:rPr lang="en-US" altLang="ko-KR" sz="1400" dirty="0">
                        <a:ea typeface="굴림" panose="020B0600000101010101" pitchFamily="34" charset="-127"/>
                      </a:rPr>
                      <a:t>Tail </a:t>
                    </a:r>
                    <a:br>
                      <a:rPr lang="en-US" altLang="ko-KR" sz="1400" dirty="0">
                        <a:ea typeface="굴림" panose="020B0600000101010101" pitchFamily="34" charset="-127"/>
                      </a:rPr>
                    </a:br>
                    <a:r>
                      <a:rPr lang="en-US" altLang="ko-KR" sz="1400" dirty="0">
                        <a:ea typeface="굴림" panose="020B0600000101010101" pitchFamily="34" charset="-127"/>
                      </a:rPr>
                      <a:t>(LRU)</a:t>
                    </a:r>
                  </a:p>
                </p:txBody>
              </p:sp>
              <p:cxnSp>
                <p:nvCxnSpPr>
                  <p:cNvPr id="103" name="Connector: Elbow 102">
                    <a:extLst>
                      <a:ext uri="{FF2B5EF4-FFF2-40B4-BE49-F238E27FC236}">
                        <a16:creationId xmlns:a16="http://schemas.microsoft.com/office/drawing/2014/main" id="{DBAA84F3-FC61-4956-B549-D0E503658853}"/>
                      </a:ext>
                    </a:extLst>
                  </p:cNvPr>
                  <p:cNvCxnSpPr>
                    <a:cxnSpLocks/>
                    <a:stCxn id="102" idx="3"/>
                  </p:cNvCxnSpPr>
                  <p:nvPr/>
                </p:nvCxnSpPr>
                <p:spPr>
                  <a:xfrm flipV="1">
                    <a:off x="2919238" y="4004690"/>
                    <a:ext cx="201198" cy="260326"/>
                  </a:xfrm>
                  <a:prstGeom prst="bentConnector2">
                    <a:avLst/>
                  </a:prstGeom>
                  <a:ln w="28575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01" name="Rectangle: Rounded Corners 100">
                  <a:extLst>
                    <a:ext uri="{FF2B5EF4-FFF2-40B4-BE49-F238E27FC236}">
                      <a16:creationId xmlns:a16="http://schemas.microsoft.com/office/drawing/2014/main" id="{178593FD-62F3-46B8-873B-C616AEA945C9}"/>
                    </a:ext>
                  </a:extLst>
                </p:cNvPr>
                <p:cNvSpPr/>
                <p:nvPr/>
              </p:nvSpPr>
              <p:spPr>
                <a:xfrm>
                  <a:off x="2763689" y="3077396"/>
                  <a:ext cx="609600" cy="476284"/>
                </a:xfrm>
                <a:prstGeom prst="roundRect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P2</a:t>
                  </a:r>
                </a:p>
              </p:txBody>
            </p:sp>
          </p:grpSp>
          <p:sp>
            <p:nvSpPr>
              <p:cNvPr id="95" name="Rectangle: Rounded Corners 94">
                <a:extLst>
                  <a:ext uri="{FF2B5EF4-FFF2-40B4-BE49-F238E27FC236}">
                    <a16:creationId xmlns:a16="http://schemas.microsoft.com/office/drawing/2014/main" id="{9E4144EC-D962-4F20-B201-B6AE7205E0A6}"/>
                  </a:ext>
                </a:extLst>
              </p:cNvPr>
              <p:cNvSpPr/>
              <p:nvPr/>
            </p:nvSpPr>
            <p:spPr>
              <a:xfrm>
                <a:off x="3724036" y="4172869"/>
                <a:ext cx="609600" cy="476284"/>
              </a:xfrm>
              <a:prstGeom prst="round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P6</a:t>
                </a:r>
              </a:p>
            </p:txBody>
          </p:sp>
          <p:sp>
            <p:nvSpPr>
              <p:cNvPr id="96" name="Line 11">
                <a:extLst>
                  <a:ext uri="{FF2B5EF4-FFF2-40B4-BE49-F238E27FC236}">
                    <a16:creationId xmlns:a16="http://schemas.microsoft.com/office/drawing/2014/main" id="{834C63C8-B0DE-4C3E-A547-92233D6B1B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62936" y="4425108"/>
                <a:ext cx="28295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78" tIns="44445" rIns="90478" bIns="44445" anchor="ctr"/>
              <a:lstStyle/>
              <a:p>
                <a:endParaRPr lang="en-US"/>
              </a:p>
            </p:txBody>
          </p:sp>
        </p:grpSp>
        <p:sp>
          <p:nvSpPr>
            <p:cNvPr id="93" name="Line 11">
              <a:extLst>
                <a:ext uri="{FF2B5EF4-FFF2-40B4-BE49-F238E27FC236}">
                  <a16:creationId xmlns:a16="http://schemas.microsoft.com/office/drawing/2014/main" id="{7630C7F6-AB42-438A-9B40-94E2E02DDB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89050" y="4398878"/>
              <a:ext cx="2829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/>
            <a:p>
              <a:endParaRPr lang="en-US"/>
            </a:p>
          </p:txBody>
        </p:sp>
      </p:grpSp>
      <p:sp>
        <p:nvSpPr>
          <p:cNvPr id="10" name="Arrow: Right 9">
            <a:extLst>
              <a:ext uri="{FF2B5EF4-FFF2-40B4-BE49-F238E27FC236}">
                <a16:creationId xmlns:a16="http://schemas.microsoft.com/office/drawing/2014/main" id="{6CED5FC5-8A3F-4516-BE23-945C06C28B55}"/>
              </a:ext>
            </a:extLst>
          </p:cNvPr>
          <p:cNvSpPr/>
          <p:nvPr/>
        </p:nvSpPr>
        <p:spPr>
          <a:xfrm>
            <a:off x="4970702" y="5840994"/>
            <a:ext cx="381000" cy="22404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F15230A6-E15F-4F48-92D8-FAC5402D255A}"/>
              </a:ext>
            </a:extLst>
          </p:cNvPr>
          <p:cNvGrpSpPr/>
          <p:nvPr/>
        </p:nvGrpSpPr>
        <p:grpSpPr>
          <a:xfrm>
            <a:off x="5436768" y="5736459"/>
            <a:ext cx="3257103" cy="1026060"/>
            <a:chOff x="1924497" y="4191000"/>
            <a:chExt cx="3257103" cy="1026060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08651BF3-F866-4DD8-8283-8553285420C2}"/>
                </a:ext>
              </a:extLst>
            </p:cNvPr>
            <p:cNvGrpSpPr/>
            <p:nvPr/>
          </p:nvGrpSpPr>
          <p:grpSpPr>
            <a:xfrm>
              <a:off x="1924497" y="4191000"/>
              <a:ext cx="3257103" cy="1026060"/>
              <a:chOff x="1924497" y="4217230"/>
              <a:chExt cx="3257103" cy="1026060"/>
            </a:xfrm>
          </p:grpSpPr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26E110A6-E2FF-4A29-A280-DDBA44B2E172}"/>
                  </a:ext>
                </a:extLst>
              </p:cNvPr>
              <p:cNvGrpSpPr/>
              <p:nvPr/>
            </p:nvGrpSpPr>
            <p:grpSpPr>
              <a:xfrm>
                <a:off x="1924497" y="4217230"/>
                <a:ext cx="3257103" cy="1026060"/>
                <a:chOff x="2085206" y="3088742"/>
                <a:chExt cx="3257103" cy="1026060"/>
              </a:xfrm>
            </p:grpSpPr>
            <p:sp>
              <p:nvSpPr>
                <p:cNvPr id="123" name="Rectangle: Rounded Corners 122">
                  <a:extLst>
                    <a:ext uri="{FF2B5EF4-FFF2-40B4-BE49-F238E27FC236}">
                      <a16:creationId xmlns:a16="http://schemas.microsoft.com/office/drawing/2014/main" id="{02DAE8E3-2698-4F70-8965-4AC6D8E2969A}"/>
                    </a:ext>
                  </a:extLst>
                </p:cNvPr>
                <p:cNvSpPr/>
                <p:nvPr/>
              </p:nvSpPr>
              <p:spPr>
                <a:xfrm>
                  <a:off x="3845640" y="3088742"/>
                  <a:ext cx="609600" cy="476284"/>
                </a:xfrm>
                <a:prstGeom prst="roundRect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P6</a:t>
                  </a:r>
                </a:p>
              </p:txBody>
            </p:sp>
            <p:grpSp>
              <p:nvGrpSpPr>
                <p:cNvPr id="124" name="Group 123">
                  <a:extLst>
                    <a:ext uri="{FF2B5EF4-FFF2-40B4-BE49-F238E27FC236}">
                      <a16:creationId xmlns:a16="http://schemas.microsoft.com/office/drawing/2014/main" id="{DE8E67CE-9CC7-4947-8CCF-904BDB7C0405}"/>
                    </a:ext>
                  </a:extLst>
                </p:cNvPr>
                <p:cNvGrpSpPr/>
                <p:nvPr/>
              </p:nvGrpSpPr>
              <p:grpSpPr>
                <a:xfrm>
                  <a:off x="2085206" y="3095086"/>
                  <a:ext cx="3257103" cy="1019716"/>
                  <a:chOff x="116186" y="3098056"/>
                  <a:chExt cx="3257103" cy="1019716"/>
                </a:xfrm>
              </p:grpSpPr>
              <p:grpSp>
                <p:nvGrpSpPr>
                  <p:cNvPr id="125" name="Group 124">
                    <a:extLst>
                      <a:ext uri="{FF2B5EF4-FFF2-40B4-BE49-F238E27FC236}">
                        <a16:creationId xmlns:a16="http://schemas.microsoft.com/office/drawing/2014/main" id="{D8477A5F-7A1A-4EA8-803F-131F4197B47C}"/>
                      </a:ext>
                    </a:extLst>
                  </p:cNvPr>
                  <p:cNvGrpSpPr/>
                  <p:nvPr/>
                </p:nvGrpSpPr>
                <p:grpSpPr>
                  <a:xfrm>
                    <a:off x="116186" y="3123798"/>
                    <a:ext cx="950614" cy="305202"/>
                    <a:chOff x="116186" y="3390043"/>
                    <a:chExt cx="950614" cy="305202"/>
                  </a:xfrm>
                </p:grpSpPr>
                <p:sp>
                  <p:nvSpPr>
                    <p:cNvPr id="130" name="Line 11">
                      <a:extLst>
                        <a:ext uri="{FF2B5EF4-FFF2-40B4-BE49-F238E27FC236}">
                          <a16:creationId xmlns:a16="http://schemas.microsoft.com/office/drawing/2014/main" id="{45B9C68F-7757-4F33-A36E-7919DB4D181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11369" y="3581400"/>
                      <a:ext cx="355431" cy="0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78" tIns="44445" rIns="90478" bIns="44445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1" name="Text Box 12">
                      <a:extLst>
                        <a:ext uri="{FF2B5EF4-FFF2-40B4-BE49-F238E27FC236}">
                          <a16:creationId xmlns:a16="http://schemas.microsoft.com/office/drawing/2014/main" id="{E4E28906-444E-4D23-A1BC-F26C979EBF30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16186" y="3390043"/>
                      <a:ext cx="626755" cy="30520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66CC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38100" algn="ctr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78" tIns="44445" rIns="90478" bIns="44445">
                      <a:spAutoFit/>
                    </a:bodyPr>
                    <a:lstStyle>
                      <a:lvl1pPr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r>
                        <a:rPr lang="en-US" altLang="ko-KR" sz="1400" dirty="0">
                          <a:ea typeface="굴림" panose="020B0600000101010101" pitchFamily="34" charset="-127"/>
                        </a:rPr>
                        <a:t>Head</a:t>
                      </a:r>
                    </a:p>
                  </p:txBody>
                </p:sp>
              </p:grpSp>
              <p:grpSp>
                <p:nvGrpSpPr>
                  <p:cNvPr id="126" name="Group 125">
                    <a:extLst>
                      <a:ext uri="{FF2B5EF4-FFF2-40B4-BE49-F238E27FC236}">
                        <a16:creationId xmlns:a16="http://schemas.microsoft.com/office/drawing/2014/main" id="{1E612E9B-0F25-4142-99BF-4CC1E7A917B2}"/>
                      </a:ext>
                    </a:extLst>
                  </p:cNvPr>
                  <p:cNvGrpSpPr/>
                  <p:nvPr/>
                </p:nvGrpSpPr>
                <p:grpSpPr>
                  <a:xfrm>
                    <a:off x="2205435" y="3597124"/>
                    <a:ext cx="863220" cy="520648"/>
                    <a:chOff x="2257216" y="4004690"/>
                    <a:chExt cx="863220" cy="520648"/>
                  </a:xfrm>
                </p:grpSpPr>
                <p:sp>
                  <p:nvSpPr>
                    <p:cNvPr id="128" name="Text Box 12">
                      <a:extLst>
                        <a:ext uri="{FF2B5EF4-FFF2-40B4-BE49-F238E27FC236}">
                          <a16:creationId xmlns:a16="http://schemas.microsoft.com/office/drawing/2014/main" id="{AA7C2FD2-0717-4D91-910C-6AA817B4E573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257216" y="4004693"/>
                      <a:ext cx="662022" cy="52064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66CC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38100" algn="ctr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78" tIns="44445" rIns="90478" bIns="44445">
                      <a:spAutoFit/>
                    </a:bodyPr>
                    <a:lstStyle>
                      <a:lvl1pPr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r>
                        <a:rPr lang="en-US" altLang="ko-KR" sz="1400" dirty="0">
                          <a:ea typeface="굴림" panose="020B0600000101010101" pitchFamily="34" charset="-127"/>
                        </a:rPr>
                        <a:t>Tail </a:t>
                      </a:r>
                      <a:br>
                        <a:rPr lang="en-US" altLang="ko-KR" sz="1400" dirty="0">
                          <a:ea typeface="굴림" panose="020B0600000101010101" pitchFamily="34" charset="-127"/>
                        </a:rPr>
                      </a:br>
                      <a:r>
                        <a:rPr lang="en-US" altLang="ko-KR" sz="1400" dirty="0">
                          <a:ea typeface="굴림" panose="020B0600000101010101" pitchFamily="34" charset="-127"/>
                        </a:rPr>
                        <a:t>(LRU)</a:t>
                      </a:r>
                    </a:p>
                  </p:txBody>
                </p:sp>
                <p:cxnSp>
                  <p:nvCxnSpPr>
                    <p:cNvPr id="129" name="Connector: Elbow 128">
                      <a:extLst>
                        <a:ext uri="{FF2B5EF4-FFF2-40B4-BE49-F238E27FC236}">
                          <a16:creationId xmlns:a16="http://schemas.microsoft.com/office/drawing/2014/main" id="{DC20D8B5-3D2D-459D-A722-46AD27088349}"/>
                        </a:ext>
                      </a:extLst>
                    </p:cNvPr>
                    <p:cNvCxnSpPr>
                      <a:cxnSpLocks/>
                      <a:stCxn id="128" idx="3"/>
                    </p:cNvCxnSpPr>
                    <p:nvPr/>
                  </p:nvCxnSpPr>
                  <p:spPr>
                    <a:xfrm flipV="1">
                      <a:off x="2919238" y="4004690"/>
                      <a:ext cx="201198" cy="260326"/>
                    </a:xfrm>
                    <a:prstGeom prst="bentConnector2">
                      <a:avLst/>
                    </a:prstGeom>
                    <a:ln w="28575"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27" name="Rectangle: Rounded Corners 126">
                    <a:extLst>
                      <a:ext uri="{FF2B5EF4-FFF2-40B4-BE49-F238E27FC236}">
                        <a16:creationId xmlns:a16="http://schemas.microsoft.com/office/drawing/2014/main" id="{A0CB4A9F-5C03-4C4F-9117-BD1716A9ACA0}"/>
                      </a:ext>
                    </a:extLst>
                  </p:cNvPr>
                  <p:cNvSpPr/>
                  <p:nvPr/>
                </p:nvSpPr>
                <p:spPr>
                  <a:xfrm>
                    <a:off x="2763689" y="3098056"/>
                    <a:ext cx="609600" cy="476284"/>
                  </a:xfrm>
                  <a:prstGeom prst="roundRect">
                    <a:avLst/>
                  </a:prstGeom>
                </p:spPr>
                <p:style>
                  <a:lnRef idx="2">
                    <a:schemeClr val="accent5">
                      <a:shade val="50000"/>
                    </a:schemeClr>
                  </a:lnRef>
                  <a:fillRef idx="1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P2</a:t>
                    </a:r>
                  </a:p>
                </p:txBody>
              </p:sp>
            </p:grpSp>
          </p:grpSp>
          <p:sp>
            <p:nvSpPr>
              <p:cNvPr id="121" name="Rectangle: Rounded Corners 120">
                <a:extLst>
                  <a:ext uri="{FF2B5EF4-FFF2-40B4-BE49-F238E27FC236}">
                    <a16:creationId xmlns:a16="http://schemas.microsoft.com/office/drawing/2014/main" id="{848DB9E8-4C3B-42BC-9E34-25D7D50CB56E}"/>
                  </a:ext>
                </a:extLst>
              </p:cNvPr>
              <p:cNvSpPr/>
              <p:nvPr/>
            </p:nvSpPr>
            <p:spPr>
              <a:xfrm>
                <a:off x="2853336" y="4230299"/>
                <a:ext cx="609600" cy="465196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P1</a:t>
                </a:r>
              </a:p>
            </p:txBody>
          </p:sp>
          <p:sp>
            <p:nvSpPr>
              <p:cNvPr id="122" name="Line 11">
                <a:extLst>
                  <a:ext uri="{FF2B5EF4-FFF2-40B4-BE49-F238E27FC236}">
                    <a16:creationId xmlns:a16="http://schemas.microsoft.com/office/drawing/2014/main" id="{2546EF35-8D61-4B65-9180-2DAB399284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62936" y="4425108"/>
                <a:ext cx="28295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78" tIns="44445" rIns="90478" bIns="44445" anchor="ctr"/>
              <a:lstStyle/>
              <a:p>
                <a:endParaRPr lang="en-US"/>
              </a:p>
            </p:txBody>
          </p:sp>
        </p:grpSp>
        <p:sp>
          <p:nvSpPr>
            <p:cNvPr id="119" name="Line 11">
              <a:extLst>
                <a:ext uri="{FF2B5EF4-FFF2-40B4-BE49-F238E27FC236}">
                  <a16:creationId xmlns:a16="http://schemas.microsoft.com/office/drawing/2014/main" id="{D18CB659-2C50-4382-9591-F98E0E9A7A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89050" y="4398878"/>
              <a:ext cx="2829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/>
            <a:p>
              <a:endParaRPr lang="en-US"/>
            </a:p>
          </p:txBody>
        </p:sp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B795DA1-3E87-4CDE-BCDE-2D0CEA4CF823}"/>
              </a:ext>
            </a:extLst>
          </p:cNvPr>
          <p:cNvSpPr/>
          <p:nvPr/>
        </p:nvSpPr>
        <p:spPr>
          <a:xfrm>
            <a:off x="6146800" y="3655400"/>
            <a:ext cx="4927600" cy="15719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900" b="1" dirty="0">
                <a:solidFill>
                  <a:srgbClr val="FF0000"/>
                </a:solidFill>
              </a:rPr>
              <a:t>Problems?</a:t>
            </a:r>
          </a:p>
          <a:p>
            <a:pPr marL="169863" indent="-169863">
              <a:buFont typeface="Arial" panose="020B0604020202020204" pitchFamily="34" charset="0"/>
              <a:buChar char="•"/>
              <a:tabLst>
                <a:tab pos="233363" algn="l"/>
              </a:tabLst>
            </a:pPr>
            <a:r>
              <a:rPr lang="en-US" sz="1900" b="1" dirty="0">
                <a:solidFill>
                  <a:srgbClr val="FF0000"/>
                </a:solidFill>
              </a:rPr>
              <a:t>Need to know immediately when each page used so that can change position in list…</a:t>
            </a:r>
          </a:p>
        </p:txBody>
      </p:sp>
      <p:pic>
        <p:nvPicPr>
          <p:cNvPr id="132" name="Picture 17">
            <a:extLst>
              <a:ext uri="{FF2B5EF4-FFF2-40B4-BE49-F238E27FC236}">
                <a16:creationId xmlns:a16="http://schemas.microsoft.com/office/drawing/2014/main" id="{AFB8B2ED-4D41-4829-A589-DCEB6E74DB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5398" y="3066918"/>
            <a:ext cx="980005" cy="980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CC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538287AE-846D-80C8-9392-F24E4C4357B8}"/>
              </a:ext>
            </a:extLst>
          </p:cNvPr>
          <p:cNvGrpSpPr/>
          <p:nvPr/>
        </p:nvGrpSpPr>
        <p:grpSpPr>
          <a:xfrm>
            <a:off x="8173720" y="1869440"/>
            <a:ext cx="2171700" cy="1829427"/>
            <a:chOff x="6705600" y="1417638"/>
            <a:chExt cx="2171700" cy="1829427"/>
          </a:xfrm>
        </p:grpSpPr>
        <p:sp>
          <p:nvSpPr>
            <p:cNvPr id="12" name="Thought Bubble: Cloud 11">
              <a:extLst>
                <a:ext uri="{FF2B5EF4-FFF2-40B4-BE49-F238E27FC236}">
                  <a16:creationId xmlns:a16="http://schemas.microsoft.com/office/drawing/2014/main" id="{88D48090-3E7C-AA79-DEB3-B0D5EB553476}"/>
                </a:ext>
              </a:extLst>
            </p:cNvPr>
            <p:cNvSpPr/>
            <p:nvPr/>
          </p:nvSpPr>
          <p:spPr>
            <a:xfrm>
              <a:off x="6847367" y="1417638"/>
              <a:ext cx="2029933" cy="719506"/>
            </a:xfrm>
            <a:prstGeom prst="cloudCallou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Use a list!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BBEBC45-C93E-52F4-05FF-DF18823AEAC5}"/>
                </a:ext>
              </a:extLst>
            </p:cNvPr>
            <p:cNvGrpSpPr/>
            <p:nvPr/>
          </p:nvGrpSpPr>
          <p:grpSpPr>
            <a:xfrm>
              <a:off x="6705600" y="2408037"/>
              <a:ext cx="914400" cy="305202"/>
              <a:chOff x="2640782" y="2280268"/>
              <a:chExt cx="914400" cy="305202"/>
            </a:xfrm>
          </p:grpSpPr>
          <p:sp>
            <p:nvSpPr>
              <p:cNvPr id="17" name="Line 11">
                <a:extLst>
                  <a:ext uri="{FF2B5EF4-FFF2-40B4-BE49-F238E27FC236}">
                    <a16:creationId xmlns:a16="http://schemas.microsoft.com/office/drawing/2014/main" id="{E49DCB64-7890-9253-809F-3A0EEC2558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9751" y="2432869"/>
                <a:ext cx="35543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78" tIns="44445" rIns="90478" bIns="44445" anchor="ctr"/>
              <a:lstStyle/>
              <a:p>
                <a:endParaRPr lang="en-US"/>
              </a:p>
            </p:txBody>
          </p:sp>
          <p:sp>
            <p:nvSpPr>
              <p:cNvPr id="18" name="Text Box 12">
                <a:extLst>
                  <a:ext uri="{FF2B5EF4-FFF2-40B4-BE49-F238E27FC236}">
                    <a16:creationId xmlns:a16="http://schemas.microsoft.com/office/drawing/2014/main" id="{AAFD23CC-2A36-FBC5-7379-7888737A3E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782" y="2280268"/>
                <a:ext cx="626755" cy="3052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66CC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78" tIns="44445" rIns="90478" bIns="44445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r>
                  <a:rPr lang="en-US" altLang="ko-KR" sz="1400" dirty="0">
                    <a:ea typeface="굴림" panose="020B0600000101010101" pitchFamily="34" charset="-127"/>
                  </a:rPr>
                  <a:t>Head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B5A0DC5-DEC3-F726-02F3-B45C5451D7C9}"/>
                </a:ext>
              </a:extLst>
            </p:cNvPr>
            <p:cNvGrpSpPr/>
            <p:nvPr/>
          </p:nvGrpSpPr>
          <p:grpSpPr>
            <a:xfrm>
              <a:off x="7755098" y="2726417"/>
              <a:ext cx="863220" cy="520648"/>
              <a:chOff x="3742061" y="2739969"/>
              <a:chExt cx="863220" cy="520648"/>
            </a:xfrm>
          </p:grpSpPr>
          <p:sp>
            <p:nvSpPr>
              <p:cNvPr id="15" name="Text Box 12">
                <a:extLst>
                  <a:ext uri="{FF2B5EF4-FFF2-40B4-BE49-F238E27FC236}">
                    <a16:creationId xmlns:a16="http://schemas.microsoft.com/office/drawing/2014/main" id="{BB64B00C-C31F-47E6-6F15-66070101E2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2061" y="2739972"/>
                <a:ext cx="662022" cy="5206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66CC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78" tIns="44445" rIns="90478" bIns="44445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r>
                  <a:rPr lang="en-US" altLang="ko-KR" sz="1400" dirty="0">
                    <a:ea typeface="굴림" panose="020B0600000101010101" pitchFamily="34" charset="-127"/>
                  </a:rPr>
                  <a:t>Tail </a:t>
                </a:r>
                <a:br>
                  <a:rPr lang="en-US" altLang="ko-KR" sz="1400" dirty="0">
                    <a:ea typeface="굴림" panose="020B0600000101010101" pitchFamily="34" charset="-127"/>
                  </a:rPr>
                </a:br>
                <a:r>
                  <a:rPr lang="en-US" altLang="ko-KR" sz="1400" dirty="0">
                    <a:ea typeface="굴림" panose="020B0600000101010101" pitchFamily="34" charset="-127"/>
                  </a:rPr>
                  <a:t>(LRU)</a:t>
                </a:r>
              </a:p>
            </p:txBody>
          </p:sp>
          <p:cxnSp>
            <p:nvCxnSpPr>
              <p:cNvPr id="16" name="Connector: Elbow 15">
                <a:extLst>
                  <a:ext uri="{FF2B5EF4-FFF2-40B4-BE49-F238E27FC236}">
                    <a16:creationId xmlns:a16="http://schemas.microsoft.com/office/drawing/2014/main" id="{0BE01166-5903-63CA-E671-71365C3962D1}"/>
                  </a:ext>
                </a:extLst>
              </p:cNvPr>
              <p:cNvCxnSpPr>
                <a:cxnSpLocks/>
                <a:stCxn id="15" idx="3"/>
              </p:cNvCxnSpPr>
              <p:nvPr/>
            </p:nvCxnSpPr>
            <p:spPr>
              <a:xfrm flipV="1">
                <a:off x="4404083" y="2739969"/>
                <a:ext cx="201198" cy="260326"/>
              </a:xfrm>
              <a:prstGeom prst="bentConnector2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975257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84BF7-E9B6-4529-8A31-835F285F1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Replac#2: </a:t>
            </a:r>
            <a:r>
              <a:rPr lang="en-NZ" b="1" dirty="0"/>
              <a:t>LRU – </a:t>
            </a:r>
            <a:r>
              <a:rPr lang="en-NZ" b="1" dirty="0">
                <a:solidFill>
                  <a:srgbClr val="FF0000"/>
                </a:solidFill>
              </a:rPr>
              <a:t>Idea#1</a:t>
            </a:r>
            <a:r>
              <a:rPr lang="en-NZ" b="1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3B70B-3146-4890-85A8-51773A165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7120" y="1761726"/>
            <a:ext cx="9824720" cy="5136596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altLang="ko-KR" dirty="0">
                <a:ea typeface="굴림" panose="020B0600000101010101" pitchFamily="34" charset="-127"/>
              </a:rPr>
              <a:t>So, to implement LRU with know immediately when each page used:</a:t>
            </a:r>
          </a:p>
          <a:p>
            <a:pPr lvl="1"/>
            <a:r>
              <a:rPr lang="en-US" altLang="ko-KR" sz="1600" dirty="0">
                <a:ea typeface="굴림" panose="020B0600000101010101" pitchFamily="34" charset="-127"/>
              </a:rPr>
              <a:t>Page 2: </a:t>
            </a:r>
          </a:p>
          <a:p>
            <a:pPr marL="457200" lvl="1" indent="0">
              <a:buNone/>
            </a:pPr>
            <a:r>
              <a:rPr lang="en-US" altLang="ko-KR" sz="1600" dirty="0">
                <a:ea typeface="굴림" panose="020B0600000101010101" pitchFamily="34" charset="-127"/>
              </a:rPr>
              <a:t>(Page Fault)</a:t>
            </a:r>
          </a:p>
          <a:p>
            <a:pPr lvl="1"/>
            <a:endParaRPr lang="en-US" altLang="ko-KR" sz="1600" dirty="0">
              <a:ea typeface="굴림" panose="020B0600000101010101" pitchFamily="34" charset="-127"/>
            </a:endParaRPr>
          </a:p>
          <a:p>
            <a:pPr marL="457200" lvl="1" indent="0">
              <a:buNone/>
            </a:pPr>
            <a:endParaRPr lang="en-US" altLang="ko-KR" sz="1600" dirty="0">
              <a:ea typeface="굴림" panose="020B0600000101010101" pitchFamily="34" charset="-127"/>
            </a:endParaRPr>
          </a:p>
          <a:p>
            <a:pPr lvl="1"/>
            <a:r>
              <a:rPr lang="en-US" altLang="ko-KR" sz="1600" dirty="0">
                <a:ea typeface="굴림" panose="020B0600000101010101" pitchFamily="34" charset="-127"/>
              </a:rPr>
              <a:t>Page 1: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ko-KR" sz="1600" dirty="0">
                <a:ea typeface="굴림" panose="020B0600000101010101" pitchFamily="34" charset="-127"/>
              </a:rPr>
              <a:t>(Page Fault)</a:t>
            </a:r>
          </a:p>
          <a:p>
            <a:pPr marL="457200" lvl="1" indent="0">
              <a:lnSpc>
                <a:spcPct val="80000"/>
              </a:lnSpc>
              <a:buNone/>
            </a:pPr>
            <a:endParaRPr lang="en-US" altLang="ko-KR" sz="2000" dirty="0">
              <a:ea typeface="굴림" panose="020B0600000101010101" pitchFamily="34" charset="-127"/>
            </a:endParaRPr>
          </a:p>
          <a:p>
            <a:pPr lvl="1"/>
            <a:endParaRPr lang="en-US" sz="2000" dirty="0"/>
          </a:p>
          <a:p>
            <a:pPr lvl="1"/>
            <a:r>
              <a:rPr lang="en-US" altLang="ko-KR" sz="1600" dirty="0">
                <a:ea typeface="굴림" panose="020B0600000101010101" pitchFamily="34" charset="-127"/>
              </a:rPr>
              <a:t>Page 6:</a:t>
            </a:r>
          </a:p>
          <a:p>
            <a:pPr marL="457200" lvl="1" indent="0">
              <a:buNone/>
            </a:pPr>
            <a:r>
              <a:rPr lang="en-US" altLang="ko-KR" sz="1600" dirty="0">
                <a:ea typeface="굴림" panose="020B0600000101010101" pitchFamily="34" charset="-127"/>
              </a:rPr>
              <a:t>(Page Fault)</a:t>
            </a:r>
          </a:p>
          <a:p>
            <a:pPr marL="457200" lvl="1" indent="0">
              <a:buNone/>
            </a:pPr>
            <a:endParaRPr lang="en-US" sz="2000" dirty="0"/>
          </a:p>
          <a:p>
            <a:pPr lvl="1"/>
            <a:endParaRPr lang="en-US" altLang="ko-KR" sz="1600" dirty="0">
              <a:ea typeface="굴림" panose="020B0600000101010101" pitchFamily="34" charset="-127"/>
            </a:endParaRPr>
          </a:p>
          <a:p>
            <a:pPr lvl="1"/>
            <a:r>
              <a:rPr lang="en-US" altLang="ko-KR" sz="1600" dirty="0">
                <a:ea typeface="굴림" panose="020B0600000101010101" pitchFamily="34" charset="-127"/>
              </a:rPr>
              <a:t>Page 1:</a:t>
            </a:r>
          </a:p>
          <a:p>
            <a:pPr marL="457200" lvl="1" indent="0">
              <a:buNone/>
            </a:pPr>
            <a:r>
              <a:rPr lang="en-US" altLang="ko-KR" sz="1600" dirty="0">
                <a:ea typeface="굴림" panose="020B0600000101010101" pitchFamily="34" charset="-127"/>
              </a:rPr>
              <a:t>(</a:t>
            </a:r>
            <a:r>
              <a:rPr lang="en-US" altLang="ko-KR" sz="1600" b="1" dirty="0">
                <a:highlight>
                  <a:srgbClr val="FFFF00"/>
                </a:highlight>
                <a:ea typeface="굴림" panose="020B0600000101010101" pitchFamily="34" charset="-127"/>
              </a:rPr>
              <a:t>ACCESS</a:t>
            </a:r>
            <a:r>
              <a:rPr lang="en-US" altLang="ko-KR" sz="1600" dirty="0">
                <a:ea typeface="굴림" panose="020B0600000101010101" pitchFamily="34" charset="-127"/>
              </a:rPr>
              <a:t> already</a:t>
            </a:r>
            <a:br>
              <a:rPr lang="en-US" altLang="ko-KR" sz="1600" dirty="0">
                <a:ea typeface="굴림" panose="020B0600000101010101" pitchFamily="34" charset="-127"/>
              </a:rPr>
            </a:br>
            <a:r>
              <a:rPr lang="en-US" altLang="ko-KR" sz="1600" dirty="0">
                <a:ea typeface="굴림" panose="020B0600000101010101" pitchFamily="34" charset="-127"/>
              </a:rPr>
              <a:t>Existing page)</a:t>
            </a:r>
          </a:p>
          <a:p>
            <a:pPr lvl="1"/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86168B-DAA3-404D-BDD5-15B9C9004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1A502C1-B9DC-4013-94FB-9A071620BDFA}"/>
              </a:ext>
            </a:extLst>
          </p:cNvPr>
          <p:cNvGrpSpPr/>
          <p:nvPr/>
        </p:nvGrpSpPr>
        <p:grpSpPr>
          <a:xfrm>
            <a:off x="2763520" y="2113649"/>
            <a:ext cx="1629150" cy="993909"/>
            <a:chOff x="116186" y="3123798"/>
            <a:chExt cx="1629150" cy="993909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67D0E6CB-F65D-496C-B633-E7EE7D1AAE90}"/>
                </a:ext>
              </a:extLst>
            </p:cNvPr>
            <p:cNvGrpSpPr/>
            <p:nvPr/>
          </p:nvGrpSpPr>
          <p:grpSpPr>
            <a:xfrm>
              <a:off x="116186" y="3123798"/>
              <a:ext cx="950614" cy="305202"/>
              <a:chOff x="116186" y="3390043"/>
              <a:chExt cx="950614" cy="305202"/>
            </a:xfrm>
          </p:grpSpPr>
          <p:sp>
            <p:nvSpPr>
              <p:cNvPr id="42" name="Line 11">
                <a:extLst>
                  <a:ext uri="{FF2B5EF4-FFF2-40B4-BE49-F238E27FC236}">
                    <a16:creationId xmlns:a16="http://schemas.microsoft.com/office/drawing/2014/main" id="{A71CF779-2A1E-447C-B8B7-3C4DA5C63F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1369" y="3581400"/>
                <a:ext cx="35543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78" tIns="44445" rIns="90478" bIns="44445" anchor="ctr"/>
              <a:lstStyle/>
              <a:p>
                <a:endParaRPr lang="en-US"/>
              </a:p>
            </p:txBody>
          </p:sp>
          <p:sp>
            <p:nvSpPr>
              <p:cNvPr id="43" name="Text Box 12">
                <a:extLst>
                  <a:ext uri="{FF2B5EF4-FFF2-40B4-BE49-F238E27FC236}">
                    <a16:creationId xmlns:a16="http://schemas.microsoft.com/office/drawing/2014/main" id="{590B5ABD-0578-4EEE-B101-65AEFC46FE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6186" y="3390043"/>
                <a:ext cx="626755" cy="3052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66CC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78" tIns="44445" rIns="90478" bIns="44445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r>
                  <a:rPr lang="en-US" altLang="ko-KR" sz="1400" dirty="0">
                    <a:ea typeface="굴림" panose="020B0600000101010101" pitchFamily="34" charset="-127"/>
                  </a:rPr>
                  <a:t>Head</a:t>
                </a:r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DB30A24D-7019-4396-9637-E414203A427E}"/>
                </a:ext>
              </a:extLst>
            </p:cNvPr>
            <p:cNvGrpSpPr/>
            <p:nvPr/>
          </p:nvGrpSpPr>
          <p:grpSpPr>
            <a:xfrm>
              <a:off x="543047" y="3597059"/>
              <a:ext cx="863220" cy="520648"/>
              <a:chOff x="594828" y="4004625"/>
              <a:chExt cx="863220" cy="520648"/>
            </a:xfrm>
          </p:grpSpPr>
          <p:sp>
            <p:nvSpPr>
              <p:cNvPr id="45" name="Text Box 12">
                <a:extLst>
                  <a:ext uri="{FF2B5EF4-FFF2-40B4-BE49-F238E27FC236}">
                    <a16:creationId xmlns:a16="http://schemas.microsoft.com/office/drawing/2014/main" id="{7DC18D2C-4C7E-4FBB-AACD-9311D57055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4828" y="4004628"/>
                <a:ext cx="662022" cy="5206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66CC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78" tIns="44445" rIns="90478" bIns="44445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r>
                  <a:rPr lang="en-US" altLang="ko-KR" sz="1400" dirty="0">
                    <a:ea typeface="굴림" panose="020B0600000101010101" pitchFamily="34" charset="-127"/>
                  </a:rPr>
                  <a:t>Tail </a:t>
                </a:r>
                <a:br>
                  <a:rPr lang="en-US" altLang="ko-KR" sz="1400" dirty="0">
                    <a:ea typeface="굴림" panose="020B0600000101010101" pitchFamily="34" charset="-127"/>
                  </a:rPr>
                </a:br>
                <a:r>
                  <a:rPr lang="en-US" altLang="ko-KR" sz="1400" dirty="0">
                    <a:ea typeface="굴림" panose="020B0600000101010101" pitchFamily="34" charset="-127"/>
                  </a:rPr>
                  <a:t>(LRU)</a:t>
                </a:r>
              </a:p>
            </p:txBody>
          </p:sp>
          <p:cxnSp>
            <p:nvCxnSpPr>
              <p:cNvPr id="47" name="Connector: Elbow 46">
                <a:extLst>
                  <a:ext uri="{FF2B5EF4-FFF2-40B4-BE49-F238E27FC236}">
                    <a16:creationId xmlns:a16="http://schemas.microsoft.com/office/drawing/2014/main" id="{A26E630A-4DFF-4E89-B7B1-093CCBB65233}"/>
                  </a:ext>
                </a:extLst>
              </p:cNvPr>
              <p:cNvCxnSpPr>
                <a:cxnSpLocks/>
                <a:stCxn id="45" idx="3"/>
              </p:cNvCxnSpPr>
              <p:nvPr/>
            </p:nvCxnSpPr>
            <p:spPr>
              <a:xfrm flipV="1">
                <a:off x="1256850" y="4004625"/>
                <a:ext cx="201198" cy="260326"/>
              </a:xfrm>
              <a:prstGeom prst="bentConnector2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33DBF7C1-E665-4859-9FF6-E938D5C72B1D}"/>
                </a:ext>
              </a:extLst>
            </p:cNvPr>
            <p:cNvSpPr/>
            <p:nvPr/>
          </p:nvSpPr>
          <p:spPr>
            <a:xfrm>
              <a:off x="1135736" y="3123798"/>
              <a:ext cx="609600" cy="476284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P2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6ABB7E4-1BA4-4ADB-9D97-B6B9EFB5AE03}"/>
              </a:ext>
            </a:extLst>
          </p:cNvPr>
          <p:cNvGrpSpPr/>
          <p:nvPr/>
        </p:nvGrpSpPr>
        <p:grpSpPr>
          <a:xfrm>
            <a:off x="2605948" y="3219756"/>
            <a:ext cx="2595972" cy="1048409"/>
            <a:chOff x="2085206" y="3035287"/>
            <a:chExt cx="2595972" cy="104840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27C00DE-086D-4749-ADBB-E3AE7C2BED21}"/>
                </a:ext>
              </a:extLst>
            </p:cNvPr>
            <p:cNvGrpSpPr/>
            <p:nvPr/>
          </p:nvGrpSpPr>
          <p:grpSpPr>
            <a:xfrm>
              <a:off x="2085206" y="3035287"/>
              <a:ext cx="2595972" cy="1048409"/>
              <a:chOff x="2085206" y="3035287"/>
              <a:chExt cx="2595972" cy="1048409"/>
            </a:xfrm>
          </p:grpSpPr>
          <p:sp>
            <p:nvSpPr>
              <p:cNvPr id="57" name="Rectangle: Rounded Corners 56">
                <a:extLst>
                  <a:ext uri="{FF2B5EF4-FFF2-40B4-BE49-F238E27FC236}">
                    <a16:creationId xmlns:a16="http://schemas.microsoft.com/office/drawing/2014/main" id="{CFA6B00A-1539-4692-AEAD-DD7DFE97AB4D}"/>
                  </a:ext>
                </a:extLst>
              </p:cNvPr>
              <p:cNvSpPr/>
              <p:nvPr/>
            </p:nvSpPr>
            <p:spPr>
              <a:xfrm>
                <a:off x="3048000" y="3048000"/>
                <a:ext cx="609600" cy="476284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P1</a:t>
                </a:r>
              </a:p>
            </p:txBody>
          </p: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4E2CFD92-36CF-4280-99C4-1132886C73D5}"/>
                  </a:ext>
                </a:extLst>
              </p:cNvPr>
              <p:cNvGrpSpPr/>
              <p:nvPr/>
            </p:nvGrpSpPr>
            <p:grpSpPr>
              <a:xfrm>
                <a:off x="2085206" y="3035287"/>
                <a:ext cx="2595972" cy="1048409"/>
                <a:chOff x="116186" y="3038257"/>
                <a:chExt cx="2595972" cy="1048409"/>
              </a:xfrm>
            </p:grpSpPr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8ADB08E1-1F44-49B9-8502-7E621196F3F5}"/>
                    </a:ext>
                  </a:extLst>
                </p:cNvPr>
                <p:cNvGrpSpPr/>
                <p:nvPr/>
              </p:nvGrpSpPr>
              <p:grpSpPr>
                <a:xfrm>
                  <a:off x="116186" y="3123798"/>
                  <a:ext cx="950614" cy="305202"/>
                  <a:chOff x="116186" y="3390043"/>
                  <a:chExt cx="950614" cy="305202"/>
                </a:xfrm>
              </p:grpSpPr>
              <p:sp>
                <p:nvSpPr>
                  <p:cNvPr id="35" name="Line 11">
                    <a:extLst>
                      <a:ext uri="{FF2B5EF4-FFF2-40B4-BE49-F238E27FC236}">
                        <a16:creationId xmlns:a16="http://schemas.microsoft.com/office/drawing/2014/main" id="{09D1F43C-4C5A-4DEA-9E3E-835858AB5D2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711369" y="3581400"/>
                    <a:ext cx="355431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478" tIns="44445" rIns="90478" bIns="44445" anchor="ctr"/>
                  <a:lstStyle/>
                  <a:p>
                    <a:endParaRPr lang="en-US"/>
                  </a:p>
                </p:txBody>
              </p:sp>
              <p:sp>
                <p:nvSpPr>
                  <p:cNvPr id="36" name="Text Box 12">
                    <a:extLst>
                      <a:ext uri="{FF2B5EF4-FFF2-40B4-BE49-F238E27FC236}">
                        <a16:creationId xmlns:a16="http://schemas.microsoft.com/office/drawing/2014/main" id="{52DFED0A-55F5-4169-9EBF-9BB521D107D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6186" y="3390043"/>
                    <a:ext cx="626755" cy="30520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66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478" tIns="44445" rIns="90478" bIns="44445">
                    <a:spAutoFit/>
                  </a:bodyPr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5pPr>
                    <a:lvl6pPr marL="2514600" indent="-228600" algn="ctr" eaLnBrk="0" fontAlgn="base" hangingPunct="0">
                      <a:lnSpc>
                        <a:spcPct val="8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6pPr>
                    <a:lvl7pPr marL="2971800" indent="-228600" algn="ctr" eaLnBrk="0" fontAlgn="base" hangingPunct="0">
                      <a:lnSpc>
                        <a:spcPct val="8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7pPr>
                    <a:lvl8pPr marL="3429000" indent="-228600" algn="ctr" eaLnBrk="0" fontAlgn="base" hangingPunct="0">
                      <a:lnSpc>
                        <a:spcPct val="8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8pPr>
                    <a:lvl9pPr marL="3886200" indent="-228600" algn="ctr" eaLnBrk="0" fontAlgn="base" hangingPunct="0">
                      <a:lnSpc>
                        <a:spcPct val="8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9pPr>
                  </a:lstStyle>
                  <a:p>
                    <a:r>
                      <a:rPr lang="en-US" altLang="ko-KR" sz="1400" dirty="0">
                        <a:ea typeface="굴림" panose="020B0600000101010101" pitchFamily="34" charset="-127"/>
                      </a:rPr>
                      <a:t>Head</a:t>
                    </a:r>
                  </a:p>
                </p:txBody>
              </p:sp>
            </p:grpSp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03DE4B37-0DEE-48D9-A49B-3A32F8C20C10}"/>
                    </a:ext>
                  </a:extLst>
                </p:cNvPr>
                <p:cNvGrpSpPr/>
                <p:nvPr/>
              </p:nvGrpSpPr>
              <p:grpSpPr>
                <a:xfrm>
                  <a:off x="1428849" y="3566018"/>
                  <a:ext cx="863220" cy="520648"/>
                  <a:chOff x="1480630" y="3973584"/>
                  <a:chExt cx="863220" cy="520648"/>
                </a:xfrm>
              </p:grpSpPr>
              <p:sp>
                <p:nvSpPr>
                  <p:cNvPr id="33" name="Text Box 12">
                    <a:extLst>
                      <a:ext uri="{FF2B5EF4-FFF2-40B4-BE49-F238E27FC236}">
                        <a16:creationId xmlns:a16="http://schemas.microsoft.com/office/drawing/2014/main" id="{8599F95A-0F16-4458-B8E6-EDE35060669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80630" y="3973587"/>
                    <a:ext cx="662022" cy="52064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66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478" tIns="44445" rIns="90478" bIns="44445">
                    <a:spAutoFit/>
                  </a:bodyPr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5pPr>
                    <a:lvl6pPr marL="2514600" indent="-228600" algn="ctr" eaLnBrk="0" fontAlgn="base" hangingPunct="0">
                      <a:lnSpc>
                        <a:spcPct val="8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6pPr>
                    <a:lvl7pPr marL="2971800" indent="-228600" algn="ctr" eaLnBrk="0" fontAlgn="base" hangingPunct="0">
                      <a:lnSpc>
                        <a:spcPct val="8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7pPr>
                    <a:lvl8pPr marL="3429000" indent="-228600" algn="ctr" eaLnBrk="0" fontAlgn="base" hangingPunct="0">
                      <a:lnSpc>
                        <a:spcPct val="8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8pPr>
                    <a:lvl9pPr marL="3886200" indent="-228600" algn="ctr" eaLnBrk="0" fontAlgn="base" hangingPunct="0">
                      <a:lnSpc>
                        <a:spcPct val="8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9pPr>
                  </a:lstStyle>
                  <a:p>
                    <a:r>
                      <a:rPr lang="en-US" altLang="ko-KR" sz="1400" dirty="0">
                        <a:ea typeface="굴림" panose="020B0600000101010101" pitchFamily="34" charset="-127"/>
                      </a:rPr>
                      <a:t>Tail </a:t>
                    </a:r>
                    <a:br>
                      <a:rPr lang="en-US" altLang="ko-KR" sz="1400" dirty="0">
                        <a:ea typeface="굴림" panose="020B0600000101010101" pitchFamily="34" charset="-127"/>
                      </a:rPr>
                    </a:br>
                    <a:r>
                      <a:rPr lang="en-US" altLang="ko-KR" sz="1400" dirty="0">
                        <a:ea typeface="굴림" panose="020B0600000101010101" pitchFamily="34" charset="-127"/>
                      </a:rPr>
                      <a:t>(LRU)</a:t>
                    </a:r>
                  </a:p>
                </p:txBody>
              </p:sp>
              <p:cxnSp>
                <p:nvCxnSpPr>
                  <p:cNvPr id="34" name="Connector: Elbow 33">
                    <a:extLst>
                      <a:ext uri="{FF2B5EF4-FFF2-40B4-BE49-F238E27FC236}">
                        <a16:creationId xmlns:a16="http://schemas.microsoft.com/office/drawing/2014/main" id="{EEED8A16-9E29-4C88-8117-76CAE3221D49}"/>
                      </a:ext>
                    </a:extLst>
                  </p:cNvPr>
                  <p:cNvCxnSpPr>
                    <a:cxnSpLocks/>
                    <a:stCxn id="33" idx="3"/>
                  </p:cNvCxnSpPr>
                  <p:nvPr/>
                </p:nvCxnSpPr>
                <p:spPr>
                  <a:xfrm flipV="1">
                    <a:off x="2142652" y="3973584"/>
                    <a:ext cx="201198" cy="260326"/>
                  </a:xfrm>
                  <a:prstGeom prst="bentConnector2">
                    <a:avLst/>
                  </a:prstGeom>
                  <a:ln w="28575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2" name="Rectangle: Rounded Corners 31">
                  <a:extLst>
                    <a:ext uri="{FF2B5EF4-FFF2-40B4-BE49-F238E27FC236}">
                      <a16:creationId xmlns:a16="http://schemas.microsoft.com/office/drawing/2014/main" id="{3D0668A1-2874-4254-A6D7-707DE9479F4B}"/>
                    </a:ext>
                  </a:extLst>
                </p:cNvPr>
                <p:cNvSpPr/>
                <p:nvPr/>
              </p:nvSpPr>
              <p:spPr>
                <a:xfrm>
                  <a:off x="2102558" y="3038257"/>
                  <a:ext cx="609600" cy="476284"/>
                </a:xfrm>
                <a:prstGeom prst="roundRect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P2</a:t>
                  </a:r>
                </a:p>
              </p:txBody>
            </p:sp>
          </p:grpSp>
        </p:grpSp>
        <p:sp>
          <p:nvSpPr>
            <p:cNvPr id="37" name="Line 11">
              <a:extLst>
                <a:ext uri="{FF2B5EF4-FFF2-40B4-BE49-F238E27FC236}">
                  <a16:creationId xmlns:a16="http://schemas.microsoft.com/office/drawing/2014/main" id="{E2223735-F493-4D34-93DB-F1481D4F9F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4460" y="3312185"/>
              <a:ext cx="3554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/>
            <a:p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721BA6C-AA00-4F80-B79D-17CBCB196F04}"/>
              </a:ext>
            </a:extLst>
          </p:cNvPr>
          <p:cNvGrpSpPr/>
          <p:nvPr/>
        </p:nvGrpSpPr>
        <p:grpSpPr>
          <a:xfrm>
            <a:off x="2554418" y="4505960"/>
            <a:ext cx="3257103" cy="1026060"/>
            <a:chOff x="1924497" y="4191000"/>
            <a:chExt cx="3257103" cy="102606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A1C2350-D200-48E3-A31E-88224C8948AF}"/>
                </a:ext>
              </a:extLst>
            </p:cNvPr>
            <p:cNvGrpSpPr/>
            <p:nvPr/>
          </p:nvGrpSpPr>
          <p:grpSpPr>
            <a:xfrm>
              <a:off x="1924497" y="4191000"/>
              <a:ext cx="3257103" cy="1026060"/>
              <a:chOff x="1924497" y="4217230"/>
              <a:chExt cx="3257103" cy="1026060"/>
            </a:xfrm>
          </p:grpSpPr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F86D0627-7C34-4D43-AF4A-CB34ED2497CE}"/>
                  </a:ext>
                </a:extLst>
              </p:cNvPr>
              <p:cNvGrpSpPr/>
              <p:nvPr/>
            </p:nvGrpSpPr>
            <p:grpSpPr>
              <a:xfrm>
                <a:off x="1924497" y="4217230"/>
                <a:ext cx="3257103" cy="1026060"/>
                <a:chOff x="2085206" y="3088742"/>
                <a:chExt cx="3257103" cy="1026060"/>
              </a:xfrm>
            </p:grpSpPr>
            <p:sp>
              <p:nvSpPr>
                <p:cNvPr id="64" name="Rectangle: Rounded Corners 63">
                  <a:extLst>
                    <a:ext uri="{FF2B5EF4-FFF2-40B4-BE49-F238E27FC236}">
                      <a16:creationId xmlns:a16="http://schemas.microsoft.com/office/drawing/2014/main" id="{4669D22A-4483-42F3-B710-D481ADEEB99C}"/>
                    </a:ext>
                  </a:extLst>
                </p:cNvPr>
                <p:cNvSpPr/>
                <p:nvPr/>
              </p:nvSpPr>
              <p:spPr>
                <a:xfrm>
                  <a:off x="3845640" y="3088742"/>
                  <a:ext cx="609600" cy="476284"/>
                </a:xfrm>
                <a:prstGeom prst="roundRect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P1</a:t>
                  </a:r>
                </a:p>
              </p:txBody>
            </p:sp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EF2691AA-A165-448B-9790-60B53C998D2A}"/>
                    </a:ext>
                  </a:extLst>
                </p:cNvPr>
                <p:cNvGrpSpPr/>
                <p:nvPr/>
              </p:nvGrpSpPr>
              <p:grpSpPr>
                <a:xfrm>
                  <a:off x="2085206" y="3095086"/>
                  <a:ext cx="3257103" cy="1019716"/>
                  <a:chOff x="116186" y="3098056"/>
                  <a:chExt cx="3257103" cy="1019716"/>
                </a:xfrm>
              </p:grpSpPr>
              <p:grpSp>
                <p:nvGrpSpPr>
                  <p:cNvPr id="66" name="Group 65">
                    <a:extLst>
                      <a:ext uri="{FF2B5EF4-FFF2-40B4-BE49-F238E27FC236}">
                        <a16:creationId xmlns:a16="http://schemas.microsoft.com/office/drawing/2014/main" id="{3CE33A88-5E93-41FA-A0B2-217E8E8EE59F}"/>
                      </a:ext>
                    </a:extLst>
                  </p:cNvPr>
                  <p:cNvGrpSpPr/>
                  <p:nvPr/>
                </p:nvGrpSpPr>
                <p:grpSpPr>
                  <a:xfrm>
                    <a:off x="116186" y="3123798"/>
                    <a:ext cx="950614" cy="305202"/>
                    <a:chOff x="116186" y="3390043"/>
                    <a:chExt cx="950614" cy="305202"/>
                  </a:xfrm>
                </p:grpSpPr>
                <p:sp>
                  <p:nvSpPr>
                    <p:cNvPr id="71" name="Line 11">
                      <a:extLst>
                        <a:ext uri="{FF2B5EF4-FFF2-40B4-BE49-F238E27FC236}">
                          <a16:creationId xmlns:a16="http://schemas.microsoft.com/office/drawing/2014/main" id="{3564971E-A5D9-40AC-90ED-52F4B609E05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11369" y="3581400"/>
                      <a:ext cx="355431" cy="0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78" tIns="44445" rIns="90478" bIns="44445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2" name="Text Box 12">
                      <a:extLst>
                        <a:ext uri="{FF2B5EF4-FFF2-40B4-BE49-F238E27FC236}">
                          <a16:creationId xmlns:a16="http://schemas.microsoft.com/office/drawing/2014/main" id="{5B0849D0-E710-4BE3-AEBB-277C01F9A839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16186" y="3390043"/>
                      <a:ext cx="626755" cy="30520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66CC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38100" algn="ctr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78" tIns="44445" rIns="90478" bIns="44445">
                      <a:spAutoFit/>
                    </a:bodyPr>
                    <a:lstStyle>
                      <a:lvl1pPr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r>
                        <a:rPr lang="en-US" altLang="ko-KR" sz="1400" dirty="0">
                          <a:ea typeface="굴림" panose="020B0600000101010101" pitchFamily="34" charset="-127"/>
                        </a:rPr>
                        <a:t>Head</a:t>
                      </a:r>
                    </a:p>
                  </p:txBody>
                </p:sp>
              </p:grpSp>
              <p:grpSp>
                <p:nvGrpSpPr>
                  <p:cNvPr id="67" name="Group 66">
                    <a:extLst>
                      <a:ext uri="{FF2B5EF4-FFF2-40B4-BE49-F238E27FC236}">
                        <a16:creationId xmlns:a16="http://schemas.microsoft.com/office/drawing/2014/main" id="{38C8FB17-BABE-42DD-B09A-A185E9038AA0}"/>
                      </a:ext>
                    </a:extLst>
                  </p:cNvPr>
                  <p:cNvGrpSpPr/>
                  <p:nvPr/>
                </p:nvGrpSpPr>
                <p:grpSpPr>
                  <a:xfrm>
                    <a:off x="2205435" y="3597124"/>
                    <a:ext cx="863220" cy="520648"/>
                    <a:chOff x="2257216" y="4004690"/>
                    <a:chExt cx="863220" cy="520648"/>
                  </a:xfrm>
                </p:grpSpPr>
                <p:sp>
                  <p:nvSpPr>
                    <p:cNvPr id="69" name="Text Box 12">
                      <a:extLst>
                        <a:ext uri="{FF2B5EF4-FFF2-40B4-BE49-F238E27FC236}">
                          <a16:creationId xmlns:a16="http://schemas.microsoft.com/office/drawing/2014/main" id="{2A1D87C2-F0B2-4FBB-9AA6-0309173922F2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257216" y="4004693"/>
                      <a:ext cx="662022" cy="52064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66CC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38100" algn="ctr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78" tIns="44445" rIns="90478" bIns="44445">
                      <a:spAutoFit/>
                    </a:bodyPr>
                    <a:lstStyle>
                      <a:lvl1pPr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r>
                        <a:rPr lang="en-US" altLang="ko-KR" sz="1400" dirty="0">
                          <a:ea typeface="굴림" panose="020B0600000101010101" pitchFamily="34" charset="-127"/>
                        </a:rPr>
                        <a:t>Tail </a:t>
                      </a:r>
                      <a:br>
                        <a:rPr lang="en-US" altLang="ko-KR" sz="1400" dirty="0">
                          <a:ea typeface="굴림" panose="020B0600000101010101" pitchFamily="34" charset="-127"/>
                        </a:rPr>
                      </a:br>
                      <a:r>
                        <a:rPr lang="en-US" altLang="ko-KR" sz="1400" dirty="0">
                          <a:ea typeface="굴림" panose="020B0600000101010101" pitchFamily="34" charset="-127"/>
                        </a:rPr>
                        <a:t>(LRU)</a:t>
                      </a:r>
                    </a:p>
                  </p:txBody>
                </p:sp>
                <p:cxnSp>
                  <p:nvCxnSpPr>
                    <p:cNvPr id="70" name="Connector: Elbow 69">
                      <a:extLst>
                        <a:ext uri="{FF2B5EF4-FFF2-40B4-BE49-F238E27FC236}">
                          <a16:creationId xmlns:a16="http://schemas.microsoft.com/office/drawing/2014/main" id="{D1D3F482-AD13-4AD7-96A7-5BA788814110}"/>
                        </a:ext>
                      </a:extLst>
                    </p:cNvPr>
                    <p:cNvCxnSpPr>
                      <a:cxnSpLocks/>
                      <a:stCxn id="69" idx="3"/>
                    </p:cNvCxnSpPr>
                    <p:nvPr/>
                  </p:nvCxnSpPr>
                  <p:spPr>
                    <a:xfrm flipV="1">
                      <a:off x="2919238" y="4004690"/>
                      <a:ext cx="201198" cy="260326"/>
                    </a:xfrm>
                    <a:prstGeom prst="bentConnector2">
                      <a:avLst/>
                    </a:prstGeom>
                    <a:ln w="28575"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68" name="Rectangle: Rounded Corners 67">
                    <a:extLst>
                      <a:ext uri="{FF2B5EF4-FFF2-40B4-BE49-F238E27FC236}">
                        <a16:creationId xmlns:a16="http://schemas.microsoft.com/office/drawing/2014/main" id="{491D3729-7465-4004-856A-49B5C27C0CBB}"/>
                      </a:ext>
                    </a:extLst>
                  </p:cNvPr>
                  <p:cNvSpPr/>
                  <p:nvPr/>
                </p:nvSpPr>
                <p:spPr>
                  <a:xfrm>
                    <a:off x="2763689" y="3098056"/>
                    <a:ext cx="609600" cy="476284"/>
                  </a:xfrm>
                  <a:prstGeom prst="roundRect">
                    <a:avLst/>
                  </a:prstGeom>
                </p:spPr>
                <p:style>
                  <a:lnRef idx="2">
                    <a:schemeClr val="accent5">
                      <a:shade val="50000"/>
                    </a:schemeClr>
                  </a:lnRef>
                  <a:fillRef idx="1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P2</a:t>
                    </a:r>
                  </a:p>
                </p:txBody>
              </p:sp>
            </p:grpSp>
          </p:grpSp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4FCF40A5-14AB-4DFE-AE11-EE12C16DB0E6}"/>
                  </a:ext>
                </a:extLst>
              </p:cNvPr>
              <p:cNvSpPr/>
              <p:nvPr/>
            </p:nvSpPr>
            <p:spPr>
              <a:xfrm>
                <a:off x="2853336" y="4230299"/>
                <a:ext cx="609600" cy="465196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P6</a:t>
                </a:r>
              </a:p>
            </p:txBody>
          </p:sp>
          <p:sp>
            <p:nvSpPr>
              <p:cNvPr id="74" name="Line 11">
                <a:extLst>
                  <a:ext uri="{FF2B5EF4-FFF2-40B4-BE49-F238E27FC236}">
                    <a16:creationId xmlns:a16="http://schemas.microsoft.com/office/drawing/2014/main" id="{2214C4B8-9451-46AA-A426-FC46051401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62936" y="4425108"/>
                <a:ext cx="28295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78" tIns="44445" rIns="90478" bIns="44445" anchor="ctr"/>
              <a:lstStyle/>
              <a:p>
                <a:endParaRPr lang="en-US"/>
              </a:p>
            </p:txBody>
          </p:sp>
        </p:grpSp>
        <p:sp>
          <p:nvSpPr>
            <p:cNvPr id="90" name="Line 11">
              <a:extLst>
                <a:ext uri="{FF2B5EF4-FFF2-40B4-BE49-F238E27FC236}">
                  <a16:creationId xmlns:a16="http://schemas.microsoft.com/office/drawing/2014/main" id="{F906C160-15ED-4CD0-BF69-CEEE4A8759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89050" y="4398878"/>
              <a:ext cx="2829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/>
            <a:p>
              <a:endParaRPr lang="en-US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F15230A6-E15F-4F48-92D8-FAC5402D255A}"/>
              </a:ext>
            </a:extLst>
          </p:cNvPr>
          <p:cNvGrpSpPr/>
          <p:nvPr/>
        </p:nvGrpSpPr>
        <p:grpSpPr>
          <a:xfrm>
            <a:off x="2554418" y="5756954"/>
            <a:ext cx="3257103" cy="1026060"/>
            <a:chOff x="1924497" y="4191000"/>
            <a:chExt cx="3257103" cy="1026060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08651BF3-F866-4DD8-8283-8553285420C2}"/>
                </a:ext>
              </a:extLst>
            </p:cNvPr>
            <p:cNvGrpSpPr/>
            <p:nvPr/>
          </p:nvGrpSpPr>
          <p:grpSpPr>
            <a:xfrm>
              <a:off x="1924497" y="4191000"/>
              <a:ext cx="3257103" cy="1026060"/>
              <a:chOff x="1924497" y="4217230"/>
              <a:chExt cx="3257103" cy="1026060"/>
            </a:xfrm>
          </p:grpSpPr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26E110A6-E2FF-4A29-A280-DDBA44B2E172}"/>
                  </a:ext>
                </a:extLst>
              </p:cNvPr>
              <p:cNvGrpSpPr/>
              <p:nvPr/>
            </p:nvGrpSpPr>
            <p:grpSpPr>
              <a:xfrm>
                <a:off x="1924497" y="4217230"/>
                <a:ext cx="3257103" cy="1026060"/>
                <a:chOff x="2085206" y="3088742"/>
                <a:chExt cx="3257103" cy="1026060"/>
              </a:xfrm>
            </p:grpSpPr>
            <p:sp>
              <p:nvSpPr>
                <p:cNvPr id="123" name="Rectangle: Rounded Corners 122">
                  <a:extLst>
                    <a:ext uri="{FF2B5EF4-FFF2-40B4-BE49-F238E27FC236}">
                      <a16:creationId xmlns:a16="http://schemas.microsoft.com/office/drawing/2014/main" id="{02DAE8E3-2698-4F70-8965-4AC6D8E2969A}"/>
                    </a:ext>
                  </a:extLst>
                </p:cNvPr>
                <p:cNvSpPr/>
                <p:nvPr/>
              </p:nvSpPr>
              <p:spPr>
                <a:xfrm>
                  <a:off x="3845640" y="3088742"/>
                  <a:ext cx="609600" cy="476284"/>
                </a:xfrm>
                <a:prstGeom prst="roundRect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P6</a:t>
                  </a:r>
                </a:p>
              </p:txBody>
            </p:sp>
            <p:grpSp>
              <p:nvGrpSpPr>
                <p:cNvPr id="124" name="Group 123">
                  <a:extLst>
                    <a:ext uri="{FF2B5EF4-FFF2-40B4-BE49-F238E27FC236}">
                      <a16:creationId xmlns:a16="http://schemas.microsoft.com/office/drawing/2014/main" id="{DE8E67CE-9CC7-4947-8CCF-904BDB7C0405}"/>
                    </a:ext>
                  </a:extLst>
                </p:cNvPr>
                <p:cNvGrpSpPr/>
                <p:nvPr/>
              </p:nvGrpSpPr>
              <p:grpSpPr>
                <a:xfrm>
                  <a:off x="2085206" y="3095086"/>
                  <a:ext cx="3257103" cy="1019716"/>
                  <a:chOff x="116186" y="3098056"/>
                  <a:chExt cx="3257103" cy="1019716"/>
                </a:xfrm>
              </p:grpSpPr>
              <p:grpSp>
                <p:nvGrpSpPr>
                  <p:cNvPr id="125" name="Group 124">
                    <a:extLst>
                      <a:ext uri="{FF2B5EF4-FFF2-40B4-BE49-F238E27FC236}">
                        <a16:creationId xmlns:a16="http://schemas.microsoft.com/office/drawing/2014/main" id="{D8477A5F-7A1A-4EA8-803F-131F4197B47C}"/>
                      </a:ext>
                    </a:extLst>
                  </p:cNvPr>
                  <p:cNvGrpSpPr/>
                  <p:nvPr/>
                </p:nvGrpSpPr>
                <p:grpSpPr>
                  <a:xfrm>
                    <a:off x="116186" y="3123798"/>
                    <a:ext cx="950614" cy="305202"/>
                    <a:chOff x="116186" y="3390043"/>
                    <a:chExt cx="950614" cy="305202"/>
                  </a:xfrm>
                </p:grpSpPr>
                <p:sp>
                  <p:nvSpPr>
                    <p:cNvPr id="130" name="Line 11">
                      <a:extLst>
                        <a:ext uri="{FF2B5EF4-FFF2-40B4-BE49-F238E27FC236}">
                          <a16:creationId xmlns:a16="http://schemas.microsoft.com/office/drawing/2014/main" id="{45B9C68F-7757-4F33-A36E-7919DB4D181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11369" y="3581400"/>
                      <a:ext cx="355431" cy="0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78" tIns="44445" rIns="90478" bIns="44445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1" name="Text Box 12">
                      <a:extLst>
                        <a:ext uri="{FF2B5EF4-FFF2-40B4-BE49-F238E27FC236}">
                          <a16:creationId xmlns:a16="http://schemas.microsoft.com/office/drawing/2014/main" id="{E4E28906-444E-4D23-A1BC-F26C979EBF30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16186" y="3390043"/>
                      <a:ext cx="626755" cy="30520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66CC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38100" algn="ctr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78" tIns="44445" rIns="90478" bIns="44445">
                      <a:spAutoFit/>
                    </a:bodyPr>
                    <a:lstStyle>
                      <a:lvl1pPr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r>
                        <a:rPr lang="en-US" altLang="ko-KR" sz="1400" dirty="0">
                          <a:ea typeface="굴림" panose="020B0600000101010101" pitchFamily="34" charset="-127"/>
                        </a:rPr>
                        <a:t>Head</a:t>
                      </a:r>
                    </a:p>
                  </p:txBody>
                </p:sp>
              </p:grpSp>
              <p:grpSp>
                <p:nvGrpSpPr>
                  <p:cNvPr id="126" name="Group 125">
                    <a:extLst>
                      <a:ext uri="{FF2B5EF4-FFF2-40B4-BE49-F238E27FC236}">
                        <a16:creationId xmlns:a16="http://schemas.microsoft.com/office/drawing/2014/main" id="{1E612E9B-0F25-4142-99BF-4CC1E7A917B2}"/>
                      </a:ext>
                    </a:extLst>
                  </p:cNvPr>
                  <p:cNvGrpSpPr/>
                  <p:nvPr/>
                </p:nvGrpSpPr>
                <p:grpSpPr>
                  <a:xfrm>
                    <a:off x="2205435" y="3597124"/>
                    <a:ext cx="863220" cy="520648"/>
                    <a:chOff x="2257216" y="4004690"/>
                    <a:chExt cx="863220" cy="520648"/>
                  </a:xfrm>
                </p:grpSpPr>
                <p:sp>
                  <p:nvSpPr>
                    <p:cNvPr id="128" name="Text Box 12">
                      <a:extLst>
                        <a:ext uri="{FF2B5EF4-FFF2-40B4-BE49-F238E27FC236}">
                          <a16:creationId xmlns:a16="http://schemas.microsoft.com/office/drawing/2014/main" id="{AA7C2FD2-0717-4D91-910C-6AA817B4E573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257216" y="4004693"/>
                      <a:ext cx="662022" cy="52064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66CC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38100" algn="ctr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78" tIns="44445" rIns="90478" bIns="44445">
                      <a:spAutoFit/>
                    </a:bodyPr>
                    <a:lstStyle>
                      <a:lvl1pPr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sz="2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r>
                        <a:rPr lang="en-US" altLang="ko-KR" sz="1400" dirty="0">
                          <a:ea typeface="굴림" panose="020B0600000101010101" pitchFamily="34" charset="-127"/>
                        </a:rPr>
                        <a:t>Tail </a:t>
                      </a:r>
                      <a:br>
                        <a:rPr lang="en-US" altLang="ko-KR" sz="1400" dirty="0">
                          <a:ea typeface="굴림" panose="020B0600000101010101" pitchFamily="34" charset="-127"/>
                        </a:rPr>
                      </a:br>
                      <a:r>
                        <a:rPr lang="en-US" altLang="ko-KR" sz="1400" dirty="0">
                          <a:ea typeface="굴림" panose="020B0600000101010101" pitchFamily="34" charset="-127"/>
                        </a:rPr>
                        <a:t>(LRU)</a:t>
                      </a:r>
                    </a:p>
                  </p:txBody>
                </p:sp>
                <p:cxnSp>
                  <p:nvCxnSpPr>
                    <p:cNvPr id="129" name="Connector: Elbow 128">
                      <a:extLst>
                        <a:ext uri="{FF2B5EF4-FFF2-40B4-BE49-F238E27FC236}">
                          <a16:creationId xmlns:a16="http://schemas.microsoft.com/office/drawing/2014/main" id="{DC20D8B5-3D2D-459D-A722-46AD27088349}"/>
                        </a:ext>
                      </a:extLst>
                    </p:cNvPr>
                    <p:cNvCxnSpPr>
                      <a:cxnSpLocks/>
                      <a:stCxn id="128" idx="3"/>
                    </p:cNvCxnSpPr>
                    <p:nvPr/>
                  </p:nvCxnSpPr>
                  <p:spPr>
                    <a:xfrm flipV="1">
                      <a:off x="2919238" y="4004690"/>
                      <a:ext cx="201198" cy="260326"/>
                    </a:xfrm>
                    <a:prstGeom prst="bentConnector2">
                      <a:avLst/>
                    </a:prstGeom>
                    <a:ln w="28575"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27" name="Rectangle: Rounded Corners 126">
                    <a:extLst>
                      <a:ext uri="{FF2B5EF4-FFF2-40B4-BE49-F238E27FC236}">
                        <a16:creationId xmlns:a16="http://schemas.microsoft.com/office/drawing/2014/main" id="{A0CB4A9F-5C03-4C4F-9117-BD1716A9ACA0}"/>
                      </a:ext>
                    </a:extLst>
                  </p:cNvPr>
                  <p:cNvSpPr/>
                  <p:nvPr/>
                </p:nvSpPr>
                <p:spPr>
                  <a:xfrm>
                    <a:off x="2763689" y="3098056"/>
                    <a:ext cx="609600" cy="476284"/>
                  </a:xfrm>
                  <a:prstGeom prst="roundRect">
                    <a:avLst/>
                  </a:prstGeom>
                </p:spPr>
                <p:style>
                  <a:lnRef idx="2">
                    <a:schemeClr val="accent5">
                      <a:shade val="50000"/>
                    </a:schemeClr>
                  </a:lnRef>
                  <a:fillRef idx="1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P2</a:t>
                    </a:r>
                  </a:p>
                </p:txBody>
              </p:sp>
            </p:grpSp>
          </p:grpSp>
          <p:sp>
            <p:nvSpPr>
              <p:cNvPr id="121" name="Rectangle: Rounded Corners 120">
                <a:extLst>
                  <a:ext uri="{FF2B5EF4-FFF2-40B4-BE49-F238E27FC236}">
                    <a16:creationId xmlns:a16="http://schemas.microsoft.com/office/drawing/2014/main" id="{848DB9E8-4C3B-42BC-9E34-25D7D50CB56E}"/>
                  </a:ext>
                </a:extLst>
              </p:cNvPr>
              <p:cNvSpPr/>
              <p:nvPr/>
            </p:nvSpPr>
            <p:spPr>
              <a:xfrm>
                <a:off x="2853336" y="4230299"/>
                <a:ext cx="609600" cy="465196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P1</a:t>
                </a:r>
              </a:p>
            </p:txBody>
          </p:sp>
          <p:sp>
            <p:nvSpPr>
              <p:cNvPr id="122" name="Line 11">
                <a:extLst>
                  <a:ext uri="{FF2B5EF4-FFF2-40B4-BE49-F238E27FC236}">
                    <a16:creationId xmlns:a16="http://schemas.microsoft.com/office/drawing/2014/main" id="{2546EF35-8D61-4B65-9180-2DAB399284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62936" y="4425108"/>
                <a:ext cx="28295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78" tIns="44445" rIns="90478" bIns="44445" anchor="ctr"/>
              <a:lstStyle/>
              <a:p>
                <a:endParaRPr lang="en-US"/>
              </a:p>
            </p:txBody>
          </p:sp>
        </p:grpSp>
        <p:sp>
          <p:nvSpPr>
            <p:cNvPr id="119" name="Line 11">
              <a:extLst>
                <a:ext uri="{FF2B5EF4-FFF2-40B4-BE49-F238E27FC236}">
                  <a16:creationId xmlns:a16="http://schemas.microsoft.com/office/drawing/2014/main" id="{D18CB659-2C50-4382-9591-F98E0E9A7A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89050" y="4398878"/>
              <a:ext cx="2829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/>
            <a:p>
              <a:endParaRPr lang="en-US"/>
            </a:p>
          </p:txBody>
        </p:sp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B795DA1-3E87-4CDE-BCDE-2D0CEA4CF823}"/>
              </a:ext>
            </a:extLst>
          </p:cNvPr>
          <p:cNvSpPr/>
          <p:nvPr/>
        </p:nvSpPr>
        <p:spPr>
          <a:xfrm>
            <a:off x="6028841" y="2453287"/>
            <a:ext cx="5187799" cy="242446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tabLst>
                <a:tab pos="233363" algn="l"/>
              </a:tabLst>
            </a:pPr>
            <a:r>
              <a:rPr lang="en-US" sz="1900" b="1" dirty="0">
                <a:solidFill>
                  <a:srgbClr val="00B050"/>
                </a:solidFill>
              </a:rPr>
              <a:t>Solution ?!!</a:t>
            </a:r>
          </a:p>
          <a:p>
            <a:pPr marL="233363" lvl="1" indent="-169863">
              <a:buFont typeface="Arial" panose="020B0604020202020204" pitchFamily="34" charset="0"/>
              <a:buChar char="•"/>
              <a:tabLst>
                <a:tab pos="117475" algn="l"/>
              </a:tabLst>
            </a:pPr>
            <a:r>
              <a:rPr lang="en-US" sz="1900" b="1" dirty="0">
                <a:solidFill>
                  <a:srgbClr val="00B050"/>
                </a:solidFill>
              </a:rPr>
              <a:t>With handling each page fault, </a:t>
            </a:r>
            <a:r>
              <a:rPr lang="en-US" sz="1900" b="1" dirty="0">
                <a:solidFill>
                  <a:srgbClr val="0070C0"/>
                </a:solidFill>
              </a:rPr>
              <a:t>MARK</a:t>
            </a:r>
            <a:r>
              <a:rPr lang="en-US" sz="1900" b="1" dirty="0">
                <a:solidFill>
                  <a:srgbClr val="00B050"/>
                </a:solidFill>
              </a:rPr>
              <a:t> all pages as </a:t>
            </a:r>
            <a:r>
              <a:rPr lang="en-US" sz="1900" b="1" dirty="0">
                <a:solidFill>
                  <a:srgbClr val="FF0000"/>
                </a:solidFill>
              </a:rPr>
              <a:t>NOT</a:t>
            </a:r>
            <a:r>
              <a:rPr lang="en-US" sz="1900" b="1" dirty="0">
                <a:solidFill>
                  <a:srgbClr val="00B050"/>
                </a:solidFill>
              </a:rPr>
              <a:t> </a:t>
            </a:r>
            <a:r>
              <a:rPr lang="en-US" sz="1900" b="1" dirty="0">
                <a:solidFill>
                  <a:srgbClr val="FF0000"/>
                </a:solidFill>
              </a:rPr>
              <a:t>present</a:t>
            </a:r>
            <a:r>
              <a:rPr lang="en-US" sz="1900" b="1" dirty="0">
                <a:solidFill>
                  <a:srgbClr val="00B050"/>
                </a:solidFill>
              </a:rPr>
              <a:t>, even if in memory, except the FAULTED one (head)</a:t>
            </a:r>
          </a:p>
          <a:p>
            <a:pPr marL="233363" lvl="1" indent="-169863">
              <a:buFont typeface="Arial" panose="020B0604020202020204" pitchFamily="34" charset="0"/>
              <a:buChar char="•"/>
              <a:tabLst>
                <a:tab pos="117475" algn="l"/>
              </a:tabLst>
            </a:pPr>
            <a:r>
              <a:rPr lang="en-US" sz="1900" b="1" dirty="0">
                <a:solidFill>
                  <a:srgbClr val="00B050"/>
                </a:solidFill>
              </a:rPr>
              <a:t>So, on reading a </a:t>
            </a:r>
            <a:r>
              <a:rPr lang="en-US" sz="1900" b="1" dirty="0">
                <a:solidFill>
                  <a:srgbClr val="FF0000"/>
                </a:solidFill>
              </a:rPr>
              <a:t>NOT</a:t>
            </a:r>
            <a:r>
              <a:rPr lang="en-US" sz="1900" b="1" dirty="0">
                <a:solidFill>
                  <a:srgbClr val="00B050"/>
                </a:solidFill>
              </a:rPr>
              <a:t> </a:t>
            </a:r>
            <a:r>
              <a:rPr lang="en-US" sz="1900" b="1" dirty="0">
                <a:solidFill>
                  <a:srgbClr val="FF0000"/>
                </a:solidFill>
              </a:rPr>
              <a:t>present</a:t>
            </a:r>
            <a:r>
              <a:rPr lang="en-US" sz="1900" b="1" dirty="0">
                <a:solidFill>
                  <a:srgbClr val="00B050"/>
                </a:solidFill>
              </a:rPr>
              <a:t> page, trap to OS (fault handler) to control .. </a:t>
            </a:r>
          </a:p>
          <a:p>
            <a:pPr marL="63500" lvl="1">
              <a:tabLst>
                <a:tab pos="117475" algn="l"/>
              </a:tabLst>
            </a:pPr>
            <a:r>
              <a:rPr lang="en-US" sz="1900" b="1" dirty="0">
                <a:solidFill>
                  <a:srgbClr val="00B050"/>
                </a:solidFill>
              </a:rPr>
              <a:t>That’s what we need </a:t>
            </a:r>
            <a:r>
              <a:rPr lang="en-US" sz="1900" b="1" dirty="0">
                <a:solidFill>
                  <a:srgbClr val="00B050"/>
                </a:solidFill>
                <a:sym typeface="Wingdings" panose="05000000000000000000" pitchFamily="2" charset="2"/>
              </a:rPr>
              <a:t></a:t>
            </a:r>
            <a:endParaRPr lang="en-US" sz="1900" b="1" dirty="0">
              <a:solidFill>
                <a:srgbClr val="00B050"/>
              </a:solidFill>
            </a:endParaRPr>
          </a:p>
        </p:txBody>
      </p:sp>
      <p:pic>
        <p:nvPicPr>
          <p:cNvPr id="132" name="Picture 17">
            <a:extLst>
              <a:ext uri="{FF2B5EF4-FFF2-40B4-BE49-F238E27FC236}">
                <a16:creationId xmlns:a16="http://schemas.microsoft.com/office/drawing/2014/main" id="{AFB8B2ED-4D41-4829-A589-DCEB6E74DB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7634" y="1790572"/>
            <a:ext cx="980005" cy="980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CC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Cloud 12">
            <a:extLst>
              <a:ext uri="{FF2B5EF4-FFF2-40B4-BE49-F238E27FC236}">
                <a16:creationId xmlns:a16="http://schemas.microsoft.com/office/drawing/2014/main" id="{84CFC62C-7ACC-4429-B02E-CEF37E319A4D}"/>
              </a:ext>
            </a:extLst>
          </p:cNvPr>
          <p:cNvSpPr/>
          <p:nvPr/>
        </p:nvSpPr>
        <p:spPr>
          <a:xfrm>
            <a:off x="7103238" y="4982244"/>
            <a:ext cx="3204396" cy="1240407"/>
          </a:xfrm>
          <a:prstGeom prst="clou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This is known as: PERFECT LRU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8F4F60-6630-4F28-9B03-297F614D9924}"/>
              </a:ext>
            </a:extLst>
          </p:cNvPr>
          <p:cNvSpPr txBox="1"/>
          <p:nvPr/>
        </p:nvSpPr>
        <p:spPr>
          <a:xfrm>
            <a:off x="4576409" y="2887284"/>
            <a:ext cx="700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 = 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0F510C0-9B23-4576-A21A-9A81663F7F98}"/>
              </a:ext>
            </a:extLst>
          </p:cNvPr>
          <p:cNvSpPr txBox="1"/>
          <p:nvPr/>
        </p:nvSpPr>
        <p:spPr>
          <a:xfrm>
            <a:off x="4306894" y="4192732"/>
            <a:ext cx="700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 = 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2DBCC00-719D-49F6-A51A-6A83643C7946}"/>
              </a:ext>
            </a:extLst>
          </p:cNvPr>
          <p:cNvSpPr txBox="1"/>
          <p:nvPr/>
        </p:nvSpPr>
        <p:spPr>
          <a:xfrm>
            <a:off x="5201921" y="4201160"/>
            <a:ext cx="700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 = 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8FCC7E3-DF32-4751-8519-D6F6AA82F84A}"/>
              </a:ext>
            </a:extLst>
          </p:cNvPr>
          <p:cNvSpPr txBox="1"/>
          <p:nvPr/>
        </p:nvSpPr>
        <p:spPr>
          <a:xfrm>
            <a:off x="3976279" y="4886961"/>
            <a:ext cx="7368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Page </a:t>
            </a:r>
          </a:p>
          <a:p>
            <a:r>
              <a:rPr lang="en-US" b="1" dirty="0">
                <a:solidFill>
                  <a:srgbClr val="FF0000"/>
                </a:solidFill>
              </a:rPr>
              <a:t>Fault</a:t>
            </a:r>
          </a:p>
        </p:txBody>
      </p:sp>
    </p:spTree>
    <p:extLst>
      <p:ext uri="{BB962C8B-B14F-4D97-AF65-F5344CB8AC3E}">
        <p14:creationId xmlns:p14="http://schemas.microsoft.com/office/powerpoint/2010/main" val="2963467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11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6" grpId="0"/>
      <p:bldP spid="59" grpId="0"/>
      <p:bldP spid="59" grpId="1"/>
      <p:bldP spid="60" grpId="0"/>
      <p:bldP spid="6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84BF7-E9B6-4529-8A31-835F285F1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Replac#2: </a:t>
            </a:r>
            <a:r>
              <a:rPr lang="en-NZ" b="1" dirty="0"/>
              <a:t>LRU – </a:t>
            </a:r>
            <a:r>
              <a:rPr lang="en-NZ" b="1" dirty="0">
                <a:solidFill>
                  <a:srgbClr val="FF0000"/>
                </a:solidFill>
              </a:rPr>
              <a:t>Idea#1</a:t>
            </a:r>
            <a:r>
              <a:rPr lang="en-NZ" b="1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86168B-DAA3-404D-BDD5-15B9C9004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0674CC28-14F2-4BB5-9F26-730085361C67}"/>
              </a:ext>
            </a:extLst>
          </p:cNvPr>
          <p:cNvSpPr/>
          <p:nvPr/>
        </p:nvSpPr>
        <p:spPr>
          <a:xfrm>
            <a:off x="1097280" y="2062480"/>
            <a:ext cx="4860562" cy="377952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>
              <a:tabLst>
                <a:tab pos="233363" algn="l"/>
              </a:tabLst>
            </a:pPr>
            <a:r>
              <a:rPr lang="en-US" sz="1900" b="1" dirty="0">
                <a:solidFill>
                  <a:srgbClr val="FF0000"/>
                </a:solidFill>
              </a:rPr>
              <a:t>Disadvantages ?!!</a:t>
            </a:r>
          </a:p>
          <a:p>
            <a:pPr marL="233363" lvl="1" indent="-169863">
              <a:buFont typeface="Arial" panose="020B0604020202020204" pitchFamily="34" charset="0"/>
              <a:buChar char="•"/>
              <a:tabLst>
                <a:tab pos="117475" algn="l"/>
              </a:tabLst>
            </a:pPr>
            <a:r>
              <a:rPr lang="en-US" sz="1900" b="1" dirty="0">
                <a:solidFill>
                  <a:srgbClr val="FF0000"/>
                </a:solidFill>
              </a:rPr>
              <a:t>Page fault exception with each access to a page (either exists or not).. So, for each user reference:</a:t>
            </a:r>
          </a:p>
          <a:p>
            <a:pPr marL="977900" lvl="2" indent="-457200">
              <a:buFont typeface="+mj-lt"/>
              <a:buAutoNum type="arabicPeriod"/>
              <a:tabLst>
                <a:tab pos="117475" algn="l"/>
              </a:tabLst>
            </a:pPr>
            <a:r>
              <a:rPr lang="en-US" sz="1900" b="1" dirty="0">
                <a:solidFill>
                  <a:srgbClr val="FF0000"/>
                </a:solidFill>
              </a:rPr>
              <a:t>CPU will be switched from user to kernel mode to handle the page fault</a:t>
            </a:r>
            <a:br>
              <a:rPr lang="en-US" sz="1900" b="1" dirty="0">
                <a:solidFill>
                  <a:srgbClr val="FF0000"/>
                </a:solidFill>
              </a:rPr>
            </a:br>
            <a:r>
              <a:rPr lang="en-US" sz="1900" b="1" dirty="0">
                <a:solidFill>
                  <a:srgbClr val="FF0000"/>
                </a:solidFill>
              </a:rPr>
              <a:t>(1 reference -&gt; execute code)</a:t>
            </a:r>
          </a:p>
          <a:p>
            <a:pPr marL="977900" lvl="2" indent="-457200">
              <a:buFont typeface="+mj-lt"/>
              <a:buAutoNum type="arabicPeriod"/>
              <a:tabLst>
                <a:tab pos="117475" algn="l"/>
              </a:tabLst>
            </a:pPr>
            <a:r>
              <a:rPr lang="en-US" sz="1900" b="1" dirty="0">
                <a:solidFill>
                  <a:srgbClr val="FF0000"/>
                </a:solidFill>
              </a:rPr>
              <a:t>Increase time required to handle ONE page access</a:t>
            </a:r>
          </a:p>
          <a:p>
            <a:pPr marL="977900" lvl="2" indent="-457200">
              <a:buFont typeface="+mj-lt"/>
              <a:buAutoNum type="arabicPeriod"/>
              <a:tabLst>
                <a:tab pos="117475" algn="l"/>
              </a:tabLst>
            </a:pPr>
            <a:r>
              <a:rPr lang="en-US" sz="1900" b="1" dirty="0">
                <a:solidFill>
                  <a:srgbClr val="FF0000"/>
                </a:solidFill>
              </a:rPr>
              <a:t>Increase overhead in the memory access.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35A87E9-BB3B-BEF5-B57C-48B0E8821A95}"/>
              </a:ext>
            </a:extLst>
          </p:cNvPr>
          <p:cNvSpPr/>
          <p:nvPr/>
        </p:nvSpPr>
        <p:spPr>
          <a:xfrm>
            <a:off x="6028841" y="2453287"/>
            <a:ext cx="5187799" cy="242446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tabLst>
                <a:tab pos="233363" algn="l"/>
              </a:tabLst>
            </a:pPr>
            <a:r>
              <a:rPr lang="en-US" sz="1900" b="1" dirty="0">
                <a:solidFill>
                  <a:srgbClr val="00B050"/>
                </a:solidFill>
              </a:rPr>
              <a:t>Solution ?!!</a:t>
            </a:r>
          </a:p>
          <a:p>
            <a:pPr marL="233363" lvl="1" indent="-169863">
              <a:buFont typeface="Arial" panose="020B0604020202020204" pitchFamily="34" charset="0"/>
              <a:buChar char="•"/>
              <a:tabLst>
                <a:tab pos="117475" algn="l"/>
              </a:tabLst>
            </a:pPr>
            <a:r>
              <a:rPr lang="en-US" sz="1900" b="1" dirty="0">
                <a:solidFill>
                  <a:srgbClr val="00B050"/>
                </a:solidFill>
              </a:rPr>
              <a:t>With handling each page fault, </a:t>
            </a:r>
            <a:r>
              <a:rPr lang="en-US" sz="1900" b="1" dirty="0">
                <a:solidFill>
                  <a:srgbClr val="0070C0"/>
                </a:solidFill>
              </a:rPr>
              <a:t>MARK</a:t>
            </a:r>
            <a:r>
              <a:rPr lang="en-US" sz="1900" b="1" dirty="0">
                <a:solidFill>
                  <a:srgbClr val="00B050"/>
                </a:solidFill>
              </a:rPr>
              <a:t> all pages as </a:t>
            </a:r>
            <a:r>
              <a:rPr lang="en-US" sz="1900" b="1" dirty="0">
                <a:solidFill>
                  <a:srgbClr val="FF0000"/>
                </a:solidFill>
              </a:rPr>
              <a:t>NOT</a:t>
            </a:r>
            <a:r>
              <a:rPr lang="en-US" sz="1900" b="1" dirty="0">
                <a:solidFill>
                  <a:srgbClr val="00B050"/>
                </a:solidFill>
              </a:rPr>
              <a:t> </a:t>
            </a:r>
            <a:r>
              <a:rPr lang="en-US" sz="1900" b="1" dirty="0">
                <a:solidFill>
                  <a:srgbClr val="FF0000"/>
                </a:solidFill>
              </a:rPr>
              <a:t>present</a:t>
            </a:r>
            <a:r>
              <a:rPr lang="en-US" sz="1900" b="1" dirty="0">
                <a:solidFill>
                  <a:srgbClr val="00B050"/>
                </a:solidFill>
              </a:rPr>
              <a:t>, even if in memory, except the FAULTED one (head)</a:t>
            </a:r>
          </a:p>
          <a:p>
            <a:pPr marL="233363" lvl="1" indent="-169863">
              <a:buFont typeface="Arial" panose="020B0604020202020204" pitchFamily="34" charset="0"/>
              <a:buChar char="•"/>
              <a:tabLst>
                <a:tab pos="117475" algn="l"/>
              </a:tabLst>
            </a:pPr>
            <a:r>
              <a:rPr lang="en-US" sz="1900" b="1" dirty="0">
                <a:solidFill>
                  <a:srgbClr val="00B050"/>
                </a:solidFill>
              </a:rPr>
              <a:t>So, on reading a </a:t>
            </a:r>
            <a:r>
              <a:rPr lang="en-US" sz="1900" b="1" dirty="0">
                <a:solidFill>
                  <a:srgbClr val="FF0000"/>
                </a:solidFill>
              </a:rPr>
              <a:t>NOT</a:t>
            </a:r>
            <a:r>
              <a:rPr lang="en-US" sz="1900" b="1" dirty="0">
                <a:solidFill>
                  <a:srgbClr val="00B050"/>
                </a:solidFill>
              </a:rPr>
              <a:t> </a:t>
            </a:r>
            <a:r>
              <a:rPr lang="en-US" sz="1900" b="1" dirty="0">
                <a:solidFill>
                  <a:srgbClr val="FF0000"/>
                </a:solidFill>
              </a:rPr>
              <a:t>present</a:t>
            </a:r>
            <a:r>
              <a:rPr lang="en-US" sz="1900" b="1" dirty="0">
                <a:solidFill>
                  <a:srgbClr val="00B050"/>
                </a:solidFill>
              </a:rPr>
              <a:t> page, trap to OS (fault handler) to control .. </a:t>
            </a:r>
          </a:p>
          <a:p>
            <a:pPr marL="63500" lvl="1">
              <a:tabLst>
                <a:tab pos="117475" algn="l"/>
              </a:tabLst>
            </a:pPr>
            <a:r>
              <a:rPr lang="en-US" sz="1900" b="1" dirty="0">
                <a:solidFill>
                  <a:srgbClr val="00B050"/>
                </a:solidFill>
              </a:rPr>
              <a:t>That’s what we need </a:t>
            </a:r>
            <a:r>
              <a:rPr lang="en-US" sz="1900" b="1" dirty="0">
                <a:solidFill>
                  <a:srgbClr val="00B050"/>
                </a:solidFill>
                <a:sym typeface="Wingdings" panose="05000000000000000000" pitchFamily="2" charset="2"/>
              </a:rPr>
              <a:t></a:t>
            </a:r>
            <a:endParaRPr lang="en-US" sz="1900" b="1" dirty="0">
              <a:solidFill>
                <a:srgbClr val="00B050"/>
              </a:solidFill>
            </a:endParaRPr>
          </a:p>
        </p:txBody>
      </p:sp>
      <p:pic>
        <p:nvPicPr>
          <p:cNvPr id="9" name="Picture 17">
            <a:extLst>
              <a:ext uri="{FF2B5EF4-FFF2-40B4-BE49-F238E27FC236}">
                <a16:creationId xmlns:a16="http://schemas.microsoft.com/office/drawing/2014/main" id="{3F08177A-03A1-DB9C-01B4-7E525A887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7634" y="1790572"/>
            <a:ext cx="980005" cy="980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CC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Cloud 9">
            <a:extLst>
              <a:ext uri="{FF2B5EF4-FFF2-40B4-BE49-F238E27FC236}">
                <a16:creationId xmlns:a16="http://schemas.microsoft.com/office/drawing/2014/main" id="{6D1EA3BF-82E9-B784-4C5C-21C12557940A}"/>
              </a:ext>
            </a:extLst>
          </p:cNvPr>
          <p:cNvSpPr/>
          <p:nvPr/>
        </p:nvSpPr>
        <p:spPr>
          <a:xfrm>
            <a:off x="7103238" y="4982244"/>
            <a:ext cx="3204396" cy="1240407"/>
          </a:xfrm>
          <a:prstGeom prst="clou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This is known as: PERFECT LRU</a:t>
            </a:r>
          </a:p>
        </p:txBody>
      </p:sp>
    </p:spTree>
    <p:extLst>
      <p:ext uri="{BB962C8B-B14F-4D97-AF65-F5344CB8AC3E}">
        <p14:creationId xmlns:p14="http://schemas.microsoft.com/office/powerpoint/2010/main" val="3461725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55D95-69FF-46F3-A906-2FB66BC2F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Replac#2: </a:t>
            </a:r>
            <a:r>
              <a:rPr lang="en-NZ" b="1" dirty="0"/>
              <a:t>LRU – </a:t>
            </a:r>
            <a:r>
              <a:rPr lang="en-NZ" b="1" dirty="0">
                <a:solidFill>
                  <a:srgbClr val="FF0000"/>
                </a:solidFill>
              </a:rPr>
              <a:t>Idea#2: List Approx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7E33C5-EDF6-430D-9847-CF840D14C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4E8A8C08-250C-4F07-91B0-C97D5A988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1905794"/>
            <a:ext cx="838200" cy="381000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1FB995C0-266A-4F05-B8C6-B38520599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2439194"/>
            <a:ext cx="838200" cy="381000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3C7A7C6A-D9F7-4B33-A491-3BC79C1CA4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2972594"/>
            <a:ext cx="838200" cy="381000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0BB70387-2547-4A14-80F1-AADAC7209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3505994"/>
            <a:ext cx="838200" cy="381000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45E480-C58D-467D-9EEB-A53544B03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6090" y="1905794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B0F34A-73C0-4724-BF90-6AA72FF09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6090" y="2439194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225D10-9FCA-415E-8BF3-58E09E690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6090" y="2972594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BBC5C7-74C2-4CEE-85AF-BFBAE3AB3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6090" y="3505994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4" name="Text Box 14">
            <a:extLst>
              <a:ext uri="{FF2B5EF4-FFF2-40B4-BE49-F238E27FC236}">
                <a16:creationId xmlns:a16="http://schemas.microsoft.com/office/drawing/2014/main" id="{521FDC9A-4F2A-45F1-A519-7D74BD3784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1" y="2096294"/>
            <a:ext cx="2580097" cy="1320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CC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78" tIns="44445" rIns="90478" bIns="44445">
            <a:spAutoFit/>
          </a:bodyPr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ko-KR" sz="1600" dirty="0">
                <a:solidFill>
                  <a:schemeClr val="hlink"/>
                </a:solidFill>
                <a:ea typeface="굴림" panose="020B0600000101010101" pitchFamily="34" charset="-127"/>
              </a:rPr>
              <a:t>Linked LIST 1: </a:t>
            </a:r>
            <a:br>
              <a:rPr lang="en-US" altLang="ko-KR" sz="1600" dirty="0">
                <a:solidFill>
                  <a:schemeClr val="hlink"/>
                </a:solidFill>
                <a:ea typeface="굴림" panose="020B0600000101010101" pitchFamily="34" charset="-127"/>
              </a:rPr>
            </a:br>
            <a:r>
              <a:rPr lang="en-US" altLang="ko-KR" sz="1600" dirty="0">
                <a:solidFill>
                  <a:schemeClr val="hlink"/>
                </a:solidFill>
                <a:ea typeface="굴림" panose="020B0600000101010101" pitchFamily="34" charset="-127"/>
              </a:rPr>
              <a:t>Directly Mapped Pages</a:t>
            </a:r>
          </a:p>
          <a:p>
            <a:endParaRPr lang="en-US" altLang="ko-KR" sz="1600" dirty="0">
              <a:solidFill>
                <a:schemeClr val="hlink"/>
              </a:solidFill>
              <a:ea typeface="굴림" panose="020B0600000101010101" pitchFamily="34" charset="-127"/>
            </a:endParaRPr>
          </a:p>
          <a:p>
            <a:r>
              <a:rPr lang="en-US" altLang="ko-KR" sz="1600" dirty="0">
                <a:solidFill>
                  <a:schemeClr val="hlink"/>
                </a:solidFill>
                <a:ea typeface="굴림" panose="020B0600000101010101" pitchFamily="34" charset="-127"/>
              </a:rPr>
              <a:t>Marked: </a:t>
            </a:r>
            <a:r>
              <a:rPr lang="en-US" altLang="ko-KR" sz="1600" dirty="0">
                <a:solidFill>
                  <a:srgbClr val="FF0000"/>
                </a:solidFill>
                <a:ea typeface="굴림" panose="020B0600000101010101" pitchFamily="34" charset="-127"/>
              </a:rPr>
              <a:t>PRESENT</a:t>
            </a:r>
          </a:p>
          <a:p>
            <a:r>
              <a:rPr lang="en-US" altLang="ko-KR" sz="1600" dirty="0">
                <a:solidFill>
                  <a:schemeClr val="hlink"/>
                </a:solidFill>
                <a:ea typeface="굴림" panose="020B0600000101010101" pitchFamily="34" charset="-127"/>
              </a:rPr>
              <a:t>List: FIFO</a:t>
            </a:r>
          </a:p>
        </p:txBody>
      </p:sp>
      <p:sp>
        <p:nvSpPr>
          <p:cNvPr id="15" name="Text Box 15">
            <a:extLst>
              <a:ext uri="{FF2B5EF4-FFF2-40B4-BE49-F238E27FC236}">
                <a16:creationId xmlns:a16="http://schemas.microsoft.com/office/drawing/2014/main" id="{C6887CA4-ED5C-42A2-ADC4-E8865B39CC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2067853"/>
            <a:ext cx="3124200" cy="1320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CC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78" tIns="44445" rIns="90478" bIns="44445">
            <a:spAutoFit/>
          </a:bodyPr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ko-KR" sz="1600" dirty="0">
                <a:solidFill>
                  <a:schemeClr val="hlink"/>
                </a:solidFill>
                <a:ea typeface="굴림" panose="020B0600000101010101" pitchFamily="34" charset="-127"/>
              </a:rPr>
              <a:t>Linked LIST 2:</a:t>
            </a:r>
          </a:p>
          <a:p>
            <a:r>
              <a:rPr lang="en-US" altLang="ko-KR" sz="1600" dirty="0">
                <a:solidFill>
                  <a:schemeClr val="hlink"/>
                </a:solidFill>
                <a:ea typeface="굴림" panose="020B0600000101010101" pitchFamily="34" charset="-127"/>
              </a:rPr>
              <a:t>Second Chance List</a:t>
            </a:r>
          </a:p>
          <a:p>
            <a:endParaRPr lang="en-US" altLang="ko-KR" sz="1600" dirty="0">
              <a:solidFill>
                <a:schemeClr val="hlink"/>
              </a:solidFill>
              <a:ea typeface="굴림" panose="020B0600000101010101" pitchFamily="34" charset="-127"/>
            </a:endParaRPr>
          </a:p>
          <a:p>
            <a:r>
              <a:rPr lang="en-US" altLang="ko-KR" sz="1600" dirty="0">
                <a:solidFill>
                  <a:schemeClr val="hlink"/>
                </a:solidFill>
                <a:ea typeface="굴림" panose="020B0600000101010101" pitchFamily="34" charset="-127"/>
              </a:rPr>
              <a:t>Marked: </a:t>
            </a:r>
            <a:r>
              <a:rPr lang="en-US" altLang="ko-KR" sz="1600" dirty="0">
                <a:solidFill>
                  <a:srgbClr val="FF0000"/>
                </a:solidFill>
                <a:ea typeface="굴림" panose="020B0600000101010101" pitchFamily="34" charset="-127"/>
              </a:rPr>
              <a:t>NOT</a:t>
            </a:r>
            <a:r>
              <a:rPr lang="en-US" altLang="ko-KR" sz="1600" dirty="0">
                <a:solidFill>
                  <a:schemeClr val="hlink"/>
                </a:solidFill>
                <a:ea typeface="굴림" panose="020B0600000101010101" pitchFamily="34" charset="-127"/>
              </a:rPr>
              <a:t> PRESENT</a:t>
            </a:r>
          </a:p>
          <a:p>
            <a:r>
              <a:rPr lang="en-US" altLang="ko-KR" sz="1600" dirty="0">
                <a:solidFill>
                  <a:schemeClr val="hlink"/>
                </a:solidFill>
                <a:ea typeface="굴림" panose="020B0600000101010101" pitchFamily="34" charset="-127"/>
              </a:rPr>
              <a:t>List: LRU</a:t>
            </a:r>
          </a:p>
        </p:txBody>
      </p:sp>
      <p:sp>
        <p:nvSpPr>
          <p:cNvPr id="19" name="Text Box 20">
            <a:extLst>
              <a:ext uri="{FF2B5EF4-FFF2-40B4-BE49-F238E27FC236}">
                <a16:creationId xmlns:a16="http://schemas.microsoft.com/office/drawing/2014/main" id="{E1FEA2D4-BBD5-4F99-97A0-2E061ED2F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9635" y="3886994"/>
            <a:ext cx="961783" cy="1013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CC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>
            <a:spAutoFit/>
          </a:bodyPr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ko-KR" sz="2000" dirty="0">
                <a:ea typeface="굴림" panose="020B0600000101010101" pitchFamily="34" charset="-127"/>
              </a:rPr>
              <a:t>New</a:t>
            </a:r>
          </a:p>
          <a:p>
            <a:pPr>
              <a:spcBef>
                <a:spcPct val="0"/>
              </a:spcBef>
            </a:pPr>
            <a:r>
              <a:rPr lang="en-US" altLang="ko-KR" sz="2000" dirty="0">
                <a:ea typeface="굴림" panose="020B0600000101010101" pitchFamily="34" charset="-127"/>
              </a:rPr>
              <a:t>Active</a:t>
            </a:r>
          </a:p>
          <a:p>
            <a:pPr>
              <a:spcBef>
                <a:spcPct val="0"/>
              </a:spcBef>
            </a:pPr>
            <a:r>
              <a:rPr lang="en-US" altLang="ko-KR" sz="2000" dirty="0">
                <a:ea typeface="굴림" panose="020B0600000101010101" pitchFamily="34" charset="-127"/>
              </a:rPr>
              <a:t>Pages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CFE9F3C7-D53B-4DAC-B21C-CE1FDD4C05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4284" y="3886994"/>
            <a:ext cx="1075596" cy="1013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CC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>
            <a:spAutoFit/>
          </a:bodyPr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ko-KR" sz="2000" dirty="0">
                <a:ea typeface="굴림" panose="020B0600000101010101" pitchFamily="34" charset="-127"/>
              </a:rPr>
              <a:t>New</a:t>
            </a:r>
          </a:p>
          <a:p>
            <a:pPr>
              <a:spcBef>
                <a:spcPct val="0"/>
              </a:spcBef>
            </a:pPr>
            <a:r>
              <a:rPr lang="en-US" altLang="ko-KR" sz="2000" dirty="0">
                <a:ea typeface="굴림" panose="020B0600000101010101" pitchFamily="34" charset="-127"/>
              </a:rPr>
              <a:t>SC</a:t>
            </a:r>
          </a:p>
          <a:p>
            <a:pPr>
              <a:spcBef>
                <a:spcPct val="0"/>
              </a:spcBef>
            </a:pPr>
            <a:r>
              <a:rPr lang="en-US" altLang="ko-KR" sz="2000" dirty="0">
                <a:ea typeface="굴림" panose="020B0600000101010101" pitchFamily="34" charset="-127"/>
              </a:rPr>
              <a:t>Victims</a:t>
            </a:r>
          </a:p>
        </p:txBody>
      </p:sp>
      <p:sp>
        <p:nvSpPr>
          <p:cNvPr id="3" name="Cloud 2">
            <a:extLst>
              <a:ext uri="{FF2B5EF4-FFF2-40B4-BE49-F238E27FC236}">
                <a16:creationId xmlns:a16="http://schemas.microsoft.com/office/drawing/2014/main" id="{36C6D2A3-1DE8-40DD-B64E-B602A3151B6F}"/>
              </a:ext>
            </a:extLst>
          </p:cNvPr>
          <p:cNvSpPr/>
          <p:nvPr/>
        </p:nvSpPr>
        <p:spPr>
          <a:xfrm>
            <a:off x="1097280" y="4900082"/>
            <a:ext cx="5994674" cy="1422392"/>
          </a:xfrm>
          <a:prstGeom prst="clou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Remember:</a:t>
            </a:r>
          </a:p>
          <a:p>
            <a:pPr algn="ctr"/>
            <a:r>
              <a:rPr lang="en-US" b="1" dirty="0"/>
              <a:t>This approach is an </a:t>
            </a:r>
            <a:r>
              <a:rPr lang="en-US" b="1" dirty="0">
                <a:solidFill>
                  <a:srgbClr val="FF0000"/>
                </a:solidFill>
              </a:rPr>
              <a:t>approximation</a:t>
            </a:r>
            <a:r>
              <a:rPr lang="en-US" b="1" dirty="0"/>
              <a:t> to the PERFECT LRU to avoid its disadvantages </a:t>
            </a:r>
          </a:p>
        </p:txBody>
      </p:sp>
      <p:sp>
        <p:nvSpPr>
          <p:cNvPr id="22" name="Cloud 21">
            <a:extLst>
              <a:ext uri="{FF2B5EF4-FFF2-40B4-BE49-F238E27FC236}">
                <a16:creationId xmlns:a16="http://schemas.microsoft.com/office/drawing/2014/main" id="{94212DDB-875C-445E-8646-FA898BD2EF2D}"/>
              </a:ext>
            </a:extLst>
          </p:cNvPr>
          <p:cNvSpPr/>
          <p:nvPr/>
        </p:nvSpPr>
        <p:spPr>
          <a:xfrm>
            <a:off x="6096000" y="5367943"/>
            <a:ext cx="1828800" cy="822325"/>
          </a:xfrm>
          <a:prstGeom prst="clou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But HOW?</a:t>
            </a:r>
          </a:p>
        </p:txBody>
      </p:sp>
    </p:spTree>
    <p:extLst>
      <p:ext uri="{BB962C8B-B14F-4D97-AF65-F5344CB8AC3E}">
        <p14:creationId xmlns:p14="http://schemas.microsoft.com/office/powerpoint/2010/main" val="2907575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9" grpId="0"/>
      <p:bldP spid="20" grpId="0"/>
      <p:bldP spid="3" grpId="0" animBg="1"/>
      <p:bldP spid="2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55D95-69FF-46F3-A906-2FB66BC2F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Replac#2: </a:t>
            </a:r>
            <a:r>
              <a:rPr lang="en-NZ" b="1" dirty="0"/>
              <a:t>LRU – </a:t>
            </a:r>
            <a:r>
              <a:rPr lang="en-NZ" b="1" dirty="0">
                <a:solidFill>
                  <a:srgbClr val="FF0000"/>
                </a:solidFill>
              </a:rPr>
              <a:t>Idea#2: List Approx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7E33C5-EDF6-430D-9847-CF840D14C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0BB70387-2547-4A14-80F1-AADAC7209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4329" y="4547740"/>
            <a:ext cx="838200" cy="381000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225D10-9FCA-415E-8BF3-58E09E690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2230" y="4545269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BBC5C7-74C2-4CEE-85AF-BFBAE3AB3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567" y="4545269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P2</a:t>
            </a:r>
          </a:p>
        </p:txBody>
      </p:sp>
      <p:sp>
        <p:nvSpPr>
          <p:cNvPr id="17" name="Text Box 23">
            <a:extLst>
              <a:ext uri="{FF2B5EF4-FFF2-40B4-BE49-F238E27FC236}">
                <a16:creationId xmlns:a16="http://schemas.microsoft.com/office/drawing/2014/main" id="{DA6FC324-4E8E-45A4-A0BD-B722CFBD5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1" y="5503069"/>
            <a:ext cx="1391387" cy="705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CC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>
            <a:spAutoFit/>
          </a:bodyPr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ko-KR" sz="2000" dirty="0">
                <a:solidFill>
                  <a:srgbClr val="31E923"/>
                </a:solidFill>
                <a:ea typeface="굴림" panose="020B0600000101010101" pitchFamily="34" charset="-127"/>
              </a:rPr>
              <a:t>Page-in</a:t>
            </a:r>
          </a:p>
          <a:p>
            <a:pPr>
              <a:spcBef>
                <a:spcPct val="0"/>
              </a:spcBef>
            </a:pPr>
            <a:r>
              <a:rPr lang="en-US" altLang="ko-KR" sz="2000" dirty="0">
                <a:solidFill>
                  <a:srgbClr val="31E923"/>
                </a:solidFill>
                <a:ea typeface="굴림" panose="020B0600000101010101" pitchFamily="34" charset="-127"/>
              </a:rPr>
              <a:t>From disk</a:t>
            </a:r>
          </a:p>
        </p:txBody>
      </p:sp>
      <p:sp>
        <p:nvSpPr>
          <p:cNvPr id="19" name="Text Box 20">
            <a:extLst>
              <a:ext uri="{FF2B5EF4-FFF2-40B4-BE49-F238E27FC236}">
                <a16:creationId xmlns:a16="http://schemas.microsoft.com/office/drawing/2014/main" id="{E1FEA2D4-BBD5-4F99-97A0-2E061ED2F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215" y="5380829"/>
            <a:ext cx="961783" cy="1013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CC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>
            <a:spAutoFit/>
          </a:bodyPr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ko-KR" sz="2000" dirty="0">
                <a:ea typeface="굴림" panose="020B0600000101010101" pitchFamily="34" charset="-127"/>
              </a:rPr>
              <a:t>New</a:t>
            </a:r>
          </a:p>
          <a:p>
            <a:pPr>
              <a:spcBef>
                <a:spcPct val="0"/>
              </a:spcBef>
            </a:pPr>
            <a:r>
              <a:rPr lang="en-US" altLang="ko-KR" sz="2000" dirty="0">
                <a:ea typeface="굴림" panose="020B0600000101010101" pitchFamily="34" charset="-127"/>
              </a:rPr>
              <a:t>Active</a:t>
            </a:r>
          </a:p>
          <a:p>
            <a:pPr>
              <a:spcBef>
                <a:spcPct val="0"/>
              </a:spcBef>
            </a:pPr>
            <a:r>
              <a:rPr lang="en-US" altLang="ko-KR" sz="2000" dirty="0">
                <a:ea typeface="굴림" panose="020B0600000101010101" pitchFamily="34" charset="-127"/>
              </a:rPr>
              <a:t>Pages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CFE9F3C7-D53B-4DAC-B21C-CE1FDD4C05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6617" y="5380830"/>
            <a:ext cx="1075596" cy="1013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CC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>
            <a:spAutoFit/>
          </a:bodyPr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ko-KR" sz="2000" dirty="0">
                <a:ea typeface="굴림" panose="020B0600000101010101" pitchFamily="34" charset="-127"/>
              </a:rPr>
              <a:t>New</a:t>
            </a:r>
          </a:p>
          <a:p>
            <a:pPr>
              <a:spcBef>
                <a:spcPct val="0"/>
              </a:spcBef>
            </a:pPr>
            <a:r>
              <a:rPr lang="en-US" altLang="ko-KR" sz="2000" dirty="0">
                <a:ea typeface="굴림" panose="020B0600000101010101" pitchFamily="34" charset="-127"/>
              </a:rPr>
              <a:t>SC</a:t>
            </a:r>
          </a:p>
          <a:p>
            <a:pPr>
              <a:spcBef>
                <a:spcPct val="0"/>
              </a:spcBef>
            </a:pPr>
            <a:r>
              <a:rPr lang="en-US" altLang="ko-KR" sz="2000" dirty="0">
                <a:ea typeface="굴림" panose="020B0600000101010101" pitchFamily="34" charset="-127"/>
              </a:rPr>
              <a:t>Victims</a:t>
            </a:r>
          </a:p>
        </p:txBody>
      </p:sp>
      <p:sp>
        <p:nvSpPr>
          <p:cNvPr id="21" name="Line 22">
            <a:extLst>
              <a:ext uri="{FF2B5EF4-FFF2-40B4-BE49-F238E27FC236}">
                <a16:creationId xmlns:a16="http://schemas.microsoft.com/office/drawing/2014/main" id="{297E8186-18C3-4D83-A670-DEF01D04E16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3523" y="5819517"/>
            <a:ext cx="665769" cy="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/>
          <a:p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08C7F3-D01A-4670-8603-84DD3EC30D1A}"/>
              </a:ext>
            </a:extLst>
          </p:cNvPr>
          <p:cNvSpPr txBox="1"/>
          <p:nvPr/>
        </p:nvSpPr>
        <p:spPr>
          <a:xfrm>
            <a:off x="1097280" y="1732145"/>
            <a:ext cx="9997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+mj-lt"/>
                <a:ea typeface="굴림" panose="020B0600000101010101" pitchFamily="34" charset="-127"/>
              </a:rPr>
              <a:t>Assume we have the following references with 2 </a:t>
            </a:r>
            <a:r>
              <a:rPr lang="en-US" sz="2400" b="1" dirty="0">
                <a:solidFill>
                  <a:srgbClr val="00B0F0"/>
                </a:solidFill>
                <a:latin typeface="+mj-lt"/>
                <a:ea typeface="굴림" panose="020B0600000101010101" pitchFamily="34" charset="-127"/>
              </a:rPr>
              <a:t>EMPTY</a:t>
            </a:r>
            <a:r>
              <a:rPr lang="en-US" sz="2400" b="1" dirty="0">
                <a:latin typeface="+mj-lt"/>
                <a:ea typeface="굴림" panose="020B0600000101010101" pitchFamily="34" charset="-127"/>
              </a:rPr>
              <a:t> lists</a:t>
            </a:r>
            <a:r>
              <a:rPr lang="en-US" sz="2400" dirty="0">
                <a:latin typeface="+mj-lt"/>
              </a:rPr>
              <a:t>: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11DA056-6647-497D-A6CE-93999DB69B00}"/>
              </a:ext>
            </a:extLst>
          </p:cNvPr>
          <p:cNvSpPr/>
          <p:nvPr/>
        </p:nvSpPr>
        <p:spPr>
          <a:xfrm>
            <a:off x="2286000" y="2691735"/>
            <a:ext cx="1073150" cy="506669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Comic Sans MS" panose="030F0702030302020204" pitchFamily="66" charset="0"/>
              </a:rPr>
              <a:t>1-P1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57468C3-A79B-46BA-A2AC-9FF343D1BBE6}"/>
              </a:ext>
            </a:extLst>
          </p:cNvPr>
          <p:cNvSpPr/>
          <p:nvPr/>
        </p:nvSpPr>
        <p:spPr>
          <a:xfrm>
            <a:off x="2234629" y="2649787"/>
            <a:ext cx="1219200" cy="593594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Comic Sans MS" panose="030F0702030302020204" pitchFamily="66" charset="0"/>
              </a:rPr>
              <a:t>2- P2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EA9486E-1580-4A82-B75E-99D5DEAC6DF3}"/>
              </a:ext>
            </a:extLst>
          </p:cNvPr>
          <p:cNvSpPr/>
          <p:nvPr/>
        </p:nvSpPr>
        <p:spPr>
          <a:xfrm>
            <a:off x="2234629" y="2647194"/>
            <a:ext cx="1219200" cy="569686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Comic Sans MS" panose="030F0702030302020204" pitchFamily="66" charset="0"/>
              </a:rPr>
              <a:t>3- P3</a:t>
            </a:r>
          </a:p>
        </p:txBody>
      </p:sp>
      <p:sp>
        <p:nvSpPr>
          <p:cNvPr id="29" name="Text Box 14">
            <a:extLst>
              <a:ext uri="{FF2B5EF4-FFF2-40B4-BE49-F238E27FC236}">
                <a16:creationId xmlns:a16="http://schemas.microsoft.com/office/drawing/2014/main" id="{C5F141DB-8C68-41A2-8B36-A920EF45E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2169160"/>
            <a:ext cx="2466100" cy="828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CC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78" tIns="44445" rIns="90478" bIns="44445">
            <a:spAutoFit/>
          </a:bodyPr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ko-KR" sz="1600" dirty="0">
                <a:solidFill>
                  <a:schemeClr val="hlink"/>
                </a:solidFill>
                <a:ea typeface="굴림" panose="020B0600000101010101" pitchFamily="34" charset="-127"/>
              </a:rPr>
              <a:t>LIST 1: </a:t>
            </a:r>
            <a:br>
              <a:rPr lang="en-US" altLang="ko-KR" sz="1600" dirty="0">
                <a:solidFill>
                  <a:schemeClr val="hlink"/>
                </a:solidFill>
                <a:ea typeface="굴림" panose="020B0600000101010101" pitchFamily="34" charset="-127"/>
              </a:rPr>
            </a:br>
            <a:r>
              <a:rPr lang="en-US" altLang="ko-KR" sz="1600" dirty="0">
                <a:solidFill>
                  <a:schemeClr val="hlink"/>
                </a:solidFill>
                <a:ea typeface="굴림" panose="020B0600000101010101" pitchFamily="34" charset="-127"/>
              </a:rPr>
              <a:t>Directly Mapped Pages</a:t>
            </a:r>
          </a:p>
          <a:p>
            <a:r>
              <a:rPr lang="en-US" altLang="ko-KR" sz="1600" dirty="0">
                <a:solidFill>
                  <a:schemeClr val="hlink"/>
                </a:solidFill>
                <a:ea typeface="굴림" panose="020B0600000101010101" pitchFamily="34" charset="-127"/>
              </a:rPr>
              <a:t>Max Size = 3</a:t>
            </a:r>
          </a:p>
        </p:txBody>
      </p:sp>
      <p:sp>
        <p:nvSpPr>
          <p:cNvPr id="30" name="Text Box 14">
            <a:extLst>
              <a:ext uri="{FF2B5EF4-FFF2-40B4-BE49-F238E27FC236}">
                <a16:creationId xmlns:a16="http://schemas.microsoft.com/office/drawing/2014/main" id="{464ADBBC-7BDC-4A2F-9D55-4ABEDFEA5D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2739" y="2191012"/>
            <a:ext cx="2580097" cy="828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CC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78" tIns="44445" rIns="90478" bIns="44445">
            <a:spAutoFit/>
          </a:bodyPr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ko-KR" sz="1600" dirty="0">
                <a:solidFill>
                  <a:schemeClr val="hlink"/>
                </a:solidFill>
                <a:ea typeface="굴림" panose="020B0600000101010101" pitchFamily="34" charset="-127"/>
              </a:rPr>
              <a:t>LIST 2: </a:t>
            </a:r>
            <a:br>
              <a:rPr lang="en-US" altLang="ko-KR" sz="1600" dirty="0">
                <a:solidFill>
                  <a:schemeClr val="hlink"/>
                </a:solidFill>
                <a:ea typeface="굴림" panose="020B0600000101010101" pitchFamily="34" charset="-127"/>
              </a:rPr>
            </a:br>
            <a:r>
              <a:rPr lang="en-US" altLang="ko-KR" sz="1600" dirty="0">
                <a:solidFill>
                  <a:schemeClr val="hlink"/>
                </a:solidFill>
                <a:ea typeface="굴림" panose="020B0600000101010101" pitchFamily="34" charset="-127"/>
              </a:rPr>
              <a:t>Second Chance List</a:t>
            </a:r>
          </a:p>
          <a:p>
            <a:r>
              <a:rPr lang="en-US" altLang="ko-KR" sz="1600" dirty="0">
                <a:solidFill>
                  <a:schemeClr val="hlink"/>
                </a:solidFill>
                <a:ea typeface="굴림" panose="020B0600000101010101" pitchFamily="34" charset="-127"/>
              </a:rPr>
              <a:t>Max Size = 3</a:t>
            </a:r>
          </a:p>
        </p:txBody>
      </p:sp>
      <p:sp>
        <p:nvSpPr>
          <p:cNvPr id="31" name="Line 11">
            <a:extLst>
              <a:ext uri="{FF2B5EF4-FFF2-40B4-BE49-F238E27FC236}">
                <a16:creationId xmlns:a16="http://schemas.microsoft.com/office/drawing/2014/main" id="{B8C6705F-4B1A-4E0C-A2D1-437E9D50036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9134" y="4754045"/>
            <a:ext cx="355431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/>
          <a:p>
            <a:endParaRPr lang="en-US"/>
          </a:p>
        </p:txBody>
      </p:sp>
      <p:sp>
        <p:nvSpPr>
          <p:cNvPr id="32" name="Text Box 12">
            <a:extLst>
              <a:ext uri="{FF2B5EF4-FFF2-40B4-BE49-F238E27FC236}">
                <a16:creationId xmlns:a16="http://schemas.microsoft.com/office/drawing/2014/main" id="{89D67EAD-E6AC-4673-91FE-0124766536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3951" y="4562688"/>
            <a:ext cx="626755" cy="305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CC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ko-KR" sz="1400" dirty="0">
                <a:ea typeface="굴림" panose="020B0600000101010101" pitchFamily="34" charset="-127"/>
              </a:rPr>
              <a:t>Head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4E47F7E-3831-4212-A067-FB388B4AC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2230" y="3893610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P1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6879F81-D785-476A-A94C-83E14F86F68C}"/>
              </a:ext>
            </a:extLst>
          </p:cNvPr>
          <p:cNvCxnSpPr/>
          <p:nvPr/>
        </p:nvCxnSpPr>
        <p:spPr>
          <a:xfrm flipV="1">
            <a:off x="5410200" y="4274610"/>
            <a:ext cx="0" cy="2538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E14F774-138D-4ABB-A821-43EA32163C4B}"/>
              </a:ext>
            </a:extLst>
          </p:cNvPr>
          <p:cNvCxnSpPr>
            <a:cxnSpLocks/>
          </p:cNvCxnSpPr>
          <p:nvPr/>
        </p:nvCxnSpPr>
        <p:spPr>
          <a:xfrm>
            <a:off x="5098311" y="4254327"/>
            <a:ext cx="0" cy="29442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9561AD60-F889-4068-ACB9-AE5C40D46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7337" y="3877794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7CA0204-7FE8-49B5-A9F9-5F6C632C4D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1674" y="3877794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P2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AB05D9D-98B5-4189-AF1B-CD929A740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7337" y="3226135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P1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C0AE89A-1B3C-4F67-B2E4-374191291F3A}"/>
              </a:ext>
            </a:extLst>
          </p:cNvPr>
          <p:cNvCxnSpPr/>
          <p:nvPr/>
        </p:nvCxnSpPr>
        <p:spPr>
          <a:xfrm flipV="1">
            <a:off x="5405307" y="3607135"/>
            <a:ext cx="0" cy="2538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678D483-5055-4E62-AB9B-71438D721ABE}"/>
              </a:ext>
            </a:extLst>
          </p:cNvPr>
          <p:cNvCxnSpPr>
            <a:cxnSpLocks/>
          </p:cNvCxnSpPr>
          <p:nvPr/>
        </p:nvCxnSpPr>
        <p:spPr>
          <a:xfrm>
            <a:off x="5093418" y="3586852"/>
            <a:ext cx="0" cy="29442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9EB0F34A-73C0-4724-BF90-6AA72FF09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9088" y="4533655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P3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806CEA4A-002E-490B-949A-61EB8539D1E6}"/>
              </a:ext>
            </a:extLst>
          </p:cNvPr>
          <p:cNvSpPr/>
          <p:nvPr/>
        </p:nvSpPr>
        <p:spPr>
          <a:xfrm>
            <a:off x="2234629" y="2628717"/>
            <a:ext cx="1219200" cy="569686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Comic Sans MS" panose="030F0702030302020204" pitchFamily="66" charset="0"/>
              </a:rPr>
              <a:t>4- P4</a:t>
            </a:r>
          </a:p>
        </p:txBody>
      </p:sp>
      <p:sp>
        <p:nvSpPr>
          <p:cNvPr id="60" name="Cloud 59">
            <a:extLst>
              <a:ext uri="{FF2B5EF4-FFF2-40B4-BE49-F238E27FC236}">
                <a16:creationId xmlns:a16="http://schemas.microsoft.com/office/drawing/2014/main" id="{A17688CC-F6C2-47ED-989B-EA9AEBBC49EA}"/>
              </a:ext>
            </a:extLst>
          </p:cNvPr>
          <p:cNvSpPr/>
          <p:nvPr/>
        </p:nvSpPr>
        <p:spPr>
          <a:xfrm>
            <a:off x="1897983" y="3586852"/>
            <a:ext cx="1684669" cy="975837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mic Sans MS" panose="030F0702030302020204" pitchFamily="66" charset="0"/>
              </a:rPr>
              <a:t>List 1 is FULL!!</a:t>
            </a:r>
          </a:p>
        </p:txBody>
      </p:sp>
      <p:sp>
        <p:nvSpPr>
          <p:cNvPr id="61" name="Cloud 60">
            <a:extLst>
              <a:ext uri="{FF2B5EF4-FFF2-40B4-BE49-F238E27FC236}">
                <a16:creationId xmlns:a16="http://schemas.microsoft.com/office/drawing/2014/main" id="{10A0510A-B4DA-4854-BBE7-764785499220}"/>
              </a:ext>
            </a:extLst>
          </p:cNvPr>
          <p:cNvSpPr/>
          <p:nvPr/>
        </p:nvSpPr>
        <p:spPr>
          <a:xfrm>
            <a:off x="1534619" y="4307855"/>
            <a:ext cx="2193444" cy="975837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mic Sans MS" panose="030F0702030302020204" pitchFamily="66" charset="0"/>
              </a:rPr>
              <a:t>Then, apply FIFO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ECA4FD0E-22EC-4A05-8D97-309A220EB3D7}"/>
              </a:ext>
            </a:extLst>
          </p:cNvPr>
          <p:cNvGrpSpPr/>
          <p:nvPr/>
        </p:nvGrpSpPr>
        <p:grpSpPr>
          <a:xfrm>
            <a:off x="5695288" y="3245999"/>
            <a:ext cx="881562" cy="1508047"/>
            <a:chOff x="4171288" y="3245998"/>
            <a:chExt cx="881562" cy="1508047"/>
          </a:xfrm>
        </p:grpSpPr>
        <p:sp>
          <p:nvSpPr>
            <p:cNvPr id="62" name="Line 17">
              <a:extLst>
                <a:ext uri="{FF2B5EF4-FFF2-40B4-BE49-F238E27FC236}">
                  <a16:creationId xmlns:a16="http://schemas.microsoft.com/office/drawing/2014/main" id="{652291B0-D55C-4215-A5D1-A6EB33EB22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1288" y="3432878"/>
              <a:ext cx="881562" cy="132116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/>
            <a:p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63" name="Text Box 25">
              <a:extLst>
                <a:ext uri="{FF2B5EF4-FFF2-40B4-BE49-F238E27FC236}">
                  <a16:creationId xmlns:a16="http://schemas.microsoft.com/office/drawing/2014/main" id="{6A8E12A5-6EEA-4621-92F6-3248DC5C24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3370270">
              <a:off x="4013901" y="3685405"/>
              <a:ext cx="1276350" cy="397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478" tIns="44445" rIns="90478" bIns="44445">
              <a:spAutoFit/>
            </a:bodyPr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ko-KR" sz="2000" dirty="0">
                  <a:solidFill>
                    <a:srgbClr val="FF0000"/>
                  </a:solidFill>
                  <a:ea typeface="굴림" panose="020B0600000101010101" pitchFamily="34" charset="-127"/>
                </a:rPr>
                <a:t>Overflow</a:t>
              </a:r>
            </a:p>
          </p:txBody>
        </p:sp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26D946DB-878C-4C86-8C43-A23F70F57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5046" y="3900041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P1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FC499B0-07CD-4433-A287-8F6227D4D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9383" y="3900041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P2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F7AE6AD-27AD-4A15-836E-8B6DB77544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5046" y="3248382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P1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3AEF56F7-D25F-466E-AC16-8D2A3652C446}"/>
              </a:ext>
            </a:extLst>
          </p:cNvPr>
          <p:cNvCxnSpPr/>
          <p:nvPr/>
        </p:nvCxnSpPr>
        <p:spPr>
          <a:xfrm flipV="1">
            <a:off x="5393016" y="3629382"/>
            <a:ext cx="0" cy="2538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72952173-5F05-4538-846D-54AA10231A2B}"/>
              </a:ext>
            </a:extLst>
          </p:cNvPr>
          <p:cNvCxnSpPr>
            <a:cxnSpLocks/>
          </p:cNvCxnSpPr>
          <p:nvPr/>
        </p:nvCxnSpPr>
        <p:spPr>
          <a:xfrm>
            <a:off x="5081127" y="3609099"/>
            <a:ext cx="0" cy="29442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2749B2C8-D700-4CD2-8B1A-71DD5404F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0153" y="3232566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P1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65F01D5-FD93-431B-80B7-55129E3DD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4490" y="3232566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P2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FC246A7-7EF7-4170-A40E-C3FCC2A98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1904" y="3888427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P3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3FA6780-E2D8-47B3-94D2-5A85A7713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3138" y="4538656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P4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89DA26B6-5CBE-41C0-B605-9E70383DFCA2}"/>
              </a:ext>
            </a:extLst>
          </p:cNvPr>
          <p:cNvSpPr/>
          <p:nvPr/>
        </p:nvSpPr>
        <p:spPr>
          <a:xfrm>
            <a:off x="2238461" y="2611655"/>
            <a:ext cx="1219200" cy="569686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Comic Sans MS" panose="030F0702030302020204" pitchFamily="66" charset="0"/>
              </a:rPr>
              <a:t>5- P5</a:t>
            </a:r>
          </a:p>
        </p:txBody>
      </p:sp>
      <p:sp>
        <p:nvSpPr>
          <p:cNvPr id="81" name="Rectangle 13">
            <a:extLst>
              <a:ext uri="{FF2B5EF4-FFF2-40B4-BE49-F238E27FC236}">
                <a16:creationId xmlns:a16="http://schemas.microsoft.com/office/drawing/2014/main" id="{F9A39A2B-43A3-4675-A3C0-101E6FE5C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0900" y="3869837"/>
            <a:ext cx="838200" cy="381000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P1</a:t>
            </a:r>
          </a:p>
        </p:txBody>
      </p:sp>
      <p:sp>
        <p:nvSpPr>
          <p:cNvPr id="82" name="Rectangle 13">
            <a:extLst>
              <a:ext uri="{FF2B5EF4-FFF2-40B4-BE49-F238E27FC236}">
                <a16:creationId xmlns:a16="http://schemas.microsoft.com/office/drawing/2014/main" id="{0665C20E-37F3-4E09-9B9B-5FDEC7313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0900" y="4540303"/>
            <a:ext cx="838200" cy="381000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P2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5ED39BD5-E2B9-48BA-8FDA-AB54FFD3263B}"/>
              </a:ext>
            </a:extLst>
          </p:cNvPr>
          <p:cNvCxnSpPr>
            <a:cxnSpLocks/>
          </p:cNvCxnSpPr>
          <p:nvPr/>
        </p:nvCxnSpPr>
        <p:spPr>
          <a:xfrm flipV="1">
            <a:off x="7162800" y="4251834"/>
            <a:ext cx="0" cy="27313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104B1C91-5DFA-4548-8819-20A77E8FE900}"/>
              </a:ext>
            </a:extLst>
          </p:cNvPr>
          <p:cNvCxnSpPr>
            <a:cxnSpLocks/>
          </p:cNvCxnSpPr>
          <p:nvPr/>
        </p:nvCxnSpPr>
        <p:spPr>
          <a:xfrm flipH="1">
            <a:off x="6840280" y="4251835"/>
            <a:ext cx="17721" cy="2989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3C62CEC0-5F6C-413C-8272-485CBF979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3833" y="3243199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P3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1D4ED035-0386-4827-B16B-FE4A7E957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5067" y="3893428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P4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4D7AB07C-D3C0-4E7E-9C8D-03FC1129C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59" y="4540303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P5</a:t>
            </a: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E911E233-706E-45CD-9666-FD1F7C9F5391}"/>
              </a:ext>
            </a:extLst>
          </p:cNvPr>
          <p:cNvSpPr/>
          <p:nvPr/>
        </p:nvSpPr>
        <p:spPr>
          <a:xfrm>
            <a:off x="2252695" y="2613336"/>
            <a:ext cx="1219200" cy="569686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Comic Sans MS" panose="030F0702030302020204" pitchFamily="66" charset="0"/>
              </a:rPr>
              <a:t>6- P6</a:t>
            </a:r>
          </a:p>
        </p:txBody>
      </p:sp>
      <p:sp>
        <p:nvSpPr>
          <p:cNvPr id="96" name="Rectangle 13">
            <a:extLst>
              <a:ext uri="{FF2B5EF4-FFF2-40B4-BE49-F238E27FC236}">
                <a16:creationId xmlns:a16="http://schemas.microsoft.com/office/drawing/2014/main" id="{73DA5292-A817-4A40-8464-C2FB28FB9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2738" y="3253214"/>
            <a:ext cx="838200" cy="381000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P1</a:t>
            </a:r>
          </a:p>
        </p:txBody>
      </p:sp>
      <p:sp>
        <p:nvSpPr>
          <p:cNvPr id="97" name="Rectangle 13">
            <a:extLst>
              <a:ext uri="{FF2B5EF4-FFF2-40B4-BE49-F238E27FC236}">
                <a16:creationId xmlns:a16="http://schemas.microsoft.com/office/drawing/2014/main" id="{E8B24206-E64E-42FA-BF70-8BF9D01E1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2738" y="3904125"/>
            <a:ext cx="838200" cy="381000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P2</a:t>
            </a:r>
          </a:p>
        </p:txBody>
      </p:sp>
      <p:sp>
        <p:nvSpPr>
          <p:cNvPr id="98" name="Rectangle 13">
            <a:extLst>
              <a:ext uri="{FF2B5EF4-FFF2-40B4-BE49-F238E27FC236}">
                <a16:creationId xmlns:a16="http://schemas.microsoft.com/office/drawing/2014/main" id="{F501B8EA-7141-4280-999F-B119FF4EE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2738" y="4532866"/>
            <a:ext cx="838200" cy="381000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P3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83D5104B-63FA-43D6-8CD8-D71D2AB4B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8817" y="3227131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P4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03EEA48-CB18-4C2A-B7EA-0203A7E8E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0109" y="3874006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P5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F8E924EE-769D-4E3D-BD27-6870AE783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1322" y="4520881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P6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5BC95188-6664-4956-91A5-1CC79AEB369F}"/>
              </a:ext>
            </a:extLst>
          </p:cNvPr>
          <p:cNvCxnSpPr>
            <a:cxnSpLocks/>
          </p:cNvCxnSpPr>
          <p:nvPr/>
        </p:nvCxnSpPr>
        <p:spPr>
          <a:xfrm flipV="1">
            <a:off x="7162800" y="3634214"/>
            <a:ext cx="0" cy="27313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B95081BC-B288-4579-A97D-351F85BA0F84}"/>
              </a:ext>
            </a:extLst>
          </p:cNvPr>
          <p:cNvCxnSpPr>
            <a:cxnSpLocks/>
          </p:cNvCxnSpPr>
          <p:nvPr/>
        </p:nvCxnSpPr>
        <p:spPr>
          <a:xfrm>
            <a:off x="6898676" y="3652521"/>
            <a:ext cx="0" cy="2084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A28EBCEB-1AA8-4589-9DA4-8AF02528F426}"/>
              </a:ext>
            </a:extLst>
          </p:cNvPr>
          <p:cNvSpPr/>
          <p:nvPr/>
        </p:nvSpPr>
        <p:spPr>
          <a:xfrm>
            <a:off x="7858144" y="3114884"/>
            <a:ext cx="3354338" cy="300143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FontTx/>
              <a:buChar char="-"/>
            </a:pPr>
            <a:r>
              <a:rPr lang="en-US" dirty="0"/>
              <a:t> So, for each page fault, add it in </a:t>
            </a:r>
            <a:r>
              <a:rPr lang="en-US" b="1" dirty="0"/>
              <a:t>LIST 1</a:t>
            </a:r>
          </a:p>
          <a:p>
            <a:pPr>
              <a:buFontTx/>
              <a:buChar char="-"/>
            </a:pPr>
            <a:r>
              <a:rPr lang="en-US" dirty="0"/>
              <a:t> When </a:t>
            </a:r>
            <a:r>
              <a:rPr lang="en-US" b="1" dirty="0">
                <a:solidFill>
                  <a:srgbClr val="FF0000"/>
                </a:solidFill>
              </a:rPr>
              <a:t>LIST 1 is FULL</a:t>
            </a:r>
            <a:r>
              <a:rPr lang="en-US" dirty="0"/>
              <a:t>:</a:t>
            </a:r>
          </a:p>
          <a:p>
            <a:pPr marL="169863" lvl="1">
              <a:buFontTx/>
              <a:buChar char="-"/>
            </a:pPr>
            <a:r>
              <a:rPr lang="en-US" dirty="0"/>
              <a:t> Remove a page from </a:t>
            </a:r>
            <a:r>
              <a:rPr lang="en-US" b="1" dirty="0"/>
              <a:t>LIST 1 </a:t>
            </a:r>
            <a:r>
              <a:rPr lang="en-US" dirty="0"/>
              <a:t>using </a:t>
            </a:r>
            <a:r>
              <a:rPr lang="en-US" b="1" dirty="0"/>
              <a:t>FIFO</a:t>
            </a:r>
          </a:p>
          <a:p>
            <a:pPr marL="169863" lvl="1">
              <a:buFontTx/>
              <a:buChar char="-"/>
            </a:pPr>
            <a:r>
              <a:rPr lang="en-US" dirty="0"/>
              <a:t> Place the removed page at the head of </a:t>
            </a:r>
            <a:r>
              <a:rPr lang="en-US" b="1" dirty="0"/>
              <a:t>LIST 2</a:t>
            </a:r>
          </a:p>
          <a:p>
            <a:pPr marL="169863" lvl="1">
              <a:buFontTx/>
              <a:buChar char="-"/>
            </a:pPr>
            <a:r>
              <a:rPr lang="en-US" dirty="0"/>
              <a:t> Place the new faulted page at the head of </a:t>
            </a:r>
            <a:r>
              <a:rPr lang="en-US" b="1" dirty="0"/>
              <a:t>LIST 1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466F411A-71EB-4AC6-8AB8-271B2E162D93}"/>
              </a:ext>
            </a:extLst>
          </p:cNvPr>
          <p:cNvSpPr txBox="1"/>
          <p:nvPr/>
        </p:nvSpPr>
        <p:spPr>
          <a:xfrm>
            <a:off x="6664378" y="4972565"/>
            <a:ext cx="726559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 = 0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84DC4424-5E58-497E-8618-732BE23680A2}"/>
              </a:ext>
            </a:extLst>
          </p:cNvPr>
          <p:cNvSpPr txBox="1"/>
          <p:nvPr/>
        </p:nvSpPr>
        <p:spPr>
          <a:xfrm>
            <a:off x="4876800" y="4963487"/>
            <a:ext cx="771464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 = 1</a:t>
            </a:r>
          </a:p>
        </p:txBody>
      </p:sp>
      <p:sp>
        <p:nvSpPr>
          <p:cNvPr id="112" name="Line 22">
            <a:extLst>
              <a:ext uri="{FF2B5EF4-FFF2-40B4-BE49-F238E27FC236}">
                <a16:creationId xmlns:a16="http://schemas.microsoft.com/office/drawing/2014/main" id="{DCF823EE-FA24-432C-9478-24820A6E45BF}"/>
              </a:ext>
            </a:extLst>
          </p:cNvPr>
          <p:cNvSpPr>
            <a:spLocks noChangeShapeType="1"/>
          </p:cNvSpPr>
          <p:nvPr/>
        </p:nvSpPr>
        <p:spPr bwMode="auto">
          <a:xfrm>
            <a:off x="5859167" y="5819517"/>
            <a:ext cx="665769" cy="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762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47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500"/>
                            </p:stCondLst>
                            <p:childTnLst>
                              <p:par>
                                <p:cTn id="1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0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1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500"/>
                            </p:stCondLst>
                            <p:childTnLst>
                              <p:par>
                                <p:cTn id="2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500"/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500"/>
                                        <p:tgtEl>
                                          <p:spTgt spid="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500"/>
                                        <p:tgtEl>
                                          <p:spTgt spid="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8" grpId="0" animBg="1"/>
      <p:bldP spid="8" grpId="1" animBg="1"/>
      <p:bldP spid="8" grpId="2" animBg="1"/>
      <p:bldP spid="8" grpId="3" animBg="1"/>
      <p:bldP spid="9" grpId="0" animBg="1"/>
      <p:bldP spid="9" grpId="1" animBg="1"/>
      <p:bldP spid="9" grpId="2" animBg="1"/>
      <p:bldP spid="24" grpId="0" animBg="1"/>
      <p:bldP spid="25" grpId="0" animBg="1"/>
      <p:bldP spid="28" grpId="0" animBg="1"/>
      <p:bldP spid="31" grpId="0" animBg="1"/>
      <p:bldP spid="32" grpId="0"/>
      <p:bldP spid="33" grpId="0" animBg="1"/>
      <p:bldP spid="33" grpId="1" animBg="1"/>
      <p:bldP spid="54" grpId="0" animBg="1"/>
      <p:bldP spid="55" grpId="0" animBg="1"/>
      <p:bldP spid="56" grpId="0" animBg="1"/>
      <p:bldP spid="56" grpId="1" animBg="1"/>
      <p:bldP spid="7" grpId="0" animBg="1"/>
      <p:bldP spid="7" grpId="1" animBg="1"/>
      <p:bldP spid="59" grpId="0" animBg="1"/>
      <p:bldP spid="60" grpId="0" animBg="1"/>
      <p:bldP spid="61" grpId="0" animBg="1"/>
      <p:bldP spid="70" grpId="0" animBg="1"/>
      <p:bldP spid="71" grpId="0" animBg="1"/>
      <p:bldP spid="72" grpId="0" animBg="1"/>
      <p:bldP spid="75" grpId="0" animBg="1"/>
      <p:bldP spid="76" grpId="0" animBg="1"/>
      <p:bldP spid="77" grpId="0" animBg="1"/>
      <p:bldP spid="78" grpId="0" animBg="1"/>
      <p:bldP spid="80" grpId="0" animBg="1"/>
      <p:bldP spid="81" grpId="0" animBg="1"/>
      <p:bldP spid="82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101" grpId="0" animBg="1"/>
      <p:bldP spid="102" grpId="0" animBg="1"/>
      <p:bldP spid="103" grpId="0" animBg="1"/>
      <p:bldP spid="10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55D95-69FF-46F3-A906-2FB66BC2F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Replac#2: </a:t>
            </a:r>
            <a:r>
              <a:rPr lang="en-NZ" b="1" dirty="0"/>
              <a:t>LRU – </a:t>
            </a:r>
            <a:r>
              <a:rPr lang="en-NZ" b="1" dirty="0">
                <a:solidFill>
                  <a:srgbClr val="FF0000"/>
                </a:solidFill>
              </a:rPr>
              <a:t>Idea#2: List Approx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7E33C5-EDF6-430D-9847-CF840D14C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0BB70387-2547-4A14-80F1-AADAC7209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4329" y="4547740"/>
            <a:ext cx="838200" cy="381000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P1</a:t>
            </a:r>
          </a:p>
        </p:txBody>
      </p:sp>
      <p:sp>
        <p:nvSpPr>
          <p:cNvPr id="17" name="Text Box 23">
            <a:extLst>
              <a:ext uri="{FF2B5EF4-FFF2-40B4-BE49-F238E27FC236}">
                <a16:creationId xmlns:a16="http://schemas.microsoft.com/office/drawing/2014/main" id="{DA6FC324-4E8E-45A4-A0BD-B722CFBD5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1" y="5503069"/>
            <a:ext cx="1391387" cy="705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CC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>
            <a:spAutoFit/>
          </a:bodyPr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ko-KR" sz="2000" dirty="0">
                <a:solidFill>
                  <a:srgbClr val="31E923"/>
                </a:solidFill>
                <a:ea typeface="굴림" panose="020B0600000101010101" pitchFamily="34" charset="-127"/>
              </a:rPr>
              <a:t>Page-in</a:t>
            </a:r>
          </a:p>
          <a:p>
            <a:pPr>
              <a:spcBef>
                <a:spcPct val="0"/>
              </a:spcBef>
            </a:pPr>
            <a:r>
              <a:rPr lang="en-US" altLang="ko-KR" sz="2000" dirty="0">
                <a:solidFill>
                  <a:srgbClr val="31E923"/>
                </a:solidFill>
                <a:ea typeface="굴림" panose="020B0600000101010101" pitchFamily="34" charset="-127"/>
              </a:rPr>
              <a:t>From disk</a:t>
            </a:r>
          </a:p>
        </p:txBody>
      </p:sp>
      <p:sp>
        <p:nvSpPr>
          <p:cNvPr id="19" name="Text Box 20">
            <a:extLst>
              <a:ext uri="{FF2B5EF4-FFF2-40B4-BE49-F238E27FC236}">
                <a16:creationId xmlns:a16="http://schemas.microsoft.com/office/drawing/2014/main" id="{E1FEA2D4-BBD5-4F99-97A0-2E061ED2F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6091" y="5273675"/>
            <a:ext cx="961783" cy="1013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CC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>
            <a:spAutoFit/>
          </a:bodyPr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ko-KR" sz="2000" dirty="0">
                <a:ea typeface="굴림" panose="020B0600000101010101" pitchFamily="34" charset="-127"/>
              </a:rPr>
              <a:t>New</a:t>
            </a:r>
          </a:p>
          <a:p>
            <a:pPr>
              <a:spcBef>
                <a:spcPct val="0"/>
              </a:spcBef>
            </a:pPr>
            <a:r>
              <a:rPr lang="en-US" altLang="ko-KR" sz="2000" dirty="0">
                <a:ea typeface="굴림" panose="020B0600000101010101" pitchFamily="34" charset="-127"/>
              </a:rPr>
              <a:t>Active</a:t>
            </a:r>
          </a:p>
          <a:p>
            <a:pPr>
              <a:spcBef>
                <a:spcPct val="0"/>
              </a:spcBef>
            </a:pPr>
            <a:r>
              <a:rPr lang="en-US" altLang="ko-KR" sz="2000" dirty="0">
                <a:ea typeface="굴림" panose="020B0600000101010101" pitchFamily="34" charset="-127"/>
              </a:rPr>
              <a:t>Pages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CFE9F3C7-D53B-4DAC-B21C-CE1FDD4C05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0730" y="5294866"/>
            <a:ext cx="1075596" cy="1013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CC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>
            <a:spAutoFit/>
          </a:bodyPr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ko-KR" sz="2000" dirty="0">
                <a:ea typeface="굴림" panose="020B0600000101010101" pitchFamily="34" charset="-127"/>
              </a:rPr>
              <a:t>New</a:t>
            </a:r>
          </a:p>
          <a:p>
            <a:pPr>
              <a:spcBef>
                <a:spcPct val="0"/>
              </a:spcBef>
            </a:pPr>
            <a:r>
              <a:rPr lang="en-US" altLang="ko-KR" sz="2000" dirty="0">
                <a:ea typeface="굴림" panose="020B0600000101010101" pitchFamily="34" charset="-127"/>
              </a:rPr>
              <a:t>SC</a:t>
            </a:r>
          </a:p>
          <a:p>
            <a:pPr>
              <a:spcBef>
                <a:spcPct val="0"/>
              </a:spcBef>
            </a:pPr>
            <a:r>
              <a:rPr lang="en-US" altLang="ko-KR" sz="2000" dirty="0">
                <a:ea typeface="굴림" panose="020B0600000101010101" pitchFamily="34" charset="-127"/>
              </a:rPr>
              <a:t>Victims</a:t>
            </a:r>
          </a:p>
        </p:txBody>
      </p:sp>
      <p:sp>
        <p:nvSpPr>
          <p:cNvPr id="21" name="Line 22">
            <a:extLst>
              <a:ext uri="{FF2B5EF4-FFF2-40B4-BE49-F238E27FC236}">
                <a16:creationId xmlns:a16="http://schemas.microsoft.com/office/drawing/2014/main" id="{297E8186-18C3-4D83-A670-DEF01D04E16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3523" y="5819517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/>
          <a:p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08C7F3-D01A-4670-8603-84DD3EC30D1A}"/>
              </a:ext>
            </a:extLst>
          </p:cNvPr>
          <p:cNvSpPr txBox="1"/>
          <p:nvPr/>
        </p:nvSpPr>
        <p:spPr>
          <a:xfrm>
            <a:off x="1097280" y="1758855"/>
            <a:ext cx="1005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+mj-lt"/>
                <a:ea typeface="굴림" panose="020B0600000101010101" pitchFamily="34" charset="-127"/>
              </a:rPr>
              <a:t>Now, the 2 lists are </a:t>
            </a:r>
            <a:r>
              <a:rPr lang="en-US" sz="2400" b="1" dirty="0">
                <a:solidFill>
                  <a:srgbClr val="00B0F0"/>
                </a:solidFill>
                <a:latin typeface="+mj-lt"/>
                <a:ea typeface="굴림" panose="020B0600000101010101" pitchFamily="34" charset="-127"/>
              </a:rPr>
              <a:t>FULL</a:t>
            </a:r>
            <a:r>
              <a:rPr lang="en-US" sz="2400" b="1" dirty="0">
                <a:latin typeface="+mj-lt"/>
                <a:ea typeface="굴림" panose="020B0600000101010101" pitchFamily="34" charset="-127"/>
              </a:rPr>
              <a:t>, and a new </a:t>
            </a:r>
            <a:r>
              <a:rPr lang="en-US" sz="2400" b="1" dirty="0">
                <a:solidFill>
                  <a:srgbClr val="00B0F0"/>
                </a:solidFill>
                <a:latin typeface="+mj-lt"/>
                <a:ea typeface="굴림" panose="020B0600000101010101" pitchFamily="34" charset="-127"/>
              </a:rPr>
              <a:t>FAULT</a:t>
            </a:r>
            <a:r>
              <a:rPr lang="en-US" sz="2400" b="1" dirty="0">
                <a:latin typeface="+mj-lt"/>
                <a:ea typeface="굴림" panose="020B0600000101010101" pitchFamily="34" charset="-127"/>
              </a:rPr>
              <a:t> is happened:</a:t>
            </a:r>
            <a:endParaRPr lang="en-US" sz="2000" dirty="0">
              <a:latin typeface="+mj-lt"/>
            </a:endParaRPr>
          </a:p>
        </p:txBody>
      </p:sp>
      <p:sp>
        <p:nvSpPr>
          <p:cNvPr id="29" name="Text Box 14">
            <a:extLst>
              <a:ext uri="{FF2B5EF4-FFF2-40B4-BE49-F238E27FC236}">
                <a16:creationId xmlns:a16="http://schemas.microsoft.com/office/drawing/2014/main" id="{C5F141DB-8C68-41A2-8B36-A920EF45E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7631" y="2179386"/>
            <a:ext cx="2580097" cy="828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CC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78" tIns="44445" rIns="90478" bIns="44445">
            <a:spAutoFit/>
          </a:bodyPr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ko-KR" sz="1600" dirty="0">
                <a:solidFill>
                  <a:schemeClr val="hlink"/>
                </a:solidFill>
                <a:ea typeface="굴림" panose="020B0600000101010101" pitchFamily="34" charset="-127"/>
              </a:rPr>
              <a:t>LIST 1: </a:t>
            </a:r>
            <a:br>
              <a:rPr lang="en-US" altLang="ko-KR" sz="1600" dirty="0">
                <a:solidFill>
                  <a:schemeClr val="hlink"/>
                </a:solidFill>
                <a:ea typeface="굴림" panose="020B0600000101010101" pitchFamily="34" charset="-127"/>
              </a:rPr>
            </a:br>
            <a:r>
              <a:rPr lang="en-US" altLang="ko-KR" sz="1600" dirty="0">
                <a:solidFill>
                  <a:schemeClr val="hlink"/>
                </a:solidFill>
                <a:ea typeface="굴림" panose="020B0600000101010101" pitchFamily="34" charset="-127"/>
              </a:rPr>
              <a:t>Directly Mapped Pages</a:t>
            </a:r>
          </a:p>
          <a:p>
            <a:r>
              <a:rPr lang="en-US" altLang="ko-KR" sz="1600" dirty="0">
                <a:solidFill>
                  <a:schemeClr val="hlink"/>
                </a:solidFill>
                <a:ea typeface="굴림" panose="020B0600000101010101" pitchFamily="34" charset="-127"/>
              </a:rPr>
              <a:t>Max Size = 3</a:t>
            </a:r>
          </a:p>
        </p:txBody>
      </p:sp>
      <p:sp>
        <p:nvSpPr>
          <p:cNvPr id="30" name="Text Box 14">
            <a:extLst>
              <a:ext uri="{FF2B5EF4-FFF2-40B4-BE49-F238E27FC236}">
                <a16:creationId xmlns:a16="http://schemas.microsoft.com/office/drawing/2014/main" id="{464ADBBC-7BDC-4A2F-9D55-4ABEDFEA5D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7728" y="2156465"/>
            <a:ext cx="2580097" cy="828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CC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78" tIns="44445" rIns="90478" bIns="44445">
            <a:spAutoFit/>
          </a:bodyPr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ko-KR" sz="1600" dirty="0">
                <a:solidFill>
                  <a:schemeClr val="hlink"/>
                </a:solidFill>
                <a:ea typeface="굴림" panose="020B0600000101010101" pitchFamily="34" charset="-127"/>
              </a:rPr>
              <a:t>LIST 2: </a:t>
            </a:r>
            <a:br>
              <a:rPr lang="en-US" altLang="ko-KR" sz="1600" dirty="0">
                <a:solidFill>
                  <a:schemeClr val="hlink"/>
                </a:solidFill>
                <a:ea typeface="굴림" panose="020B0600000101010101" pitchFamily="34" charset="-127"/>
              </a:rPr>
            </a:br>
            <a:r>
              <a:rPr lang="en-US" altLang="ko-KR" sz="1600" dirty="0">
                <a:solidFill>
                  <a:schemeClr val="hlink"/>
                </a:solidFill>
                <a:ea typeface="굴림" panose="020B0600000101010101" pitchFamily="34" charset="-127"/>
              </a:rPr>
              <a:t>Second Chance List</a:t>
            </a:r>
          </a:p>
          <a:p>
            <a:r>
              <a:rPr lang="en-US" altLang="ko-KR" sz="1600" dirty="0">
                <a:solidFill>
                  <a:schemeClr val="hlink"/>
                </a:solidFill>
                <a:ea typeface="굴림" panose="020B0600000101010101" pitchFamily="34" charset="-127"/>
              </a:rPr>
              <a:t>Max Size = 3</a:t>
            </a:r>
          </a:p>
        </p:txBody>
      </p:sp>
      <p:sp>
        <p:nvSpPr>
          <p:cNvPr id="31" name="Line 11">
            <a:extLst>
              <a:ext uri="{FF2B5EF4-FFF2-40B4-BE49-F238E27FC236}">
                <a16:creationId xmlns:a16="http://schemas.microsoft.com/office/drawing/2014/main" id="{B8C6705F-4B1A-4E0C-A2D1-437E9D50036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9134" y="4754045"/>
            <a:ext cx="355431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/>
          <a:p>
            <a:endParaRPr lang="en-US"/>
          </a:p>
        </p:txBody>
      </p:sp>
      <p:sp>
        <p:nvSpPr>
          <p:cNvPr id="32" name="Text Box 12">
            <a:extLst>
              <a:ext uri="{FF2B5EF4-FFF2-40B4-BE49-F238E27FC236}">
                <a16:creationId xmlns:a16="http://schemas.microsoft.com/office/drawing/2014/main" id="{89D67EAD-E6AC-4673-91FE-0124766536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3951" y="4562688"/>
            <a:ext cx="626755" cy="305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CC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ko-KR" sz="1400" dirty="0">
                <a:ea typeface="굴림" panose="020B0600000101010101" pitchFamily="34" charset="-127"/>
              </a:rPr>
              <a:t>Head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4E47F7E-3831-4212-A067-FB388B4AC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2230" y="3893610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P1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6879F81-D785-476A-A94C-83E14F86F68C}"/>
              </a:ext>
            </a:extLst>
          </p:cNvPr>
          <p:cNvCxnSpPr/>
          <p:nvPr/>
        </p:nvCxnSpPr>
        <p:spPr>
          <a:xfrm flipV="1">
            <a:off x="5410200" y="4274610"/>
            <a:ext cx="0" cy="2538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E14F774-138D-4ABB-A821-43EA32163C4B}"/>
              </a:ext>
            </a:extLst>
          </p:cNvPr>
          <p:cNvCxnSpPr>
            <a:cxnSpLocks/>
          </p:cNvCxnSpPr>
          <p:nvPr/>
        </p:nvCxnSpPr>
        <p:spPr>
          <a:xfrm>
            <a:off x="5098311" y="4254327"/>
            <a:ext cx="0" cy="29442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9561AD60-F889-4068-ACB9-AE5C40D46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7337" y="3877794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7CA0204-7FE8-49B5-A9F9-5F6C632C4D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1674" y="3877794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P2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AB05D9D-98B5-4189-AF1B-CD929A740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7337" y="3226135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P1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C0AE89A-1B3C-4F67-B2E4-374191291F3A}"/>
              </a:ext>
            </a:extLst>
          </p:cNvPr>
          <p:cNvCxnSpPr/>
          <p:nvPr/>
        </p:nvCxnSpPr>
        <p:spPr>
          <a:xfrm flipV="1">
            <a:off x="5405307" y="3607135"/>
            <a:ext cx="0" cy="2538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678D483-5055-4E62-AB9B-71438D721ABE}"/>
              </a:ext>
            </a:extLst>
          </p:cNvPr>
          <p:cNvCxnSpPr>
            <a:cxnSpLocks/>
          </p:cNvCxnSpPr>
          <p:nvPr/>
        </p:nvCxnSpPr>
        <p:spPr>
          <a:xfrm>
            <a:off x="5093418" y="3586852"/>
            <a:ext cx="0" cy="29442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ECA4FD0E-22EC-4A05-8D97-309A220EB3D7}"/>
              </a:ext>
            </a:extLst>
          </p:cNvPr>
          <p:cNvGrpSpPr/>
          <p:nvPr/>
        </p:nvGrpSpPr>
        <p:grpSpPr>
          <a:xfrm>
            <a:off x="5695288" y="3245999"/>
            <a:ext cx="881562" cy="1508047"/>
            <a:chOff x="4171288" y="3245998"/>
            <a:chExt cx="881562" cy="1508047"/>
          </a:xfrm>
        </p:grpSpPr>
        <p:sp>
          <p:nvSpPr>
            <p:cNvPr id="62" name="Line 17">
              <a:extLst>
                <a:ext uri="{FF2B5EF4-FFF2-40B4-BE49-F238E27FC236}">
                  <a16:creationId xmlns:a16="http://schemas.microsoft.com/office/drawing/2014/main" id="{652291B0-D55C-4215-A5D1-A6EB33EB22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1288" y="3432878"/>
              <a:ext cx="881562" cy="132116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/>
            <a:p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63" name="Text Box 25">
              <a:extLst>
                <a:ext uri="{FF2B5EF4-FFF2-40B4-BE49-F238E27FC236}">
                  <a16:creationId xmlns:a16="http://schemas.microsoft.com/office/drawing/2014/main" id="{6A8E12A5-6EEA-4621-92F6-3248DC5C24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3370270">
              <a:off x="4013901" y="3685405"/>
              <a:ext cx="1276350" cy="397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478" tIns="44445" rIns="90478" bIns="44445">
              <a:spAutoFit/>
            </a:bodyPr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ko-KR" sz="2000" dirty="0">
                  <a:solidFill>
                    <a:srgbClr val="FF0000"/>
                  </a:solidFill>
                  <a:ea typeface="굴림" panose="020B0600000101010101" pitchFamily="34" charset="-127"/>
                </a:rPr>
                <a:t>Overflow</a:t>
              </a:r>
            </a:p>
          </p:txBody>
        </p:sp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26D946DB-878C-4C86-8C43-A23F70F57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5046" y="3900041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P1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FC499B0-07CD-4433-A287-8F6227D4D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9383" y="3900041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P2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F7AE6AD-27AD-4A15-836E-8B6DB77544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5046" y="3248382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P1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3AEF56F7-D25F-466E-AC16-8D2A3652C446}"/>
              </a:ext>
            </a:extLst>
          </p:cNvPr>
          <p:cNvCxnSpPr/>
          <p:nvPr/>
        </p:nvCxnSpPr>
        <p:spPr>
          <a:xfrm flipV="1">
            <a:off x="5393016" y="3629382"/>
            <a:ext cx="0" cy="2538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72952173-5F05-4538-846D-54AA10231A2B}"/>
              </a:ext>
            </a:extLst>
          </p:cNvPr>
          <p:cNvCxnSpPr>
            <a:cxnSpLocks/>
          </p:cNvCxnSpPr>
          <p:nvPr/>
        </p:nvCxnSpPr>
        <p:spPr>
          <a:xfrm>
            <a:off x="5081127" y="3609099"/>
            <a:ext cx="0" cy="29442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2749B2C8-D700-4CD2-8B1A-71DD5404F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0153" y="3232566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P1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65F01D5-FD93-431B-80B7-55129E3DD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4490" y="3232566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P2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FC246A7-7EF7-4170-A40E-C3FCC2A98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1904" y="3888427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P3</a:t>
            </a:r>
          </a:p>
        </p:txBody>
      </p:sp>
      <p:sp>
        <p:nvSpPr>
          <p:cNvPr id="81" name="Rectangle 13">
            <a:extLst>
              <a:ext uri="{FF2B5EF4-FFF2-40B4-BE49-F238E27FC236}">
                <a16:creationId xmlns:a16="http://schemas.microsoft.com/office/drawing/2014/main" id="{F9A39A2B-43A3-4675-A3C0-101E6FE5C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0900" y="3869837"/>
            <a:ext cx="838200" cy="381000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P1</a:t>
            </a:r>
          </a:p>
        </p:txBody>
      </p:sp>
      <p:sp>
        <p:nvSpPr>
          <p:cNvPr id="82" name="Rectangle 13">
            <a:extLst>
              <a:ext uri="{FF2B5EF4-FFF2-40B4-BE49-F238E27FC236}">
                <a16:creationId xmlns:a16="http://schemas.microsoft.com/office/drawing/2014/main" id="{0665C20E-37F3-4E09-9B9B-5FDEC7313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0900" y="4540303"/>
            <a:ext cx="838200" cy="381000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P3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5ED39BD5-E2B9-48BA-8FDA-AB54FFD3263B}"/>
              </a:ext>
            </a:extLst>
          </p:cNvPr>
          <p:cNvCxnSpPr>
            <a:cxnSpLocks/>
          </p:cNvCxnSpPr>
          <p:nvPr/>
        </p:nvCxnSpPr>
        <p:spPr>
          <a:xfrm flipV="1">
            <a:off x="7162800" y="4251834"/>
            <a:ext cx="0" cy="27313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104B1C91-5DFA-4548-8819-20A77E8FE900}"/>
              </a:ext>
            </a:extLst>
          </p:cNvPr>
          <p:cNvCxnSpPr>
            <a:cxnSpLocks/>
          </p:cNvCxnSpPr>
          <p:nvPr/>
        </p:nvCxnSpPr>
        <p:spPr>
          <a:xfrm flipH="1">
            <a:off x="6840280" y="4251835"/>
            <a:ext cx="17721" cy="2989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3C62CEC0-5F6C-413C-8272-485CBF979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3833" y="3243199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P3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1D4ED035-0386-4827-B16B-FE4A7E957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5067" y="3893428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P4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4D7AB07C-D3C0-4E7E-9C8D-03FC1129C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59" y="4551876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P6</a:t>
            </a:r>
          </a:p>
        </p:txBody>
      </p:sp>
      <p:sp>
        <p:nvSpPr>
          <p:cNvPr id="96" name="Rectangle 13">
            <a:extLst>
              <a:ext uri="{FF2B5EF4-FFF2-40B4-BE49-F238E27FC236}">
                <a16:creationId xmlns:a16="http://schemas.microsoft.com/office/drawing/2014/main" id="{73DA5292-A817-4A40-8464-C2FB28FB9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2738" y="3253214"/>
            <a:ext cx="838200" cy="381000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P1</a:t>
            </a:r>
          </a:p>
        </p:txBody>
      </p:sp>
      <p:sp>
        <p:nvSpPr>
          <p:cNvPr id="97" name="Rectangle 13">
            <a:extLst>
              <a:ext uri="{FF2B5EF4-FFF2-40B4-BE49-F238E27FC236}">
                <a16:creationId xmlns:a16="http://schemas.microsoft.com/office/drawing/2014/main" id="{E8B24206-E64E-42FA-BF70-8BF9D01E1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2738" y="3904125"/>
            <a:ext cx="838200" cy="381000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P2</a:t>
            </a:r>
          </a:p>
        </p:txBody>
      </p:sp>
      <p:sp>
        <p:nvSpPr>
          <p:cNvPr id="98" name="Rectangle 13">
            <a:extLst>
              <a:ext uri="{FF2B5EF4-FFF2-40B4-BE49-F238E27FC236}">
                <a16:creationId xmlns:a16="http://schemas.microsoft.com/office/drawing/2014/main" id="{F501B8EA-7141-4280-999F-B119FF4EE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8865" y="4553117"/>
            <a:ext cx="838200" cy="381000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P4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83D5104B-63FA-43D6-8CD8-D71D2AB4B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8817" y="3227131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P4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03EEA48-CB18-4C2A-B7EA-0203A7E8E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0109" y="3874006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P5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F8E924EE-769D-4E3D-BD27-6870AE783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6742" y="4550857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P7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5BC95188-6664-4956-91A5-1CC79AEB369F}"/>
              </a:ext>
            </a:extLst>
          </p:cNvPr>
          <p:cNvCxnSpPr>
            <a:cxnSpLocks/>
          </p:cNvCxnSpPr>
          <p:nvPr/>
        </p:nvCxnSpPr>
        <p:spPr>
          <a:xfrm flipV="1">
            <a:off x="7162800" y="3634214"/>
            <a:ext cx="0" cy="27313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B95081BC-B288-4579-A97D-351F85BA0F84}"/>
              </a:ext>
            </a:extLst>
          </p:cNvPr>
          <p:cNvCxnSpPr>
            <a:cxnSpLocks/>
          </p:cNvCxnSpPr>
          <p:nvPr/>
        </p:nvCxnSpPr>
        <p:spPr>
          <a:xfrm>
            <a:off x="6898676" y="3652521"/>
            <a:ext cx="0" cy="2084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8C1F1136-3B30-434D-A38C-19FD6D04F63B}"/>
              </a:ext>
            </a:extLst>
          </p:cNvPr>
          <p:cNvSpPr/>
          <p:nvPr/>
        </p:nvSpPr>
        <p:spPr>
          <a:xfrm>
            <a:off x="2252695" y="2613336"/>
            <a:ext cx="1219200" cy="569686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Comic Sans MS" panose="030F0702030302020204" pitchFamily="66" charset="0"/>
              </a:rPr>
              <a:t>7- P7</a:t>
            </a:r>
          </a:p>
        </p:txBody>
      </p:sp>
      <p:grpSp>
        <p:nvGrpSpPr>
          <p:cNvPr id="65" name="Group 31">
            <a:extLst>
              <a:ext uri="{FF2B5EF4-FFF2-40B4-BE49-F238E27FC236}">
                <a16:creationId xmlns:a16="http://schemas.microsoft.com/office/drawing/2014/main" id="{46F9880E-A79F-4E31-B6B9-42291150E5D2}"/>
              </a:ext>
            </a:extLst>
          </p:cNvPr>
          <p:cNvGrpSpPr>
            <a:grpSpLocks/>
          </p:cNvGrpSpPr>
          <p:nvPr/>
        </p:nvGrpSpPr>
        <p:grpSpPr bwMode="auto">
          <a:xfrm>
            <a:off x="7419101" y="3273761"/>
            <a:ext cx="2693988" cy="396875"/>
            <a:chOff x="3668" y="384"/>
            <a:chExt cx="1697" cy="250"/>
          </a:xfrm>
        </p:grpSpPr>
        <p:sp>
          <p:nvSpPr>
            <p:cNvPr id="67" name="Line 18">
              <a:extLst>
                <a:ext uri="{FF2B5EF4-FFF2-40B4-BE49-F238E27FC236}">
                  <a16:creationId xmlns:a16="http://schemas.microsoft.com/office/drawing/2014/main" id="{1608D611-A39C-420A-B706-2547802A59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8" y="480"/>
              <a:ext cx="70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/>
            <a:p>
              <a:endParaRPr lang="en-US"/>
            </a:p>
          </p:txBody>
        </p:sp>
        <p:sp>
          <p:nvSpPr>
            <p:cNvPr id="68" name="Text Box 19">
              <a:extLst>
                <a:ext uri="{FF2B5EF4-FFF2-40B4-BE49-F238E27FC236}">
                  <a16:creationId xmlns:a16="http://schemas.microsoft.com/office/drawing/2014/main" id="{8BA3E38A-1355-4BFD-B429-0EB5A3B17E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384"/>
              <a:ext cx="94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>
              <a:spAutoFit/>
            </a:bodyPr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ko-KR" sz="2000" dirty="0">
                  <a:solidFill>
                    <a:srgbClr val="FF0000"/>
                  </a:solidFill>
                  <a:ea typeface="굴림" panose="020B0600000101010101" pitchFamily="34" charset="-127"/>
                </a:rPr>
                <a:t>LRU victim</a:t>
              </a:r>
            </a:p>
          </p:txBody>
        </p:sp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FB880C6-86AB-48AF-9150-41F9F497A3E8}"/>
              </a:ext>
            </a:extLst>
          </p:cNvPr>
          <p:cNvSpPr/>
          <p:nvPr/>
        </p:nvSpPr>
        <p:spPr>
          <a:xfrm>
            <a:off x="7643091" y="4089224"/>
            <a:ext cx="3920018" cy="82842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000" dirty="0"/>
              <a:t>Extract the LRU page from LIST 2 If Modified </a:t>
            </a:r>
            <a:r>
              <a:rPr lang="en-US" sz="2000" dirty="0">
                <a:sym typeface="Wingdings" panose="05000000000000000000" pitchFamily="2" charset="2"/>
              </a:rPr>
              <a:t> write it to</a:t>
            </a:r>
            <a:r>
              <a:rPr lang="en-US" sz="2000" dirty="0"/>
              <a:t> DISK</a:t>
            </a:r>
          </a:p>
        </p:txBody>
      </p:sp>
      <p:sp>
        <p:nvSpPr>
          <p:cNvPr id="69" name="Rectangle 13">
            <a:extLst>
              <a:ext uri="{FF2B5EF4-FFF2-40B4-BE49-F238E27FC236}">
                <a16:creationId xmlns:a16="http://schemas.microsoft.com/office/drawing/2014/main" id="{C32EAD72-DE34-4DB5-8A50-383C48D57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5510" y="3259324"/>
            <a:ext cx="838200" cy="381000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P2</a:t>
            </a:r>
          </a:p>
        </p:txBody>
      </p:sp>
      <p:sp>
        <p:nvSpPr>
          <p:cNvPr id="79" name="Rectangle 13">
            <a:extLst>
              <a:ext uri="{FF2B5EF4-FFF2-40B4-BE49-F238E27FC236}">
                <a16:creationId xmlns:a16="http://schemas.microsoft.com/office/drawing/2014/main" id="{2D208863-2D11-4AC4-9F5C-28D882102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5510" y="3888065"/>
            <a:ext cx="838200" cy="381000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P3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44C23FE-173C-4DDA-9A3C-C63AAABCB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1231" y="3228933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P5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C1B798A-5753-4D12-8577-3070F0AF49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905" y="3892057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P6</a:t>
            </a:r>
          </a:p>
        </p:txBody>
      </p:sp>
      <p:sp>
        <p:nvSpPr>
          <p:cNvPr id="86" name="Line 22">
            <a:extLst>
              <a:ext uri="{FF2B5EF4-FFF2-40B4-BE49-F238E27FC236}">
                <a16:creationId xmlns:a16="http://schemas.microsoft.com/office/drawing/2014/main" id="{034AE3EA-7ED1-419A-971F-A8E918ABEE5B}"/>
              </a:ext>
            </a:extLst>
          </p:cNvPr>
          <p:cNvSpPr>
            <a:spLocks noChangeShapeType="1"/>
          </p:cNvSpPr>
          <p:nvPr/>
        </p:nvSpPr>
        <p:spPr bwMode="auto">
          <a:xfrm>
            <a:off x="5695288" y="5805304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/>
          <a:p>
            <a:endParaRPr lang="en-US" dirty="0"/>
          </a:p>
        </p:txBody>
      </p:sp>
      <p:sp>
        <p:nvSpPr>
          <p:cNvPr id="90" name="Line 18">
            <a:extLst>
              <a:ext uri="{FF2B5EF4-FFF2-40B4-BE49-F238E27FC236}">
                <a16:creationId xmlns:a16="http://schemas.microsoft.com/office/drawing/2014/main" id="{2C952245-8374-4794-A805-39AAD132DE8A}"/>
              </a:ext>
            </a:extLst>
          </p:cNvPr>
          <p:cNvSpPr>
            <a:spLocks noChangeShapeType="1"/>
          </p:cNvSpPr>
          <p:nvPr/>
        </p:nvSpPr>
        <p:spPr bwMode="auto">
          <a:xfrm>
            <a:off x="7495301" y="5779427"/>
            <a:ext cx="111125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/>
          <a:p>
            <a:endParaRPr lang="en-US"/>
          </a:p>
        </p:txBody>
      </p:sp>
      <p:sp>
        <p:nvSpPr>
          <p:cNvPr id="91" name="Text Box 23">
            <a:extLst>
              <a:ext uri="{FF2B5EF4-FFF2-40B4-BE49-F238E27FC236}">
                <a16:creationId xmlns:a16="http://schemas.microsoft.com/office/drawing/2014/main" id="{42139266-F5B2-4F17-85F7-E9D3D90CC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5140" y="5489798"/>
            <a:ext cx="2356395" cy="705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CC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>
            <a:spAutoFit/>
          </a:bodyPr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ko-KR" sz="2000" u="sng" dirty="0">
                <a:solidFill>
                  <a:srgbClr val="FF0000"/>
                </a:solidFill>
                <a:ea typeface="굴림" panose="020B0600000101010101" pitchFamily="34" charset="-127"/>
              </a:rPr>
              <a:t>MODIFIED</a:t>
            </a:r>
            <a:r>
              <a:rPr lang="en-US" altLang="ko-KR" sz="2000" dirty="0">
                <a:solidFill>
                  <a:srgbClr val="FF0000"/>
                </a:solidFill>
                <a:ea typeface="굴림" panose="020B0600000101010101" pitchFamily="34" charset="-127"/>
              </a:rPr>
              <a:t> Page </a:t>
            </a:r>
          </a:p>
          <a:p>
            <a:pPr>
              <a:spcBef>
                <a:spcPct val="0"/>
              </a:spcBef>
            </a:pPr>
            <a:r>
              <a:rPr lang="en-US" altLang="ko-KR" sz="2000" dirty="0">
                <a:solidFill>
                  <a:srgbClr val="FF0000"/>
                </a:solidFill>
                <a:ea typeface="굴림" panose="020B0600000101010101" pitchFamily="34" charset="-127"/>
              </a:rPr>
              <a:t>To Disk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97FEE9-9AD7-7009-2B44-97EE365021C6}"/>
              </a:ext>
            </a:extLst>
          </p:cNvPr>
          <p:cNvSpPr txBox="1"/>
          <p:nvPr/>
        </p:nvSpPr>
        <p:spPr>
          <a:xfrm>
            <a:off x="6664378" y="4972565"/>
            <a:ext cx="726559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 = 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759908-0165-476B-79D8-429C9BEB9F66}"/>
              </a:ext>
            </a:extLst>
          </p:cNvPr>
          <p:cNvSpPr txBox="1"/>
          <p:nvPr/>
        </p:nvSpPr>
        <p:spPr>
          <a:xfrm>
            <a:off x="4876800" y="4963487"/>
            <a:ext cx="771464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 = 1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26A62AB-2F2E-C6B0-0DCF-2ECB5B78F664}"/>
              </a:ext>
            </a:extLst>
          </p:cNvPr>
          <p:cNvSpPr/>
          <p:nvPr/>
        </p:nvSpPr>
        <p:spPr>
          <a:xfrm>
            <a:off x="211864" y="4359054"/>
            <a:ext cx="3352661" cy="56968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Read faulted page </a:t>
            </a:r>
            <a:r>
              <a:rPr lang="en-US" sz="2000" dirty="0">
                <a:sym typeface="Wingdings" panose="05000000000000000000" pitchFamily="2" charset="2"/>
              </a:rPr>
              <a:t>from </a:t>
            </a:r>
            <a:r>
              <a:rPr lang="en-US" sz="2000" dirty="0"/>
              <a:t>DISK</a:t>
            </a:r>
          </a:p>
        </p:txBody>
      </p:sp>
    </p:spTree>
    <p:extLst>
      <p:ext uri="{BB962C8B-B14F-4D97-AF65-F5344CB8AC3E}">
        <p14:creationId xmlns:p14="http://schemas.microsoft.com/office/powerpoint/2010/main" val="943545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7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 animBg="1"/>
      <p:bldP spid="96" grpId="0" animBg="1"/>
      <p:bldP spid="98" grpId="0" animBg="1"/>
      <p:bldP spid="103" grpId="0" animBg="1"/>
      <p:bldP spid="64" grpId="0" animBg="1"/>
      <p:bldP spid="3" grpId="0" animBg="1"/>
      <p:bldP spid="69" grpId="0" animBg="1"/>
      <p:bldP spid="79" grpId="0" animBg="1"/>
      <p:bldP spid="84" grpId="0" animBg="1"/>
      <p:bldP spid="85" grpId="0" animBg="1"/>
      <p:bldP spid="90" grpId="0" animBg="1"/>
      <p:bldP spid="91" grpId="0"/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7E33C5-EDF6-430D-9847-CF840D14C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0BB70387-2547-4A14-80F1-AADAC7209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419" y="4547740"/>
            <a:ext cx="838200" cy="381000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225D10-9FCA-415E-8BF3-58E09E690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2230" y="4545269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BBC5C7-74C2-4CEE-85AF-BFBAE3AB3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567" y="4545269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P2</a:t>
            </a:r>
          </a:p>
        </p:txBody>
      </p:sp>
      <p:sp>
        <p:nvSpPr>
          <p:cNvPr id="17" name="Text Box 23">
            <a:extLst>
              <a:ext uri="{FF2B5EF4-FFF2-40B4-BE49-F238E27FC236}">
                <a16:creationId xmlns:a16="http://schemas.microsoft.com/office/drawing/2014/main" id="{DA6FC324-4E8E-45A4-A0BD-B722CFBD5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1" y="5503069"/>
            <a:ext cx="1391387" cy="705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CC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>
            <a:spAutoFit/>
          </a:bodyPr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ko-KR" sz="2000" dirty="0">
                <a:ea typeface="굴림" panose="020B0600000101010101" pitchFamily="34" charset="-127"/>
              </a:rPr>
              <a:t>Page-in</a:t>
            </a:r>
          </a:p>
          <a:p>
            <a:pPr>
              <a:spcBef>
                <a:spcPct val="0"/>
              </a:spcBef>
            </a:pPr>
            <a:r>
              <a:rPr lang="en-US" altLang="ko-KR" sz="2000" dirty="0">
                <a:ea typeface="굴림" panose="020B0600000101010101" pitchFamily="34" charset="-127"/>
              </a:rPr>
              <a:t>From disk</a:t>
            </a:r>
          </a:p>
        </p:txBody>
      </p:sp>
      <p:sp>
        <p:nvSpPr>
          <p:cNvPr id="19" name="Text Box 20">
            <a:extLst>
              <a:ext uri="{FF2B5EF4-FFF2-40B4-BE49-F238E27FC236}">
                <a16:creationId xmlns:a16="http://schemas.microsoft.com/office/drawing/2014/main" id="{E1FEA2D4-BBD5-4F99-97A0-2E061ED2F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6091" y="5273675"/>
            <a:ext cx="961783" cy="1013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CC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>
            <a:spAutoFit/>
          </a:bodyPr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ko-KR" sz="2000" dirty="0">
                <a:ea typeface="굴림" panose="020B0600000101010101" pitchFamily="34" charset="-127"/>
              </a:rPr>
              <a:t>New</a:t>
            </a:r>
          </a:p>
          <a:p>
            <a:pPr>
              <a:spcBef>
                <a:spcPct val="0"/>
              </a:spcBef>
            </a:pPr>
            <a:r>
              <a:rPr lang="en-US" altLang="ko-KR" sz="2000" dirty="0">
                <a:ea typeface="굴림" panose="020B0600000101010101" pitchFamily="34" charset="-127"/>
              </a:rPr>
              <a:t>Active</a:t>
            </a:r>
          </a:p>
          <a:p>
            <a:pPr>
              <a:spcBef>
                <a:spcPct val="0"/>
              </a:spcBef>
            </a:pPr>
            <a:r>
              <a:rPr lang="en-US" altLang="ko-KR" sz="2000" dirty="0">
                <a:ea typeface="굴림" panose="020B0600000101010101" pitchFamily="34" charset="-127"/>
              </a:rPr>
              <a:t>Pages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CFE9F3C7-D53B-4DAC-B21C-CE1FDD4C05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0730" y="5294866"/>
            <a:ext cx="1075596" cy="1013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CC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>
            <a:spAutoFit/>
          </a:bodyPr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ko-KR" sz="2000" dirty="0">
                <a:ea typeface="굴림" panose="020B0600000101010101" pitchFamily="34" charset="-127"/>
              </a:rPr>
              <a:t>New</a:t>
            </a:r>
          </a:p>
          <a:p>
            <a:pPr>
              <a:spcBef>
                <a:spcPct val="0"/>
              </a:spcBef>
            </a:pPr>
            <a:r>
              <a:rPr lang="en-US" altLang="ko-KR" sz="2000" dirty="0">
                <a:ea typeface="굴림" panose="020B0600000101010101" pitchFamily="34" charset="-127"/>
              </a:rPr>
              <a:t>SC</a:t>
            </a:r>
          </a:p>
          <a:p>
            <a:pPr>
              <a:spcBef>
                <a:spcPct val="0"/>
              </a:spcBef>
            </a:pPr>
            <a:r>
              <a:rPr lang="en-US" altLang="ko-KR" sz="2000" dirty="0">
                <a:ea typeface="굴림" panose="020B0600000101010101" pitchFamily="34" charset="-127"/>
              </a:rPr>
              <a:t>Victims</a:t>
            </a:r>
          </a:p>
        </p:txBody>
      </p:sp>
      <p:sp>
        <p:nvSpPr>
          <p:cNvPr id="21" name="Line 22">
            <a:extLst>
              <a:ext uri="{FF2B5EF4-FFF2-40B4-BE49-F238E27FC236}">
                <a16:creationId xmlns:a16="http://schemas.microsoft.com/office/drawing/2014/main" id="{297E8186-18C3-4D83-A670-DEF01D04E16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3523" y="5819517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/>
          <a:p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08C7F3-D01A-4670-8603-84DD3EC30D1A}"/>
              </a:ext>
            </a:extLst>
          </p:cNvPr>
          <p:cNvSpPr txBox="1"/>
          <p:nvPr/>
        </p:nvSpPr>
        <p:spPr>
          <a:xfrm>
            <a:off x="1098355" y="1753981"/>
            <a:ext cx="10360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+mj-lt"/>
                <a:ea typeface="굴림" panose="020B0600000101010101" pitchFamily="34" charset="-127"/>
              </a:rPr>
              <a:t>Now, access to </a:t>
            </a:r>
            <a:r>
              <a:rPr lang="en-US" sz="2400" b="1" dirty="0">
                <a:solidFill>
                  <a:srgbClr val="00B0F0"/>
                </a:solidFill>
                <a:latin typeface="+mj-lt"/>
                <a:ea typeface="굴림" panose="020B0600000101010101" pitchFamily="34" charset="-127"/>
              </a:rPr>
              <a:t>already existing page </a:t>
            </a:r>
            <a:r>
              <a:rPr lang="en-US" sz="2400" b="1" dirty="0">
                <a:latin typeface="+mj-lt"/>
                <a:ea typeface="굴림" panose="020B0600000101010101" pitchFamily="34" charset="-127"/>
              </a:rPr>
              <a:t>is happened:</a:t>
            </a:r>
            <a:endParaRPr lang="en-US" sz="2000" dirty="0">
              <a:latin typeface="+mj-lt"/>
            </a:endParaRPr>
          </a:p>
        </p:txBody>
      </p:sp>
      <p:sp>
        <p:nvSpPr>
          <p:cNvPr id="29" name="Text Box 14">
            <a:extLst>
              <a:ext uri="{FF2B5EF4-FFF2-40B4-BE49-F238E27FC236}">
                <a16:creationId xmlns:a16="http://schemas.microsoft.com/office/drawing/2014/main" id="{C5F141DB-8C68-41A2-8B36-A920EF45E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3298" y="2305296"/>
            <a:ext cx="2580097" cy="828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CC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78" tIns="44445" rIns="90478" bIns="44445">
            <a:spAutoFit/>
          </a:bodyPr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ko-KR" sz="1600" dirty="0">
                <a:solidFill>
                  <a:schemeClr val="hlink"/>
                </a:solidFill>
                <a:ea typeface="굴림" panose="020B0600000101010101" pitchFamily="34" charset="-127"/>
              </a:rPr>
              <a:t>LIST 1: </a:t>
            </a:r>
            <a:br>
              <a:rPr lang="en-US" altLang="ko-KR" sz="1600" dirty="0">
                <a:solidFill>
                  <a:schemeClr val="hlink"/>
                </a:solidFill>
                <a:ea typeface="굴림" panose="020B0600000101010101" pitchFamily="34" charset="-127"/>
              </a:rPr>
            </a:br>
            <a:r>
              <a:rPr lang="en-US" altLang="ko-KR" sz="1600" dirty="0">
                <a:solidFill>
                  <a:schemeClr val="hlink"/>
                </a:solidFill>
                <a:ea typeface="굴림" panose="020B0600000101010101" pitchFamily="34" charset="-127"/>
              </a:rPr>
              <a:t>Directly Mapped Pages</a:t>
            </a:r>
          </a:p>
          <a:p>
            <a:r>
              <a:rPr lang="en-US" altLang="ko-KR" sz="1600" dirty="0">
                <a:solidFill>
                  <a:schemeClr val="hlink"/>
                </a:solidFill>
                <a:ea typeface="굴림" panose="020B0600000101010101" pitchFamily="34" charset="-127"/>
              </a:rPr>
              <a:t>Max Size = 3</a:t>
            </a:r>
          </a:p>
        </p:txBody>
      </p:sp>
      <p:sp>
        <p:nvSpPr>
          <p:cNvPr id="30" name="Text Box 14">
            <a:extLst>
              <a:ext uri="{FF2B5EF4-FFF2-40B4-BE49-F238E27FC236}">
                <a16:creationId xmlns:a16="http://schemas.microsoft.com/office/drawing/2014/main" id="{464ADBBC-7BDC-4A2F-9D55-4ABEDFEA5D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3395" y="2282375"/>
            <a:ext cx="2580097" cy="828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CC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78" tIns="44445" rIns="90478" bIns="44445">
            <a:spAutoFit/>
          </a:bodyPr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ko-KR" sz="1600" dirty="0">
                <a:solidFill>
                  <a:schemeClr val="hlink"/>
                </a:solidFill>
                <a:ea typeface="굴림" panose="020B0600000101010101" pitchFamily="34" charset="-127"/>
              </a:rPr>
              <a:t>LIST 2: </a:t>
            </a:r>
            <a:br>
              <a:rPr lang="en-US" altLang="ko-KR" sz="1600" dirty="0">
                <a:solidFill>
                  <a:schemeClr val="hlink"/>
                </a:solidFill>
                <a:ea typeface="굴림" panose="020B0600000101010101" pitchFamily="34" charset="-127"/>
              </a:rPr>
            </a:br>
            <a:r>
              <a:rPr lang="en-US" altLang="ko-KR" sz="1600" dirty="0">
                <a:solidFill>
                  <a:schemeClr val="hlink"/>
                </a:solidFill>
                <a:ea typeface="굴림" panose="020B0600000101010101" pitchFamily="34" charset="-127"/>
              </a:rPr>
              <a:t>Second Chance List</a:t>
            </a:r>
          </a:p>
          <a:p>
            <a:r>
              <a:rPr lang="en-US" altLang="ko-KR" sz="1600" dirty="0">
                <a:solidFill>
                  <a:schemeClr val="hlink"/>
                </a:solidFill>
                <a:ea typeface="굴림" panose="020B0600000101010101" pitchFamily="34" charset="-127"/>
              </a:rPr>
              <a:t>Max Size = 3</a:t>
            </a:r>
          </a:p>
        </p:txBody>
      </p:sp>
      <p:sp>
        <p:nvSpPr>
          <p:cNvPr id="31" name="Line 11">
            <a:extLst>
              <a:ext uri="{FF2B5EF4-FFF2-40B4-BE49-F238E27FC236}">
                <a16:creationId xmlns:a16="http://schemas.microsoft.com/office/drawing/2014/main" id="{B8C6705F-4B1A-4E0C-A2D1-437E9D50036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82994" y="4761599"/>
            <a:ext cx="355431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/>
          <a:p>
            <a:endParaRPr lang="en-US"/>
          </a:p>
        </p:txBody>
      </p:sp>
      <p:sp>
        <p:nvSpPr>
          <p:cNvPr id="32" name="Text Box 12">
            <a:extLst>
              <a:ext uri="{FF2B5EF4-FFF2-40B4-BE49-F238E27FC236}">
                <a16:creationId xmlns:a16="http://schemas.microsoft.com/office/drawing/2014/main" id="{89D67EAD-E6AC-4673-91FE-0124766536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0318" y="4596679"/>
            <a:ext cx="626755" cy="305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CC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ko-KR" sz="1400" dirty="0">
                <a:ea typeface="굴림" panose="020B0600000101010101" pitchFamily="34" charset="-127"/>
              </a:rPr>
              <a:t>Head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4E47F7E-3831-4212-A067-FB388B4AC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2230" y="3893610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P1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6879F81-D785-476A-A94C-83E14F86F68C}"/>
              </a:ext>
            </a:extLst>
          </p:cNvPr>
          <p:cNvCxnSpPr/>
          <p:nvPr/>
        </p:nvCxnSpPr>
        <p:spPr>
          <a:xfrm flipV="1">
            <a:off x="5410200" y="4274610"/>
            <a:ext cx="0" cy="2538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E14F774-138D-4ABB-A821-43EA32163C4B}"/>
              </a:ext>
            </a:extLst>
          </p:cNvPr>
          <p:cNvCxnSpPr>
            <a:cxnSpLocks/>
          </p:cNvCxnSpPr>
          <p:nvPr/>
        </p:nvCxnSpPr>
        <p:spPr>
          <a:xfrm>
            <a:off x="5098311" y="4254327"/>
            <a:ext cx="0" cy="29442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9561AD60-F889-4068-ACB9-AE5C40D46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7337" y="3877794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7CA0204-7FE8-49B5-A9F9-5F6C632C4D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1674" y="3877794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P2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AB05D9D-98B5-4189-AF1B-CD929A740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7337" y="3226135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P1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C0AE89A-1B3C-4F67-B2E4-374191291F3A}"/>
              </a:ext>
            </a:extLst>
          </p:cNvPr>
          <p:cNvCxnSpPr/>
          <p:nvPr/>
        </p:nvCxnSpPr>
        <p:spPr>
          <a:xfrm flipV="1">
            <a:off x="5405307" y="3607135"/>
            <a:ext cx="0" cy="2538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678D483-5055-4E62-AB9B-71438D721ABE}"/>
              </a:ext>
            </a:extLst>
          </p:cNvPr>
          <p:cNvCxnSpPr>
            <a:cxnSpLocks/>
          </p:cNvCxnSpPr>
          <p:nvPr/>
        </p:nvCxnSpPr>
        <p:spPr>
          <a:xfrm>
            <a:off x="5093418" y="3586852"/>
            <a:ext cx="0" cy="29442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9EB0F34A-73C0-4724-BF90-6AA72FF09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9088" y="4533655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P3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ECA4FD0E-22EC-4A05-8D97-309A220EB3D7}"/>
              </a:ext>
            </a:extLst>
          </p:cNvPr>
          <p:cNvGrpSpPr/>
          <p:nvPr/>
        </p:nvGrpSpPr>
        <p:grpSpPr>
          <a:xfrm>
            <a:off x="5626706" y="3432879"/>
            <a:ext cx="1414536" cy="1328721"/>
            <a:chOff x="4102706" y="3432878"/>
            <a:chExt cx="1414536" cy="1328721"/>
          </a:xfrm>
        </p:grpSpPr>
        <p:sp>
          <p:nvSpPr>
            <p:cNvPr id="62" name="Line 17">
              <a:extLst>
                <a:ext uri="{FF2B5EF4-FFF2-40B4-BE49-F238E27FC236}">
                  <a16:creationId xmlns:a16="http://schemas.microsoft.com/office/drawing/2014/main" id="{652291B0-D55C-4215-A5D1-A6EB33EB22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1287" y="3432878"/>
              <a:ext cx="1345955" cy="132872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/>
            <a:p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63" name="Text Box 25">
              <a:extLst>
                <a:ext uri="{FF2B5EF4-FFF2-40B4-BE49-F238E27FC236}">
                  <a16:creationId xmlns:a16="http://schemas.microsoft.com/office/drawing/2014/main" id="{6A8E12A5-6EEA-4621-92F6-3248DC5C24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653404">
              <a:off x="4102706" y="3556084"/>
              <a:ext cx="1276350" cy="397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478" tIns="44445" rIns="90478" bIns="44445">
              <a:spAutoFit/>
            </a:bodyPr>
            <a:lstStyle>
              <a:lvl1pPr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ko-KR" sz="2000" dirty="0">
                  <a:ea typeface="굴림" panose="020B0600000101010101" pitchFamily="34" charset="-127"/>
                </a:rPr>
                <a:t>Overflow</a:t>
              </a:r>
            </a:p>
          </p:txBody>
        </p:sp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26D946DB-878C-4C86-8C43-A23F70F57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5046" y="3900041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P1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FC499B0-07CD-4433-A287-8F6227D4D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9383" y="3900041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P2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F7AE6AD-27AD-4A15-836E-8B6DB77544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5046" y="3248382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P1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3AEF56F7-D25F-466E-AC16-8D2A3652C446}"/>
              </a:ext>
            </a:extLst>
          </p:cNvPr>
          <p:cNvCxnSpPr/>
          <p:nvPr/>
        </p:nvCxnSpPr>
        <p:spPr>
          <a:xfrm flipV="1">
            <a:off x="5393016" y="3629382"/>
            <a:ext cx="0" cy="2538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72952173-5F05-4538-846D-54AA10231A2B}"/>
              </a:ext>
            </a:extLst>
          </p:cNvPr>
          <p:cNvCxnSpPr>
            <a:cxnSpLocks/>
          </p:cNvCxnSpPr>
          <p:nvPr/>
        </p:nvCxnSpPr>
        <p:spPr>
          <a:xfrm>
            <a:off x="5081127" y="3609099"/>
            <a:ext cx="0" cy="29442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2749B2C8-D700-4CD2-8B1A-71DD5404F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0153" y="3232566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P1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65F01D5-FD93-431B-80B7-55129E3DD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4490" y="3232566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P2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FC246A7-7EF7-4170-A40E-C3FCC2A98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1904" y="3888427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P3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3FA6780-E2D8-47B3-94D2-5A85A7713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3138" y="4538656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P4</a:t>
            </a:r>
          </a:p>
        </p:txBody>
      </p:sp>
      <p:sp>
        <p:nvSpPr>
          <p:cNvPr id="81" name="Rectangle 13">
            <a:extLst>
              <a:ext uri="{FF2B5EF4-FFF2-40B4-BE49-F238E27FC236}">
                <a16:creationId xmlns:a16="http://schemas.microsoft.com/office/drawing/2014/main" id="{F9A39A2B-43A3-4675-A3C0-101E6FE5C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1990" y="3869837"/>
            <a:ext cx="838200" cy="381000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P1</a:t>
            </a:r>
          </a:p>
        </p:txBody>
      </p:sp>
      <p:sp>
        <p:nvSpPr>
          <p:cNvPr id="82" name="Rectangle 13">
            <a:extLst>
              <a:ext uri="{FF2B5EF4-FFF2-40B4-BE49-F238E27FC236}">
                <a16:creationId xmlns:a16="http://schemas.microsoft.com/office/drawing/2014/main" id="{0665C20E-37F3-4E09-9B9B-5FDEC7313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1990" y="4540303"/>
            <a:ext cx="838200" cy="381000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P3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5ED39BD5-E2B9-48BA-8FDA-AB54FFD3263B}"/>
              </a:ext>
            </a:extLst>
          </p:cNvPr>
          <p:cNvCxnSpPr>
            <a:cxnSpLocks/>
          </p:cNvCxnSpPr>
          <p:nvPr/>
        </p:nvCxnSpPr>
        <p:spPr>
          <a:xfrm flipV="1">
            <a:off x="7703890" y="4251834"/>
            <a:ext cx="0" cy="27313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104B1C91-5DFA-4548-8819-20A77E8FE900}"/>
              </a:ext>
            </a:extLst>
          </p:cNvPr>
          <p:cNvCxnSpPr>
            <a:cxnSpLocks/>
          </p:cNvCxnSpPr>
          <p:nvPr/>
        </p:nvCxnSpPr>
        <p:spPr>
          <a:xfrm flipH="1">
            <a:off x="7381370" y="4251835"/>
            <a:ext cx="17721" cy="2989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3C62CEC0-5F6C-413C-8272-485CBF979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3833" y="3243199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P3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1D4ED035-0386-4827-B16B-FE4A7E957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5067" y="3893428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P4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4D7AB07C-D3C0-4E7E-9C8D-03FC1129C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59" y="4540303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P5</a:t>
            </a:r>
          </a:p>
        </p:txBody>
      </p:sp>
      <p:sp>
        <p:nvSpPr>
          <p:cNvPr id="96" name="Rectangle 13">
            <a:extLst>
              <a:ext uri="{FF2B5EF4-FFF2-40B4-BE49-F238E27FC236}">
                <a16:creationId xmlns:a16="http://schemas.microsoft.com/office/drawing/2014/main" id="{73DA5292-A817-4A40-8464-C2FB28FB9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3828" y="3253214"/>
            <a:ext cx="838200" cy="381000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P1</a:t>
            </a:r>
          </a:p>
        </p:txBody>
      </p:sp>
      <p:sp>
        <p:nvSpPr>
          <p:cNvPr id="97" name="Rectangle 13">
            <a:extLst>
              <a:ext uri="{FF2B5EF4-FFF2-40B4-BE49-F238E27FC236}">
                <a16:creationId xmlns:a16="http://schemas.microsoft.com/office/drawing/2014/main" id="{E8B24206-E64E-42FA-BF70-8BF9D01E1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3828" y="3904125"/>
            <a:ext cx="838200" cy="381000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P2</a:t>
            </a:r>
          </a:p>
        </p:txBody>
      </p:sp>
      <p:sp>
        <p:nvSpPr>
          <p:cNvPr id="98" name="Rectangle 13">
            <a:extLst>
              <a:ext uri="{FF2B5EF4-FFF2-40B4-BE49-F238E27FC236}">
                <a16:creationId xmlns:a16="http://schemas.microsoft.com/office/drawing/2014/main" id="{F501B8EA-7141-4280-999F-B119FF4EE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9955" y="4553117"/>
            <a:ext cx="838200" cy="381000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P4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83D5104B-63FA-43D6-8CD8-D71D2AB4B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8817" y="3227131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P4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03EEA48-CB18-4C2A-B7EA-0203A7E8E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0109" y="3874006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P5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F8E924EE-769D-4E3D-BD27-6870AE783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1322" y="4520881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P7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5BC95188-6664-4956-91A5-1CC79AEB369F}"/>
              </a:ext>
            </a:extLst>
          </p:cNvPr>
          <p:cNvCxnSpPr>
            <a:cxnSpLocks/>
          </p:cNvCxnSpPr>
          <p:nvPr/>
        </p:nvCxnSpPr>
        <p:spPr>
          <a:xfrm flipV="1">
            <a:off x="7703890" y="3634214"/>
            <a:ext cx="0" cy="27313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B95081BC-B288-4579-A97D-351F85BA0F84}"/>
              </a:ext>
            </a:extLst>
          </p:cNvPr>
          <p:cNvCxnSpPr>
            <a:cxnSpLocks/>
          </p:cNvCxnSpPr>
          <p:nvPr/>
        </p:nvCxnSpPr>
        <p:spPr>
          <a:xfrm>
            <a:off x="7439766" y="3652521"/>
            <a:ext cx="0" cy="2084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8C1F1136-3B30-434D-A38C-19FD6D04F63B}"/>
              </a:ext>
            </a:extLst>
          </p:cNvPr>
          <p:cNvSpPr/>
          <p:nvPr/>
        </p:nvSpPr>
        <p:spPr>
          <a:xfrm>
            <a:off x="2252695" y="2613336"/>
            <a:ext cx="1219200" cy="569686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Comic Sans MS" panose="030F0702030302020204" pitchFamily="66" charset="0"/>
              </a:rPr>
              <a:t>8- P3</a:t>
            </a:r>
          </a:p>
        </p:txBody>
      </p:sp>
      <p:sp>
        <p:nvSpPr>
          <p:cNvPr id="69" name="Rectangle 13">
            <a:extLst>
              <a:ext uri="{FF2B5EF4-FFF2-40B4-BE49-F238E27FC236}">
                <a16:creationId xmlns:a16="http://schemas.microsoft.com/office/drawing/2014/main" id="{C32EAD72-DE34-4DB5-8A50-383C48D57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3259324"/>
            <a:ext cx="838200" cy="381000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P2</a:t>
            </a:r>
          </a:p>
        </p:txBody>
      </p:sp>
      <p:sp>
        <p:nvSpPr>
          <p:cNvPr id="79" name="Rectangle 13">
            <a:extLst>
              <a:ext uri="{FF2B5EF4-FFF2-40B4-BE49-F238E27FC236}">
                <a16:creationId xmlns:a16="http://schemas.microsoft.com/office/drawing/2014/main" id="{2D208863-2D11-4AC4-9F5C-28D882102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3888065"/>
            <a:ext cx="838200" cy="381000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P3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44C23FE-173C-4DDA-9A3C-C63AAABCB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1231" y="3228933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P5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C1B798A-5753-4D12-8577-3070F0AF49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444" y="3875808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P6</a:t>
            </a:r>
          </a:p>
        </p:txBody>
      </p:sp>
      <p:sp>
        <p:nvSpPr>
          <p:cNvPr id="86" name="Line 22">
            <a:extLst>
              <a:ext uri="{FF2B5EF4-FFF2-40B4-BE49-F238E27FC236}">
                <a16:creationId xmlns:a16="http://schemas.microsoft.com/office/drawing/2014/main" id="{034AE3EA-7ED1-419A-971F-A8E918ABEE5B}"/>
              </a:ext>
            </a:extLst>
          </p:cNvPr>
          <p:cNvSpPr>
            <a:spLocks noChangeShapeType="1"/>
          </p:cNvSpPr>
          <p:nvPr/>
        </p:nvSpPr>
        <p:spPr bwMode="auto">
          <a:xfrm>
            <a:off x="5695288" y="5805304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/>
          <a:p>
            <a:endParaRPr lang="en-US" dirty="0"/>
          </a:p>
        </p:txBody>
      </p:sp>
      <p:sp>
        <p:nvSpPr>
          <p:cNvPr id="90" name="Line 18">
            <a:extLst>
              <a:ext uri="{FF2B5EF4-FFF2-40B4-BE49-F238E27FC236}">
                <a16:creationId xmlns:a16="http://schemas.microsoft.com/office/drawing/2014/main" id="{2C952245-8374-4794-A805-39AAD132DE8A}"/>
              </a:ext>
            </a:extLst>
          </p:cNvPr>
          <p:cNvSpPr>
            <a:spLocks noChangeShapeType="1"/>
          </p:cNvSpPr>
          <p:nvPr/>
        </p:nvSpPr>
        <p:spPr bwMode="auto">
          <a:xfrm>
            <a:off x="7495301" y="5779427"/>
            <a:ext cx="111125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/>
          <a:p>
            <a:endParaRPr lang="en-US"/>
          </a:p>
        </p:txBody>
      </p:sp>
      <p:sp>
        <p:nvSpPr>
          <p:cNvPr id="91" name="Text Box 23">
            <a:extLst>
              <a:ext uri="{FF2B5EF4-FFF2-40B4-BE49-F238E27FC236}">
                <a16:creationId xmlns:a16="http://schemas.microsoft.com/office/drawing/2014/main" id="{42139266-F5B2-4F17-85F7-E9D3D90CC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5140" y="5489798"/>
            <a:ext cx="1106053" cy="705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CC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>
            <a:spAutoFit/>
          </a:bodyPr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ko-KR" sz="2000" dirty="0">
                <a:solidFill>
                  <a:srgbClr val="FF0000"/>
                </a:solidFill>
                <a:ea typeface="굴림" panose="020B0600000101010101" pitchFamily="34" charset="-127"/>
              </a:rPr>
              <a:t>Page to</a:t>
            </a:r>
          </a:p>
          <a:p>
            <a:pPr>
              <a:spcBef>
                <a:spcPct val="0"/>
              </a:spcBef>
            </a:pPr>
            <a:r>
              <a:rPr lang="en-US" altLang="ko-KR" sz="2000" dirty="0">
                <a:solidFill>
                  <a:srgbClr val="FF0000"/>
                </a:solidFill>
                <a:ea typeface="굴림" panose="020B0600000101010101" pitchFamily="34" charset="-127"/>
              </a:rPr>
              <a:t>disk</a:t>
            </a:r>
          </a:p>
        </p:txBody>
      </p:sp>
      <p:sp>
        <p:nvSpPr>
          <p:cNvPr id="80" name="Line 16">
            <a:extLst>
              <a:ext uri="{FF2B5EF4-FFF2-40B4-BE49-F238E27FC236}">
                <a16:creationId xmlns:a16="http://schemas.microsoft.com/office/drawing/2014/main" id="{1B0D6486-4F58-4D3D-BAE0-BE12FCB254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72189" y="4079184"/>
            <a:ext cx="1369053" cy="68241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/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83" name="Text Box 24">
            <a:extLst>
              <a:ext uri="{FF2B5EF4-FFF2-40B4-BE49-F238E27FC236}">
                <a16:creationId xmlns:a16="http://schemas.microsoft.com/office/drawing/2014/main" id="{12291A1E-508E-437C-A97A-D0C44C9132C7}"/>
              </a:ext>
            </a:extLst>
          </p:cNvPr>
          <p:cNvSpPr txBox="1">
            <a:spLocks noChangeArrowheads="1"/>
          </p:cNvSpPr>
          <p:nvPr/>
        </p:nvSpPr>
        <p:spPr bwMode="auto">
          <a:xfrm rot="20039323">
            <a:off x="5705797" y="4488258"/>
            <a:ext cx="1025903" cy="397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CC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78" tIns="44445" rIns="90478" bIns="44445">
            <a:spAutoFit/>
          </a:bodyPr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ko-KR" sz="2000" dirty="0">
                <a:ea typeface="굴림" panose="020B0600000101010101" pitchFamily="34" charset="-127"/>
              </a:rPr>
              <a:t>Access</a:t>
            </a:r>
          </a:p>
        </p:txBody>
      </p:sp>
      <p:sp>
        <p:nvSpPr>
          <p:cNvPr id="88" name="Rectangle 13">
            <a:extLst>
              <a:ext uri="{FF2B5EF4-FFF2-40B4-BE49-F238E27FC236}">
                <a16:creationId xmlns:a16="http://schemas.microsoft.com/office/drawing/2014/main" id="{488E9486-7EE1-4DA4-B82E-177CA35FB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7909" y="3878677"/>
            <a:ext cx="838200" cy="381000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P4</a:t>
            </a:r>
          </a:p>
        </p:txBody>
      </p:sp>
      <p:sp>
        <p:nvSpPr>
          <p:cNvPr id="95" name="Rectangle 13">
            <a:extLst>
              <a:ext uri="{FF2B5EF4-FFF2-40B4-BE49-F238E27FC236}">
                <a16:creationId xmlns:a16="http://schemas.microsoft.com/office/drawing/2014/main" id="{0D40B7A6-BCC1-4BEF-828E-850E7FE69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3384" y="4534926"/>
            <a:ext cx="838200" cy="381000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P5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5EEADF92-1C29-4D78-9BD0-82628798C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4733" y="3889559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P1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BDD6C3A-8F63-45A4-A2D2-A91CAE71F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9070" y="3889559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P2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B32A093B-2082-4EA0-B6D6-A0D91284B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4733" y="3237900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P1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0A864BFC-351C-4D36-8A85-5F466F02093F}"/>
              </a:ext>
            </a:extLst>
          </p:cNvPr>
          <p:cNvCxnSpPr/>
          <p:nvPr/>
        </p:nvCxnSpPr>
        <p:spPr>
          <a:xfrm flipV="1">
            <a:off x="5392703" y="3618900"/>
            <a:ext cx="0" cy="2538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4D208D72-0EE0-4531-8338-E1BFC04FACCC}"/>
              </a:ext>
            </a:extLst>
          </p:cNvPr>
          <p:cNvCxnSpPr>
            <a:cxnSpLocks/>
          </p:cNvCxnSpPr>
          <p:nvPr/>
        </p:nvCxnSpPr>
        <p:spPr>
          <a:xfrm>
            <a:off x="5080814" y="3598617"/>
            <a:ext cx="0" cy="29442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68470FAB-1A81-42A1-A988-6016EFB1F8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9840" y="3222084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P1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774B46D7-9622-400B-8E2D-5C3A016BC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4177" y="3222084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P2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6AE267FE-7EC1-4C39-87A0-657D330D79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1591" y="3877945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P3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839605B4-01B6-4E4D-9F1E-1F1551072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7549" y="3244331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P1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04AB1089-7752-4617-90DA-86C0AB789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1886" y="3244331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P2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1C565910-940E-4B9A-B858-538D5BB0C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7" y="3232717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P3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2236E5DD-29DB-4037-B4AA-CDCC5578F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5641" y="3882946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P4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3998FF8B-ECDA-4F4F-B517-6FB0D5F21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7570" y="3237718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P4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4236FDC6-B551-4196-B79C-119795171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8862" y="3884593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P5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5E9CAC8F-0ADA-4BAA-A3A3-09FFA7A31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2612" y="3218296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P5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BF0E50D5-5024-4DF8-9B2E-7D4BEDBA0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3825" y="3865171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P7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1EA6943C-1B13-4E5D-84D4-B25DB698CE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4947" y="3220098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P6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A2C70431-2233-490A-88EC-C832B474C4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3393" y="4524855"/>
            <a:ext cx="906360" cy="3810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dirty="0"/>
              <a:t>P3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C601F0B2-558B-48E4-84ED-77F7DCD9FE26}"/>
              </a:ext>
            </a:extLst>
          </p:cNvPr>
          <p:cNvSpPr/>
          <p:nvPr/>
        </p:nvSpPr>
        <p:spPr>
          <a:xfrm>
            <a:off x="1828815" y="3429000"/>
            <a:ext cx="2254178" cy="1033636"/>
          </a:xfrm>
          <a:prstGeom prst="cloud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hlink"/>
                </a:solidFill>
                <a:latin typeface="Comic Sans MS" panose="030F0702030302020204" pitchFamily="66" charset="0"/>
                <a:ea typeface="굴림" panose="020B0600000101010101" pitchFamily="34" charset="-127"/>
              </a:rPr>
              <a:t>Marked: PRESENT</a:t>
            </a:r>
          </a:p>
          <a:p>
            <a:pPr algn="ctr"/>
            <a:r>
              <a:rPr lang="en-US" altLang="ko-KR" sz="1400" dirty="0">
                <a:solidFill>
                  <a:schemeClr val="hlink"/>
                </a:solidFill>
                <a:latin typeface="Comic Sans MS" panose="030F0702030302020204" pitchFamily="66" charset="0"/>
                <a:ea typeface="굴림" panose="020B0600000101010101" pitchFamily="34" charset="-127"/>
              </a:rPr>
              <a:t>List: FIFO</a:t>
            </a:r>
          </a:p>
        </p:txBody>
      </p:sp>
      <p:sp>
        <p:nvSpPr>
          <p:cNvPr id="123" name="Cloud 122">
            <a:extLst>
              <a:ext uri="{FF2B5EF4-FFF2-40B4-BE49-F238E27FC236}">
                <a16:creationId xmlns:a16="http://schemas.microsoft.com/office/drawing/2014/main" id="{7064F679-17F5-4FD6-A4CB-838B438D3958}"/>
              </a:ext>
            </a:extLst>
          </p:cNvPr>
          <p:cNvSpPr/>
          <p:nvPr/>
        </p:nvSpPr>
        <p:spPr>
          <a:xfrm>
            <a:off x="8236828" y="3481488"/>
            <a:ext cx="2254178" cy="1033636"/>
          </a:xfrm>
          <a:prstGeom prst="cloud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hlink"/>
                </a:solidFill>
                <a:latin typeface="Comic Sans MS" panose="030F0702030302020204" pitchFamily="66" charset="0"/>
                <a:ea typeface="굴림" panose="020B0600000101010101" pitchFamily="34" charset="-127"/>
              </a:rPr>
              <a:t>Marked: </a:t>
            </a:r>
            <a:br>
              <a:rPr lang="en-US" altLang="ko-KR" sz="1400" dirty="0">
                <a:solidFill>
                  <a:schemeClr val="hlink"/>
                </a:solidFill>
                <a:latin typeface="Comic Sans MS" panose="030F0702030302020204" pitchFamily="66" charset="0"/>
                <a:ea typeface="굴림" panose="020B0600000101010101" pitchFamily="34" charset="-127"/>
              </a:rPr>
            </a:br>
            <a:r>
              <a:rPr lang="en-US" altLang="ko-KR" sz="1400" dirty="0">
                <a:solidFill>
                  <a:srgbClr val="FF0000"/>
                </a:solidFill>
                <a:latin typeface="Comic Sans MS" panose="030F0702030302020204" pitchFamily="66" charset="0"/>
                <a:ea typeface="굴림" panose="020B0600000101010101" pitchFamily="34" charset="-127"/>
              </a:rPr>
              <a:t>NOT </a:t>
            </a:r>
            <a:r>
              <a:rPr lang="en-US" altLang="ko-KR" sz="1400" dirty="0">
                <a:solidFill>
                  <a:schemeClr val="hlink"/>
                </a:solidFill>
                <a:latin typeface="Comic Sans MS" panose="030F0702030302020204" pitchFamily="66" charset="0"/>
                <a:ea typeface="굴림" panose="020B0600000101010101" pitchFamily="34" charset="-127"/>
              </a:rPr>
              <a:t>PRESENT</a:t>
            </a:r>
          </a:p>
          <a:p>
            <a:pPr algn="ctr"/>
            <a:r>
              <a:rPr lang="en-US" altLang="ko-KR" sz="1400" dirty="0">
                <a:solidFill>
                  <a:schemeClr val="hlink"/>
                </a:solidFill>
                <a:latin typeface="Comic Sans MS" panose="030F0702030302020204" pitchFamily="66" charset="0"/>
                <a:ea typeface="굴림" panose="020B0600000101010101" pitchFamily="34" charset="-127"/>
              </a:rPr>
              <a:t>List: LRU</a:t>
            </a:r>
          </a:p>
        </p:txBody>
      </p:sp>
      <p:sp>
        <p:nvSpPr>
          <p:cNvPr id="6" name="Arrow: Up 5">
            <a:extLst>
              <a:ext uri="{FF2B5EF4-FFF2-40B4-BE49-F238E27FC236}">
                <a16:creationId xmlns:a16="http://schemas.microsoft.com/office/drawing/2014/main" id="{5B01A276-BB07-434F-B695-2C0BA4423993}"/>
              </a:ext>
            </a:extLst>
          </p:cNvPr>
          <p:cNvSpPr/>
          <p:nvPr/>
        </p:nvSpPr>
        <p:spPr>
          <a:xfrm>
            <a:off x="4438887" y="3308299"/>
            <a:ext cx="203484" cy="1649159"/>
          </a:xfrm>
          <a:prstGeom prst="up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Arrow: Up 123">
            <a:extLst>
              <a:ext uri="{FF2B5EF4-FFF2-40B4-BE49-F238E27FC236}">
                <a16:creationId xmlns:a16="http://schemas.microsoft.com/office/drawing/2014/main" id="{A133DA44-5226-4E52-B9FF-D54BE5D9485D}"/>
              </a:ext>
            </a:extLst>
          </p:cNvPr>
          <p:cNvSpPr/>
          <p:nvPr/>
        </p:nvSpPr>
        <p:spPr>
          <a:xfrm>
            <a:off x="7983667" y="3337369"/>
            <a:ext cx="203484" cy="1649159"/>
          </a:xfrm>
          <a:prstGeom prst="up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3242A7-CF03-47CC-020E-8B8312F14612}"/>
              </a:ext>
            </a:extLst>
          </p:cNvPr>
          <p:cNvSpPr txBox="1"/>
          <p:nvPr/>
        </p:nvSpPr>
        <p:spPr>
          <a:xfrm>
            <a:off x="7152058" y="4972565"/>
            <a:ext cx="726559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 = 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DD67F2-01E3-D9E7-8391-A95566AA3AB4}"/>
              </a:ext>
            </a:extLst>
          </p:cNvPr>
          <p:cNvSpPr txBox="1"/>
          <p:nvPr/>
        </p:nvSpPr>
        <p:spPr>
          <a:xfrm>
            <a:off x="4876800" y="4963487"/>
            <a:ext cx="771464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 = 1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3FF1830B-0268-A41F-F041-D48145751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Replac#2: </a:t>
            </a:r>
            <a:r>
              <a:rPr lang="en-NZ" b="1" dirty="0"/>
              <a:t>LRU – </a:t>
            </a:r>
            <a:r>
              <a:rPr lang="en-NZ" b="1" dirty="0">
                <a:solidFill>
                  <a:srgbClr val="FF0000"/>
                </a:solidFill>
              </a:rPr>
              <a:t>Idea#2: List Approx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631894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4.07407E-6 L -0.11042 0.20393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521" y="10185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42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1000"/>
                            </p:stCondLst>
                            <p:childTnLst>
                              <p:par>
                                <p:cTn id="17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000"/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4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7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10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0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2000"/>
                            </p:stCondLst>
                            <p:childTnLst>
                              <p:par>
                                <p:cTn id="18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2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56" grpId="0" animBg="1"/>
      <p:bldP spid="72" grpId="0" animBg="1"/>
      <p:bldP spid="75" grpId="0" animBg="1"/>
      <p:bldP spid="76" grpId="0" animBg="1"/>
      <p:bldP spid="81" grpId="0" animBg="1"/>
      <p:bldP spid="82" grpId="0" animBg="1"/>
      <p:bldP spid="92" grpId="0" animBg="1"/>
      <p:bldP spid="97" grpId="0" animBg="1"/>
      <p:bldP spid="98" grpId="0" animBg="1"/>
      <p:bldP spid="101" grpId="0" animBg="1"/>
      <p:bldP spid="79" grpId="0" animBg="1"/>
      <p:bldP spid="79" grpId="1" animBg="1"/>
      <p:bldP spid="84" grpId="0" animBg="1"/>
      <p:bldP spid="80" grpId="0" animBg="1"/>
      <p:bldP spid="80" grpId="1" animBg="1"/>
      <p:bldP spid="83" grpId="0"/>
      <p:bldP spid="83" grpId="1"/>
      <p:bldP spid="88" grpId="0" animBg="1"/>
      <p:bldP spid="95" grpId="0" animBg="1"/>
      <p:bldP spid="99" grpId="0" animBg="1"/>
      <p:bldP spid="100" grpId="0" animBg="1"/>
      <p:bldP spid="107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5" grpId="0" animBg="1"/>
      <p:bldP spid="123" grpId="0" animBg="1"/>
      <p:bldP spid="6" grpId="0" animBg="1"/>
      <p:bldP spid="1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32D98-557A-1578-4592-EF326E606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A54C6D-6DFC-D600-1304-60AFFF4D0187}"/>
              </a:ext>
            </a:extLst>
          </p:cNvPr>
          <p:cNvSpPr/>
          <p:nvPr/>
        </p:nvSpPr>
        <p:spPr>
          <a:xfrm>
            <a:off x="0" y="-218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Text Box 1102">
            <a:extLst>
              <a:ext uri="{FF2B5EF4-FFF2-40B4-BE49-F238E27FC236}">
                <a16:creationId xmlns:a16="http://schemas.microsoft.com/office/drawing/2014/main" id="{6DE7C57A-2CC7-4350-797E-FE149D5D6B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58" y="883838"/>
            <a:ext cx="11561541" cy="264408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indent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72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4F81BD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struct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4BACC6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Env </a:t>
            </a:r>
            <a:endParaRPr lang="en-US" alt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4572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	</a:t>
            </a:r>
          </a:p>
          <a:p>
            <a:pPr marL="0" marR="0" lvl="0" indent="4572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66FF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struct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WS_List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page_WS_active_list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r>
              <a:rPr lang="en-US" alt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//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ActiveList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that should work as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FIFO</a:t>
            </a: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defTabSz="914400">
              <a:lnSpc>
                <a:spcPct val="150000"/>
              </a:lnSpc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4F81B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66FF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struct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WS_List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page_WS_second_list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//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SecondList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that should work as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LRU</a:t>
            </a: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defTabSz="914400">
              <a:lnSpc>
                <a:spcPct val="150000"/>
              </a:lnSpc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000" b="1" dirty="0">
                <a:solidFill>
                  <a:srgbClr val="0066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page_WS_max_size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A3662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			</a:t>
            </a:r>
            <a:r>
              <a:rPr lang="en-US" altLang="en-US" sz="20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//Max allowed WS Size for both Lists</a:t>
            </a:r>
            <a:endParaRPr lang="en-US" sz="2000" b="1" dirty="0">
              <a:solidFill>
                <a:srgbClr val="A3662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914400">
              <a:lnSpc>
                <a:spcPct val="150000"/>
              </a:lnSpc>
            </a:pPr>
            <a:r>
              <a:rPr lang="en-US" altLang="en-US" sz="2000" dirty="0">
                <a:solidFill>
                  <a:srgbClr val="4F81B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altLang="en-US" sz="2000" b="1" dirty="0">
                <a:solidFill>
                  <a:srgbClr val="0066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int</a:t>
            </a:r>
            <a:r>
              <a:rPr lang="en-US" alt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page_2nd_WS_size</a:t>
            </a:r>
            <a:r>
              <a:rPr lang="en-US" alt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;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			</a:t>
            </a:r>
            <a:r>
              <a:rPr lang="en-US" altLang="en-US" sz="20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//Max allowed </a:t>
            </a:r>
            <a:r>
              <a:rPr lang="en-US" altLang="en-US" sz="20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size</a:t>
            </a:r>
            <a:r>
              <a:rPr lang="en-US" altLang="en-US" sz="20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en-US" altLang="en-US" sz="2000" dirty="0" err="1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SecondList</a:t>
            </a:r>
            <a:endParaRPr lang="en-US" altLang="en-US" sz="2000" dirty="0">
              <a:solidFill>
                <a:srgbClr val="00B05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defTabSz="914400">
              <a:lnSpc>
                <a:spcPct val="100000"/>
              </a:lnSpc>
            </a:pPr>
            <a:r>
              <a:rPr lang="en-AE" sz="2000" b="1" dirty="0">
                <a:solidFill>
                  <a:srgbClr val="0066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struct</a:t>
            </a:r>
            <a:r>
              <a:rPr lang="en-AE" sz="1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AE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WorkingSetElement</a:t>
            </a:r>
            <a:r>
              <a:rPr lang="en-A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AE" sz="1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AE" sz="20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page_last_WS_element</a:t>
            </a:r>
            <a:r>
              <a:rPr lang="en-AE" sz="2000" dirty="0">
                <a:solidFill>
                  <a:srgbClr val="A36622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;</a:t>
            </a:r>
            <a:r>
              <a:rPr lang="en-AE" sz="1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	</a:t>
            </a:r>
            <a:endParaRPr lang="en-US" altLang="en-US" sz="12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77F7E-92D5-09C5-5C60-3464D361B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413" y="0"/>
            <a:ext cx="11601813" cy="778631"/>
          </a:xfrm>
        </p:spPr>
        <p:txBody>
          <a:bodyPr/>
          <a:lstStyle/>
          <a:p>
            <a:r>
              <a:rPr lang="en-US" dirty="0"/>
              <a:t>Repl.: </a:t>
            </a:r>
            <a:r>
              <a:rPr lang="en-US" b="1" dirty="0">
                <a:solidFill>
                  <a:srgbClr val="FF0000"/>
                </a:solidFill>
              </a:rPr>
              <a:t>Given Data </a:t>
            </a:r>
            <a:endParaRPr lang="en-AE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312E79-B35F-CD33-7585-217A1F8FC073}"/>
              </a:ext>
            </a:extLst>
          </p:cNvPr>
          <p:cNvSpPr txBox="1"/>
          <p:nvPr/>
        </p:nvSpPr>
        <p:spPr>
          <a:xfrm>
            <a:off x="8855787" y="491724"/>
            <a:ext cx="2776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Light"/>
                <a:ea typeface="+mn-ea"/>
                <a:cs typeface="+mn-cs"/>
              </a:rPr>
              <a:t>inc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Light"/>
                <a:ea typeface="+mn-ea"/>
                <a:cs typeface="+mn-cs"/>
              </a:rPr>
              <a:t>/</a:t>
            </a:r>
            <a:r>
              <a:rPr kumimoji="0" lang="en-US" sz="1800" b="1" i="0" u="none" strike="noStrik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Light"/>
                <a:ea typeface="+mn-ea"/>
                <a:cs typeface="+mn-cs"/>
              </a:rPr>
              <a:t>environment_definitions.h</a:t>
            </a:r>
            <a:endParaRPr kumimoji="0" lang="en-AE" sz="1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ill Sans Light"/>
              <a:ea typeface="+mn-ea"/>
              <a:cs typeface="+mn-cs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64270BB-B1E2-0E6B-45CD-861D06E363C4}"/>
              </a:ext>
            </a:extLst>
          </p:cNvPr>
          <p:cNvGrpSpPr/>
          <p:nvPr/>
        </p:nvGrpSpPr>
        <p:grpSpPr>
          <a:xfrm>
            <a:off x="4695662" y="934586"/>
            <a:ext cx="7207599" cy="3496173"/>
            <a:chOff x="5370542" y="392340"/>
            <a:chExt cx="7207599" cy="3496173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754CF93-5FC7-13B8-F652-63801524E132}"/>
                </a:ext>
              </a:extLst>
            </p:cNvPr>
            <p:cNvSpPr txBox="1"/>
            <p:nvPr/>
          </p:nvSpPr>
          <p:spPr>
            <a:xfrm>
              <a:off x="8120980" y="392340"/>
              <a:ext cx="1905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Each Element</a:t>
              </a:r>
              <a:endParaRPr kumimoji="0" lang="en-A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cxnSp>
          <p:nvCxnSpPr>
            <p:cNvPr id="27" name="Connector: Elbow 26">
              <a:extLst>
                <a:ext uri="{FF2B5EF4-FFF2-40B4-BE49-F238E27FC236}">
                  <a16:creationId xmlns:a16="http://schemas.microsoft.com/office/drawing/2014/main" id="{856A8DBC-F3DA-3FA8-12A9-9E652D146CDB}"/>
                </a:ext>
              </a:extLst>
            </p:cNvPr>
            <p:cNvCxnSpPr>
              <a:cxnSpLocks/>
              <a:stCxn id="6" idx="0"/>
              <a:endCxn id="17" idx="3"/>
            </p:cNvCxnSpPr>
            <p:nvPr/>
          </p:nvCxnSpPr>
          <p:spPr>
            <a:xfrm rot="16200000" flipH="1">
              <a:off x="7514539" y="-1175090"/>
              <a:ext cx="2919606" cy="7207599"/>
            </a:xfrm>
            <a:prstGeom prst="bentConnector4">
              <a:avLst>
                <a:gd name="adj1" fmla="val -7830"/>
                <a:gd name="adj2" fmla="val 103172"/>
              </a:avLst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86C02D6-481D-470F-2270-86452D6523E0}"/>
              </a:ext>
            </a:extLst>
          </p:cNvPr>
          <p:cNvSpPr/>
          <p:nvPr/>
        </p:nvSpPr>
        <p:spPr bwMode="auto">
          <a:xfrm>
            <a:off x="3225454" y="1511152"/>
            <a:ext cx="2940417" cy="763367"/>
          </a:xfrm>
          <a:prstGeom prst="roundRect">
            <a:avLst/>
          </a:prstGeom>
          <a:solidFill>
            <a:srgbClr val="FF0000">
              <a:alpha val="40000"/>
            </a:srgb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9C14ED4-D398-4F10-94F0-1B91E882C434}"/>
              </a:ext>
            </a:extLst>
          </p:cNvPr>
          <p:cNvGrpSpPr/>
          <p:nvPr/>
        </p:nvGrpSpPr>
        <p:grpSpPr>
          <a:xfrm>
            <a:off x="1615662" y="2830532"/>
            <a:ext cx="4111503" cy="369332"/>
            <a:chOff x="4080492" y="3521378"/>
            <a:chExt cx="4111503" cy="369332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CDF1B5F9-62AE-DB82-1BC2-1D310A297BE3}"/>
                </a:ext>
              </a:extLst>
            </p:cNvPr>
            <p:cNvSpPr/>
            <p:nvPr/>
          </p:nvSpPr>
          <p:spPr bwMode="auto">
            <a:xfrm>
              <a:off x="4080492" y="3541936"/>
              <a:ext cx="2516699" cy="328217"/>
            </a:xfrm>
            <a:prstGeom prst="roundRect">
              <a:avLst/>
            </a:prstGeom>
            <a:solidFill>
              <a:srgbClr val="FF0000">
                <a:alpha val="40000"/>
              </a:srgb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E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B56C188-F595-CFF9-72D3-F562C064111F}"/>
                </a:ext>
              </a:extLst>
            </p:cNvPr>
            <p:cNvSpPr txBox="1"/>
            <p:nvPr/>
          </p:nvSpPr>
          <p:spPr>
            <a:xfrm>
              <a:off x="6552445" y="3521378"/>
              <a:ext cx="16395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LRU 2</a:t>
              </a:r>
              <a:r>
                <a:rPr kumimoji="0" lang="en-US" sz="1800" b="1" i="0" u="none" strike="noStrike" kern="1200" cap="none" spc="0" normalizeH="0" baseline="30000" noProof="0" dirty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nd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 List</a:t>
              </a:r>
              <a:endParaRPr kumimoji="0" lang="en-AE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73556CC-AAB5-0866-3766-51CBCCC62785}"/>
              </a:ext>
            </a:extLst>
          </p:cNvPr>
          <p:cNvGrpSpPr/>
          <p:nvPr/>
        </p:nvGrpSpPr>
        <p:grpSpPr>
          <a:xfrm>
            <a:off x="1625643" y="2375441"/>
            <a:ext cx="4362814" cy="369332"/>
            <a:chOff x="2285999" y="3853256"/>
            <a:chExt cx="4362814" cy="369332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5C91119-A2A3-CE9F-6465-5D4C42650816}"/>
                </a:ext>
              </a:extLst>
            </p:cNvPr>
            <p:cNvSpPr/>
            <p:nvPr/>
          </p:nvSpPr>
          <p:spPr bwMode="auto">
            <a:xfrm>
              <a:off x="2285999" y="3876263"/>
              <a:ext cx="2522655" cy="328217"/>
            </a:xfrm>
            <a:prstGeom prst="roundRect">
              <a:avLst/>
            </a:prstGeom>
            <a:solidFill>
              <a:srgbClr val="FF0000">
                <a:alpha val="40000"/>
              </a:srgb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E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E40B0B6-0B7D-DCD0-4233-68A71B49181E}"/>
                </a:ext>
              </a:extLst>
            </p:cNvPr>
            <p:cNvSpPr txBox="1"/>
            <p:nvPr/>
          </p:nvSpPr>
          <p:spPr>
            <a:xfrm>
              <a:off x="4743813" y="3853256"/>
              <a:ext cx="1905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 Proc Limit</a:t>
              </a:r>
              <a:endParaRPr kumimoji="0" lang="en-A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FB0CFE9-550E-15D3-1E16-DD4F5CDA0201}"/>
              </a:ext>
            </a:extLst>
          </p:cNvPr>
          <p:cNvGrpSpPr/>
          <p:nvPr/>
        </p:nvGrpSpPr>
        <p:grpSpPr>
          <a:xfrm>
            <a:off x="5806411" y="3436485"/>
            <a:ext cx="6096851" cy="1632537"/>
            <a:chOff x="5540191" y="4291239"/>
            <a:chExt cx="6096851" cy="1632537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2C6F049-94A3-D976-AA41-4716A24D20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40191" y="4647248"/>
              <a:ext cx="6096851" cy="1276528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3F32D5F-9CC1-42F2-46C4-8C238D6CC4CD}"/>
                </a:ext>
              </a:extLst>
            </p:cNvPr>
            <p:cNvSpPr txBox="1"/>
            <p:nvPr/>
          </p:nvSpPr>
          <p:spPr>
            <a:xfrm>
              <a:off x="7010400" y="4291239"/>
              <a:ext cx="27764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Gill Sans Light"/>
                  <a:ea typeface="+mn-ea"/>
                  <a:cs typeface="+mn-cs"/>
                </a:rPr>
                <a:t>inc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Gill Sans Light"/>
                  <a:ea typeface="+mn-ea"/>
                  <a:cs typeface="+mn-cs"/>
                </a:rPr>
                <a:t>/</a:t>
              </a:r>
              <a:r>
                <a:rPr kumimoji="0" lang="en-US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Gill Sans Light"/>
                  <a:ea typeface="+mn-ea"/>
                  <a:cs typeface="+mn-cs"/>
                </a:rPr>
                <a:t>environment_definitions.h</a:t>
              </a:r>
              <a:endParaRPr kumimoji="0" lang="en-AE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Light"/>
                <a:ea typeface="+mn-ea"/>
                <a:cs typeface="+mn-cs"/>
              </a:endParaRPr>
            </a:p>
          </p:txBody>
        </p:sp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5BB2EB9-19A4-7B8E-FDEF-12F961B13F62}"/>
              </a:ext>
            </a:extLst>
          </p:cNvPr>
          <p:cNvSpPr/>
          <p:nvPr/>
        </p:nvSpPr>
        <p:spPr bwMode="auto">
          <a:xfrm>
            <a:off x="7891243" y="4012599"/>
            <a:ext cx="2034174" cy="302622"/>
          </a:xfrm>
          <a:prstGeom prst="roundRect">
            <a:avLst/>
          </a:prstGeom>
          <a:solidFill>
            <a:srgbClr val="FF0000">
              <a:alpha val="40000"/>
            </a:srgb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393C5FA-2F37-62C2-5DA1-86F381FCC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58" y="3537933"/>
            <a:ext cx="5967599" cy="3344588"/>
          </a:xfrm>
        </p:spPr>
        <p:txBody>
          <a:bodyPr>
            <a:normAutofit fontScale="92500" lnSpcReduction="10000"/>
          </a:bodyPr>
          <a:lstStyle/>
          <a:p>
            <a:pPr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Each process has two </a:t>
            </a: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working set LISTs</a:t>
            </a:r>
            <a:r>
              <a:rPr lang="en-US" sz="2000" dirty="0">
                <a:effectLst/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 that are initialized in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env_create</a:t>
            </a:r>
            <a:r>
              <a:rPr lang="en-US" sz="2000" dirty="0">
                <a:effectLst/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()</a:t>
            </a:r>
            <a:endParaRPr lang="en-AE" sz="2000" dirty="0">
              <a:effectLst/>
              <a:latin typeface="+mj-lt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ea typeface="Times New Roman" panose="02020603050405020304" pitchFamily="18" charset="0"/>
                <a:cs typeface="Arial" panose="020B0604020202020204" pitchFamily="34" charset="0"/>
              </a:rPr>
              <a:t>The </a:t>
            </a:r>
            <a:r>
              <a:rPr lang="en-US" b="1" dirty="0">
                <a:ea typeface="Times New Roman" panose="02020603050405020304" pitchFamily="18" charset="0"/>
                <a:cs typeface="Arial" panose="020B0604020202020204" pitchFamily="34" charset="0"/>
              </a:rPr>
              <a:t>max total size </a:t>
            </a:r>
            <a:r>
              <a:rPr lang="en-US" dirty="0">
                <a:ea typeface="Times New Roman" panose="02020603050405020304" pitchFamily="18" charset="0"/>
                <a:cs typeface="Arial" panose="020B0604020202020204" pitchFamily="34" charset="0"/>
              </a:rPr>
              <a:t>is set in "</a:t>
            </a:r>
            <a:r>
              <a:rPr lang="en-US" b="1" dirty="0" err="1">
                <a:solidFill>
                  <a:srgbClr val="FF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page_WS_max_size</a:t>
            </a:r>
            <a:r>
              <a:rPr lang="en-US" dirty="0">
                <a:ea typeface="Times New Roman" panose="02020603050405020304" pitchFamily="18" charset="0"/>
                <a:cs typeface="Arial" panose="020B0604020202020204" pitchFamily="34" charset="0"/>
              </a:rPr>
              <a:t>" during the </a:t>
            </a:r>
            <a:r>
              <a:rPr lang="en-US" b="1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env_create</a:t>
            </a:r>
            <a:r>
              <a:rPr lang="en-US" dirty="0">
                <a:ea typeface="Times New Roman" panose="02020603050405020304" pitchFamily="18" charset="0"/>
                <a:cs typeface="Arial" panose="020B0604020202020204" pitchFamily="34" charset="0"/>
              </a:rPr>
              <a:t>()</a:t>
            </a:r>
            <a:endParaRPr lang="en-AE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ea typeface="Times New Roman" panose="02020603050405020304" pitchFamily="18" charset="0"/>
                <a:cs typeface="Arial" panose="020B0604020202020204" pitchFamily="34" charset="0"/>
              </a:rPr>
              <a:t>"</a:t>
            </a:r>
            <a:r>
              <a:rPr lang="en-US" b="1" dirty="0">
                <a:solidFill>
                  <a:srgbClr val="FF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page_2nd_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WS_size</a:t>
            </a:r>
            <a:r>
              <a:rPr lang="en-US" dirty="0">
                <a:ea typeface="Times New Roman" panose="02020603050405020304" pitchFamily="18" charset="0"/>
                <a:cs typeface="Arial" panose="020B0604020202020204" pitchFamily="34" charset="0"/>
              </a:rPr>
              <a:t>" will hold the max size of the 2</a:t>
            </a:r>
            <a:r>
              <a:rPr lang="en-US" baseline="30000" dirty="0">
                <a:ea typeface="Times New Roman" panose="02020603050405020304" pitchFamily="18" charset="0"/>
                <a:cs typeface="Arial" panose="020B0604020202020204" pitchFamily="34" charset="0"/>
              </a:rPr>
              <a:t>nd</a:t>
            </a:r>
            <a:r>
              <a:rPr lang="en-US" dirty="0">
                <a:ea typeface="Times New Roman" panose="02020603050405020304" pitchFamily="18" charset="0"/>
                <a:cs typeface="Arial" panose="020B0604020202020204" pitchFamily="34" charset="0"/>
              </a:rPr>
              <a:t> list (in case of FIFO, it equals ZERO)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ea typeface="Times New Roman" panose="02020603050405020304" pitchFamily="18" charset="0"/>
                <a:cs typeface="Arial" panose="020B0604020202020204" pitchFamily="34" charset="0"/>
              </a:rPr>
              <a:t>"</a:t>
            </a:r>
            <a:r>
              <a:rPr lang="en-US" b="1" dirty="0" err="1">
                <a:solidFill>
                  <a:srgbClr val="FF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page_last_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WS_element</a:t>
            </a:r>
            <a:r>
              <a:rPr lang="en-US" dirty="0">
                <a:ea typeface="Times New Roman" panose="02020603050405020304" pitchFamily="18" charset="0"/>
                <a:cs typeface="Arial" panose="020B0604020202020204" pitchFamily="34" charset="0"/>
              </a:rPr>
              <a:t>" will point to either: </a:t>
            </a:r>
            <a:endParaRPr lang="en-AE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ea typeface="Times New Roman" panose="02020603050405020304" pitchFamily="18" charset="0"/>
                <a:cs typeface="Arial" panose="020B0604020202020204" pitchFamily="34" charset="0"/>
              </a:rPr>
              <a:t>First</a:t>
            </a:r>
            <a:r>
              <a:rPr lang="en-US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b="1" dirty="0">
                <a:ea typeface="Times New Roman" panose="02020603050405020304" pitchFamily="18" charset="0"/>
                <a:cs typeface="Arial" panose="020B0604020202020204" pitchFamily="34" charset="0"/>
              </a:rPr>
              <a:t>location </a:t>
            </a:r>
            <a:r>
              <a:rPr lang="en-US" dirty="0">
                <a:ea typeface="Times New Roman" panose="02020603050405020304" pitchFamily="18" charset="0"/>
                <a:cs typeface="Arial" panose="020B0604020202020204" pitchFamily="34" charset="0"/>
              </a:rPr>
              <a:t>in the Active WS If the </a:t>
            </a:r>
            <a:r>
              <a:rPr lang="en-US" b="1" dirty="0">
                <a:ea typeface="Times New Roman" panose="02020603050405020304" pitchFamily="18" charset="0"/>
                <a:cs typeface="Arial" panose="020B0604020202020204" pitchFamily="34" charset="0"/>
              </a:rPr>
              <a:t>list is full</a:t>
            </a:r>
            <a:r>
              <a:rPr lang="en-US" dirty="0"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AE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ea typeface="Times New Roman" panose="02020603050405020304" pitchFamily="18" charset="0"/>
                <a:cs typeface="Arial" panose="020B0604020202020204" pitchFamily="34" charset="0"/>
              </a:rPr>
              <a:t>Null</a:t>
            </a:r>
            <a:r>
              <a:rPr lang="en-US" dirty="0">
                <a:ea typeface="Times New Roman" panose="02020603050405020304" pitchFamily="18" charset="0"/>
                <a:cs typeface="Arial" panose="020B0604020202020204" pitchFamily="34" charset="0"/>
              </a:rPr>
              <a:t> if the list is </a:t>
            </a:r>
            <a:r>
              <a:rPr lang="en-US" b="1" dirty="0">
                <a:ea typeface="Times New Roman" panose="02020603050405020304" pitchFamily="18" charset="0"/>
                <a:cs typeface="Arial" panose="020B0604020202020204" pitchFamily="34" charset="0"/>
              </a:rPr>
              <a:t>not full</a:t>
            </a:r>
            <a:r>
              <a:rPr lang="en-US" dirty="0"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AE" dirty="0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7643EF-3900-C443-5EB2-F3870E3245F6}"/>
              </a:ext>
            </a:extLst>
          </p:cNvPr>
          <p:cNvSpPr txBox="1"/>
          <p:nvPr/>
        </p:nvSpPr>
        <p:spPr>
          <a:xfrm>
            <a:off x="5921291" y="5098457"/>
            <a:ext cx="6330874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This list hold pointers to </a:t>
            </a:r>
            <a:r>
              <a:rPr lang="en-AE" sz="2000" b="1" dirty="0">
                <a:solidFill>
                  <a:srgbClr val="0037CD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struct</a:t>
            </a:r>
            <a:r>
              <a:rPr lang="en-AE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effectLst/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containing info about the currently loaded pages in memory.</a:t>
            </a:r>
            <a:endParaRPr lang="en-AE" sz="2000" dirty="0">
              <a:effectLst/>
              <a:latin typeface="+mj-lt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Each struct holds important values about each page:</a:t>
            </a:r>
            <a:endParaRPr lang="en-AE" sz="2000" dirty="0">
              <a:effectLst/>
              <a:latin typeface="+mj-lt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544068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ffectLst/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User virtual address of the page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US" dirty="0">
                <a:ea typeface="Times New Roman" panose="02020603050405020304" pitchFamily="18" charset="0"/>
                <a:cs typeface="Arial" panose="020B0604020202020204" pitchFamily="34" charset="0"/>
              </a:rPr>
              <a:t>Previous &amp; Next pointers to be used by list</a:t>
            </a:r>
            <a:endParaRPr lang="en-AE" dirty="0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6F0AC5C-B76C-90DA-F997-9E72E6630319}"/>
              </a:ext>
            </a:extLst>
          </p:cNvPr>
          <p:cNvSpPr/>
          <p:nvPr/>
        </p:nvSpPr>
        <p:spPr>
          <a:xfrm>
            <a:off x="0" y="-46334"/>
            <a:ext cx="12191999" cy="116558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solidFill>
                  <a:srgbClr val="FF0000"/>
                </a:solidFill>
              </a:rPr>
              <a:t>IMP. NOTE</a:t>
            </a:r>
            <a:r>
              <a:rPr lang="en-US" sz="2400" b="1" dirty="0"/>
              <a:t>: you should maintain the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page_last_WS_element</a:t>
            </a:r>
            <a:r>
              <a:rPr lang="en-US" sz="2400" b="1" dirty="0"/>
              <a:t>, </a:t>
            </a:r>
            <a:r>
              <a:rPr lang="en-US" sz="2400" b="1" dirty="0">
                <a:solidFill>
                  <a:srgbClr val="0070C0"/>
                </a:solidFill>
              </a:rPr>
              <a:t>Correct FIFO Order </a:t>
            </a:r>
            <a:r>
              <a:rPr lang="en-US" sz="2400" b="1" dirty="0">
                <a:solidFill>
                  <a:schemeClr val="tx1"/>
                </a:solidFill>
              </a:rPr>
              <a:t>&amp; </a:t>
            </a:r>
            <a:r>
              <a:rPr lang="en-US" sz="2400" b="1" dirty="0">
                <a:solidFill>
                  <a:srgbClr val="00B050"/>
                </a:solidFill>
              </a:rPr>
              <a:t>Content of BOTH Lists </a:t>
            </a:r>
            <a:r>
              <a:rPr lang="en-US" sz="2400" b="1" dirty="0"/>
              <a:t>in rest of code (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page_fault_handler</a:t>
            </a:r>
            <a:r>
              <a:rPr lang="en-US" sz="2400" b="1" dirty="0"/>
              <a:t>,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free_user_mem</a:t>
            </a:r>
            <a:r>
              <a:rPr lang="en-US" sz="2400" b="1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en-US" sz="2400" b="1" dirty="0"/>
              <a:t>)</a:t>
            </a:r>
            <a:endParaRPr lang="en-AE" sz="2400" b="1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6EEC233-69F1-499F-2EBD-68D3F7E95172}"/>
              </a:ext>
            </a:extLst>
          </p:cNvPr>
          <p:cNvSpPr/>
          <p:nvPr/>
        </p:nvSpPr>
        <p:spPr bwMode="auto">
          <a:xfrm>
            <a:off x="10010303" y="4786767"/>
            <a:ext cx="1864957" cy="278773"/>
          </a:xfrm>
          <a:prstGeom prst="roundRect">
            <a:avLst/>
          </a:prstGeom>
          <a:solidFill>
            <a:srgbClr val="FF0000">
              <a:alpha val="40000"/>
            </a:srgb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F637F19-FA58-FE4D-0E56-29EEC24B1DDD}"/>
              </a:ext>
            </a:extLst>
          </p:cNvPr>
          <p:cNvSpPr/>
          <p:nvPr/>
        </p:nvSpPr>
        <p:spPr bwMode="auto">
          <a:xfrm>
            <a:off x="4834671" y="3187784"/>
            <a:ext cx="2940417" cy="340137"/>
          </a:xfrm>
          <a:prstGeom prst="roundRect">
            <a:avLst/>
          </a:prstGeom>
          <a:solidFill>
            <a:srgbClr val="FF0000">
              <a:alpha val="40000"/>
            </a:srgb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5DEE3A5-6E0F-B512-2FB1-D29276197D03}"/>
                  </a:ext>
                </a:extLst>
              </p14:cNvPr>
              <p14:cNvContentPartPr/>
              <p14:nvPr/>
            </p14:nvContentPartPr>
            <p14:xfrm>
              <a:off x="10725120" y="1790640"/>
              <a:ext cx="1238760" cy="17150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5DEE3A5-6E0F-B512-2FB1-D29276197D0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715760" y="1781280"/>
                <a:ext cx="1257480" cy="173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90694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3" grpId="0" animBg="1"/>
      <p:bldP spid="3" grpId="0" animBg="1"/>
      <p:bldP spid="24" grpId="0" animBg="1"/>
      <p:bldP spid="2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FE696-40A0-E814-D48C-7BCC42259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#1:</a:t>
            </a:r>
            <a:r>
              <a:rPr lang="en-US" dirty="0"/>
              <a:t> FIFO Replacement</a:t>
            </a:r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FCA44-1D06-94C1-44EC-CBFB45FF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21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3A13C4-D33B-7B08-DF00-FD34BB9EC8F8}"/>
              </a:ext>
            </a:extLst>
          </p:cNvPr>
          <p:cNvSpPr txBox="1"/>
          <p:nvPr/>
        </p:nvSpPr>
        <p:spPr>
          <a:xfrm>
            <a:off x="1097279" y="1875208"/>
            <a:ext cx="10380346" cy="469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page_fault_handler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Env </a:t>
            </a:r>
            <a:r>
              <a:rPr lang="en-US" sz="2400" b="1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curenv</a:t>
            </a:r>
            <a:r>
              <a:rPr lang="en-US" sz="2400" b="1" dirty="0">
                <a:solidFill>
                  <a:srgbClr val="A36622"/>
                </a:solidFill>
                <a:latin typeface="Consolas" panose="020B0609020204030204" pitchFamily="49" charset="0"/>
              </a:rPr>
              <a:t>,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535353"/>
                </a:solidFill>
                <a:latin typeface="Consolas" panose="020B0609020204030204" pitchFamily="49" charset="0"/>
              </a:rPr>
              <a:t>uint32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fault_va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  <a:endParaRPr lang="en-AE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83893A-92D8-FFBB-BDDF-F659979DB70A}"/>
              </a:ext>
            </a:extLst>
          </p:cNvPr>
          <p:cNvSpPr txBox="1"/>
          <p:nvPr/>
        </p:nvSpPr>
        <p:spPr>
          <a:xfrm>
            <a:off x="1097278" y="2385647"/>
            <a:ext cx="10755198" cy="344709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lvl="1" algn="just"/>
            <a:r>
              <a:rPr lang="en-AE" sz="2000" dirty="0">
                <a:solidFill>
                  <a:srgbClr val="0066FF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ea typeface="Times New Roman" panose="02020603050405020304" pitchFamily="18" charset="0"/>
                <a:cs typeface="Calibri" panose="020F0502020204030204" pitchFamily="34" charset="0"/>
              </a:rPr>
              <a:t> the size of </a:t>
            </a:r>
            <a:r>
              <a:rPr lang="en-US" sz="2000" b="1" dirty="0">
                <a:ea typeface="Times New Roman" panose="02020603050405020304" pitchFamily="18" charset="0"/>
                <a:cs typeface="Calibri" panose="020F0502020204030204" pitchFamily="34" charset="0"/>
              </a:rPr>
              <a:t>both</a:t>
            </a:r>
            <a:r>
              <a:rPr lang="en-US" sz="2000" dirty="0">
                <a:ea typeface="Times New Roman" panose="02020603050405020304" pitchFamily="18" charset="0"/>
                <a:cs typeface="Calibri" panose="020F0502020204030204" pitchFamily="34" charset="0"/>
              </a:rPr>
              <a:t> WS Lists &lt; </a:t>
            </a:r>
            <a:r>
              <a:rPr lang="en-US" sz="2000" b="1" i="1" dirty="0">
                <a:ea typeface="Times New Roman" panose="02020603050405020304" pitchFamily="18" charset="0"/>
                <a:cs typeface="Calibri" panose="020F0502020204030204" pitchFamily="34" charset="0"/>
              </a:rPr>
              <a:t>max total size, </a:t>
            </a:r>
            <a:r>
              <a:rPr lang="en-US" sz="2000" dirty="0">
                <a:ea typeface="Times New Roman" panose="02020603050405020304" pitchFamily="18" charset="0"/>
                <a:cs typeface="Calibri" panose="020F0502020204030204" pitchFamily="34" charset="0"/>
              </a:rPr>
              <a:t>then do</a:t>
            </a:r>
          </a:p>
          <a:p>
            <a:pPr marL="0" lvl="1" algn="just"/>
            <a:r>
              <a:rPr lang="en-AE" dirty="0">
                <a:solidFill>
                  <a:srgbClr val="787878"/>
                </a:solidFill>
                <a:latin typeface="Consolas" panose="020B0609020204030204" pitchFamily="49" charset="0"/>
              </a:rPr>
              <a:t>{</a:t>
            </a:r>
            <a:endParaRPr lang="en-US" dirty="0">
              <a:cs typeface="Arial" panose="020B0604020202020204" pitchFamily="34" charset="0"/>
            </a:endParaRPr>
          </a:p>
          <a:p>
            <a:pPr marL="0" lvl="1" algn="just"/>
            <a:r>
              <a:rPr lang="en-US" b="1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	</a:t>
            </a:r>
            <a:r>
              <a:rPr lang="en-US" b="1" dirty="0">
                <a:solidFill>
                  <a:srgbClr val="000000"/>
                </a:solidFill>
                <a:highlight>
                  <a:srgbClr val="FFFF00"/>
                </a:highlight>
                <a:ea typeface="Times New Roman" panose="02020603050405020304" pitchFamily="18" charset="0"/>
                <a:cs typeface="Calibri" panose="020F0502020204030204" pitchFamily="34" charset="0"/>
              </a:rPr>
              <a:t>Scenario 1: Placement</a:t>
            </a:r>
            <a:r>
              <a:rPr lang="en-US" dirty="0">
                <a:highlight>
                  <a:srgbClr val="FFFF00"/>
                </a:highlight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[DONE in GROUP MODULE]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: PAGE FAULT HANDLER – FIFO Placement</a:t>
            </a:r>
            <a:endParaRPr lang="en-AE" dirty="0">
              <a:solidFill>
                <a:srgbClr val="787878"/>
              </a:solidFill>
              <a:latin typeface="Consolas" panose="020B0609020204030204" pitchFamily="49" charset="0"/>
            </a:endParaRPr>
          </a:p>
          <a:p>
            <a:pPr marL="0" lvl="1" algn="just"/>
            <a:r>
              <a:rPr lang="en-AE" dirty="0">
                <a:solidFill>
                  <a:srgbClr val="787878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AE" dirty="0">
                <a:solidFill>
                  <a:srgbClr val="0066FF"/>
                </a:solidFill>
                <a:latin typeface="Consolas" panose="020B0609020204030204" pitchFamily="49" charset="0"/>
              </a:rPr>
              <a:t>else</a:t>
            </a:r>
          </a:p>
          <a:p>
            <a:pPr marL="0" lvl="1" algn="just"/>
            <a:r>
              <a:rPr lang="en-AE" dirty="0">
                <a:solidFill>
                  <a:srgbClr val="787878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37CD"/>
                </a:solidFill>
                <a:latin typeface="Consolas" panose="020B0609020204030204" pitchFamily="49" charset="0"/>
              </a:rPr>
              <a:t>	if</a:t>
            </a:r>
            <a:r>
              <a:rPr lang="en-US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isPageReplacmentAlgorithmFIFO</a:t>
            </a:r>
            <a:r>
              <a:rPr lang="en-US" b="1" dirty="0">
                <a:solidFill>
                  <a:srgbClr val="787878"/>
                </a:solidFill>
                <a:latin typeface="Consolas" panose="020B0609020204030204" pitchFamily="49" charset="0"/>
              </a:rPr>
              <a:t>())</a:t>
            </a:r>
          </a:p>
          <a:p>
            <a:r>
              <a:rPr lang="en-AE" dirty="0">
                <a:solidFill>
                  <a:srgbClr val="787878"/>
                </a:solidFill>
                <a:latin typeface="Consolas" panose="020B0609020204030204" pitchFamily="49" charset="0"/>
              </a:rPr>
              <a:t>	{</a:t>
            </a:r>
            <a:endParaRPr lang="en-US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" algn="just"/>
            <a:r>
              <a:rPr lang="en-US" b="1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          </a:t>
            </a:r>
            <a:r>
              <a:rPr lang="en-US" b="1" dirty="0">
                <a:solidFill>
                  <a:srgbClr val="000000"/>
                </a:solidFill>
                <a:highlight>
                  <a:srgbClr val="F79646"/>
                </a:highlight>
                <a:ea typeface="Times New Roman" panose="02020603050405020304" pitchFamily="18" charset="0"/>
                <a:cs typeface="Calibri" panose="020F0502020204030204" pitchFamily="34" charset="0"/>
              </a:rPr>
              <a:t>Scenario 2: FIFO Replacement</a:t>
            </a:r>
            <a:endParaRPr lang="en-US" dirty="0">
              <a:highlight>
                <a:srgbClr val="F79646"/>
              </a:highlight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1" algn="just"/>
            <a:r>
              <a:rPr lang="en-AE" dirty="0">
                <a:solidFill>
                  <a:srgbClr val="787878"/>
                </a:solidFill>
                <a:latin typeface="Consolas" panose="020B0609020204030204" pitchFamily="49" charset="0"/>
              </a:rPr>
              <a:t>     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b="1" dirty="0">
                <a:solidFill>
                  <a:srgbClr val="7F9FBF"/>
                </a:solidFill>
                <a:latin typeface="Consolas" panose="020B0609020204030204" pitchFamily="49" charset="0"/>
              </a:rPr>
              <a:t>TODO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: PAGE FAULT HANDLER - FIFO Replacement</a:t>
            </a:r>
          </a:p>
          <a:p>
            <a:pPr marL="0" lvl="1" algn="just"/>
            <a:r>
              <a:rPr lang="en-AE" dirty="0">
                <a:solidFill>
                  <a:srgbClr val="787878"/>
                </a:solidFill>
                <a:latin typeface="Consolas" panose="020B0609020204030204" pitchFamily="49" charset="0"/>
              </a:rPr>
              <a:t>   	}</a:t>
            </a:r>
            <a:endParaRPr lang="en-AE" dirty="0">
              <a:solidFill>
                <a:srgbClr val="0066FF"/>
              </a:solidFill>
              <a:latin typeface="Consolas" panose="020B0609020204030204" pitchFamily="49" charset="0"/>
            </a:endParaRPr>
          </a:p>
          <a:p>
            <a:r>
              <a:rPr lang="en-AE" dirty="0">
                <a:solidFill>
                  <a:srgbClr val="787878"/>
                </a:solidFill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6F5B45F-E99D-6766-516E-EA5BB9EBA5A2}"/>
              </a:ext>
            </a:extLst>
          </p:cNvPr>
          <p:cNvGrpSpPr/>
          <p:nvPr/>
        </p:nvGrpSpPr>
        <p:grpSpPr>
          <a:xfrm>
            <a:off x="10203555" y="20320"/>
            <a:ext cx="1851864" cy="1702661"/>
            <a:chOff x="9242856" y="0"/>
            <a:chExt cx="1851864" cy="170266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B2F94CB-C28F-49AF-A14C-14609BDEA0D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2320" t="42750" r="51366" b="30584"/>
            <a:stretch/>
          </p:blipFill>
          <p:spPr>
            <a:xfrm>
              <a:off x="9242856" y="0"/>
              <a:ext cx="1851864" cy="1702661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E072C22-5407-C019-B9B2-77195723066C}"/>
                </a:ext>
              </a:extLst>
            </p:cNvPr>
            <p:cNvSpPr txBox="1"/>
            <p:nvPr/>
          </p:nvSpPr>
          <p:spPr>
            <a:xfrm>
              <a:off x="9948576" y="286603"/>
              <a:ext cx="453842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b="1" dirty="0"/>
                <a:t>(FIFO)</a:t>
              </a:r>
              <a:endParaRPr lang="en-AE" sz="1200" b="1" dirty="0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A4CA02DF-470F-80C4-42A0-FFF8FA0A299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464" t="42474" r="67990" b="30172"/>
          <a:stretch/>
        </p:blipFill>
        <p:spPr>
          <a:xfrm>
            <a:off x="8347517" y="11418"/>
            <a:ext cx="1856038" cy="172594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E41913B-352D-AED6-6999-708B85EFA45F}"/>
              </a:ext>
            </a:extLst>
          </p:cNvPr>
          <p:cNvSpPr txBox="1"/>
          <p:nvPr/>
        </p:nvSpPr>
        <p:spPr>
          <a:xfrm>
            <a:off x="0" y="-27400"/>
            <a:ext cx="31484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Refer to </a:t>
            </a:r>
            <a:r>
              <a:rPr lang="en-US" sz="2000" b="1" dirty="0">
                <a:hlinkClick r:id="rId4" action="ppaction://hlinkfile"/>
              </a:rPr>
              <a:t>APPENDICES</a:t>
            </a:r>
            <a:r>
              <a:rPr lang="en-US" sz="2000" b="1" dirty="0"/>
              <a:t> for:</a:t>
            </a:r>
            <a:endParaRPr lang="en-AE" sz="2000" b="1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C781211-6533-B3E2-B8FD-98B4FB460F84}"/>
              </a:ext>
            </a:extLst>
          </p:cNvPr>
          <p:cNvGrpSpPr/>
          <p:nvPr/>
        </p:nvGrpSpPr>
        <p:grpSpPr>
          <a:xfrm>
            <a:off x="3066320" y="23673"/>
            <a:ext cx="3477725" cy="458440"/>
            <a:chOff x="128270" y="491589"/>
            <a:chExt cx="3477725" cy="458440"/>
          </a:xfrm>
        </p:grpSpPr>
        <p:sp>
          <p:nvSpPr>
            <p:cNvPr id="13" name="CustomShape 5">
              <a:extLst>
                <a:ext uri="{FF2B5EF4-FFF2-40B4-BE49-F238E27FC236}">
                  <a16:creationId xmlns:a16="http://schemas.microsoft.com/office/drawing/2014/main" id="{7A778694-A548-D45F-983B-93378E13534F}"/>
                </a:ext>
              </a:extLst>
            </p:cNvPr>
            <p:cNvSpPr/>
            <p:nvPr/>
          </p:nvSpPr>
          <p:spPr>
            <a:xfrm>
              <a:off x="128270" y="491589"/>
              <a:ext cx="390122" cy="458440"/>
            </a:xfrm>
            <a:prstGeom prst="flowChartMagneticDisk">
              <a:avLst/>
            </a:prstGeom>
            <a:gradFill rotWithShape="0">
              <a:gsLst>
                <a:gs pos="0">
                  <a:srgbClr val="765E00"/>
                </a:gs>
                <a:gs pos="100000">
                  <a:srgbClr val="FFCC00">
                    <a:alpha val="40000"/>
                  </a:srgbClr>
                </a:gs>
              </a:gsLst>
              <a:lin ang="0"/>
            </a:gradFill>
            <a:ln w="9360">
              <a:solidFill>
                <a:srgbClr val="96969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AE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169A25B-CA76-4BDA-03DA-0EDC55AA6E4E}"/>
                </a:ext>
              </a:extLst>
            </p:cNvPr>
            <p:cNvSpPr txBox="1"/>
            <p:nvPr/>
          </p:nvSpPr>
          <p:spPr>
            <a:xfrm>
              <a:off x="511045" y="518813"/>
              <a:ext cx="30949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/>
                <a:t>Page File Helper Functions</a:t>
              </a:r>
              <a:endParaRPr lang="en-AE" sz="200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1E85911-9348-F472-9F06-055F1DF04F2F}"/>
              </a:ext>
            </a:extLst>
          </p:cNvPr>
          <p:cNvGrpSpPr/>
          <p:nvPr/>
        </p:nvGrpSpPr>
        <p:grpSpPr>
          <a:xfrm>
            <a:off x="3071821" y="602917"/>
            <a:ext cx="5114005" cy="431986"/>
            <a:chOff x="170628" y="1027373"/>
            <a:chExt cx="5114005" cy="431986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B46E4B2-4286-C9AE-0636-9A5EEDF87AF4}"/>
                </a:ext>
              </a:extLst>
            </p:cNvPr>
            <p:cNvGrpSpPr/>
            <p:nvPr/>
          </p:nvGrpSpPr>
          <p:grpSpPr>
            <a:xfrm>
              <a:off x="170628" y="1027373"/>
              <a:ext cx="356166" cy="431986"/>
              <a:chOff x="7002621" y="5757664"/>
              <a:chExt cx="356166" cy="431986"/>
            </a:xfrm>
          </p:grpSpPr>
          <p:sp>
            <p:nvSpPr>
              <p:cNvPr id="18" name="CustomShape 15">
                <a:extLst>
                  <a:ext uri="{FF2B5EF4-FFF2-40B4-BE49-F238E27FC236}">
                    <a16:creationId xmlns:a16="http://schemas.microsoft.com/office/drawing/2014/main" id="{2870CB25-F35B-F4B6-CE16-F5A9E9078557}"/>
                  </a:ext>
                </a:extLst>
              </p:cNvPr>
              <p:cNvSpPr/>
              <p:nvPr/>
            </p:nvSpPr>
            <p:spPr>
              <a:xfrm>
                <a:off x="7004130" y="6082689"/>
                <a:ext cx="354657" cy="106961"/>
              </a:xfrm>
              <a:prstGeom prst="rect">
                <a:avLst/>
              </a:prstGeom>
              <a:gradFill rotWithShape="0">
                <a:gsLst>
                  <a:gs pos="0">
                    <a:srgbClr val="005125"/>
                  </a:gs>
                  <a:gs pos="100000">
                    <a:srgbClr val="00B050">
                      <a:alpha val="40000"/>
                    </a:srgbClr>
                  </a:gs>
                </a:gsLst>
                <a:lin ang="0"/>
              </a:gradFill>
              <a:ln w="9360">
                <a:solidFill>
                  <a:srgbClr val="969696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  <p:sp>
            <p:nvSpPr>
              <p:cNvPr id="19" name="CustomShape 16">
                <a:extLst>
                  <a:ext uri="{FF2B5EF4-FFF2-40B4-BE49-F238E27FC236}">
                    <a16:creationId xmlns:a16="http://schemas.microsoft.com/office/drawing/2014/main" id="{263BB4DA-AD04-7487-DAC0-3C23F3EFF91F}"/>
                  </a:ext>
                </a:extLst>
              </p:cNvPr>
              <p:cNvSpPr/>
              <p:nvPr/>
            </p:nvSpPr>
            <p:spPr>
              <a:xfrm>
                <a:off x="7002621" y="5757664"/>
                <a:ext cx="354657" cy="106961"/>
              </a:xfrm>
              <a:prstGeom prst="rect">
                <a:avLst/>
              </a:prstGeom>
              <a:gradFill rotWithShape="0">
                <a:gsLst>
                  <a:gs pos="0">
                    <a:srgbClr val="005125"/>
                  </a:gs>
                  <a:gs pos="100000">
                    <a:srgbClr val="00B050">
                      <a:alpha val="40000"/>
                    </a:srgbClr>
                  </a:gs>
                </a:gsLst>
                <a:lin ang="0"/>
              </a:gradFill>
              <a:ln w="9360">
                <a:solidFill>
                  <a:srgbClr val="969696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  <p:sp>
            <p:nvSpPr>
              <p:cNvPr id="20" name="CustomShape 17">
                <a:extLst>
                  <a:ext uri="{FF2B5EF4-FFF2-40B4-BE49-F238E27FC236}">
                    <a16:creationId xmlns:a16="http://schemas.microsoft.com/office/drawing/2014/main" id="{8A2E4C2B-B432-2DD6-3678-F71A2C39816A}"/>
                  </a:ext>
                </a:extLst>
              </p:cNvPr>
              <p:cNvSpPr/>
              <p:nvPr/>
            </p:nvSpPr>
            <p:spPr>
              <a:xfrm>
                <a:off x="7004130" y="5865002"/>
                <a:ext cx="353525" cy="108467"/>
              </a:xfrm>
              <a:prstGeom prst="rect">
                <a:avLst/>
              </a:prstGeom>
              <a:gradFill rotWithShape="0">
                <a:gsLst>
                  <a:gs pos="0">
                    <a:srgbClr val="005125"/>
                  </a:gs>
                  <a:gs pos="100000">
                    <a:srgbClr val="00B050">
                      <a:alpha val="40000"/>
                    </a:srgbClr>
                  </a:gs>
                </a:gsLst>
                <a:lin ang="0"/>
              </a:gradFill>
              <a:ln w="9360">
                <a:solidFill>
                  <a:srgbClr val="969696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  <p:sp>
            <p:nvSpPr>
              <p:cNvPr id="21" name="CustomShape 18">
                <a:extLst>
                  <a:ext uri="{FF2B5EF4-FFF2-40B4-BE49-F238E27FC236}">
                    <a16:creationId xmlns:a16="http://schemas.microsoft.com/office/drawing/2014/main" id="{BE53F7BF-4470-D7E3-AD84-67B9BC12F08D}"/>
                  </a:ext>
                </a:extLst>
              </p:cNvPr>
              <p:cNvSpPr/>
              <p:nvPr/>
            </p:nvSpPr>
            <p:spPr>
              <a:xfrm>
                <a:off x="7002621" y="5973845"/>
                <a:ext cx="354657" cy="108467"/>
              </a:xfrm>
              <a:prstGeom prst="rect">
                <a:avLst/>
              </a:prstGeom>
              <a:gradFill rotWithShape="0">
                <a:gsLst>
                  <a:gs pos="0">
                    <a:srgbClr val="005125"/>
                  </a:gs>
                  <a:gs pos="100000">
                    <a:srgbClr val="00B050">
                      <a:alpha val="40000"/>
                    </a:srgbClr>
                  </a:gs>
                </a:gsLst>
                <a:lin ang="0"/>
              </a:gradFill>
              <a:ln w="9360">
                <a:solidFill>
                  <a:srgbClr val="969696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B040BAB-18D9-9DA6-14F9-E81BE8530B64}"/>
                </a:ext>
              </a:extLst>
            </p:cNvPr>
            <p:cNvSpPr txBox="1"/>
            <p:nvPr/>
          </p:nvSpPr>
          <p:spPr>
            <a:xfrm>
              <a:off x="518392" y="1059249"/>
              <a:ext cx="476624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/>
                <a:t>Working Set Structure &amp; Helper Functions</a:t>
              </a:r>
              <a:endParaRPr lang="en-AE" sz="2000"/>
            </a:p>
          </p:txBody>
        </p:sp>
      </p:grpSp>
    </p:spTree>
    <p:extLst>
      <p:ext uri="{BB962C8B-B14F-4D97-AF65-F5344CB8AC3E}">
        <p14:creationId xmlns:p14="http://schemas.microsoft.com/office/powerpoint/2010/main" val="890674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53F5B-1AC1-9454-5B3A-0E35593F4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2CCB8-C515-E6A7-C9AF-2B17560CC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#2:</a:t>
            </a:r>
            <a:r>
              <a:rPr lang="en-US" dirty="0"/>
              <a:t> LRU Placement</a:t>
            </a:r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CF8C39-09C4-59E1-C540-9B925B62D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22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7EC2A2-14FE-4264-E35B-E74BE914FA76}"/>
              </a:ext>
            </a:extLst>
          </p:cNvPr>
          <p:cNvSpPr txBox="1"/>
          <p:nvPr/>
        </p:nvSpPr>
        <p:spPr>
          <a:xfrm>
            <a:off x="1097279" y="1875208"/>
            <a:ext cx="10380346" cy="469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page_fault_handler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Env </a:t>
            </a:r>
            <a:r>
              <a:rPr lang="en-US" sz="2400" b="1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curenv</a:t>
            </a:r>
            <a:r>
              <a:rPr lang="en-US" sz="2400" b="1" dirty="0">
                <a:solidFill>
                  <a:srgbClr val="A36622"/>
                </a:solidFill>
                <a:latin typeface="Consolas" panose="020B0609020204030204" pitchFamily="49" charset="0"/>
              </a:rPr>
              <a:t>,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535353"/>
                </a:solidFill>
                <a:latin typeface="Consolas" panose="020B0609020204030204" pitchFamily="49" charset="0"/>
              </a:rPr>
              <a:t>uint32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fault_va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  <a:endParaRPr lang="en-AE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791CDC-CD9E-57C3-C11A-7E6BE45EDEE0}"/>
              </a:ext>
            </a:extLst>
          </p:cNvPr>
          <p:cNvSpPr txBox="1"/>
          <p:nvPr/>
        </p:nvSpPr>
        <p:spPr>
          <a:xfrm>
            <a:off x="1097278" y="2385647"/>
            <a:ext cx="10380346" cy="454733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lvl="1" algn="just">
              <a:lnSpc>
                <a:spcPct val="114000"/>
              </a:lnSpc>
            </a:pPr>
            <a:r>
              <a:rPr lang="en-AE" sz="2000" dirty="0">
                <a:solidFill>
                  <a:srgbClr val="0066FF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ea typeface="Times New Roman" panose="02020603050405020304" pitchFamily="18" charset="0"/>
                <a:cs typeface="Calibri" panose="020F0502020204030204" pitchFamily="34" charset="0"/>
              </a:rPr>
              <a:t> the size of </a:t>
            </a:r>
            <a:r>
              <a:rPr lang="en-US" sz="2000" b="1" dirty="0">
                <a:ea typeface="Times New Roman" panose="02020603050405020304" pitchFamily="18" charset="0"/>
                <a:cs typeface="Calibri" panose="020F0502020204030204" pitchFamily="34" charset="0"/>
              </a:rPr>
              <a:t>both</a:t>
            </a:r>
            <a:r>
              <a:rPr lang="en-US" sz="2000" dirty="0">
                <a:ea typeface="Times New Roman" panose="02020603050405020304" pitchFamily="18" charset="0"/>
                <a:cs typeface="Calibri" panose="020F0502020204030204" pitchFamily="34" charset="0"/>
              </a:rPr>
              <a:t> WS Lists &lt; </a:t>
            </a:r>
            <a:r>
              <a:rPr lang="en-US" sz="2000" b="1" i="1" dirty="0">
                <a:ea typeface="Times New Roman" panose="02020603050405020304" pitchFamily="18" charset="0"/>
                <a:cs typeface="Calibri" panose="020F0502020204030204" pitchFamily="34" charset="0"/>
              </a:rPr>
              <a:t>max total size, </a:t>
            </a:r>
            <a:r>
              <a:rPr lang="en-US" sz="2000" dirty="0">
                <a:ea typeface="Times New Roman" panose="02020603050405020304" pitchFamily="18" charset="0"/>
                <a:cs typeface="Calibri" panose="020F0502020204030204" pitchFamily="34" charset="0"/>
              </a:rPr>
              <a:t>then do</a:t>
            </a:r>
          </a:p>
          <a:p>
            <a:pPr marL="0" lvl="1" algn="just">
              <a:lnSpc>
                <a:spcPct val="114000"/>
              </a:lnSpc>
            </a:pPr>
            <a:r>
              <a:rPr lang="en-AE" dirty="0">
                <a:solidFill>
                  <a:srgbClr val="787878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AE" dirty="0">
                <a:solidFill>
                  <a:srgbClr val="787878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	</a:t>
            </a:r>
            <a:r>
              <a:rPr lang="en-US" dirty="0">
                <a:solidFill>
                  <a:srgbClr val="0037CD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isPageReplacmentAlgorithmFIFO</a:t>
            </a:r>
            <a:r>
              <a:rPr lang="en-US" b="1" dirty="0">
                <a:solidFill>
                  <a:srgbClr val="787878"/>
                </a:solidFill>
                <a:latin typeface="Consolas" panose="020B0609020204030204" pitchFamily="49" charset="0"/>
              </a:rPr>
              <a:t>())</a:t>
            </a:r>
          </a:p>
          <a:p>
            <a:pPr>
              <a:lnSpc>
                <a:spcPct val="150000"/>
              </a:lnSpc>
            </a:pPr>
            <a:r>
              <a:rPr lang="en-AE" dirty="0">
                <a:solidFill>
                  <a:srgbClr val="787878"/>
                </a:solidFill>
                <a:latin typeface="Consolas" panose="020B0609020204030204" pitchFamily="49" charset="0"/>
              </a:rPr>
              <a:t>	{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0037CD"/>
                </a:solidFill>
                <a:latin typeface="Consolas" panose="020B0609020204030204" pitchFamily="49" charset="0"/>
              </a:rPr>
              <a:t>...</a:t>
            </a:r>
            <a:r>
              <a:rPr lang="en-US" dirty="0">
                <a:solidFill>
                  <a:srgbClr val="787878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37CD"/>
                </a:solidFill>
                <a:latin typeface="Consolas" panose="020B0609020204030204" pitchFamily="49" charset="0"/>
              </a:rPr>
              <a:t>	else </a:t>
            </a:r>
            <a:r>
              <a:rPr lang="en-US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isPageReplacmentAlgorithmLRU</a:t>
            </a:r>
            <a:r>
              <a:rPr lang="en-US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b="1" i="1" dirty="0">
                <a:solidFill>
                  <a:srgbClr val="535353"/>
                </a:solidFill>
                <a:latin typeface="Consolas" panose="020B0609020204030204" pitchFamily="49" charset="0"/>
              </a:rPr>
              <a:t>PG_REP_LRU_LISTS_APPROX</a:t>
            </a:r>
            <a:r>
              <a:rPr lang="en-US" b="1" i="1" dirty="0">
                <a:solidFill>
                  <a:srgbClr val="787878"/>
                </a:solidFill>
                <a:latin typeface="Consolas" panose="020B0609020204030204" pitchFamily="49" charset="0"/>
              </a:rPr>
              <a:t>)) </a:t>
            </a:r>
          </a:p>
          <a:p>
            <a:pPr>
              <a:lnSpc>
                <a:spcPct val="114000"/>
              </a:lnSpc>
            </a:pPr>
            <a:r>
              <a:rPr lang="en-AE" dirty="0">
                <a:solidFill>
                  <a:srgbClr val="787878"/>
                </a:solidFill>
                <a:latin typeface="Consolas" panose="020B0609020204030204" pitchFamily="49" charset="0"/>
              </a:rPr>
              <a:t>	{</a:t>
            </a:r>
          </a:p>
          <a:p>
            <a:pPr>
              <a:lnSpc>
                <a:spcPct val="114000"/>
              </a:lnSpc>
            </a:pPr>
            <a:r>
              <a:rPr lang="en-US" b="1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		</a:t>
            </a:r>
            <a:r>
              <a:rPr lang="en-US" b="1" dirty="0">
                <a:solidFill>
                  <a:srgbClr val="000000"/>
                </a:solidFill>
                <a:highlight>
                  <a:srgbClr val="FFFF00"/>
                </a:highlight>
                <a:ea typeface="Times New Roman" panose="02020603050405020304" pitchFamily="18" charset="0"/>
                <a:cs typeface="Calibri" panose="020F0502020204030204" pitchFamily="34" charset="0"/>
              </a:rPr>
              <a:t>Scenario 1: Placement</a:t>
            </a:r>
            <a:r>
              <a:rPr lang="en-US" dirty="0">
                <a:highlight>
                  <a:srgbClr val="FFFF00"/>
                </a:highlight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PAGE FAULT HANDLER – LRU Placement</a:t>
            </a:r>
            <a:endParaRPr lang="en-US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" algn="just">
              <a:lnSpc>
                <a:spcPct val="114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		</a:t>
            </a:r>
            <a:r>
              <a:rPr lang="en-US" sz="2000" b="1" dirty="0">
                <a:solidFill>
                  <a:srgbClr val="7F9FBF"/>
                </a:solidFill>
                <a:latin typeface="Consolas" panose="020B0609020204030204" pitchFamily="49" charset="0"/>
              </a:rPr>
              <a:t>//Handle the following TWO cases:</a:t>
            </a:r>
          </a:p>
          <a:p>
            <a:pPr marL="228600" algn="just">
              <a:lnSpc>
                <a:spcPct val="114000"/>
              </a:lnSpc>
            </a:pP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		1. If active list is FULL, move the overflow element to the 2</a:t>
            </a:r>
            <a:r>
              <a:rPr lang="en-US" b="1" baseline="30000" dirty="0">
                <a:solidFill>
                  <a:srgbClr val="008000"/>
                </a:solidFill>
                <a:latin typeface="Consolas" panose="020B0609020204030204" pitchFamily="49" charset="0"/>
              </a:rPr>
              <a:t>nd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 list</a:t>
            </a:r>
          </a:p>
          <a:p>
            <a:pPr marL="228600" algn="just">
              <a:lnSpc>
                <a:spcPct val="114000"/>
              </a:lnSpc>
            </a:pP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		2. If the faulted page in the 2</a:t>
            </a:r>
            <a:r>
              <a:rPr lang="en-US" b="1" baseline="30000" dirty="0">
                <a:solidFill>
                  <a:srgbClr val="008000"/>
                </a:solidFill>
                <a:latin typeface="Consolas" panose="020B0609020204030204" pitchFamily="49" charset="0"/>
              </a:rPr>
              <a:t>nd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 list, move it to the active list &amp; 					handle the overflow</a:t>
            </a:r>
          </a:p>
          <a:p>
            <a:pPr marL="0" lvl="1" algn="just">
              <a:lnSpc>
                <a:spcPct val="114000"/>
              </a:lnSpc>
            </a:pPr>
            <a:r>
              <a:rPr lang="en-AE" dirty="0">
                <a:solidFill>
                  <a:srgbClr val="787878"/>
                </a:solidFill>
                <a:latin typeface="Consolas" panose="020B0609020204030204" pitchFamily="49" charset="0"/>
              </a:rPr>
              <a:t>   	}</a:t>
            </a:r>
            <a:endParaRPr lang="en-AE" dirty="0">
              <a:solidFill>
                <a:srgbClr val="0066FF"/>
              </a:solidFill>
              <a:latin typeface="Consolas" panose="020B0609020204030204" pitchFamily="49" charset="0"/>
            </a:endParaRPr>
          </a:p>
          <a:p>
            <a:pPr>
              <a:lnSpc>
                <a:spcPct val="114000"/>
              </a:lnSpc>
            </a:pPr>
            <a:r>
              <a:rPr lang="en-AE" dirty="0">
                <a:solidFill>
                  <a:srgbClr val="787878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Rectangle 900">
            <a:extLst>
              <a:ext uri="{FF2B5EF4-FFF2-40B4-BE49-F238E27FC236}">
                <a16:creationId xmlns:a16="http://schemas.microsoft.com/office/drawing/2014/main" id="{4544FAEF-5337-F2A5-E4C3-6524A6D116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4802" y="20320"/>
            <a:ext cx="1696403" cy="1702661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18000" tIns="45720" rIns="1800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AE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" panose="020B0604020202020204" pitchFamily="34" charset="0"/>
              </a:rPr>
              <a:t>Page Placement </a:t>
            </a: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C2ECBEA-14BE-BAAB-FDA7-14795927F4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0741" y="446703"/>
            <a:ext cx="398936" cy="450413"/>
          </a:xfrm>
          <a:prstGeom prst="rect">
            <a:avLst/>
          </a:prstGeom>
        </p:spPr>
      </p:pic>
      <p:sp>
        <p:nvSpPr>
          <p:cNvPr id="14" name="AutoShape 919">
            <a:extLst>
              <a:ext uri="{FF2B5EF4-FFF2-40B4-BE49-F238E27FC236}">
                <a16:creationId xmlns:a16="http://schemas.microsoft.com/office/drawing/2014/main" id="{5BC0A3DA-AF89-8196-E1B7-07B276C995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2527" y="696295"/>
            <a:ext cx="335593" cy="199252"/>
          </a:xfrm>
          <a:prstGeom prst="leftArrow">
            <a:avLst>
              <a:gd name="adj1" fmla="val 50000"/>
              <a:gd name="adj2" fmla="val 53736"/>
            </a:avLst>
          </a:prstGeom>
          <a:gradFill rotWithShape="1">
            <a:gsLst>
              <a:gs pos="0">
                <a:srgbClr val="590000"/>
              </a:gs>
              <a:gs pos="50000">
                <a:srgbClr val="C00000"/>
              </a:gs>
              <a:gs pos="100000">
                <a:srgbClr val="5900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C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E"/>
          </a:p>
        </p:txBody>
      </p:sp>
      <p:grpSp>
        <p:nvGrpSpPr>
          <p:cNvPr id="15" name="Group 4">
            <a:extLst>
              <a:ext uri="{FF2B5EF4-FFF2-40B4-BE49-F238E27FC236}">
                <a16:creationId xmlns:a16="http://schemas.microsoft.com/office/drawing/2014/main" id="{23AF78D6-DBB6-944A-C38A-4AE22373FEE7}"/>
              </a:ext>
            </a:extLst>
          </p:cNvPr>
          <p:cNvGrpSpPr>
            <a:grpSpLocks/>
          </p:cNvGrpSpPr>
          <p:nvPr/>
        </p:nvGrpSpPr>
        <p:grpSpPr bwMode="auto">
          <a:xfrm>
            <a:off x="8813006" y="353536"/>
            <a:ext cx="297497" cy="511175"/>
            <a:chOff x="6565" y="9543"/>
            <a:chExt cx="722" cy="806"/>
          </a:xfrm>
        </p:grpSpPr>
        <p:sp>
          <p:nvSpPr>
            <p:cNvPr id="16" name="Rectangle 814">
              <a:extLst>
                <a:ext uri="{FF2B5EF4-FFF2-40B4-BE49-F238E27FC236}">
                  <a16:creationId xmlns:a16="http://schemas.microsoft.com/office/drawing/2014/main" id="{FE766004-C97A-C034-A13D-AD568EDDD5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8" y="9945"/>
              <a:ext cx="719" cy="200"/>
            </a:xfrm>
            <a:prstGeom prst="rect">
              <a:avLst/>
            </a:prstGeom>
            <a:solidFill>
              <a:srgbClr val="31E923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8A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AE"/>
            </a:p>
          </p:txBody>
        </p:sp>
        <p:sp>
          <p:nvSpPr>
            <p:cNvPr id="17" name="Rectangle 815">
              <a:extLst>
                <a:ext uri="{FF2B5EF4-FFF2-40B4-BE49-F238E27FC236}">
                  <a16:creationId xmlns:a16="http://schemas.microsoft.com/office/drawing/2014/main" id="{6AAA07FF-21F0-572D-B616-0964879133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8" y="9543"/>
              <a:ext cx="719" cy="200"/>
            </a:xfrm>
            <a:prstGeom prst="rect">
              <a:avLst/>
            </a:prstGeom>
            <a:solidFill>
              <a:srgbClr val="31E923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8A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AE"/>
            </a:p>
          </p:txBody>
        </p:sp>
        <p:sp>
          <p:nvSpPr>
            <p:cNvPr id="18" name="Rectangle 816">
              <a:extLst>
                <a:ext uri="{FF2B5EF4-FFF2-40B4-BE49-F238E27FC236}">
                  <a16:creationId xmlns:a16="http://schemas.microsoft.com/office/drawing/2014/main" id="{DBC22EF4-C466-C2F3-5F02-8642480903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8" y="9743"/>
              <a:ext cx="719" cy="201"/>
            </a:xfrm>
            <a:prstGeom prst="rect">
              <a:avLst/>
            </a:prstGeom>
            <a:solidFill>
              <a:srgbClr val="31E923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8A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AE"/>
            </a:p>
          </p:txBody>
        </p:sp>
        <p:sp>
          <p:nvSpPr>
            <p:cNvPr id="19" name="Rectangle 814">
              <a:extLst>
                <a:ext uri="{FF2B5EF4-FFF2-40B4-BE49-F238E27FC236}">
                  <a16:creationId xmlns:a16="http://schemas.microsoft.com/office/drawing/2014/main" id="{6E54DA40-5383-5D33-E7F9-9F2AFE4412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5" y="10149"/>
              <a:ext cx="719" cy="200"/>
            </a:xfrm>
            <a:prstGeom prst="rect">
              <a:avLst/>
            </a:prstGeom>
            <a:solidFill>
              <a:srgbClr val="31E923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8A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AE"/>
            </a:p>
          </p:txBody>
        </p:sp>
      </p:grpSp>
      <p:grpSp>
        <p:nvGrpSpPr>
          <p:cNvPr id="20" name="Group 4">
            <a:extLst>
              <a:ext uri="{FF2B5EF4-FFF2-40B4-BE49-F238E27FC236}">
                <a16:creationId xmlns:a16="http://schemas.microsoft.com/office/drawing/2014/main" id="{3839F050-0EDD-CE14-D2DA-63EE6C11BDAC}"/>
              </a:ext>
            </a:extLst>
          </p:cNvPr>
          <p:cNvGrpSpPr>
            <a:grpSpLocks/>
          </p:cNvGrpSpPr>
          <p:nvPr/>
        </p:nvGrpSpPr>
        <p:grpSpPr bwMode="auto">
          <a:xfrm>
            <a:off x="8613650" y="1116101"/>
            <a:ext cx="297497" cy="511175"/>
            <a:chOff x="6565" y="9543"/>
            <a:chExt cx="722" cy="806"/>
          </a:xfrm>
        </p:grpSpPr>
        <p:sp>
          <p:nvSpPr>
            <p:cNvPr id="21" name="Rectangle 814">
              <a:extLst>
                <a:ext uri="{FF2B5EF4-FFF2-40B4-BE49-F238E27FC236}">
                  <a16:creationId xmlns:a16="http://schemas.microsoft.com/office/drawing/2014/main" id="{E3893C1E-310A-58F1-3680-1ED4DCD46A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8" y="9945"/>
              <a:ext cx="719" cy="200"/>
            </a:xfrm>
            <a:prstGeom prst="rect">
              <a:avLst/>
            </a:prstGeom>
            <a:solidFill>
              <a:srgbClr val="31E923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8A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AE"/>
            </a:p>
          </p:txBody>
        </p:sp>
        <p:sp>
          <p:nvSpPr>
            <p:cNvPr id="22" name="Rectangle 815">
              <a:extLst>
                <a:ext uri="{FF2B5EF4-FFF2-40B4-BE49-F238E27FC236}">
                  <a16:creationId xmlns:a16="http://schemas.microsoft.com/office/drawing/2014/main" id="{EF462635-AEC7-1E0D-D18C-F8335D03C7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8" y="9543"/>
              <a:ext cx="719" cy="200"/>
            </a:xfrm>
            <a:prstGeom prst="rect">
              <a:avLst/>
            </a:prstGeom>
            <a:solidFill>
              <a:srgbClr val="31E923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8A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AE"/>
            </a:p>
          </p:txBody>
        </p:sp>
        <p:sp>
          <p:nvSpPr>
            <p:cNvPr id="23" name="Rectangle 816">
              <a:extLst>
                <a:ext uri="{FF2B5EF4-FFF2-40B4-BE49-F238E27FC236}">
                  <a16:creationId xmlns:a16="http://schemas.microsoft.com/office/drawing/2014/main" id="{B3D41B37-4FD5-381D-B4EF-7A090F3B5B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8" y="9743"/>
              <a:ext cx="719" cy="201"/>
            </a:xfrm>
            <a:prstGeom prst="rect">
              <a:avLst/>
            </a:prstGeom>
            <a:solidFill>
              <a:srgbClr val="31E923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8A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AE"/>
            </a:p>
          </p:txBody>
        </p:sp>
        <p:sp>
          <p:nvSpPr>
            <p:cNvPr id="24" name="Rectangle 814">
              <a:extLst>
                <a:ext uri="{FF2B5EF4-FFF2-40B4-BE49-F238E27FC236}">
                  <a16:creationId xmlns:a16="http://schemas.microsoft.com/office/drawing/2014/main" id="{D794B1BD-4595-2151-56B0-9EBF3583D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5" y="10149"/>
              <a:ext cx="719" cy="200"/>
            </a:xfrm>
            <a:prstGeom prst="rect">
              <a:avLst/>
            </a:prstGeom>
            <a:solidFill>
              <a:srgbClr val="31E923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8A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AE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4F6B323D-6E3E-0907-1BD6-8A1922988F94}"/>
              </a:ext>
            </a:extLst>
          </p:cNvPr>
          <p:cNvSpPr txBox="1"/>
          <p:nvPr/>
        </p:nvSpPr>
        <p:spPr>
          <a:xfrm>
            <a:off x="8940335" y="853485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OR</a:t>
            </a:r>
            <a:endParaRPr lang="en-AE" sz="1400" b="1" dirty="0"/>
          </a:p>
        </p:txBody>
      </p:sp>
      <p:grpSp>
        <p:nvGrpSpPr>
          <p:cNvPr id="27" name="Group 4">
            <a:extLst>
              <a:ext uri="{FF2B5EF4-FFF2-40B4-BE49-F238E27FC236}">
                <a16:creationId xmlns:a16="http://schemas.microsoft.com/office/drawing/2014/main" id="{099CDD62-B8AB-45B5-DA3F-EA58DCBF027F}"/>
              </a:ext>
            </a:extLst>
          </p:cNvPr>
          <p:cNvGrpSpPr>
            <a:grpSpLocks/>
          </p:cNvGrpSpPr>
          <p:nvPr/>
        </p:nvGrpSpPr>
        <p:grpSpPr bwMode="auto">
          <a:xfrm>
            <a:off x="9532580" y="1136208"/>
            <a:ext cx="297497" cy="384333"/>
            <a:chOff x="6565" y="9743"/>
            <a:chExt cx="722" cy="606"/>
          </a:xfrm>
        </p:grpSpPr>
        <p:sp>
          <p:nvSpPr>
            <p:cNvPr id="28" name="Rectangle 814">
              <a:extLst>
                <a:ext uri="{FF2B5EF4-FFF2-40B4-BE49-F238E27FC236}">
                  <a16:creationId xmlns:a16="http://schemas.microsoft.com/office/drawing/2014/main" id="{6F2A21DB-5575-2B4F-4463-BC290D1535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8" y="9945"/>
              <a:ext cx="719" cy="200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8A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AE"/>
            </a:p>
          </p:txBody>
        </p:sp>
        <p:sp>
          <p:nvSpPr>
            <p:cNvPr id="30" name="Rectangle 816">
              <a:extLst>
                <a:ext uri="{FF2B5EF4-FFF2-40B4-BE49-F238E27FC236}">
                  <a16:creationId xmlns:a16="http://schemas.microsoft.com/office/drawing/2014/main" id="{7718A2EE-9F5F-7AC5-2997-7E6DF6E4EB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8" y="9743"/>
              <a:ext cx="719" cy="201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8A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AE"/>
            </a:p>
          </p:txBody>
        </p:sp>
        <p:sp>
          <p:nvSpPr>
            <p:cNvPr id="31" name="Rectangle 814">
              <a:extLst>
                <a:ext uri="{FF2B5EF4-FFF2-40B4-BE49-F238E27FC236}">
                  <a16:creationId xmlns:a16="http://schemas.microsoft.com/office/drawing/2014/main" id="{0132FEF2-2B0E-0755-5736-0CD8197459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5" y="10149"/>
              <a:ext cx="719" cy="200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8A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AE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CBA6CA2-33F4-7FA2-F7E8-4B8CDB36C546}"/>
              </a:ext>
            </a:extLst>
          </p:cNvPr>
          <p:cNvGrpSpPr/>
          <p:nvPr/>
        </p:nvGrpSpPr>
        <p:grpSpPr>
          <a:xfrm>
            <a:off x="8317879" y="416957"/>
            <a:ext cx="507939" cy="432709"/>
            <a:chOff x="7368754" y="416957"/>
            <a:chExt cx="507939" cy="432709"/>
          </a:xfrm>
        </p:grpSpPr>
        <p:grpSp>
          <p:nvGrpSpPr>
            <p:cNvPr id="59" name="Group 4">
              <a:extLst>
                <a:ext uri="{FF2B5EF4-FFF2-40B4-BE49-F238E27FC236}">
                  <a16:creationId xmlns:a16="http://schemas.microsoft.com/office/drawing/2014/main" id="{2D65C330-14ED-BFDD-A6A6-CB34A9435F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68754" y="465333"/>
              <a:ext cx="297497" cy="384333"/>
              <a:chOff x="6565" y="9743"/>
              <a:chExt cx="722" cy="606"/>
            </a:xfrm>
          </p:grpSpPr>
          <p:sp>
            <p:nvSpPr>
              <p:cNvPr id="60" name="Rectangle 814">
                <a:extLst>
                  <a:ext uri="{FF2B5EF4-FFF2-40B4-BE49-F238E27FC236}">
                    <a16:creationId xmlns:a16="http://schemas.microsoft.com/office/drawing/2014/main" id="{3196B308-7690-AEB6-F8BC-D1D102576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68" y="9945"/>
                <a:ext cx="719" cy="20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8A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AE"/>
              </a:p>
            </p:txBody>
          </p:sp>
          <p:sp>
            <p:nvSpPr>
              <p:cNvPr id="61" name="Rectangle 816">
                <a:extLst>
                  <a:ext uri="{FF2B5EF4-FFF2-40B4-BE49-F238E27FC236}">
                    <a16:creationId xmlns:a16="http://schemas.microsoft.com/office/drawing/2014/main" id="{5FA0434B-05E8-C78F-4B29-6BED482051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68" y="9743"/>
                <a:ext cx="719" cy="201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8A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AE"/>
              </a:p>
            </p:txBody>
          </p:sp>
          <p:sp>
            <p:nvSpPr>
              <p:cNvPr id="62" name="Rectangle 814">
                <a:extLst>
                  <a:ext uri="{FF2B5EF4-FFF2-40B4-BE49-F238E27FC236}">
                    <a16:creationId xmlns:a16="http://schemas.microsoft.com/office/drawing/2014/main" id="{96AA71C2-AA8E-446C-4EC1-188FAE9D7E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65" y="10149"/>
                <a:ext cx="719" cy="20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8A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AE"/>
              </a:p>
            </p:txBody>
          </p:sp>
        </p:grpSp>
        <p:cxnSp>
          <p:nvCxnSpPr>
            <p:cNvPr id="63" name="Connector: Curved 62">
              <a:extLst>
                <a:ext uri="{FF2B5EF4-FFF2-40B4-BE49-F238E27FC236}">
                  <a16:creationId xmlns:a16="http://schemas.microsoft.com/office/drawing/2014/main" id="{94C04DBC-879E-5E7C-F0F9-743416EB731C}"/>
                </a:ext>
              </a:extLst>
            </p:cNvPr>
            <p:cNvCxnSpPr>
              <a:cxnSpLocks/>
              <a:stCxn id="17" idx="1"/>
              <a:endCxn id="62" idx="3"/>
            </p:cNvCxnSpPr>
            <p:nvPr/>
          </p:nvCxnSpPr>
          <p:spPr>
            <a:xfrm rot="10800000" flipV="1">
              <a:off x="7665016" y="416957"/>
              <a:ext cx="211677" cy="369288"/>
            </a:xfrm>
            <a:prstGeom prst="curvedConnector3">
              <a:avLst>
                <a:gd name="adj1" fmla="val 50000"/>
              </a:avLst>
            </a:prstGeom>
            <a:ln>
              <a:prstDash val="sysDash"/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66" name="AutoShape 919">
            <a:extLst>
              <a:ext uri="{FF2B5EF4-FFF2-40B4-BE49-F238E27FC236}">
                <a16:creationId xmlns:a16="http://schemas.microsoft.com/office/drawing/2014/main" id="{CF21C48B-EB64-957E-12B0-DC775944DB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3467" y="1280207"/>
            <a:ext cx="335593" cy="199252"/>
          </a:xfrm>
          <a:prstGeom prst="leftArrow">
            <a:avLst>
              <a:gd name="adj1" fmla="val 50000"/>
              <a:gd name="adj2" fmla="val 53736"/>
            </a:avLst>
          </a:prstGeom>
          <a:gradFill rotWithShape="1">
            <a:gsLst>
              <a:gs pos="0">
                <a:srgbClr val="590000"/>
              </a:gs>
              <a:gs pos="50000">
                <a:srgbClr val="C00000"/>
              </a:gs>
              <a:gs pos="100000">
                <a:srgbClr val="5900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C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E"/>
          </a:p>
        </p:txBody>
      </p:sp>
      <p:cxnSp>
        <p:nvCxnSpPr>
          <p:cNvPr id="67" name="Connector: Curved 66">
            <a:extLst>
              <a:ext uri="{FF2B5EF4-FFF2-40B4-BE49-F238E27FC236}">
                <a16:creationId xmlns:a16="http://schemas.microsoft.com/office/drawing/2014/main" id="{1EC0B8F8-FB22-1A4B-400B-513176E3207E}"/>
              </a:ext>
            </a:extLst>
          </p:cNvPr>
          <p:cNvCxnSpPr>
            <a:cxnSpLocks/>
            <a:stCxn id="22" idx="1"/>
            <a:endCxn id="31" idx="2"/>
          </p:cNvCxnSpPr>
          <p:nvPr/>
        </p:nvCxnSpPr>
        <p:spPr>
          <a:xfrm rot="10800000" flipH="1" flipV="1">
            <a:off x="8614885" y="1179521"/>
            <a:ext cx="1065825" cy="341019"/>
          </a:xfrm>
          <a:prstGeom prst="curvedConnector4">
            <a:avLst>
              <a:gd name="adj1" fmla="val -30027"/>
              <a:gd name="adj2" fmla="val 144689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9375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7" dur="1250" fill="hold"/>
                                        <p:tgtEl>
                                          <p:spTgt spid="2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6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490C5-D3DA-E51B-31A1-765265A27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B93AE-152E-C075-C139-B5E0F7383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#3:</a:t>
            </a:r>
            <a:r>
              <a:rPr lang="en-US" dirty="0"/>
              <a:t> LRU Replacement</a:t>
            </a:r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721B5-1BAC-7A40-B76F-E0B5D84D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23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16F230-A80F-19F8-6B24-6861811154E3}"/>
              </a:ext>
            </a:extLst>
          </p:cNvPr>
          <p:cNvSpPr txBox="1"/>
          <p:nvPr/>
        </p:nvSpPr>
        <p:spPr>
          <a:xfrm>
            <a:off x="1097279" y="1875208"/>
            <a:ext cx="10380346" cy="469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page_fault_handler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Env </a:t>
            </a:r>
            <a:r>
              <a:rPr lang="en-US" sz="2400" b="1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curenv</a:t>
            </a:r>
            <a:r>
              <a:rPr lang="en-US" sz="2400" b="1" dirty="0">
                <a:solidFill>
                  <a:srgbClr val="A36622"/>
                </a:solidFill>
                <a:latin typeface="Consolas" panose="020B0609020204030204" pitchFamily="49" charset="0"/>
              </a:rPr>
              <a:t>,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535353"/>
                </a:solidFill>
                <a:latin typeface="Consolas" panose="020B0609020204030204" pitchFamily="49" charset="0"/>
              </a:rPr>
              <a:t>uint32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fault_va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  <a:endParaRPr lang="en-AE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E25BB3-BE11-D6E9-1B40-F7F33975AB88}"/>
              </a:ext>
            </a:extLst>
          </p:cNvPr>
          <p:cNvSpPr txBox="1"/>
          <p:nvPr/>
        </p:nvSpPr>
        <p:spPr>
          <a:xfrm>
            <a:off x="1097278" y="2385647"/>
            <a:ext cx="10380346" cy="36166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lvl="1" algn="just">
              <a:lnSpc>
                <a:spcPct val="114000"/>
              </a:lnSpc>
            </a:pPr>
            <a:r>
              <a:rPr lang="en-AE" sz="2000" dirty="0">
                <a:solidFill>
                  <a:srgbClr val="0066FF"/>
                </a:solidFill>
                <a:latin typeface="Consolas" panose="020B0609020204030204" pitchFamily="49" charset="0"/>
              </a:rPr>
              <a:t>...</a:t>
            </a:r>
          </a:p>
          <a:p>
            <a:pPr marL="0" lvl="1" algn="just">
              <a:lnSpc>
                <a:spcPct val="114000"/>
              </a:lnSpc>
            </a:pPr>
            <a:r>
              <a:rPr lang="en-AE" sz="2000" dirty="0">
                <a:solidFill>
                  <a:srgbClr val="0066FF"/>
                </a:solidFill>
                <a:latin typeface="Consolas" panose="020B0609020204030204" pitchFamily="49" charset="0"/>
              </a:rPr>
              <a:t>else</a:t>
            </a:r>
            <a:r>
              <a:rPr lang="en-US" sz="2000" dirty="0">
                <a:ea typeface="Times New Roman" panose="02020603050405020304" pitchFamily="18" charset="0"/>
                <a:cs typeface="Calibri" panose="020F0502020204030204" pitchFamily="34" charset="0"/>
              </a:rPr>
              <a:t> 			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//the size of both WS Lists == max total size, then do</a:t>
            </a:r>
          </a:p>
          <a:p>
            <a:pPr marL="0" lvl="1" algn="just">
              <a:lnSpc>
                <a:spcPct val="114000"/>
              </a:lnSpc>
            </a:pPr>
            <a:r>
              <a:rPr lang="en-AE" dirty="0">
                <a:solidFill>
                  <a:srgbClr val="787878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14000"/>
              </a:lnSpc>
            </a:pPr>
            <a:r>
              <a:rPr lang="en-US" dirty="0">
                <a:solidFill>
                  <a:srgbClr val="0037CD"/>
                </a:solidFill>
                <a:latin typeface="Consolas" panose="020B0609020204030204" pitchFamily="49" charset="0"/>
              </a:rPr>
              <a:t>	if</a:t>
            </a:r>
            <a:r>
              <a:rPr lang="en-US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isPageReplacmentAlgorithmFIFO</a:t>
            </a:r>
            <a:r>
              <a:rPr lang="en-US" b="1" dirty="0">
                <a:solidFill>
                  <a:srgbClr val="787878"/>
                </a:solidFill>
                <a:latin typeface="Consolas" panose="020B0609020204030204" pitchFamily="49" charset="0"/>
              </a:rPr>
              <a:t>())</a:t>
            </a:r>
          </a:p>
          <a:p>
            <a:pPr>
              <a:lnSpc>
                <a:spcPct val="114000"/>
              </a:lnSpc>
            </a:pPr>
            <a:r>
              <a:rPr lang="en-AE" dirty="0">
                <a:solidFill>
                  <a:srgbClr val="787878"/>
                </a:solidFill>
                <a:latin typeface="Consolas" panose="020B0609020204030204" pitchFamily="49" charset="0"/>
              </a:rPr>
              <a:t>	{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0037CD"/>
                </a:solidFill>
                <a:latin typeface="Consolas" panose="020B0609020204030204" pitchFamily="49" charset="0"/>
              </a:rPr>
              <a:t>...</a:t>
            </a:r>
            <a:r>
              <a:rPr lang="en-US" dirty="0">
                <a:solidFill>
                  <a:srgbClr val="787878"/>
                </a:solidFill>
                <a:latin typeface="Consolas" panose="020B0609020204030204" pitchFamily="49" charset="0"/>
              </a:rPr>
              <a:t>}</a:t>
            </a:r>
            <a:endParaRPr lang="en-US" dirty="0">
              <a:solidFill>
                <a:srgbClr val="0037CD"/>
              </a:solidFill>
              <a:latin typeface="Consolas" panose="020B0609020204030204" pitchFamily="49" charset="0"/>
            </a:endParaRPr>
          </a:p>
          <a:p>
            <a:pPr>
              <a:lnSpc>
                <a:spcPct val="114000"/>
              </a:lnSpc>
            </a:pPr>
            <a:r>
              <a:rPr lang="en-US" dirty="0">
                <a:solidFill>
                  <a:srgbClr val="0037CD"/>
                </a:solidFill>
                <a:latin typeface="Consolas" panose="020B0609020204030204" pitchFamily="49" charset="0"/>
              </a:rPr>
              <a:t>	else if</a:t>
            </a:r>
            <a:r>
              <a:rPr lang="en-US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isPageReplacmentAlgorithmLRU</a:t>
            </a:r>
            <a:r>
              <a:rPr lang="en-US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b="1" i="1" dirty="0">
                <a:solidFill>
                  <a:srgbClr val="535353"/>
                </a:solidFill>
                <a:latin typeface="Consolas" panose="020B0609020204030204" pitchFamily="49" charset="0"/>
              </a:rPr>
              <a:t>PG_REP_LRU_LISTS_APPROX</a:t>
            </a:r>
            <a:r>
              <a:rPr lang="en-US" b="1" i="1" dirty="0">
                <a:solidFill>
                  <a:srgbClr val="787878"/>
                </a:solidFill>
                <a:latin typeface="Consolas" panose="020B0609020204030204" pitchFamily="49" charset="0"/>
              </a:rPr>
              <a:t>)) </a:t>
            </a:r>
          </a:p>
          <a:p>
            <a:pPr>
              <a:lnSpc>
                <a:spcPct val="114000"/>
              </a:lnSpc>
            </a:pPr>
            <a:r>
              <a:rPr lang="en-AE" dirty="0">
                <a:solidFill>
                  <a:srgbClr val="787878"/>
                </a:solidFill>
                <a:latin typeface="Consolas" panose="020B0609020204030204" pitchFamily="49" charset="0"/>
              </a:rPr>
              <a:t>	{</a:t>
            </a:r>
            <a:endParaRPr lang="en-US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" algn="just">
              <a:lnSpc>
                <a:spcPct val="114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		</a:t>
            </a:r>
            <a:r>
              <a:rPr lang="en-US" b="1" dirty="0">
                <a:solidFill>
                  <a:srgbClr val="000000"/>
                </a:solidFill>
                <a:highlight>
                  <a:srgbClr val="F79646"/>
                </a:highlight>
                <a:ea typeface="Times New Roman" panose="02020603050405020304" pitchFamily="18" charset="0"/>
                <a:cs typeface="Calibri" panose="020F0502020204030204" pitchFamily="34" charset="0"/>
              </a:rPr>
              <a:t>Scenario 2: LRU Replacement</a:t>
            </a:r>
            <a:endParaRPr lang="en-US" dirty="0">
              <a:highlight>
                <a:srgbClr val="F79646"/>
              </a:highlight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1" algn="just">
              <a:lnSpc>
                <a:spcPct val="114000"/>
              </a:lnSpc>
            </a:pPr>
            <a:r>
              <a:rPr lang="en-AE" dirty="0">
                <a:solidFill>
                  <a:srgbClr val="787878"/>
                </a:solidFill>
                <a:latin typeface="Consolas" panose="020B0609020204030204" pitchFamily="49" charset="0"/>
              </a:rPr>
              <a:t>     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b="1" dirty="0">
                <a:solidFill>
                  <a:srgbClr val="7F9FBF"/>
                </a:solidFill>
                <a:latin typeface="Consolas" panose="020B0609020204030204" pitchFamily="49" charset="0"/>
              </a:rPr>
              <a:t>TODO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: PAGE FAULT HANDLER - LRU Replacement</a:t>
            </a:r>
          </a:p>
          <a:p>
            <a:pPr marL="0" lvl="1" algn="just">
              <a:lnSpc>
                <a:spcPct val="114000"/>
              </a:lnSpc>
            </a:pPr>
            <a:r>
              <a:rPr lang="en-AE" dirty="0">
                <a:solidFill>
                  <a:srgbClr val="787878"/>
                </a:solidFill>
                <a:latin typeface="Consolas" panose="020B0609020204030204" pitchFamily="49" charset="0"/>
              </a:rPr>
              <a:t>   	}</a:t>
            </a:r>
            <a:endParaRPr lang="en-AE" dirty="0">
              <a:solidFill>
                <a:srgbClr val="0066FF"/>
              </a:solidFill>
              <a:latin typeface="Consolas" panose="020B0609020204030204" pitchFamily="49" charset="0"/>
            </a:endParaRPr>
          </a:p>
          <a:p>
            <a:pPr>
              <a:lnSpc>
                <a:spcPct val="114000"/>
              </a:lnSpc>
            </a:pPr>
            <a:r>
              <a:rPr lang="en-AE" dirty="0">
                <a:solidFill>
                  <a:srgbClr val="787878"/>
                </a:solidFill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9B359A7-D125-C700-C429-E70D5EDCBB0A}"/>
              </a:ext>
            </a:extLst>
          </p:cNvPr>
          <p:cNvGrpSpPr/>
          <p:nvPr/>
        </p:nvGrpSpPr>
        <p:grpSpPr>
          <a:xfrm>
            <a:off x="8286376" y="20320"/>
            <a:ext cx="1696403" cy="1702661"/>
            <a:chOff x="8286376" y="20320"/>
            <a:chExt cx="1696403" cy="1702661"/>
          </a:xfrm>
        </p:grpSpPr>
        <p:sp>
          <p:nvSpPr>
            <p:cNvPr id="11" name="Rectangle 900">
              <a:extLst>
                <a:ext uri="{FF2B5EF4-FFF2-40B4-BE49-F238E27FC236}">
                  <a16:creationId xmlns:a16="http://schemas.microsoft.com/office/drawing/2014/main" id="{53EA8FC8-858B-5FAC-3B2B-769E9C7DC1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6376" y="20320"/>
              <a:ext cx="1696403" cy="1702661"/>
            </a:xfrm>
            <a:prstGeom prst="rect">
              <a:avLst/>
            </a:prstGeom>
            <a:solidFill>
              <a:srgbClr val="FFFFFF"/>
            </a:solidFill>
            <a:ln w="317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8000" tIns="45720" rIns="1800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</a:pPr>
              <a:r>
                <a:rPr kumimoji="0" lang="en-AE" altLang="en-US" sz="15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j-lt"/>
                  <a:ea typeface="Arial" panose="020B0604020202020204" pitchFamily="34" charset="0"/>
                </a:rPr>
                <a:t>Page Placement </a:t>
              </a:r>
              <a:endPara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1C43BFD-1FEE-8B38-B1BC-1CAD50CA1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12315" y="446703"/>
              <a:ext cx="398936" cy="450413"/>
            </a:xfrm>
            <a:prstGeom prst="rect">
              <a:avLst/>
            </a:prstGeom>
          </p:spPr>
        </p:pic>
        <p:sp>
          <p:nvSpPr>
            <p:cNvPr id="14" name="AutoShape 919">
              <a:extLst>
                <a:ext uri="{FF2B5EF4-FFF2-40B4-BE49-F238E27FC236}">
                  <a16:creationId xmlns:a16="http://schemas.microsoft.com/office/drawing/2014/main" id="{210E27C9-5EA5-4117-4856-1D11825E22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101" y="696295"/>
              <a:ext cx="335593" cy="199252"/>
            </a:xfrm>
            <a:prstGeom prst="leftArrow">
              <a:avLst>
                <a:gd name="adj1" fmla="val 50000"/>
                <a:gd name="adj2" fmla="val 53736"/>
              </a:avLst>
            </a:prstGeom>
            <a:gradFill rotWithShape="1">
              <a:gsLst>
                <a:gs pos="0">
                  <a:srgbClr val="590000"/>
                </a:gs>
                <a:gs pos="50000">
                  <a:srgbClr val="C00000"/>
                </a:gs>
                <a:gs pos="100000">
                  <a:srgbClr val="59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E"/>
            </a:p>
          </p:txBody>
        </p:sp>
        <p:grpSp>
          <p:nvGrpSpPr>
            <p:cNvPr id="15" name="Group 4">
              <a:extLst>
                <a:ext uri="{FF2B5EF4-FFF2-40B4-BE49-F238E27FC236}">
                  <a16:creationId xmlns:a16="http://schemas.microsoft.com/office/drawing/2014/main" id="{743D81A7-8854-E452-B053-36BFB62F03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824580" y="353536"/>
              <a:ext cx="297497" cy="511175"/>
              <a:chOff x="6565" y="9543"/>
              <a:chExt cx="722" cy="806"/>
            </a:xfrm>
          </p:grpSpPr>
          <p:sp>
            <p:nvSpPr>
              <p:cNvPr id="16" name="Rectangle 814">
                <a:extLst>
                  <a:ext uri="{FF2B5EF4-FFF2-40B4-BE49-F238E27FC236}">
                    <a16:creationId xmlns:a16="http://schemas.microsoft.com/office/drawing/2014/main" id="{03426E00-2190-42E2-0364-1596B20B4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68" y="9945"/>
                <a:ext cx="719" cy="200"/>
              </a:xfrm>
              <a:prstGeom prst="rect">
                <a:avLst/>
              </a:prstGeom>
              <a:solidFill>
                <a:srgbClr val="31E923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8A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AE"/>
              </a:p>
            </p:txBody>
          </p:sp>
          <p:sp>
            <p:nvSpPr>
              <p:cNvPr id="17" name="Rectangle 815">
                <a:extLst>
                  <a:ext uri="{FF2B5EF4-FFF2-40B4-BE49-F238E27FC236}">
                    <a16:creationId xmlns:a16="http://schemas.microsoft.com/office/drawing/2014/main" id="{DFF11728-F0E9-D870-F6E1-5BA280E0C3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68" y="9543"/>
                <a:ext cx="719" cy="200"/>
              </a:xfrm>
              <a:prstGeom prst="rect">
                <a:avLst/>
              </a:prstGeom>
              <a:solidFill>
                <a:srgbClr val="31E923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8A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AE"/>
              </a:p>
            </p:txBody>
          </p:sp>
          <p:sp>
            <p:nvSpPr>
              <p:cNvPr id="18" name="Rectangle 816">
                <a:extLst>
                  <a:ext uri="{FF2B5EF4-FFF2-40B4-BE49-F238E27FC236}">
                    <a16:creationId xmlns:a16="http://schemas.microsoft.com/office/drawing/2014/main" id="{92ABEB4C-5581-A5C4-4323-A0C7E02E18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68" y="9743"/>
                <a:ext cx="719" cy="201"/>
              </a:xfrm>
              <a:prstGeom prst="rect">
                <a:avLst/>
              </a:prstGeom>
              <a:solidFill>
                <a:srgbClr val="31E923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8A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AE"/>
              </a:p>
            </p:txBody>
          </p:sp>
          <p:sp>
            <p:nvSpPr>
              <p:cNvPr id="19" name="Rectangle 814">
                <a:extLst>
                  <a:ext uri="{FF2B5EF4-FFF2-40B4-BE49-F238E27FC236}">
                    <a16:creationId xmlns:a16="http://schemas.microsoft.com/office/drawing/2014/main" id="{A7945882-D311-AD90-7189-A90F31D8C8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65" y="10149"/>
                <a:ext cx="719" cy="200"/>
              </a:xfrm>
              <a:prstGeom prst="rect">
                <a:avLst/>
              </a:prstGeom>
              <a:solidFill>
                <a:srgbClr val="31E923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8A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AE"/>
              </a:p>
            </p:txBody>
          </p:sp>
        </p:grpSp>
        <p:grpSp>
          <p:nvGrpSpPr>
            <p:cNvPr id="20" name="Group 4">
              <a:extLst>
                <a:ext uri="{FF2B5EF4-FFF2-40B4-BE49-F238E27FC236}">
                  <a16:creationId xmlns:a16="http://schemas.microsoft.com/office/drawing/2014/main" id="{DAD6933C-98F7-64F2-5082-B5D451AC61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25224" y="1116101"/>
              <a:ext cx="297497" cy="511175"/>
              <a:chOff x="6565" y="9543"/>
              <a:chExt cx="722" cy="806"/>
            </a:xfrm>
          </p:grpSpPr>
          <p:sp>
            <p:nvSpPr>
              <p:cNvPr id="21" name="Rectangle 814">
                <a:extLst>
                  <a:ext uri="{FF2B5EF4-FFF2-40B4-BE49-F238E27FC236}">
                    <a16:creationId xmlns:a16="http://schemas.microsoft.com/office/drawing/2014/main" id="{1A312000-19D1-2376-FBF0-8C65C49F4F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68" y="9945"/>
                <a:ext cx="719" cy="200"/>
              </a:xfrm>
              <a:prstGeom prst="rect">
                <a:avLst/>
              </a:prstGeom>
              <a:solidFill>
                <a:srgbClr val="31E923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8A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AE"/>
              </a:p>
            </p:txBody>
          </p:sp>
          <p:sp>
            <p:nvSpPr>
              <p:cNvPr id="22" name="Rectangle 815">
                <a:extLst>
                  <a:ext uri="{FF2B5EF4-FFF2-40B4-BE49-F238E27FC236}">
                    <a16:creationId xmlns:a16="http://schemas.microsoft.com/office/drawing/2014/main" id="{3093010F-0CD5-E7CC-EA97-D9E4854F97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68" y="9543"/>
                <a:ext cx="719" cy="200"/>
              </a:xfrm>
              <a:prstGeom prst="rect">
                <a:avLst/>
              </a:prstGeom>
              <a:solidFill>
                <a:srgbClr val="31E923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8A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AE"/>
              </a:p>
            </p:txBody>
          </p:sp>
          <p:sp>
            <p:nvSpPr>
              <p:cNvPr id="23" name="Rectangle 816">
                <a:extLst>
                  <a:ext uri="{FF2B5EF4-FFF2-40B4-BE49-F238E27FC236}">
                    <a16:creationId xmlns:a16="http://schemas.microsoft.com/office/drawing/2014/main" id="{F28F2871-EFFD-C6BD-C07A-E8D1FEA3EA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68" y="9743"/>
                <a:ext cx="719" cy="201"/>
              </a:xfrm>
              <a:prstGeom prst="rect">
                <a:avLst/>
              </a:prstGeom>
              <a:solidFill>
                <a:srgbClr val="31E923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8A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AE"/>
              </a:p>
            </p:txBody>
          </p:sp>
          <p:sp>
            <p:nvSpPr>
              <p:cNvPr id="24" name="Rectangle 814">
                <a:extLst>
                  <a:ext uri="{FF2B5EF4-FFF2-40B4-BE49-F238E27FC236}">
                    <a16:creationId xmlns:a16="http://schemas.microsoft.com/office/drawing/2014/main" id="{64762857-5962-6615-4372-A43C758CD6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65" y="10149"/>
                <a:ext cx="719" cy="200"/>
              </a:xfrm>
              <a:prstGeom prst="rect">
                <a:avLst/>
              </a:prstGeom>
              <a:solidFill>
                <a:srgbClr val="31E923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8A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AE"/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CB4B49E-87C9-5D8B-6F6F-AA78CF91E80F}"/>
                </a:ext>
              </a:extLst>
            </p:cNvPr>
            <p:cNvSpPr txBox="1"/>
            <p:nvPr/>
          </p:nvSpPr>
          <p:spPr>
            <a:xfrm>
              <a:off x="8951909" y="853485"/>
              <a:ext cx="42832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OR</a:t>
              </a:r>
              <a:endParaRPr lang="en-AE" sz="1400" b="1" dirty="0"/>
            </a:p>
          </p:txBody>
        </p:sp>
        <p:grpSp>
          <p:nvGrpSpPr>
            <p:cNvPr id="27" name="Group 4">
              <a:extLst>
                <a:ext uri="{FF2B5EF4-FFF2-40B4-BE49-F238E27FC236}">
                  <a16:creationId xmlns:a16="http://schemas.microsoft.com/office/drawing/2014/main" id="{EB35F3E0-D157-6D1E-9EE8-25516F0F69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544154" y="1136208"/>
              <a:ext cx="297497" cy="384333"/>
              <a:chOff x="6565" y="9743"/>
              <a:chExt cx="722" cy="606"/>
            </a:xfrm>
          </p:grpSpPr>
          <p:sp>
            <p:nvSpPr>
              <p:cNvPr id="28" name="Rectangle 814">
                <a:extLst>
                  <a:ext uri="{FF2B5EF4-FFF2-40B4-BE49-F238E27FC236}">
                    <a16:creationId xmlns:a16="http://schemas.microsoft.com/office/drawing/2014/main" id="{C4F93B32-3893-A95C-4835-6EC38B1283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68" y="9945"/>
                <a:ext cx="719" cy="20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8A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AE"/>
              </a:p>
            </p:txBody>
          </p:sp>
          <p:sp>
            <p:nvSpPr>
              <p:cNvPr id="30" name="Rectangle 816">
                <a:extLst>
                  <a:ext uri="{FF2B5EF4-FFF2-40B4-BE49-F238E27FC236}">
                    <a16:creationId xmlns:a16="http://schemas.microsoft.com/office/drawing/2014/main" id="{73FCBD4E-07B9-856C-650A-E641AD3F7E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68" y="9743"/>
                <a:ext cx="719" cy="201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8A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AE"/>
              </a:p>
            </p:txBody>
          </p:sp>
          <p:sp>
            <p:nvSpPr>
              <p:cNvPr id="31" name="Rectangle 814">
                <a:extLst>
                  <a:ext uri="{FF2B5EF4-FFF2-40B4-BE49-F238E27FC236}">
                    <a16:creationId xmlns:a16="http://schemas.microsoft.com/office/drawing/2014/main" id="{9F10146F-E1AC-6CFA-C925-CA216C5ECF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65" y="10149"/>
                <a:ext cx="719" cy="20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8A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AE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0CECB86-E56E-01FD-0330-B4C9558E41FF}"/>
                </a:ext>
              </a:extLst>
            </p:cNvPr>
            <p:cNvGrpSpPr/>
            <p:nvPr/>
          </p:nvGrpSpPr>
          <p:grpSpPr>
            <a:xfrm>
              <a:off x="8329453" y="416957"/>
              <a:ext cx="507939" cy="432709"/>
              <a:chOff x="7368754" y="416957"/>
              <a:chExt cx="507939" cy="432709"/>
            </a:xfrm>
          </p:grpSpPr>
          <p:grpSp>
            <p:nvGrpSpPr>
              <p:cNvPr id="59" name="Group 4">
                <a:extLst>
                  <a:ext uri="{FF2B5EF4-FFF2-40B4-BE49-F238E27FC236}">
                    <a16:creationId xmlns:a16="http://schemas.microsoft.com/office/drawing/2014/main" id="{019A6473-189A-F166-999A-A28202F112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368754" y="465333"/>
                <a:ext cx="297497" cy="384333"/>
                <a:chOff x="6565" y="9743"/>
                <a:chExt cx="722" cy="606"/>
              </a:xfrm>
            </p:grpSpPr>
            <p:sp>
              <p:nvSpPr>
                <p:cNvPr id="60" name="Rectangle 814">
                  <a:extLst>
                    <a:ext uri="{FF2B5EF4-FFF2-40B4-BE49-F238E27FC236}">
                      <a16:creationId xmlns:a16="http://schemas.microsoft.com/office/drawing/2014/main" id="{A3441777-7BCC-DCD3-675D-81D3671448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568" y="9945"/>
                  <a:ext cx="719" cy="200"/>
                </a:xfrm>
                <a:prstGeom prst="rect">
                  <a:avLst/>
                </a:prstGeom>
                <a:solidFill>
                  <a:srgbClr val="FFFF00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00008A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AE"/>
                </a:p>
              </p:txBody>
            </p:sp>
            <p:sp>
              <p:nvSpPr>
                <p:cNvPr id="61" name="Rectangle 816">
                  <a:extLst>
                    <a:ext uri="{FF2B5EF4-FFF2-40B4-BE49-F238E27FC236}">
                      <a16:creationId xmlns:a16="http://schemas.microsoft.com/office/drawing/2014/main" id="{2AE43344-087E-0112-D79C-76361CF873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568" y="9743"/>
                  <a:ext cx="719" cy="201"/>
                </a:xfrm>
                <a:prstGeom prst="rect">
                  <a:avLst/>
                </a:prstGeom>
                <a:solidFill>
                  <a:srgbClr val="FFFF00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00008A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AE"/>
                </a:p>
              </p:txBody>
            </p:sp>
            <p:sp>
              <p:nvSpPr>
                <p:cNvPr id="62" name="Rectangle 814">
                  <a:extLst>
                    <a:ext uri="{FF2B5EF4-FFF2-40B4-BE49-F238E27FC236}">
                      <a16:creationId xmlns:a16="http://schemas.microsoft.com/office/drawing/2014/main" id="{C418D524-A543-0C99-3D44-B94CCDE442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565" y="10149"/>
                  <a:ext cx="719" cy="200"/>
                </a:xfrm>
                <a:prstGeom prst="rect">
                  <a:avLst/>
                </a:prstGeom>
                <a:solidFill>
                  <a:srgbClr val="FFFF00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00008A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AE"/>
                </a:p>
              </p:txBody>
            </p:sp>
          </p:grpSp>
          <p:cxnSp>
            <p:nvCxnSpPr>
              <p:cNvPr id="63" name="Connector: Curved 62">
                <a:extLst>
                  <a:ext uri="{FF2B5EF4-FFF2-40B4-BE49-F238E27FC236}">
                    <a16:creationId xmlns:a16="http://schemas.microsoft.com/office/drawing/2014/main" id="{9B20BD46-4BF3-5173-11C1-995D327DE567}"/>
                  </a:ext>
                </a:extLst>
              </p:cNvPr>
              <p:cNvCxnSpPr>
                <a:cxnSpLocks/>
                <a:stCxn id="17" idx="1"/>
                <a:endCxn id="62" idx="3"/>
              </p:cNvCxnSpPr>
              <p:nvPr/>
            </p:nvCxnSpPr>
            <p:spPr>
              <a:xfrm rot="10800000" flipV="1">
                <a:off x="7665016" y="416957"/>
                <a:ext cx="211677" cy="369288"/>
              </a:xfrm>
              <a:prstGeom prst="curvedConnector3">
                <a:avLst>
                  <a:gd name="adj1" fmla="val 50000"/>
                </a:avLst>
              </a:prstGeom>
              <a:ln>
                <a:prstDash val="sysDash"/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66" name="AutoShape 919">
              <a:extLst>
                <a:ext uri="{FF2B5EF4-FFF2-40B4-BE49-F238E27FC236}">
                  <a16:creationId xmlns:a16="http://schemas.microsoft.com/office/drawing/2014/main" id="{812A0A26-DA61-586F-F590-DCF73BDC1A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45041" y="1280207"/>
              <a:ext cx="335593" cy="199252"/>
            </a:xfrm>
            <a:prstGeom prst="leftArrow">
              <a:avLst>
                <a:gd name="adj1" fmla="val 50000"/>
                <a:gd name="adj2" fmla="val 53736"/>
              </a:avLst>
            </a:prstGeom>
            <a:gradFill rotWithShape="1">
              <a:gsLst>
                <a:gs pos="0">
                  <a:srgbClr val="590000"/>
                </a:gs>
                <a:gs pos="50000">
                  <a:srgbClr val="C00000"/>
                </a:gs>
                <a:gs pos="100000">
                  <a:srgbClr val="59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E"/>
            </a:p>
          </p:txBody>
        </p:sp>
        <p:cxnSp>
          <p:nvCxnSpPr>
            <p:cNvPr id="67" name="Connector: Curved 66">
              <a:extLst>
                <a:ext uri="{FF2B5EF4-FFF2-40B4-BE49-F238E27FC236}">
                  <a16:creationId xmlns:a16="http://schemas.microsoft.com/office/drawing/2014/main" id="{D0105DAC-FCD3-33D9-88D4-1B243E4F8CCA}"/>
                </a:ext>
              </a:extLst>
            </p:cNvPr>
            <p:cNvCxnSpPr>
              <a:cxnSpLocks/>
              <a:stCxn id="22" idx="1"/>
              <a:endCxn id="31" idx="2"/>
            </p:cNvCxnSpPr>
            <p:nvPr/>
          </p:nvCxnSpPr>
          <p:spPr>
            <a:xfrm rot="10800000" flipH="1" flipV="1">
              <a:off x="8626459" y="1179521"/>
              <a:ext cx="1065825" cy="341019"/>
            </a:xfrm>
            <a:prstGeom prst="curvedConnector4">
              <a:avLst>
                <a:gd name="adj1" fmla="val -30027"/>
                <a:gd name="adj2" fmla="val 144689"/>
              </a:avLst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4BF0ED87-A4E9-A895-54FD-8E17FCBEF2C3}"/>
              </a:ext>
            </a:extLst>
          </p:cNvPr>
          <p:cNvGrpSpPr/>
          <p:nvPr/>
        </p:nvGrpSpPr>
        <p:grpSpPr>
          <a:xfrm>
            <a:off x="10359016" y="22182"/>
            <a:ext cx="1696403" cy="1702661"/>
            <a:chOff x="9398317" y="22182"/>
            <a:chExt cx="1696403" cy="1702661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8E5C48B6-2834-2081-715C-164F854D720D}"/>
                </a:ext>
              </a:extLst>
            </p:cNvPr>
            <p:cNvGrpSpPr/>
            <p:nvPr/>
          </p:nvGrpSpPr>
          <p:grpSpPr>
            <a:xfrm>
              <a:off x="9398317" y="22182"/>
              <a:ext cx="1696403" cy="1702661"/>
              <a:chOff x="9398317" y="22182"/>
              <a:chExt cx="1696403" cy="1702661"/>
            </a:xfrm>
          </p:grpSpPr>
          <p:sp>
            <p:nvSpPr>
              <p:cNvPr id="34" name="Rectangle 900">
                <a:extLst>
                  <a:ext uri="{FF2B5EF4-FFF2-40B4-BE49-F238E27FC236}">
                    <a16:creationId xmlns:a16="http://schemas.microsoft.com/office/drawing/2014/main" id="{AC9DEADF-289E-9E6E-3441-5117F70DAE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98317" y="22182"/>
                <a:ext cx="1696403" cy="1702661"/>
              </a:xfrm>
              <a:prstGeom prst="rect">
                <a:avLst/>
              </a:prstGeom>
              <a:solidFill>
                <a:srgbClr val="FFFFFF"/>
              </a:solidFill>
              <a:ln w="317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18000" tIns="45720" rIns="1800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AE" altLang="en-US" sz="15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  <a:ea typeface="Arial" panose="020B0604020202020204" pitchFamily="34" charset="0"/>
                  </a:rPr>
                  <a:t>Page Replacement </a:t>
                </a:r>
                <a:r>
                  <a:rPr kumimoji="0" lang="en-AE" altLang="en-US" sz="1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  <a:ea typeface="Arial" panose="020B0604020202020204" pitchFamily="34" charset="0"/>
                  </a:rPr>
                  <a:t>(LRU Approx) </a:t>
                </a:r>
                <a:endParaRPr kumimoji="0" lang="en-US" altLang="en-US" sz="15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j-lt"/>
                </a:endParaRPr>
              </a:p>
            </p:txBody>
          </p:sp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6E6F1B0E-88EC-EDD7-61AD-A2D36FF254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621575" y="870604"/>
                <a:ext cx="398936" cy="457952"/>
              </a:xfrm>
              <a:prstGeom prst="rect">
                <a:avLst/>
              </a:prstGeom>
            </p:spPr>
          </p:pic>
          <p:sp>
            <p:nvSpPr>
              <p:cNvPr id="36" name="AutoShape 919">
                <a:extLst>
                  <a:ext uri="{FF2B5EF4-FFF2-40B4-BE49-F238E27FC236}">
                    <a16:creationId xmlns:a16="http://schemas.microsoft.com/office/drawing/2014/main" id="{B9E8ADC8-EA80-E069-7B93-3FC3584062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32680" y="921164"/>
                <a:ext cx="514686" cy="215043"/>
              </a:xfrm>
              <a:prstGeom prst="leftArrow">
                <a:avLst>
                  <a:gd name="adj1" fmla="val 50000"/>
                  <a:gd name="adj2" fmla="val 53736"/>
                </a:avLst>
              </a:prstGeom>
              <a:gradFill rotWithShape="1">
                <a:gsLst>
                  <a:gs pos="0">
                    <a:srgbClr val="590000"/>
                  </a:gs>
                  <a:gs pos="50000">
                    <a:srgbClr val="C00000"/>
                  </a:gs>
                  <a:gs pos="100000">
                    <a:srgbClr val="59000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C00000"/>
                    </a:solidFill>
                    <a:prstDash val="dash"/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E"/>
              </a:p>
            </p:txBody>
          </p:sp>
          <p:grpSp>
            <p:nvGrpSpPr>
              <p:cNvPr id="37" name="Group 4">
                <a:extLst>
                  <a:ext uri="{FF2B5EF4-FFF2-40B4-BE49-F238E27FC236}">
                    <a16:creationId xmlns:a16="http://schemas.microsoft.com/office/drawing/2014/main" id="{30D5B448-3024-6877-26A7-CE87A3E7F20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16481" y="576378"/>
                <a:ext cx="297497" cy="511175"/>
                <a:chOff x="6565" y="9543"/>
                <a:chExt cx="722" cy="806"/>
              </a:xfrm>
            </p:grpSpPr>
            <p:sp>
              <p:nvSpPr>
                <p:cNvPr id="50" name="Rectangle 814">
                  <a:extLst>
                    <a:ext uri="{FF2B5EF4-FFF2-40B4-BE49-F238E27FC236}">
                      <a16:creationId xmlns:a16="http://schemas.microsoft.com/office/drawing/2014/main" id="{31853447-91C8-B131-1580-8A94024796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568" y="9945"/>
                  <a:ext cx="719" cy="200"/>
                </a:xfrm>
                <a:prstGeom prst="rect">
                  <a:avLst/>
                </a:prstGeom>
                <a:solidFill>
                  <a:srgbClr val="31E923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00008A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AE"/>
                </a:p>
              </p:txBody>
            </p:sp>
            <p:sp>
              <p:nvSpPr>
                <p:cNvPr id="51" name="Rectangle 815">
                  <a:extLst>
                    <a:ext uri="{FF2B5EF4-FFF2-40B4-BE49-F238E27FC236}">
                      <a16:creationId xmlns:a16="http://schemas.microsoft.com/office/drawing/2014/main" id="{DB8FED91-3D35-0BDA-2ED1-FEF6872D67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568" y="9543"/>
                  <a:ext cx="719" cy="200"/>
                </a:xfrm>
                <a:prstGeom prst="rect">
                  <a:avLst/>
                </a:prstGeom>
                <a:solidFill>
                  <a:srgbClr val="31E923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00008A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AE"/>
                </a:p>
              </p:txBody>
            </p:sp>
            <p:sp>
              <p:nvSpPr>
                <p:cNvPr id="52" name="Rectangle 816">
                  <a:extLst>
                    <a:ext uri="{FF2B5EF4-FFF2-40B4-BE49-F238E27FC236}">
                      <a16:creationId xmlns:a16="http://schemas.microsoft.com/office/drawing/2014/main" id="{8F2C7A61-A44F-356A-5BA2-B82E7F07D1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568" y="9743"/>
                  <a:ext cx="719" cy="201"/>
                </a:xfrm>
                <a:prstGeom prst="rect">
                  <a:avLst/>
                </a:prstGeom>
                <a:solidFill>
                  <a:srgbClr val="31E923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00008A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AE"/>
                </a:p>
              </p:txBody>
            </p:sp>
            <p:sp>
              <p:nvSpPr>
                <p:cNvPr id="53" name="Rectangle 814">
                  <a:extLst>
                    <a:ext uri="{FF2B5EF4-FFF2-40B4-BE49-F238E27FC236}">
                      <a16:creationId xmlns:a16="http://schemas.microsoft.com/office/drawing/2014/main" id="{0617A9D3-CE00-5668-24C1-F96631678D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565" y="10149"/>
                  <a:ext cx="719" cy="200"/>
                </a:xfrm>
                <a:prstGeom prst="rect">
                  <a:avLst/>
                </a:prstGeom>
                <a:solidFill>
                  <a:srgbClr val="31E923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00008A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AE"/>
                </a:p>
              </p:txBody>
            </p:sp>
          </p:grpSp>
          <p:sp>
            <p:nvSpPr>
              <p:cNvPr id="39" name="AutoShape 919">
                <a:extLst>
                  <a:ext uri="{FF2B5EF4-FFF2-40B4-BE49-F238E27FC236}">
                    <a16:creationId xmlns:a16="http://schemas.microsoft.com/office/drawing/2014/main" id="{7F17D654-AB59-F344-C188-3306AB4CD2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0047049" y="1151480"/>
                <a:ext cx="511093" cy="187338"/>
              </a:xfrm>
              <a:prstGeom prst="leftArrow">
                <a:avLst>
                  <a:gd name="adj1" fmla="val 50000"/>
                  <a:gd name="adj2" fmla="val 53736"/>
                </a:avLst>
              </a:prstGeom>
              <a:gradFill rotWithShape="1">
                <a:gsLst>
                  <a:gs pos="0">
                    <a:srgbClr val="590000"/>
                  </a:gs>
                  <a:gs pos="50000">
                    <a:srgbClr val="C00000"/>
                  </a:gs>
                  <a:gs pos="100000">
                    <a:srgbClr val="59000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C00000"/>
                    </a:solidFill>
                    <a:prstDash val="dash"/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E"/>
              </a:p>
            </p:txBody>
          </p:sp>
          <p:grpSp>
            <p:nvGrpSpPr>
              <p:cNvPr id="41" name="Group 4">
                <a:extLst>
                  <a:ext uri="{FF2B5EF4-FFF2-40B4-BE49-F238E27FC236}">
                    <a16:creationId xmlns:a16="http://schemas.microsoft.com/office/drawing/2014/main" id="{5629C052-C8CF-A239-540B-2F3072054B8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16481" y="1162436"/>
                <a:ext cx="297497" cy="511175"/>
                <a:chOff x="6565" y="9543"/>
                <a:chExt cx="722" cy="806"/>
              </a:xfrm>
            </p:grpSpPr>
            <p:sp>
              <p:nvSpPr>
                <p:cNvPr id="42" name="Rectangle 814">
                  <a:extLst>
                    <a:ext uri="{FF2B5EF4-FFF2-40B4-BE49-F238E27FC236}">
                      <a16:creationId xmlns:a16="http://schemas.microsoft.com/office/drawing/2014/main" id="{F9AC6524-8AAF-7C41-75EC-D1BFB38944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568" y="9945"/>
                  <a:ext cx="719" cy="200"/>
                </a:xfrm>
                <a:prstGeom prst="rect">
                  <a:avLst/>
                </a:prstGeom>
                <a:solidFill>
                  <a:srgbClr val="FFFF00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00008A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AE"/>
                </a:p>
              </p:txBody>
            </p:sp>
            <p:sp>
              <p:nvSpPr>
                <p:cNvPr id="43" name="Rectangle 815">
                  <a:extLst>
                    <a:ext uri="{FF2B5EF4-FFF2-40B4-BE49-F238E27FC236}">
                      <a16:creationId xmlns:a16="http://schemas.microsoft.com/office/drawing/2014/main" id="{342C5620-870C-BA34-03E7-CD0AD37526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568" y="9543"/>
                  <a:ext cx="719" cy="200"/>
                </a:xfrm>
                <a:prstGeom prst="rect">
                  <a:avLst/>
                </a:prstGeom>
                <a:solidFill>
                  <a:srgbClr val="FFFF00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00008A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AE"/>
                </a:p>
              </p:txBody>
            </p:sp>
            <p:sp>
              <p:nvSpPr>
                <p:cNvPr id="44" name="Rectangle 816">
                  <a:extLst>
                    <a:ext uri="{FF2B5EF4-FFF2-40B4-BE49-F238E27FC236}">
                      <a16:creationId xmlns:a16="http://schemas.microsoft.com/office/drawing/2014/main" id="{603AAF12-4CD6-D18B-4AF8-00FB5D4CCC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568" y="9743"/>
                  <a:ext cx="719" cy="201"/>
                </a:xfrm>
                <a:prstGeom prst="rect">
                  <a:avLst/>
                </a:prstGeom>
                <a:solidFill>
                  <a:srgbClr val="FFFF00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00008A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AE"/>
                </a:p>
              </p:txBody>
            </p:sp>
            <p:sp>
              <p:nvSpPr>
                <p:cNvPr id="45" name="Rectangle 814">
                  <a:extLst>
                    <a:ext uri="{FF2B5EF4-FFF2-40B4-BE49-F238E27FC236}">
                      <a16:creationId xmlns:a16="http://schemas.microsoft.com/office/drawing/2014/main" id="{11FC759F-7CBB-906C-B25A-A37C73C671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565" y="10149"/>
                  <a:ext cx="719" cy="200"/>
                </a:xfrm>
                <a:prstGeom prst="rect">
                  <a:avLst/>
                </a:prstGeom>
                <a:solidFill>
                  <a:srgbClr val="FFFF00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00008A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AE"/>
                </a:p>
              </p:txBody>
            </p:sp>
          </p:grpSp>
          <p:cxnSp>
            <p:nvCxnSpPr>
              <p:cNvPr id="57" name="Connector: Curved 56">
                <a:extLst>
                  <a:ext uri="{FF2B5EF4-FFF2-40B4-BE49-F238E27FC236}">
                    <a16:creationId xmlns:a16="http://schemas.microsoft.com/office/drawing/2014/main" id="{BECA9574-E997-EE51-9FCF-4E2E34529BC0}"/>
                  </a:ext>
                </a:extLst>
              </p:cNvPr>
              <p:cNvCxnSpPr>
                <a:stCxn id="51" idx="1"/>
                <a:endCxn id="45" idx="1"/>
              </p:cNvCxnSpPr>
              <p:nvPr/>
            </p:nvCxnSpPr>
            <p:spPr>
              <a:xfrm rot="10800000" flipV="1">
                <a:off x="9616481" y="639798"/>
                <a:ext cx="1236" cy="970391"/>
              </a:xfrm>
              <a:prstGeom prst="curvedConnector3">
                <a:avLst>
                  <a:gd name="adj1" fmla="val 13663107"/>
                </a:avLst>
              </a:prstGeom>
              <a:ln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35D2D959-64B2-DDB3-FB0D-0A3B2BE73B29}"/>
                </a:ext>
              </a:extLst>
            </p:cNvPr>
            <p:cNvSpPr txBox="1"/>
            <p:nvPr/>
          </p:nvSpPr>
          <p:spPr>
            <a:xfrm>
              <a:off x="9851369" y="1235653"/>
              <a:ext cx="9284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modified</a:t>
              </a:r>
              <a:endParaRPr lang="en-AE" sz="1400" b="1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E58ED72-06D5-F336-6799-0D6DBB1835E3}"/>
              </a:ext>
            </a:extLst>
          </p:cNvPr>
          <p:cNvSpPr txBox="1"/>
          <p:nvPr/>
        </p:nvSpPr>
        <p:spPr>
          <a:xfrm>
            <a:off x="0" y="-27400"/>
            <a:ext cx="31484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Refer to </a:t>
            </a:r>
            <a:r>
              <a:rPr lang="en-US" sz="2000" b="1" dirty="0">
                <a:hlinkClick r:id="rId3" action="ppaction://hlinkfile"/>
              </a:rPr>
              <a:t>APPENDICES</a:t>
            </a:r>
            <a:r>
              <a:rPr lang="en-US" sz="2000" b="1" dirty="0"/>
              <a:t> for:</a:t>
            </a:r>
            <a:endParaRPr lang="en-AE" sz="2000" b="1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21E79B1-9FAA-8C91-A21F-7B3B0CE0D392}"/>
              </a:ext>
            </a:extLst>
          </p:cNvPr>
          <p:cNvGrpSpPr/>
          <p:nvPr/>
        </p:nvGrpSpPr>
        <p:grpSpPr>
          <a:xfrm>
            <a:off x="3066320" y="23673"/>
            <a:ext cx="3477725" cy="458440"/>
            <a:chOff x="128270" y="491589"/>
            <a:chExt cx="3477725" cy="458440"/>
          </a:xfrm>
        </p:grpSpPr>
        <p:sp>
          <p:nvSpPr>
            <p:cNvPr id="7" name="CustomShape 5">
              <a:extLst>
                <a:ext uri="{FF2B5EF4-FFF2-40B4-BE49-F238E27FC236}">
                  <a16:creationId xmlns:a16="http://schemas.microsoft.com/office/drawing/2014/main" id="{90993968-0056-849A-DE63-90EAD58C9F55}"/>
                </a:ext>
              </a:extLst>
            </p:cNvPr>
            <p:cNvSpPr/>
            <p:nvPr/>
          </p:nvSpPr>
          <p:spPr>
            <a:xfrm>
              <a:off x="128270" y="491589"/>
              <a:ext cx="390122" cy="458440"/>
            </a:xfrm>
            <a:prstGeom prst="flowChartMagneticDisk">
              <a:avLst/>
            </a:prstGeom>
            <a:gradFill rotWithShape="0">
              <a:gsLst>
                <a:gs pos="0">
                  <a:srgbClr val="765E00"/>
                </a:gs>
                <a:gs pos="100000">
                  <a:srgbClr val="FFCC00">
                    <a:alpha val="40000"/>
                  </a:srgbClr>
                </a:gs>
              </a:gsLst>
              <a:lin ang="0"/>
            </a:gradFill>
            <a:ln w="9360">
              <a:solidFill>
                <a:srgbClr val="96969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AE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0B6BC06-7856-1DF3-7491-021EBD6274EA}"/>
                </a:ext>
              </a:extLst>
            </p:cNvPr>
            <p:cNvSpPr txBox="1"/>
            <p:nvPr/>
          </p:nvSpPr>
          <p:spPr>
            <a:xfrm>
              <a:off x="511045" y="518813"/>
              <a:ext cx="30949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/>
                <a:t>Page File Helper Functions</a:t>
              </a:r>
              <a:endParaRPr lang="en-AE" sz="200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6B2BD93-6E48-C790-271E-C0313D683175}"/>
              </a:ext>
            </a:extLst>
          </p:cNvPr>
          <p:cNvGrpSpPr/>
          <p:nvPr/>
        </p:nvGrpSpPr>
        <p:grpSpPr>
          <a:xfrm>
            <a:off x="3071821" y="602917"/>
            <a:ext cx="5114005" cy="431986"/>
            <a:chOff x="170628" y="1027373"/>
            <a:chExt cx="5114005" cy="431986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E5EB9C1-A429-E146-84CD-AE5CD5386F61}"/>
                </a:ext>
              </a:extLst>
            </p:cNvPr>
            <p:cNvGrpSpPr/>
            <p:nvPr/>
          </p:nvGrpSpPr>
          <p:grpSpPr>
            <a:xfrm>
              <a:off x="170628" y="1027373"/>
              <a:ext cx="356166" cy="431986"/>
              <a:chOff x="7002621" y="5757664"/>
              <a:chExt cx="356166" cy="431986"/>
            </a:xfrm>
          </p:grpSpPr>
          <p:sp>
            <p:nvSpPr>
              <p:cNvPr id="32" name="CustomShape 15">
                <a:extLst>
                  <a:ext uri="{FF2B5EF4-FFF2-40B4-BE49-F238E27FC236}">
                    <a16:creationId xmlns:a16="http://schemas.microsoft.com/office/drawing/2014/main" id="{E78369B9-3BF8-C392-05DA-EBFF5C2D4918}"/>
                  </a:ext>
                </a:extLst>
              </p:cNvPr>
              <p:cNvSpPr/>
              <p:nvPr/>
            </p:nvSpPr>
            <p:spPr>
              <a:xfrm>
                <a:off x="7004130" y="6082689"/>
                <a:ext cx="354657" cy="106961"/>
              </a:xfrm>
              <a:prstGeom prst="rect">
                <a:avLst/>
              </a:prstGeom>
              <a:gradFill rotWithShape="0">
                <a:gsLst>
                  <a:gs pos="0">
                    <a:srgbClr val="005125"/>
                  </a:gs>
                  <a:gs pos="100000">
                    <a:srgbClr val="00B050">
                      <a:alpha val="40000"/>
                    </a:srgbClr>
                  </a:gs>
                </a:gsLst>
                <a:lin ang="0"/>
              </a:gradFill>
              <a:ln w="9360">
                <a:solidFill>
                  <a:srgbClr val="969696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  <p:sp>
            <p:nvSpPr>
              <p:cNvPr id="33" name="CustomShape 16">
                <a:extLst>
                  <a:ext uri="{FF2B5EF4-FFF2-40B4-BE49-F238E27FC236}">
                    <a16:creationId xmlns:a16="http://schemas.microsoft.com/office/drawing/2014/main" id="{C9C18DCF-4025-631C-7049-57047AF19129}"/>
                  </a:ext>
                </a:extLst>
              </p:cNvPr>
              <p:cNvSpPr/>
              <p:nvPr/>
            </p:nvSpPr>
            <p:spPr>
              <a:xfrm>
                <a:off x="7002621" y="5757664"/>
                <a:ext cx="354657" cy="106961"/>
              </a:xfrm>
              <a:prstGeom prst="rect">
                <a:avLst/>
              </a:prstGeom>
              <a:gradFill rotWithShape="0">
                <a:gsLst>
                  <a:gs pos="0">
                    <a:srgbClr val="005125"/>
                  </a:gs>
                  <a:gs pos="100000">
                    <a:srgbClr val="00B050">
                      <a:alpha val="40000"/>
                    </a:srgbClr>
                  </a:gs>
                </a:gsLst>
                <a:lin ang="0"/>
              </a:gradFill>
              <a:ln w="9360">
                <a:solidFill>
                  <a:srgbClr val="969696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  <p:sp>
            <p:nvSpPr>
              <p:cNvPr id="38" name="CustomShape 17">
                <a:extLst>
                  <a:ext uri="{FF2B5EF4-FFF2-40B4-BE49-F238E27FC236}">
                    <a16:creationId xmlns:a16="http://schemas.microsoft.com/office/drawing/2014/main" id="{C34AE540-F34A-C17E-9778-D5E8F83C3CE3}"/>
                  </a:ext>
                </a:extLst>
              </p:cNvPr>
              <p:cNvSpPr/>
              <p:nvPr/>
            </p:nvSpPr>
            <p:spPr>
              <a:xfrm>
                <a:off x="7004130" y="5865002"/>
                <a:ext cx="353525" cy="108467"/>
              </a:xfrm>
              <a:prstGeom prst="rect">
                <a:avLst/>
              </a:prstGeom>
              <a:gradFill rotWithShape="0">
                <a:gsLst>
                  <a:gs pos="0">
                    <a:srgbClr val="005125"/>
                  </a:gs>
                  <a:gs pos="100000">
                    <a:srgbClr val="00B050">
                      <a:alpha val="40000"/>
                    </a:srgbClr>
                  </a:gs>
                </a:gsLst>
                <a:lin ang="0"/>
              </a:gradFill>
              <a:ln w="9360">
                <a:solidFill>
                  <a:srgbClr val="969696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  <p:sp>
            <p:nvSpPr>
              <p:cNvPr id="40" name="CustomShape 18">
                <a:extLst>
                  <a:ext uri="{FF2B5EF4-FFF2-40B4-BE49-F238E27FC236}">
                    <a16:creationId xmlns:a16="http://schemas.microsoft.com/office/drawing/2014/main" id="{EB4C6C88-4B71-EDAD-5676-342D0661168F}"/>
                  </a:ext>
                </a:extLst>
              </p:cNvPr>
              <p:cNvSpPr/>
              <p:nvPr/>
            </p:nvSpPr>
            <p:spPr>
              <a:xfrm>
                <a:off x="7002621" y="5973845"/>
                <a:ext cx="354657" cy="108467"/>
              </a:xfrm>
              <a:prstGeom prst="rect">
                <a:avLst/>
              </a:prstGeom>
              <a:gradFill rotWithShape="0">
                <a:gsLst>
                  <a:gs pos="0">
                    <a:srgbClr val="005125"/>
                  </a:gs>
                  <a:gs pos="100000">
                    <a:srgbClr val="00B050">
                      <a:alpha val="40000"/>
                    </a:srgbClr>
                  </a:gs>
                </a:gsLst>
                <a:lin ang="0"/>
              </a:gradFill>
              <a:ln w="9360">
                <a:solidFill>
                  <a:srgbClr val="969696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9DE690F-9B05-78BE-0BF5-CC502551164D}"/>
                </a:ext>
              </a:extLst>
            </p:cNvPr>
            <p:cNvSpPr txBox="1"/>
            <p:nvPr/>
          </p:nvSpPr>
          <p:spPr>
            <a:xfrm>
              <a:off x="518392" y="1059249"/>
              <a:ext cx="476624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/>
                <a:t>Working Set Structure &amp; Helper Functions</a:t>
              </a:r>
              <a:endParaRPr lang="en-AE" sz="2000"/>
            </a:p>
          </p:txBody>
        </p:sp>
      </p:grpSp>
    </p:spTree>
    <p:extLst>
      <p:ext uri="{BB962C8B-B14F-4D97-AF65-F5344CB8AC3E}">
        <p14:creationId xmlns:p14="http://schemas.microsoft.com/office/powerpoint/2010/main" val="1192411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8E3D7-19F9-D2BD-4D6B-8C71A20B2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1094720" cy="40233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 </a:t>
            </a:r>
            <a:r>
              <a:rPr lang="en-US" sz="2400" dirty="0"/>
              <a:t>To switch the replacement from the FOS prompt: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FOS&gt;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lru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2</a:t>
            </a:r>
            <a:r>
              <a:rPr lang="en-US" dirty="0"/>
              <a:t>		</a:t>
            </a:r>
            <a:r>
              <a:rPr lang="en-US" dirty="0">
                <a:sym typeface="Wingdings" panose="05000000000000000000" pitchFamily="2" charset="2"/>
              </a:rPr>
              <a:t> switch the replacement to LRU List Approx. </a:t>
            </a:r>
            <a:endParaRPr lang="en-US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FOS&gt;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fifo</a:t>
            </a:r>
            <a:r>
              <a:rPr lang="en-US" dirty="0"/>
              <a:t>		</a:t>
            </a:r>
            <a:r>
              <a:rPr lang="en-US" dirty="0">
                <a:sym typeface="Wingdings" panose="05000000000000000000" pitchFamily="2" charset="2"/>
              </a:rPr>
              <a:t> switch the replacement to FIFO</a:t>
            </a: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 </a:t>
            </a:r>
            <a:r>
              <a:rPr lang="en-US" sz="1800" dirty="0"/>
              <a:t> </a:t>
            </a:r>
            <a:r>
              <a:rPr lang="en-US" sz="2400" dirty="0"/>
              <a:t>To switch the replacement from the code: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Inside the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fault_handler_init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in “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kern/trap/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fault_handler.c</a:t>
            </a:r>
            <a:r>
              <a:rPr lang="en-US" dirty="0"/>
              <a:t>”: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setPageReplacmentAlgorithmLRU</a:t>
            </a:r>
            <a:r>
              <a:rPr lang="en-US" sz="1800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1800" b="1" i="1" dirty="0">
                <a:solidFill>
                  <a:srgbClr val="535353"/>
                </a:solidFill>
                <a:latin typeface="Consolas" panose="020B0609020204030204" pitchFamily="49" charset="0"/>
              </a:rPr>
              <a:t>PG_REP_LRU_LISTS_APPROX</a:t>
            </a:r>
            <a:r>
              <a:rPr lang="en-US" sz="1800" b="1" i="1" dirty="0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  <a:r>
              <a:rPr lang="en-US" sz="1800" b="1" i="1" dirty="0">
                <a:solidFill>
                  <a:srgbClr val="A36622"/>
                </a:solidFill>
                <a:latin typeface="Consolas" panose="020B0609020204030204" pitchFamily="49" charset="0"/>
              </a:rPr>
              <a:t>;</a:t>
            </a:r>
            <a:r>
              <a:rPr lang="en-US" sz="1800" dirty="0">
                <a:sym typeface="Wingdings" panose="05000000000000000000" pitchFamily="2" charset="2"/>
              </a:rPr>
              <a:t>  set LRU List Approx. replacement </a:t>
            </a:r>
            <a:endParaRPr lang="en-US" sz="1800" dirty="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setPageReplacmentAlgorithmFIFO</a:t>
            </a:r>
            <a:r>
              <a:rPr lang="en-US" sz="1800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1800" b="1" i="1" dirty="0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  <a:r>
              <a:rPr lang="en-US" sz="1800" b="1" i="1" dirty="0">
                <a:solidFill>
                  <a:srgbClr val="A36622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sym typeface="Wingdings" panose="05000000000000000000" pitchFamily="2" charset="2"/>
              </a:rPr>
              <a:t> 			     </a:t>
            </a:r>
            <a:r>
              <a:rPr lang="en-US" sz="1800" dirty="0">
                <a:sym typeface="Wingdings" panose="05000000000000000000" pitchFamily="2" charset="2"/>
              </a:rPr>
              <a:t> set FIFO replacement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5EE48-2AEE-BA8A-6CD9-954579573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24</a:t>
            </a:fld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0846E03-0007-D195-F37C-988DBDB96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z="4800"/>
              <a:t>Page </a:t>
            </a:r>
            <a:r>
              <a:rPr lang="en-US" sz="4800" dirty="0"/>
              <a:t>Fault Handler: </a:t>
            </a:r>
            <a:r>
              <a:rPr lang="en-US" sz="4800" b="1" dirty="0"/>
              <a:t>Switching…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0968324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2AD25-68C7-B8BC-6FDE-1728904C5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7A3F0EA-23CB-904A-FB98-15F139097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User Heap</a:t>
            </a:r>
            <a:endParaRPr lang="en-A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E0E9C0-4375-DB87-6B7C-0DFB713A6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PART III: INDIVIDUAL module </a:t>
            </a:r>
            <a:r>
              <a:rPr lang="en-US" b="1">
                <a:solidFill>
                  <a:srgbClr val="FF0000"/>
                </a:solidFill>
              </a:rPr>
              <a:t>#2</a:t>
            </a:r>
            <a:endParaRPr lang="en-AE" b="1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3A34A-9708-54FF-D0FC-0D613A3BD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25</a:t>
            </a:fld>
            <a:endParaRPr lang="en-US"/>
          </a:p>
        </p:txBody>
      </p:sp>
      <p:pic>
        <p:nvPicPr>
          <p:cNvPr id="8" name="Picture 7" descr="A clock with a number on it&#10;&#10;AI-generated content may be incorrect.">
            <a:extLst>
              <a:ext uri="{FF2B5EF4-FFF2-40B4-BE49-F238E27FC236}">
                <a16:creationId xmlns:a16="http://schemas.microsoft.com/office/drawing/2014/main" id="{9B3EE196-F928-7710-4851-CAD5AB1289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1375" y="0"/>
            <a:ext cx="1190625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8402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45693-7B9D-08B1-B48D-A46BD405A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30493-17AF-89BA-E111-FBFE4C622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Overview</a:t>
            </a:r>
            <a:endParaRPr lang="ar-EG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398E5A2-364F-B830-CED1-60D87D9CE7D1}"/>
              </a:ext>
            </a:extLst>
          </p:cNvPr>
          <p:cNvSpPr/>
          <p:nvPr/>
        </p:nvSpPr>
        <p:spPr>
          <a:xfrm>
            <a:off x="235394" y="364720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Individual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Module#1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43E6C5C-36C6-1C18-CD99-5E83F2864F8D}"/>
              </a:ext>
            </a:extLst>
          </p:cNvPr>
          <p:cNvSpPr/>
          <p:nvPr/>
        </p:nvSpPr>
        <p:spPr>
          <a:xfrm>
            <a:off x="2220990" y="364720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Individual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Module#2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50A283B-EC3A-0A51-5786-6C1A03E20A9D}"/>
              </a:ext>
            </a:extLst>
          </p:cNvPr>
          <p:cNvSpPr/>
          <p:nvPr/>
        </p:nvSpPr>
        <p:spPr>
          <a:xfrm>
            <a:off x="4206586" y="364720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Individual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Module#3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2FAE98E-3B61-697B-7803-6DDBE86514C7}"/>
              </a:ext>
            </a:extLst>
          </p:cNvPr>
          <p:cNvSpPr/>
          <p:nvPr/>
        </p:nvSpPr>
        <p:spPr>
          <a:xfrm>
            <a:off x="6192182" y="364720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Individual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Module#4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9BF31BFB-C389-15C2-2AED-334DC6643074}"/>
              </a:ext>
            </a:extLst>
          </p:cNvPr>
          <p:cNvCxnSpPr>
            <a:cxnSpLocks/>
            <a:stCxn id="13" idx="2"/>
            <a:endCxn id="5" idx="0"/>
          </p:cNvCxnSpPr>
          <p:nvPr/>
        </p:nvCxnSpPr>
        <p:spPr>
          <a:xfrm rot="5400000">
            <a:off x="3215515" y="740890"/>
            <a:ext cx="859648" cy="4952990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6FF73A88-701E-F7B2-41AB-EA4E1889843C}"/>
              </a:ext>
            </a:extLst>
          </p:cNvPr>
          <p:cNvCxnSpPr>
            <a:cxnSpLocks/>
            <a:stCxn id="13" idx="2"/>
            <a:endCxn id="7" idx="0"/>
          </p:cNvCxnSpPr>
          <p:nvPr/>
        </p:nvCxnSpPr>
        <p:spPr>
          <a:xfrm rot="5400000">
            <a:off x="4208313" y="1733688"/>
            <a:ext cx="859648" cy="296739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DF6A7959-2F10-C318-779D-3BF2D70A2BC7}"/>
              </a:ext>
            </a:extLst>
          </p:cNvPr>
          <p:cNvCxnSpPr>
            <a:cxnSpLocks/>
            <a:stCxn id="13" idx="2"/>
            <a:endCxn id="8" idx="0"/>
          </p:cNvCxnSpPr>
          <p:nvPr/>
        </p:nvCxnSpPr>
        <p:spPr>
          <a:xfrm rot="5400000">
            <a:off x="5201111" y="2726486"/>
            <a:ext cx="859648" cy="98179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B24C0C76-D7D4-88F7-8217-E48945BE54E4}"/>
              </a:ext>
            </a:extLst>
          </p:cNvPr>
          <p:cNvCxnSpPr>
            <a:cxnSpLocks/>
            <a:stCxn id="13" idx="2"/>
            <a:endCxn id="9" idx="0"/>
          </p:cNvCxnSpPr>
          <p:nvPr/>
        </p:nvCxnSpPr>
        <p:spPr>
          <a:xfrm rot="16200000" flipH="1">
            <a:off x="6193909" y="2715486"/>
            <a:ext cx="859648" cy="100379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3E99653D-E8F0-B8E2-079B-158550AC4FCA}"/>
              </a:ext>
            </a:extLst>
          </p:cNvPr>
          <p:cNvCxnSpPr>
            <a:cxnSpLocks/>
            <a:stCxn id="5" idx="2"/>
            <a:endCxn id="23" idx="0"/>
          </p:cNvCxnSpPr>
          <p:nvPr/>
        </p:nvCxnSpPr>
        <p:spPr>
          <a:xfrm rot="16200000" flipH="1">
            <a:off x="3229415" y="2501037"/>
            <a:ext cx="831849" cy="495299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A36653DA-1739-E7FF-E4C4-3521F0887B14}"/>
              </a:ext>
            </a:extLst>
          </p:cNvPr>
          <p:cNvCxnSpPr>
            <a:cxnSpLocks/>
            <a:stCxn id="7" idx="2"/>
            <a:endCxn id="23" idx="0"/>
          </p:cNvCxnSpPr>
          <p:nvPr/>
        </p:nvCxnSpPr>
        <p:spPr>
          <a:xfrm rot="16200000" flipH="1">
            <a:off x="4222213" y="3493835"/>
            <a:ext cx="831849" cy="296739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CDE59A2D-253F-008E-6D3D-06055ECA4C02}"/>
              </a:ext>
            </a:extLst>
          </p:cNvPr>
          <p:cNvCxnSpPr>
            <a:cxnSpLocks/>
            <a:stCxn id="8" idx="2"/>
            <a:endCxn id="23" idx="0"/>
          </p:cNvCxnSpPr>
          <p:nvPr/>
        </p:nvCxnSpPr>
        <p:spPr>
          <a:xfrm rot="16200000" flipH="1">
            <a:off x="5215011" y="4486633"/>
            <a:ext cx="831849" cy="98179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ED6C32FB-1B74-8C12-5650-D2379ACA09CC}"/>
              </a:ext>
            </a:extLst>
          </p:cNvPr>
          <p:cNvCxnSpPr>
            <a:cxnSpLocks/>
            <a:stCxn id="9" idx="2"/>
            <a:endCxn id="23" idx="0"/>
          </p:cNvCxnSpPr>
          <p:nvPr/>
        </p:nvCxnSpPr>
        <p:spPr>
          <a:xfrm rot="5400000">
            <a:off x="6207810" y="4475635"/>
            <a:ext cx="831849" cy="100379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9504761-A352-112B-CB85-85401551ED0C}"/>
              </a:ext>
            </a:extLst>
          </p:cNvPr>
          <p:cNvSpPr/>
          <p:nvPr/>
        </p:nvSpPr>
        <p:spPr>
          <a:xfrm>
            <a:off x="2220989" y="1873161"/>
            <a:ext cx="7801689" cy="914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[TW]</a:t>
            </a:r>
            <a:r>
              <a:rPr kumimoji="0" lang="en-US" sz="28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Prerequisite Modules </a:t>
            </a:r>
          </a:p>
          <a:p>
            <a:pPr lvl="0" algn="ctr" defTabSz="914400">
              <a:defRPr/>
            </a:pPr>
            <a:r>
              <a:rPr lang="en-US" sz="2400" b="1" dirty="0">
                <a:solidFill>
                  <a:prstClr val="black"/>
                </a:solidFill>
                <a:latin typeface="Calibri"/>
              </a:rPr>
              <a:t>Dyn. </a:t>
            </a:r>
            <a:r>
              <a:rPr lang="en-US" sz="2400" b="1" dirty="0" err="1">
                <a:solidFill>
                  <a:prstClr val="black"/>
                </a:solidFill>
                <a:latin typeface="Calibri"/>
              </a:rPr>
              <a:t>Alloc</a:t>
            </a:r>
            <a:r>
              <a:rPr lang="en-US" sz="2400" b="1" dirty="0">
                <a:solidFill>
                  <a:prstClr val="black"/>
                </a:solidFill>
                <a:latin typeface="Calibri"/>
              </a:rPr>
              <a:t>, Kern Heap, Fault Handl. 1, Blocking</a:t>
            </a:r>
            <a:endParaRPr lang="en-AE" sz="28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3A4C669-7434-1BD6-D9B4-9A4528D85EB2}"/>
              </a:ext>
            </a:extLst>
          </p:cNvPr>
          <p:cNvSpPr/>
          <p:nvPr/>
        </p:nvSpPr>
        <p:spPr>
          <a:xfrm>
            <a:off x="229044" y="3640858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[M#1]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Fault Handl. 2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9704D2C-4365-9175-B3B3-6983AF474B40}"/>
              </a:ext>
            </a:extLst>
          </p:cNvPr>
          <p:cNvSpPr/>
          <p:nvPr/>
        </p:nvSpPr>
        <p:spPr>
          <a:xfrm>
            <a:off x="2220990" y="364720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[M#2]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User Heap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513AC3B-CF96-E2D8-8E1B-FF59AC3CC538}"/>
              </a:ext>
            </a:extLst>
          </p:cNvPr>
          <p:cNvSpPr/>
          <p:nvPr/>
        </p:nvSpPr>
        <p:spPr>
          <a:xfrm>
            <a:off x="4212936" y="365355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[M#3]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lvl="0" algn="ctr" defTabSz="914400"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CPU Sched.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062CFEF-E61A-6934-07C1-02C6DD913E94}"/>
              </a:ext>
            </a:extLst>
          </p:cNvPr>
          <p:cNvSpPr/>
          <p:nvPr/>
        </p:nvSpPr>
        <p:spPr>
          <a:xfrm>
            <a:off x="6198532" y="3650583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[M#4]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lvl="0" algn="ctr" defTabSz="914400"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IPC #1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DBEB9C78-DC17-8E6D-C1E4-7BEE33ED3521}"/>
              </a:ext>
            </a:extLst>
          </p:cNvPr>
          <p:cNvCxnSpPr>
            <a:cxnSpLocks/>
            <a:stCxn id="13" idx="2"/>
            <a:endCxn id="22" idx="0"/>
          </p:cNvCxnSpPr>
          <p:nvPr/>
        </p:nvCxnSpPr>
        <p:spPr>
          <a:xfrm rot="16200000" flipH="1">
            <a:off x="7178883" y="1730511"/>
            <a:ext cx="853297" cy="296739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9B5F4B44-E99D-1C79-0451-9F76DF46AD78}"/>
              </a:ext>
            </a:extLst>
          </p:cNvPr>
          <p:cNvCxnSpPr>
            <a:cxnSpLocks/>
            <a:stCxn id="22" idx="2"/>
            <a:endCxn id="23" idx="0"/>
          </p:cNvCxnSpPr>
          <p:nvPr/>
        </p:nvCxnSpPr>
        <p:spPr>
          <a:xfrm rot="5400000">
            <a:off x="7186432" y="3490661"/>
            <a:ext cx="838200" cy="296739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BBDD0E5-1415-08AC-25C2-458F64738013}"/>
              </a:ext>
            </a:extLst>
          </p:cNvPr>
          <p:cNvSpPr/>
          <p:nvPr/>
        </p:nvSpPr>
        <p:spPr>
          <a:xfrm>
            <a:off x="8155779" y="3640858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[M#5]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lvl="0" algn="ctr" defTabSz="914400"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IPC #2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1DDAA97-94F0-4493-7293-2BE9A2B461AD}"/>
              </a:ext>
            </a:extLst>
          </p:cNvPr>
          <p:cNvSpPr/>
          <p:nvPr/>
        </p:nvSpPr>
        <p:spPr>
          <a:xfrm>
            <a:off x="3154440" y="5393458"/>
            <a:ext cx="5934789" cy="9144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[TW]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Integration &amp; Overall Testing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prstClr val="black"/>
                </a:solidFill>
                <a:latin typeface="Calibri"/>
              </a:rPr>
              <a:t>Scenarios &amp; Bonuses</a:t>
            </a:r>
            <a:endParaRPr kumimoji="0" lang="en-AE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2AE9F24-CD6C-CC52-6801-6EAD2C7E3B54}"/>
              </a:ext>
            </a:extLst>
          </p:cNvPr>
          <p:cNvSpPr/>
          <p:nvPr/>
        </p:nvSpPr>
        <p:spPr>
          <a:xfrm>
            <a:off x="10157026" y="364720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lvl="0" algn="ctr" defTabSz="914400">
              <a:defRPr/>
            </a:pPr>
            <a:r>
              <a:rPr lang="en-US" sz="2400" b="1" dirty="0">
                <a:solidFill>
                  <a:prstClr val="black"/>
                </a:solidFill>
                <a:latin typeface="Calibri"/>
              </a:rPr>
              <a:t>[M#6]</a:t>
            </a:r>
            <a:r>
              <a:rPr lang="en-US" sz="2800" dirty="0">
                <a:solidFill>
                  <a:prstClr val="black"/>
                </a:solidFill>
                <a:latin typeface="Calibri"/>
              </a:rPr>
              <a:t> </a:t>
            </a:r>
          </a:p>
          <a:p>
            <a:pPr lvl="0" algn="ctr" defTabSz="914400"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Shared Memory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BCE31E24-9226-77BF-2512-67C59A3FEF1C}"/>
              </a:ext>
            </a:extLst>
          </p:cNvPr>
          <p:cNvCxnSpPr>
            <a:cxnSpLocks/>
            <a:stCxn id="13" idx="2"/>
            <a:endCxn id="28" idx="0"/>
          </p:cNvCxnSpPr>
          <p:nvPr/>
        </p:nvCxnSpPr>
        <p:spPr>
          <a:xfrm rot="16200000" flipH="1">
            <a:off x="8176331" y="733064"/>
            <a:ext cx="859648" cy="496864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A1035ABD-D279-74E2-B180-F876E0713FE2}"/>
              </a:ext>
            </a:extLst>
          </p:cNvPr>
          <p:cNvCxnSpPr>
            <a:cxnSpLocks/>
            <a:stCxn id="28" idx="2"/>
            <a:endCxn id="23" idx="0"/>
          </p:cNvCxnSpPr>
          <p:nvPr/>
        </p:nvCxnSpPr>
        <p:spPr>
          <a:xfrm rot="5400000">
            <a:off x="8190232" y="2493213"/>
            <a:ext cx="831849" cy="496864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8389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5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1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52049-FEF9-7537-181A-B2C0B638B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393FB-1383-AFA6-F26F-60A4E6257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Objective</a:t>
            </a:r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7D1955CB-464C-ADEA-1B6A-4E0718B47E69}"/>
              </a:ext>
            </a:extLst>
          </p:cNvPr>
          <p:cNvSpPr/>
          <p:nvPr/>
        </p:nvSpPr>
        <p:spPr>
          <a:xfrm>
            <a:off x="1154084" y="2270926"/>
            <a:ext cx="10058400" cy="2924072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200"/>
              <a:t>Allow the user process to </a:t>
            </a:r>
            <a:r>
              <a:rPr lang="en-US" sz="2200" b="1" u="sng">
                <a:solidFill>
                  <a:srgbClr val="FF0000"/>
                </a:solidFill>
              </a:rPr>
              <a:t>dynamically</a:t>
            </a:r>
            <a:r>
              <a:rPr lang="en-US" sz="2200"/>
              <a:t> </a:t>
            </a:r>
            <a:r>
              <a:rPr lang="en-US" sz="2200" b="1"/>
              <a:t>allocate/free </a:t>
            </a:r>
            <a:r>
              <a:rPr lang="en-US" sz="2200"/>
              <a:t>data of </a:t>
            </a:r>
            <a:r>
              <a:rPr lang="en-US" sz="2200" b="1"/>
              <a:t>different sizes</a:t>
            </a:r>
            <a:r>
              <a:rPr lang="en-US" sz="2200"/>
              <a:t> in run-time</a:t>
            </a:r>
            <a:endParaRPr lang="en-US" sz="2200" b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796220-A9FC-89AD-7908-6E592DCE3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6567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0C089-5CE2-E1CA-2A85-131830446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FB118-BD46-0939-D9AD-26FB31053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Heap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898400-58F3-CF43-DECB-436C54D3E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28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842B327-C6DD-787E-6799-59681FCA82B2}"/>
              </a:ext>
            </a:extLst>
          </p:cNvPr>
          <p:cNvSpPr/>
          <p:nvPr/>
        </p:nvSpPr>
        <p:spPr>
          <a:xfrm>
            <a:off x="1097279" y="2674203"/>
            <a:ext cx="10115203" cy="145075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400" b="1" dirty="0">
                <a:solidFill>
                  <a:srgbClr val="FF0000"/>
                </a:solidFill>
              </a:rPr>
              <a:t>DEPENDENCIES</a:t>
            </a:r>
          </a:p>
          <a:p>
            <a:pPr algn="ctr"/>
            <a:r>
              <a:rPr lang="en-US" sz="3600" b="1" dirty="0"/>
              <a:t>Dynamic Allocator + Fault Handler I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2960080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F8E9F-7477-40C4-8B93-7CEFF71F6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1094720" cy="1450757"/>
          </a:xfrm>
        </p:spPr>
        <p:txBody>
          <a:bodyPr/>
          <a:lstStyle/>
          <a:p>
            <a:r>
              <a:rPr lang="en-US" sz="4800"/>
              <a:t>User Heap – </a:t>
            </a:r>
            <a:r>
              <a:rPr lang="en-US" sz="4800" b="1"/>
              <a:t>Functions 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3B4CD-FA65-7FC5-E1E6-C7593B7AC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main functions required to handle “</a:t>
            </a:r>
            <a:r>
              <a:rPr lang="en-US" sz="2000" b="1"/>
              <a:t>User Heap</a:t>
            </a:r>
            <a:r>
              <a:rPr lang="en-US"/>
              <a:t>” are: 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24B4C-0DDB-3DB5-39C9-38870873F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29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0F23A64-38E1-92E0-A5FA-F0F737D15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0862274"/>
              </p:ext>
            </p:extLst>
          </p:nvPr>
        </p:nvGraphicFramePr>
        <p:xfrm>
          <a:off x="1154083" y="2328051"/>
          <a:ext cx="10001597" cy="258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1013">
                  <a:extLst>
                    <a:ext uri="{9D8B030D-6E8A-4147-A177-3AD203B41FA5}">
                      <a16:colId xmlns:a16="http://schemas.microsoft.com/office/drawing/2014/main" val="422314023"/>
                    </a:ext>
                  </a:extLst>
                </a:gridCol>
                <a:gridCol w="5404954">
                  <a:extLst>
                    <a:ext uri="{9D8B030D-6E8A-4147-A177-3AD203B41FA5}">
                      <a16:colId xmlns:a16="http://schemas.microsoft.com/office/drawing/2014/main" val="1877600023"/>
                    </a:ext>
                  </a:extLst>
                </a:gridCol>
                <a:gridCol w="3135630">
                  <a:extLst>
                    <a:ext uri="{9D8B030D-6E8A-4147-A177-3AD203B41FA5}">
                      <a16:colId xmlns:a16="http://schemas.microsoft.com/office/drawing/2014/main" val="2719033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424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 err="1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create_buddy_space</a:t>
                      </a:r>
                      <a:endParaRPr lang="en-US" sz="1800" b="1" kern="1200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u="none" dirty="0"/>
                        <a:t>Decl.: </a:t>
                      </a:r>
                      <a:r>
                        <a:rPr lang="en-US" u="none" dirty="0" err="1"/>
                        <a:t>inc</a:t>
                      </a:r>
                      <a:r>
                        <a:rPr lang="en-US" u="none" dirty="0"/>
                        <a:t>/</a:t>
                      </a:r>
                      <a:r>
                        <a:rPr lang="en-US" u="none" dirty="0" err="1"/>
                        <a:t>dynamic_allocator.h</a:t>
                      </a:r>
                      <a:endParaRPr lang="en-US" u="none" dirty="0"/>
                    </a:p>
                    <a:p>
                      <a:pPr algn="ctr"/>
                      <a:r>
                        <a:rPr lang="en-US" b="1" u="none" dirty="0">
                          <a:solidFill>
                            <a:srgbClr val="C00000"/>
                          </a:solidFill>
                        </a:rPr>
                        <a:t>definitions: lib/</a:t>
                      </a:r>
                      <a:r>
                        <a:rPr lang="en-US" b="1" u="none" dirty="0" err="1">
                          <a:solidFill>
                            <a:srgbClr val="C00000"/>
                          </a:solidFill>
                        </a:rPr>
                        <a:t>uheap.c</a:t>
                      </a:r>
                      <a:endParaRPr lang="en-US" b="1" u="none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2082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 err="1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delete_buddy_space</a:t>
                      </a:r>
                      <a:endParaRPr lang="en-US" sz="1800" b="1" kern="1200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b="1" u="none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9755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malloc (CUSTOM FIT) [USER SIDE]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u="none" dirty="0"/>
                        <a:t>declarations: </a:t>
                      </a:r>
                      <a:r>
                        <a:rPr lang="en-US" u="none" dirty="0" err="1"/>
                        <a:t>inc</a:t>
                      </a:r>
                      <a:r>
                        <a:rPr lang="en-US" u="none" dirty="0"/>
                        <a:t>/</a:t>
                      </a:r>
                      <a:r>
                        <a:rPr lang="en-US" u="none" dirty="0" err="1"/>
                        <a:t>uheap.h</a:t>
                      </a:r>
                      <a:endParaRPr lang="en-US" u="none" dirty="0"/>
                    </a:p>
                    <a:p>
                      <a:pPr algn="ctr"/>
                      <a:r>
                        <a:rPr lang="en-US" b="1" u="none" dirty="0">
                          <a:solidFill>
                            <a:srgbClr val="C00000"/>
                          </a:solidFill>
                        </a:rPr>
                        <a:t>definitions: lib/</a:t>
                      </a:r>
                      <a:r>
                        <a:rPr lang="en-US" b="1" u="none" dirty="0" err="1">
                          <a:solidFill>
                            <a:srgbClr val="C00000"/>
                          </a:solidFill>
                        </a:rPr>
                        <a:t>uheap.c</a:t>
                      </a:r>
                      <a:endParaRPr lang="en-US" b="1" u="none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7880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free [USER SIDE]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b="1" u="none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636503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u="none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allocate_user_mem </a:t>
                      </a:r>
                      <a:r>
                        <a:rPr lang="en-US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[KERNEL SIDE]</a:t>
                      </a:r>
                      <a:endParaRPr lang="en-US" b="1" u="none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u="none" dirty="0">
                          <a:solidFill>
                            <a:srgbClr val="C00000"/>
                          </a:solidFill>
                        </a:rPr>
                        <a:t>Kern/mem/</a:t>
                      </a:r>
                      <a:r>
                        <a:rPr lang="en-US" sz="1800" b="1" u="none" dirty="0" err="1">
                          <a:solidFill>
                            <a:srgbClr val="C00000"/>
                          </a:solidFill>
                        </a:rPr>
                        <a:t>chunk_operations.c</a:t>
                      </a:r>
                      <a:endParaRPr lang="en-US" u="non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0038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u="none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free_user_mem</a:t>
                      </a:r>
                      <a:r>
                        <a:rPr lang="en-US" b="1" u="none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[KERNEL SIDE]</a:t>
                      </a:r>
                      <a:endParaRPr lang="en-US" b="1" u="none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u="none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29952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0046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TextShape 2"/>
          <p:cNvSpPr txBox="1"/>
          <p:nvPr/>
        </p:nvSpPr>
        <p:spPr>
          <a:xfrm>
            <a:off x="1016559" y="1737360"/>
            <a:ext cx="10550129" cy="41601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spc="-1">
                <a:solidFill>
                  <a:srgbClr val="000000"/>
                </a:solidFill>
                <a:latin typeface="+mj-lt"/>
              </a:rPr>
              <a:t>Before we start!</a:t>
            </a:r>
            <a:endParaRPr lang="en-US" sz="2400" spc="-1">
              <a:solidFill>
                <a:srgbClr val="000000"/>
              </a:solidFill>
              <a:latin typeface="+mj-lt"/>
            </a:endParaRPr>
          </a:p>
          <a:p>
            <a:pPr marL="743040" lvl="1" indent="-285480"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spc="-1">
                <a:solidFill>
                  <a:srgbClr val="000000"/>
                </a:solidFill>
                <a:latin typeface="+mj-lt"/>
              </a:rPr>
              <a:t>Program runs in user mode (less privileges)</a:t>
            </a:r>
          </a:p>
          <a:p>
            <a:pPr marL="743040" lvl="1" indent="-285480"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spc="-1">
                <a:solidFill>
                  <a:srgbClr val="000000"/>
                </a:solidFill>
                <a:latin typeface="+mj-lt"/>
              </a:rPr>
              <a:t>It requires functions from the kernel</a:t>
            </a:r>
          </a:p>
          <a:p>
            <a:pPr marL="743040" lvl="1" indent="-285480"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spc="-1">
                <a:solidFill>
                  <a:srgbClr val="000000"/>
                </a:solidFill>
                <a:latin typeface="+mj-lt"/>
              </a:rPr>
              <a:t>So, need to switch to kernel mode, call the function, then return to user mode</a:t>
            </a:r>
          </a:p>
          <a:p>
            <a:pPr marL="743040" lvl="1" indent="-285480"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spc="-1">
                <a:solidFill>
                  <a:srgbClr val="000000"/>
                </a:solidFill>
                <a:latin typeface="+mj-lt"/>
              </a:rPr>
              <a:t>SYSTEM CALLS (S/W interrupts) do this job!</a:t>
            </a:r>
          </a:p>
        </p:txBody>
      </p:sp>
      <p:sp>
        <p:nvSpPr>
          <p:cNvPr id="652" name="CustomShape 3"/>
          <p:cNvSpPr/>
          <p:nvPr/>
        </p:nvSpPr>
        <p:spPr>
          <a:xfrm>
            <a:off x="1524000" y="0"/>
            <a:ext cx="9143640" cy="3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AE"/>
          </a:p>
        </p:txBody>
      </p:sp>
      <p:pic>
        <p:nvPicPr>
          <p:cNvPr id="653" name="Picture 30"/>
          <p:cNvPicPr/>
          <p:nvPr/>
        </p:nvPicPr>
        <p:blipFill>
          <a:blip r:embed="rId2"/>
          <a:stretch/>
        </p:blipFill>
        <p:spPr>
          <a:xfrm>
            <a:off x="1776180" y="4036667"/>
            <a:ext cx="8243640" cy="2605680"/>
          </a:xfrm>
          <a:prstGeom prst="rect">
            <a:avLst/>
          </a:prstGeom>
          <a:ln w="9360">
            <a:noFill/>
          </a:ln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D10B922B-6143-F968-9DB1-B6862519F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/>
              <a:t>User Heap</a:t>
            </a:r>
            <a:r>
              <a:rPr lang="en-US" sz="4800">
                <a:latin typeface="+mj-lt"/>
              </a:rPr>
              <a:t>: </a:t>
            </a:r>
            <a:r>
              <a:rPr lang="en-US" sz="4800" b="1">
                <a:latin typeface="+mj-lt"/>
              </a:rPr>
              <a:t>Overview</a:t>
            </a:r>
            <a:endParaRPr lang="en-A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3FA6F5-E207-D2BC-F3E8-E6F36762D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917442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CustomShape 3"/>
          <p:cNvSpPr/>
          <p:nvPr/>
        </p:nvSpPr>
        <p:spPr>
          <a:xfrm>
            <a:off x="1524000" y="0"/>
            <a:ext cx="9143640" cy="3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A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0B922B-6143-F968-9DB1-B6862519F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/>
              <a:t>User Heap</a:t>
            </a:r>
            <a:r>
              <a:rPr lang="en-US" sz="4800">
                <a:latin typeface="+mj-lt"/>
              </a:rPr>
              <a:t>: </a:t>
            </a:r>
            <a:r>
              <a:rPr lang="en-US" sz="4800" b="1">
                <a:latin typeface="+mj-lt"/>
              </a:rPr>
              <a:t>Overview</a:t>
            </a:r>
            <a:endParaRPr lang="en-A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3FA6F5-E207-D2BC-F3E8-E6F36762D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31</a:t>
            </a:fld>
            <a:endParaRPr lang="en-US"/>
          </a:p>
        </p:txBody>
      </p:sp>
      <p:sp>
        <p:nvSpPr>
          <p:cNvPr id="2" name="TextShape 2">
            <a:extLst>
              <a:ext uri="{FF2B5EF4-FFF2-40B4-BE49-F238E27FC236}">
                <a16:creationId xmlns:a16="http://schemas.microsoft.com/office/drawing/2014/main" id="{28A49895-3A44-BCFD-C81A-2B97F186C199}"/>
              </a:ext>
            </a:extLst>
          </p:cNvPr>
          <p:cNvSpPr txBox="1"/>
          <p:nvPr/>
        </p:nvSpPr>
        <p:spPr>
          <a:xfrm>
            <a:off x="1097279" y="1737360"/>
            <a:ext cx="10115203" cy="453009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spc="-1">
                <a:solidFill>
                  <a:srgbClr val="000000"/>
                </a:solidFill>
                <a:latin typeface="Consolas"/>
              </a:rPr>
              <a:t>Allocation</a:t>
            </a:r>
            <a:endParaRPr lang="en-US" sz="2800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1" spc="-1">
                <a:solidFill>
                  <a:srgbClr val="000000"/>
                </a:solidFill>
                <a:latin typeface="Consolas"/>
              </a:rPr>
              <a:t>Example 1 (C++ and C):</a:t>
            </a:r>
            <a:endParaRPr lang="en-US" sz="2400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pc="-1">
                <a:solidFill>
                  <a:srgbClr val="000000"/>
                </a:solidFill>
                <a:latin typeface="Consolas"/>
              </a:rPr>
              <a:t>C++: 	 int * </a:t>
            </a:r>
            <a:r>
              <a:rPr lang="en-US" spc="-1" err="1">
                <a:solidFill>
                  <a:srgbClr val="000000"/>
                </a:solidFill>
                <a:latin typeface="Consolas"/>
              </a:rPr>
              <a:t>ptr_value</a:t>
            </a:r>
            <a:r>
              <a:rPr lang="en-US" spc="-1">
                <a:solidFill>
                  <a:srgbClr val="000000"/>
                </a:solidFill>
                <a:latin typeface="Consolas"/>
              </a:rPr>
              <a:t> = </a:t>
            </a:r>
            <a:r>
              <a:rPr lang="en-US" b="1" spc="-1">
                <a:solidFill>
                  <a:srgbClr val="000000"/>
                </a:solidFill>
                <a:latin typeface="Consolas"/>
              </a:rPr>
              <a:t>new</a:t>
            </a:r>
            <a:r>
              <a:rPr lang="en-US" spc="-1">
                <a:solidFill>
                  <a:srgbClr val="000000"/>
                </a:solidFill>
                <a:latin typeface="Consolas"/>
              </a:rPr>
              <a:t> int;</a:t>
            </a:r>
            <a:endParaRPr lang="en-US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pc="-1">
                <a:solidFill>
                  <a:srgbClr val="000000"/>
                </a:solidFill>
                <a:latin typeface="Consolas"/>
              </a:rPr>
              <a:t>C: 	 int * </a:t>
            </a:r>
            <a:r>
              <a:rPr lang="en-US" spc="-1" err="1">
                <a:solidFill>
                  <a:srgbClr val="000000"/>
                </a:solidFill>
                <a:latin typeface="Consolas"/>
              </a:rPr>
              <a:t>ptr_value</a:t>
            </a:r>
            <a:r>
              <a:rPr lang="en-US" spc="-1">
                <a:solidFill>
                  <a:srgbClr val="000000"/>
                </a:solidFill>
                <a:latin typeface="Consolas"/>
              </a:rPr>
              <a:t> = </a:t>
            </a:r>
            <a:r>
              <a:rPr lang="en-US" b="1" spc="-1">
                <a:solidFill>
                  <a:srgbClr val="FF0000"/>
                </a:solidFill>
                <a:latin typeface="Consolas"/>
              </a:rPr>
              <a:t>malloc</a:t>
            </a:r>
            <a:r>
              <a:rPr lang="en-US" spc="-1">
                <a:solidFill>
                  <a:srgbClr val="000000"/>
                </a:solidFill>
                <a:latin typeface="Consolas"/>
              </a:rPr>
              <a:t>(</a:t>
            </a:r>
            <a:r>
              <a:rPr lang="en-US" spc="-1" err="1">
                <a:solidFill>
                  <a:srgbClr val="000000"/>
                </a:solidFill>
                <a:latin typeface="Consolas"/>
              </a:rPr>
              <a:t>sizeof</a:t>
            </a:r>
            <a:r>
              <a:rPr lang="en-US" spc="-1">
                <a:solidFill>
                  <a:srgbClr val="000000"/>
                </a:solidFill>
                <a:latin typeface="Consolas"/>
              </a:rPr>
              <a:t>(int)); </a:t>
            </a:r>
            <a:endParaRPr lang="en-US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pc="-1">
                <a:solidFill>
                  <a:srgbClr val="000000"/>
                </a:solidFill>
                <a:latin typeface="Consolas"/>
              </a:rPr>
              <a:t>allocate 1 int (4 bytes) in virtual memory and return the allocated virtual address to “</a:t>
            </a:r>
            <a:r>
              <a:rPr lang="en-US" spc="-1" err="1">
                <a:solidFill>
                  <a:srgbClr val="000000"/>
                </a:solidFill>
                <a:latin typeface="Consolas"/>
              </a:rPr>
              <a:t>ptr_value</a:t>
            </a:r>
            <a:r>
              <a:rPr lang="en-US" spc="-1">
                <a:solidFill>
                  <a:srgbClr val="000000"/>
                </a:solidFill>
                <a:latin typeface="Consolas"/>
              </a:rPr>
              <a:t>”</a:t>
            </a:r>
            <a:endParaRPr lang="en-US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1" spc="-1">
                <a:solidFill>
                  <a:srgbClr val="000000"/>
                </a:solidFill>
                <a:latin typeface="Consolas"/>
              </a:rPr>
              <a:t>Example 2 (C++ and C):</a:t>
            </a:r>
            <a:endParaRPr lang="en-US" sz="2400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pc="-1">
                <a:solidFill>
                  <a:srgbClr val="000000"/>
                </a:solidFill>
                <a:latin typeface="Consolas"/>
              </a:rPr>
              <a:t>C++:	float* </a:t>
            </a:r>
            <a:r>
              <a:rPr lang="en-US" spc="-1" err="1">
                <a:solidFill>
                  <a:srgbClr val="000000"/>
                </a:solidFill>
                <a:latin typeface="Consolas"/>
              </a:rPr>
              <a:t>arr</a:t>
            </a:r>
            <a:r>
              <a:rPr lang="en-US" spc="-1">
                <a:solidFill>
                  <a:srgbClr val="000000"/>
                </a:solidFill>
                <a:latin typeface="Consolas"/>
              </a:rPr>
              <a:t> = </a:t>
            </a:r>
            <a:r>
              <a:rPr lang="en-US" b="1" spc="-1">
                <a:solidFill>
                  <a:srgbClr val="000000"/>
                </a:solidFill>
                <a:latin typeface="Consolas"/>
              </a:rPr>
              <a:t>new</a:t>
            </a:r>
            <a:r>
              <a:rPr lang="en-US" spc="-1">
                <a:solidFill>
                  <a:srgbClr val="000000"/>
                </a:solidFill>
                <a:latin typeface="Consolas"/>
              </a:rPr>
              <a:t> float[200]; </a:t>
            </a:r>
            <a:endParaRPr lang="en-US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pc="-1">
                <a:solidFill>
                  <a:srgbClr val="000000"/>
                </a:solidFill>
                <a:latin typeface="Consolas"/>
              </a:rPr>
              <a:t>C:	float* </a:t>
            </a:r>
            <a:r>
              <a:rPr lang="en-US" spc="-1" err="1">
                <a:solidFill>
                  <a:srgbClr val="000000"/>
                </a:solidFill>
                <a:latin typeface="Consolas"/>
              </a:rPr>
              <a:t>arr</a:t>
            </a:r>
            <a:r>
              <a:rPr lang="en-US" spc="-1">
                <a:solidFill>
                  <a:srgbClr val="000000"/>
                </a:solidFill>
                <a:latin typeface="Consolas"/>
              </a:rPr>
              <a:t> = </a:t>
            </a:r>
            <a:r>
              <a:rPr lang="en-US" b="1" spc="-1">
                <a:solidFill>
                  <a:srgbClr val="FF0000"/>
                </a:solidFill>
                <a:latin typeface="Consolas"/>
              </a:rPr>
              <a:t>malloc</a:t>
            </a:r>
            <a:r>
              <a:rPr lang="en-US" spc="-1">
                <a:solidFill>
                  <a:srgbClr val="000000"/>
                </a:solidFill>
                <a:latin typeface="Consolas"/>
              </a:rPr>
              <a:t>(</a:t>
            </a:r>
            <a:r>
              <a:rPr lang="en-US" spc="-1" err="1">
                <a:solidFill>
                  <a:srgbClr val="000000"/>
                </a:solidFill>
                <a:latin typeface="Consolas"/>
              </a:rPr>
              <a:t>sizeof</a:t>
            </a:r>
            <a:r>
              <a:rPr lang="en-US" spc="-1">
                <a:solidFill>
                  <a:srgbClr val="000000"/>
                </a:solidFill>
                <a:latin typeface="Consolas"/>
              </a:rPr>
              <a:t>(float) * 200);</a:t>
            </a:r>
            <a:endParaRPr lang="en-US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pc="-1">
                <a:solidFill>
                  <a:srgbClr val="000000"/>
                </a:solidFill>
                <a:latin typeface="Consolas"/>
              </a:rPr>
              <a:t>allocate 200 floats (800 bytes) in memory and return the allocated address to “</a:t>
            </a:r>
            <a:r>
              <a:rPr lang="en-US" spc="-1" err="1">
                <a:solidFill>
                  <a:srgbClr val="000000"/>
                </a:solidFill>
                <a:latin typeface="Consolas"/>
              </a:rPr>
              <a:t>arr</a:t>
            </a:r>
            <a:r>
              <a:rPr lang="en-US" spc="-1">
                <a:solidFill>
                  <a:srgbClr val="000000"/>
                </a:solidFill>
                <a:latin typeface="Consolas"/>
              </a:rPr>
              <a:t>”</a:t>
            </a:r>
            <a:endParaRPr lang="en-US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1134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CustomShape 3"/>
          <p:cNvSpPr/>
          <p:nvPr/>
        </p:nvSpPr>
        <p:spPr>
          <a:xfrm>
            <a:off x="1524000" y="0"/>
            <a:ext cx="9143640" cy="3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A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0B922B-6143-F968-9DB1-B6862519F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/>
              <a:t>User Heap</a:t>
            </a:r>
            <a:r>
              <a:rPr lang="en-US" sz="4800">
                <a:latin typeface="+mj-lt"/>
              </a:rPr>
              <a:t>: </a:t>
            </a:r>
            <a:r>
              <a:rPr lang="en-US" sz="4800" b="1">
                <a:latin typeface="+mj-lt"/>
              </a:rPr>
              <a:t>Overview</a:t>
            </a:r>
            <a:endParaRPr lang="en-A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3FA6F5-E207-D2BC-F3E8-E6F36762D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32</a:t>
            </a:fld>
            <a:endParaRPr lang="en-US"/>
          </a:p>
        </p:txBody>
      </p:sp>
      <p:sp>
        <p:nvSpPr>
          <p:cNvPr id="4" name="TextShape 2">
            <a:extLst>
              <a:ext uri="{FF2B5EF4-FFF2-40B4-BE49-F238E27FC236}">
                <a16:creationId xmlns:a16="http://schemas.microsoft.com/office/drawing/2014/main" id="{76DC0433-939E-D47E-0751-39175723AD05}"/>
              </a:ext>
            </a:extLst>
          </p:cNvPr>
          <p:cNvSpPr txBox="1"/>
          <p:nvPr/>
        </p:nvSpPr>
        <p:spPr>
          <a:xfrm>
            <a:off x="1097280" y="1737360"/>
            <a:ext cx="10058400" cy="43884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spc="-1">
                <a:solidFill>
                  <a:srgbClr val="000000"/>
                </a:solidFill>
                <a:latin typeface="Consolas"/>
              </a:rPr>
              <a:t>De-allocation</a:t>
            </a:r>
            <a:endParaRPr lang="en-US" sz="2800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1" spc="-1">
                <a:solidFill>
                  <a:srgbClr val="000000"/>
                </a:solidFill>
                <a:latin typeface="Consolas"/>
              </a:rPr>
              <a:t>Example 1 (C++ and C):</a:t>
            </a:r>
            <a:endParaRPr lang="en-US" sz="2400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pc="-1">
                <a:solidFill>
                  <a:srgbClr val="000000"/>
                </a:solidFill>
                <a:latin typeface="Consolas"/>
              </a:rPr>
              <a:t>C++: 	 </a:t>
            </a:r>
            <a:r>
              <a:rPr lang="en-US" b="1" spc="-1">
                <a:solidFill>
                  <a:srgbClr val="000000"/>
                </a:solidFill>
                <a:latin typeface="Consolas"/>
              </a:rPr>
              <a:t>delete</a:t>
            </a:r>
            <a:r>
              <a:rPr lang="en-US" spc="-1">
                <a:solidFill>
                  <a:srgbClr val="000000"/>
                </a:solidFill>
                <a:latin typeface="Consolas"/>
              </a:rPr>
              <a:t> </a:t>
            </a:r>
            <a:r>
              <a:rPr lang="en-US" spc="-1" err="1">
                <a:solidFill>
                  <a:srgbClr val="000000"/>
                </a:solidFill>
                <a:latin typeface="Consolas"/>
              </a:rPr>
              <a:t>ptr_value</a:t>
            </a:r>
            <a:r>
              <a:rPr lang="en-US" spc="-1">
                <a:solidFill>
                  <a:srgbClr val="000000"/>
                </a:solidFill>
                <a:latin typeface="Consolas"/>
              </a:rPr>
              <a:t>;</a:t>
            </a:r>
            <a:endParaRPr lang="en-US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pc="-1">
                <a:solidFill>
                  <a:srgbClr val="000000"/>
                </a:solidFill>
                <a:latin typeface="Consolas"/>
              </a:rPr>
              <a:t>C: 	 </a:t>
            </a:r>
            <a:r>
              <a:rPr lang="en-US" b="1" spc="-1">
                <a:solidFill>
                  <a:srgbClr val="FF0000"/>
                </a:solidFill>
                <a:latin typeface="Consolas"/>
              </a:rPr>
              <a:t>free</a:t>
            </a:r>
            <a:r>
              <a:rPr lang="en-US" spc="-1">
                <a:solidFill>
                  <a:srgbClr val="000000"/>
                </a:solidFill>
                <a:latin typeface="Consolas"/>
              </a:rPr>
              <a:t>(</a:t>
            </a:r>
            <a:r>
              <a:rPr lang="en-US" spc="-1" err="1">
                <a:solidFill>
                  <a:srgbClr val="000000"/>
                </a:solidFill>
                <a:latin typeface="Consolas"/>
              </a:rPr>
              <a:t>ptr_value</a:t>
            </a:r>
            <a:r>
              <a:rPr lang="en-US" spc="-1">
                <a:solidFill>
                  <a:srgbClr val="000000"/>
                </a:solidFill>
                <a:latin typeface="Consolas"/>
              </a:rPr>
              <a:t>); </a:t>
            </a:r>
            <a:endParaRPr lang="en-US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pc="-1">
                <a:solidFill>
                  <a:srgbClr val="000000"/>
                </a:solidFill>
                <a:latin typeface="Consolas"/>
              </a:rPr>
              <a:t>deallocate (free) 1 int (4 bytes) from virtual memory at address “</a:t>
            </a:r>
            <a:r>
              <a:rPr lang="en-US" spc="-1" err="1">
                <a:solidFill>
                  <a:srgbClr val="000000"/>
                </a:solidFill>
                <a:latin typeface="Consolas"/>
              </a:rPr>
              <a:t>ptr_value</a:t>
            </a:r>
            <a:r>
              <a:rPr lang="en-US" spc="-1">
                <a:solidFill>
                  <a:srgbClr val="000000"/>
                </a:solidFill>
                <a:latin typeface="Consolas"/>
              </a:rPr>
              <a:t>”</a:t>
            </a:r>
            <a:endParaRPr lang="en-US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1" spc="-1">
                <a:solidFill>
                  <a:srgbClr val="000000"/>
                </a:solidFill>
                <a:latin typeface="Consolas"/>
              </a:rPr>
              <a:t>Example 2 (C++ and C):</a:t>
            </a:r>
            <a:endParaRPr lang="en-US" sz="2400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pc="-1">
                <a:solidFill>
                  <a:srgbClr val="000000"/>
                </a:solidFill>
                <a:latin typeface="Consolas"/>
              </a:rPr>
              <a:t>C++:	</a:t>
            </a:r>
            <a:r>
              <a:rPr lang="en-US" b="1" spc="-1">
                <a:solidFill>
                  <a:srgbClr val="000000"/>
                </a:solidFill>
                <a:latin typeface="Consolas"/>
              </a:rPr>
              <a:t>delete</a:t>
            </a:r>
            <a:r>
              <a:rPr lang="en-US" spc="-1">
                <a:solidFill>
                  <a:srgbClr val="000000"/>
                </a:solidFill>
                <a:latin typeface="Consolas"/>
              </a:rPr>
              <a:t>[] </a:t>
            </a:r>
            <a:r>
              <a:rPr lang="en-US" spc="-1" err="1">
                <a:solidFill>
                  <a:srgbClr val="000000"/>
                </a:solidFill>
                <a:latin typeface="Consolas"/>
              </a:rPr>
              <a:t>arr</a:t>
            </a:r>
            <a:r>
              <a:rPr lang="en-US" spc="-1">
                <a:solidFill>
                  <a:srgbClr val="000000"/>
                </a:solidFill>
                <a:latin typeface="Consolas"/>
              </a:rPr>
              <a:t>;</a:t>
            </a:r>
            <a:endParaRPr lang="en-US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pc="-1">
                <a:solidFill>
                  <a:srgbClr val="000000"/>
                </a:solidFill>
                <a:latin typeface="Consolas"/>
              </a:rPr>
              <a:t>C:	</a:t>
            </a:r>
            <a:r>
              <a:rPr lang="en-US" b="1" spc="-1">
                <a:solidFill>
                  <a:srgbClr val="FF0000"/>
                </a:solidFill>
                <a:latin typeface="Consolas"/>
              </a:rPr>
              <a:t>free</a:t>
            </a:r>
            <a:r>
              <a:rPr lang="en-US" spc="-1">
                <a:solidFill>
                  <a:srgbClr val="000000"/>
                </a:solidFill>
                <a:latin typeface="Consolas"/>
              </a:rPr>
              <a:t>(</a:t>
            </a:r>
            <a:r>
              <a:rPr lang="en-US" spc="-1" err="1">
                <a:solidFill>
                  <a:srgbClr val="000000"/>
                </a:solidFill>
                <a:latin typeface="Consolas"/>
              </a:rPr>
              <a:t>arr</a:t>
            </a:r>
            <a:r>
              <a:rPr lang="en-US" spc="-1">
                <a:solidFill>
                  <a:srgbClr val="000000"/>
                </a:solidFill>
                <a:latin typeface="Consolas"/>
              </a:rPr>
              <a:t>);</a:t>
            </a:r>
            <a:endParaRPr lang="en-US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pc="-1">
                <a:solidFill>
                  <a:srgbClr val="000000"/>
                </a:solidFill>
                <a:latin typeface="Consolas"/>
              </a:rPr>
              <a:t>de-allocate (free) 200 floats (800 bytes) from virtual memory at address “</a:t>
            </a:r>
            <a:r>
              <a:rPr lang="en-US" spc="-1" err="1">
                <a:solidFill>
                  <a:srgbClr val="000000"/>
                </a:solidFill>
                <a:latin typeface="Consolas"/>
              </a:rPr>
              <a:t>arr</a:t>
            </a:r>
            <a:r>
              <a:rPr lang="en-US" spc="-1">
                <a:solidFill>
                  <a:srgbClr val="000000"/>
                </a:solidFill>
                <a:latin typeface="Consolas"/>
              </a:rPr>
              <a:t>”</a:t>
            </a:r>
            <a:endParaRPr lang="en-US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00782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CustomShape 3"/>
          <p:cNvSpPr/>
          <p:nvPr/>
        </p:nvSpPr>
        <p:spPr>
          <a:xfrm>
            <a:off x="1524000" y="0"/>
            <a:ext cx="9143640" cy="3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A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0B922B-6143-F968-9DB1-B6862519F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/>
              <a:t>User Heap</a:t>
            </a:r>
            <a:r>
              <a:rPr lang="en-US" sz="4800">
                <a:latin typeface="+mj-lt"/>
              </a:rPr>
              <a:t>: </a:t>
            </a:r>
            <a:r>
              <a:rPr lang="en-US" sz="4800" b="1">
                <a:latin typeface="+mj-lt"/>
              </a:rPr>
              <a:t>Overview</a:t>
            </a:r>
            <a:endParaRPr lang="en-A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3FA6F5-E207-D2BC-F3E8-E6F36762D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33</a:t>
            </a:fld>
            <a:endParaRPr lang="en-US"/>
          </a:p>
        </p:txBody>
      </p:sp>
      <p:sp>
        <p:nvSpPr>
          <p:cNvPr id="2" name="CustomShape 3">
            <a:extLst>
              <a:ext uri="{FF2B5EF4-FFF2-40B4-BE49-F238E27FC236}">
                <a16:creationId xmlns:a16="http://schemas.microsoft.com/office/drawing/2014/main" id="{4222014D-9223-C94B-0E74-6EA86CE22920}"/>
              </a:ext>
            </a:extLst>
          </p:cNvPr>
          <p:cNvSpPr/>
          <p:nvPr/>
        </p:nvSpPr>
        <p:spPr>
          <a:xfrm>
            <a:off x="1866900" y="2133720"/>
            <a:ext cx="7877175" cy="3628905"/>
          </a:xfrm>
          <a:prstGeom prst="roundRect">
            <a:avLst>
              <a:gd name="adj" fmla="val 6366"/>
            </a:avLst>
          </a:prstGeom>
          <a:solidFill>
            <a:srgbClr val="FFFFFF"/>
          </a:solidFill>
          <a:ln w="12600">
            <a:solidFill>
              <a:srgbClr val="5A5A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spcAft>
                <a:spcPts val="1001"/>
              </a:spcAft>
              <a:tabLst>
                <a:tab pos="0" algn="l"/>
              </a:tabLst>
            </a:pPr>
            <a:r>
              <a:rPr lang="en-US" sz="2400" b="1" spc="-1">
                <a:solidFill>
                  <a:srgbClr val="000000"/>
                </a:solidFill>
                <a:latin typeface="Cambria"/>
                <a:ea typeface="Arial"/>
              </a:rPr>
              <a:t>User Dynamic malloc/free </a:t>
            </a:r>
            <a:r>
              <a:rPr lang="en-US" sz="2400" b="1" spc="-1">
                <a:solidFill>
                  <a:srgbClr val="FF0000"/>
                </a:solidFill>
                <a:latin typeface="Calibri"/>
                <a:ea typeface="Arial"/>
              </a:rPr>
              <a:t>*</a:t>
            </a:r>
            <a:endParaRPr lang="en-US" sz="2400" spc="-1">
              <a:latin typeface="Arial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762B08B-E453-135E-A908-58A07A5CF531}"/>
              </a:ext>
            </a:extLst>
          </p:cNvPr>
          <p:cNvGrpSpPr/>
          <p:nvPr/>
        </p:nvGrpSpPr>
        <p:grpSpPr>
          <a:xfrm>
            <a:off x="1985126" y="2664000"/>
            <a:ext cx="3353259" cy="2971800"/>
            <a:chOff x="638175" y="2664000"/>
            <a:chExt cx="3353259" cy="2971800"/>
          </a:xfrm>
        </p:grpSpPr>
        <p:sp>
          <p:nvSpPr>
            <p:cNvPr id="7" name="CustomShape 5">
              <a:extLst>
                <a:ext uri="{FF2B5EF4-FFF2-40B4-BE49-F238E27FC236}">
                  <a16:creationId xmlns:a16="http://schemas.microsoft.com/office/drawing/2014/main" id="{1DC7AC05-FADC-E7F0-D541-8ABB0AE6EEF5}"/>
                </a:ext>
              </a:extLst>
            </p:cNvPr>
            <p:cNvSpPr/>
            <p:nvPr/>
          </p:nvSpPr>
          <p:spPr>
            <a:xfrm>
              <a:off x="638175" y="2664000"/>
              <a:ext cx="3353259" cy="297180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8000" rIns="18000">
              <a:noAutofit/>
            </a:bodyPr>
            <a:lstStyle/>
            <a:p>
              <a:pPr algn="ctr">
                <a:spcAft>
                  <a:spcPts val="1001"/>
                </a:spcAft>
                <a:tabLst>
                  <a:tab pos="0" algn="l"/>
                </a:tabLst>
              </a:pPr>
              <a:r>
                <a:rPr lang="en-US" sz="1600" b="1" spc="-1">
                  <a:solidFill>
                    <a:srgbClr val="000000"/>
                  </a:solidFill>
                  <a:latin typeface="Cambria"/>
                  <a:ea typeface="Arial"/>
                </a:rPr>
                <a:t>malloc( )</a:t>
              </a:r>
              <a:br>
                <a:rPr/>
              </a:br>
              <a:r>
                <a:rPr lang="en-US" sz="1400" b="1" spc="-1">
                  <a:solidFill>
                    <a:srgbClr val="000000"/>
                  </a:solidFill>
                  <a:latin typeface="Cambria"/>
                  <a:ea typeface="Arial"/>
                </a:rPr>
                <a:t>(</a:t>
              </a:r>
              <a:r>
                <a:rPr lang="en-US" sz="1400" b="1" i="1" spc="-1">
                  <a:solidFill>
                    <a:srgbClr val="000000"/>
                  </a:solidFill>
                  <a:latin typeface="Cambria"/>
                  <a:ea typeface="Arial"/>
                </a:rPr>
                <a:t>CUSTOM Fit</a:t>
              </a:r>
              <a:r>
                <a:rPr lang="en-US" sz="1400" b="1" spc="-1">
                  <a:solidFill>
                    <a:srgbClr val="000000"/>
                  </a:solidFill>
                  <a:latin typeface="Cambria"/>
                  <a:ea typeface="Arial"/>
                </a:rPr>
                <a:t>) </a:t>
              </a:r>
              <a:endParaRPr lang="en-US" sz="1400" spc="-1">
                <a:latin typeface="Arial"/>
              </a:endParaRPr>
            </a:p>
          </p:txBody>
        </p:sp>
        <p:sp>
          <p:nvSpPr>
            <p:cNvPr id="8" name="CustomShape 6">
              <a:extLst>
                <a:ext uri="{FF2B5EF4-FFF2-40B4-BE49-F238E27FC236}">
                  <a16:creationId xmlns:a16="http://schemas.microsoft.com/office/drawing/2014/main" id="{9293295E-E151-3F9B-01B5-50A0AE73C2E6}"/>
                </a:ext>
              </a:extLst>
            </p:cNvPr>
            <p:cNvSpPr/>
            <p:nvPr/>
          </p:nvSpPr>
          <p:spPr>
            <a:xfrm>
              <a:off x="2018415" y="4438080"/>
              <a:ext cx="681480" cy="766440"/>
            </a:xfrm>
            <a:prstGeom prst="flowChartMagneticDisk">
              <a:avLst/>
            </a:prstGeom>
            <a:gradFill rotWithShape="0">
              <a:gsLst>
                <a:gs pos="0">
                  <a:srgbClr val="765E00"/>
                </a:gs>
                <a:gs pos="100000">
                  <a:srgbClr val="FFCC00"/>
                </a:gs>
              </a:gsLst>
              <a:lin ang="0"/>
            </a:gradFill>
            <a:ln w="126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AE"/>
            </a:p>
          </p:txBody>
        </p:sp>
        <p:sp>
          <p:nvSpPr>
            <p:cNvPr id="9" name="CustomShape 7">
              <a:extLst>
                <a:ext uri="{FF2B5EF4-FFF2-40B4-BE49-F238E27FC236}">
                  <a16:creationId xmlns:a16="http://schemas.microsoft.com/office/drawing/2014/main" id="{60478A3A-F16A-0E3C-851F-D97AD783E364}"/>
                </a:ext>
              </a:extLst>
            </p:cNvPr>
            <p:cNvSpPr/>
            <p:nvPr/>
          </p:nvSpPr>
          <p:spPr>
            <a:xfrm>
              <a:off x="654015" y="3429000"/>
              <a:ext cx="1009080" cy="855720"/>
            </a:xfrm>
            <a:prstGeom prst="rect">
              <a:avLst/>
            </a:prstGeom>
            <a:noFill/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6720" tIns="36720" rIns="36720" bIns="36720">
              <a:noAutofit/>
            </a:bodyPr>
            <a:lstStyle/>
            <a:p>
              <a:pPr algn="ctr">
                <a:spcAft>
                  <a:spcPts val="1001"/>
                </a:spcAft>
                <a:tabLst>
                  <a:tab pos="0" algn="l"/>
                </a:tabLst>
              </a:pPr>
              <a:r>
                <a:rPr lang="en-US" sz="1400" b="1" spc="-1">
                  <a:solidFill>
                    <a:srgbClr val="FF0000"/>
                  </a:solidFill>
                  <a:latin typeface="Calibri"/>
                  <a:ea typeface="Arial"/>
                </a:rPr>
                <a:t>Nothing</a:t>
              </a:r>
              <a:r>
                <a:rPr lang="en-US" sz="1400" b="1" spc="-1">
                  <a:solidFill>
                    <a:srgbClr val="000000"/>
                  </a:solidFill>
                  <a:latin typeface="Calibri"/>
                  <a:ea typeface="Arial"/>
                </a:rPr>
                <a:t> Created in Memory</a:t>
              </a:r>
              <a:endParaRPr lang="en-US" sz="1400" spc="-1">
                <a:latin typeface="Arial"/>
              </a:endParaRPr>
            </a:p>
          </p:txBody>
        </p:sp>
        <p:sp>
          <p:nvSpPr>
            <p:cNvPr id="10" name="CustomShape 8">
              <a:extLst>
                <a:ext uri="{FF2B5EF4-FFF2-40B4-BE49-F238E27FC236}">
                  <a16:creationId xmlns:a16="http://schemas.microsoft.com/office/drawing/2014/main" id="{19B4DE73-6C95-8BA4-F3A7-6B5E0973154D}"/>
                </a:ext>
              </a:extLst>
            </p:cNvPr>
            <p:cNvSpPr/>
            <p:nvPr/>
          </p:nvSpPr>
          <p:spPr>
            <a:xfrm>
              <a:off x="1674615" y="3441960"/>
              <a:ext cx="1166040" cy="825120"/>
            </a:xfrm>
            <a:prstGeom prst="rect">
              <a:avLst/>
            </a:prstGeom>
            <a:noFill/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6720" tIns="36720" rIns="36720" bIns="36720">
              <a:noAutofit/>
            </a:bodyPr>
            <a:lstStyle/>
            <a:p>
              <a:pPr algn="ctr">
                <a:spcAft>
                  <a:spcPts val="1001"/>
                </a:spcAft>
                <a:tabLst>
                  <a:tab pos="0" algn="l"/>
                </a:tabLst>
              </a:pPr>
              <a:r>
                <a:rPr lang="en-US" sz="1400" b="1" spc="-1">
                  <a:solidFill>
                    <a:srgbClr val="FF0000"/>
                  </a:solidFill>
                  <a:latin typeface="Calibri"/>
                  <a:ea typeface="Arial"/>
                </a:rPr>
                <a:t>Nothing</a:t>
              </a:r>
              <a:r>
                <a:rPr lang="en-US" sz="1400" b="1" spc="-1">
                  <a:solidFill>
                    <a:srgbClr val="000000"/>
                  </a:solidFill>
                  <a:latin typeface="Calibri"/>
                  <a:ea typeface="Arial"/>
                </a:rPr>
                <a:t> Created in Page File</a:t>
              </a:r>
              <a:endParaRPr lang="en-US" sz="1400" spc="-1">
                <a:latin typeface="Arial"/>
              </a:endParaRPr>
            </a:p>
          </p:txBody>
        </p:sp>
        <p:grpSp>
          <p:nvGrpSpPr>
            <p:cNvPr id="11" name="Group 9">
              <a:extLst>
                <a:ext uri="{FF2B5EF4-FFF2-40B4-BE49-F238E27FC236}">
                  <a16:creationId xmlns:a16="http://schemas.microsoft.com/office/drawing/2014/main" id="{C08DE48C-B697-1C6D-2584-99A0DE5986A1}"/>
                </a:ext>
              </a:extLst>
            </p:cNvPr>
            <p:cNvGrpSpPr/>
            <p:nvPr/>
          </p:nvGrpSpPr>
          <p:grpSpPr>
            <a:xfrm>
              <a:off x="838695" y="4459320"/>
              <a:ext cx="748440" cy="747360"/>
              <a:chOff x="838695" y="4459320"/>
              <a:chExt cx="748440" cy="747360"/>
            </a:xfrm>
          </p:grpSpPr>
          <p:sp>
            <p:nvSpPr>
              <p:cNvPr id="12" name="CustomShape 10">
                <a:extLst>
                  <a:ext uri="{FF2B5EF4-FFF2-40B4-BE49-F238E27FC236}">
                    <a16:creationId xmlns:a16="http://schemas.microsoft.com/office/drawing/2014/main" id="{822EBCF5-50B7-8C61-6FEF-978B121CF305}"/>
                  </a:ext>
                </a:extLst>
              </p:cNvPr>
              <p:cNvSpPr/>
              <p:nvPr/>
            </p:nvSpPr>
            <p:spPr>
              <a:xfrm>
                <a:off x="841575" y="4832280"/>
                <a:ext cx="745560" cy="185040"/>
              </a:xfrm>
              <a:prstGeom prst="rect">
                <a:avLst/>
              </a:prstGeom>
              <a:gradFill rotWithShape="0">
                <a:gsLst>
                  <a:gs pos="0">
                    <a:srgbClr val="005125"/>
                  </a:gs>
                  <a:gs pos="100000">
                    <a:srgbClr val="00B050"/>
                  </a:gs>
                </a:gsLst>
                <a:lin ang="0"/>
              </a:gradFill>
              <a:ln w="1260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  <p:sp>
            <p:nvSpPr>
              <p:cNvPr id="13" name="CustomShape 11">
                <a:extLst>
                  <a:ext uri="{FF2B5EF4-FFF2-40B4-BE49-F238E27FC236}">
                    <a16:creationId xmlns:a16="http://schemas.microsoft.com/office/drawing/2014/main" id="{033D5C1A-5B90-E5F3-5642-FAC61CFCA7DB}"/>
                  </a:ext>
                </a:extLst>
              </p:cNvPr>
              <p:cNvSpPr/>
              <p:nvPr/>
            </p:nvSpPr>
            <p:spPr>
              <a:xfrm>
                <a:off x="841575" y="4459320"/>
                <a:ext cx="745560" cy="185040"/>
              </a:xfrm>
              <a:prstGeom prst="rect">
                <a:avLst/>
              </a:prstGeom>
              <a:gradFill rotWithShape="0">
                <a:gsLst>
                  <a:gs pos="0">
                    <a:srgbClr val="005125"/>
                  </a:gs>
                  <a:gs pos="100000">
                    <a:srgbClr val="00B050"/>
                  </a:gs>
                </a:gsLst>
                <a:lin ang="0"/>
              </a:gradFill>
              <a:ln w="1260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  <p:sp>
            <p:nvSpPr>
              <p:cNvPr id="14" name="CustomShape 12">
                <a:extLst>
                  <a:ext uri="{FF2B5EF4-FFF2-40B4-BE49-F238E27FC236}">
                    <a16:creationId xmlns:a16="http://schemas.microsoft.com/office/drawing/2014/main" id="{BE686246-477F-3BAA-0BFC-AF12FDB242A0}"/>
                  </a:ext>
                </a:extLst>
              </p:cNvPr>
              <p:cNvSpPr/>
              <p:nvPr/>
            </p:nvSpPr>
            <p:spPr>
              <a:xfrm>
                <a:off x="841575" y="4645080"/>
                <a:ext cx="745560" cy="186120"/>
              </a:xfrm>
              <a:prstGeom prst="rect">
                <a:avLst/>
              </a:prstGeom>
              <a:gradFill rotWithShape="0">
                <a:gsLst>
                  <a:gs pos="0">
                    <a:srgbClr val="005125"/>
                  </a:gs>
                  <a:gs pos="100000">
                    <a:srgbClr val="00B050"/>
                  </a:gs>
                </a:gsLst>
                <a:lin ang="0"/>
              </a:gradFill>
              <a:ln w="1260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  <p:sp>
            <p:nvSpPr>
              <p:cNvPr id="15" name="CustomShape 13">
                <a:extLst>
                  <a:ext uri="{FF2B5EF4-FFF2-40B4-BE49-F238E27FC236}">
                    <a16:creationId xmlns:a16="http://schemas.microsoft.com/office/drawing/2014/main" id="{1742DCC5-37AC-3B82-0525-6F31B0DDF920}"/>
                  </a:ext>
                </a:extLst>
              </p:cNvPr>
              <p:cNvSpPr/>
              <p:nvPr/>
            </p:nvSpPr>
            <p:spPr>
              <a:xfrm>
                <a:off x="838695" y="5021640"/>
                <a:ext cx="745560" cy="185040"/>
              </a:xfrm>
              <a:prstGeom prst="rect">
                <a:avLst/>
              </a:prstGeom>
              <a:gradFill rotWithShape="0">
                <a:gsLst>
                  <a:gs pos="0">
                    <a:srgbClr val="005125"/>
                  </a:gs>
                  <a:gs pos="100000">
                    <a:srgbClr val="00B050"/>
                  </a:gs>
                </a:gsLst>
                <a:lin ang="0"/>
              </a:gradFill>
              <a:ln w="1260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</p:grpSp>
      </p:grpSp>
      <p:grpSp>
        <p:nvGrpSpPr>
          <p:cNvPr id="16" name="Group 14">
            <a:extLst>
              <a:ext uri="{FF2B5EF4-FFF2-40B4-BE49-F238E27FC236}">
                <a16:creationId xmlns:a16="http://schemas.microsoft.com/office/drawing/2014/main" id="{DFBD0B06-FB39-3FFD-4A01-17AE41D4DE35}"/>
              </a:ext>
            </a:extLst>
          </p:cNvPr>
          <p:cNvGrpSpPr/>
          <p:nvPr/>
        </p:nvGrpSpPr>
        <p:grpSpPr>
          <a:xfrm>
            <a:off x="5769666" y="2664000"/>
            <a:ext cx="3774384" cy="2971800"/>
            <a:chOff x="4245666" y="2664000"/>
            <a:chExt cx="3774384" cy="2971800"/>
          </a:xfrm>
        </p:grpSpPr>
        <p:sp>
          <p:nvSpPr>
            <p:cNvPr id="17" name="CustomShape 15">
              <a:extLst>
                <a:ext uri="{FF2B5EF4-FFF2-40B4-BE49-F238E27FC236}">
                  <a16:creationId xmlns:a16="http://schemas.microsoft.com/office/drawing/2014/main" id="{97A69FB1-7A43-013D-FEDC-C0A1F7973D52}"/>
                </a:ext>
              </a:extLst>
            </p:cNvPr>
            <p:cNvSpPr/>
            <p:nvPr/>
          </p:nvSpPr>
          <p:spPr>
            <a:xfrm>
              <a:off x="4245666" y="2664000"/>
              <a:ext cx="3774384" cy="297180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8000" rIns="18000">
              <a:noAutofit/>
            </a:bodyPr>
            <a:lstStyle/>
            <a:p>
              <a:pPr algn="ctr">
                <a:spcAft>
                  <a:spcPts val="1001"/>
                </a:spcAft>
                <a:tabLst>
                  <a:tab pos="0" algn="l"/>
                </a:tabLst>
              </a:pPr>
              <a:r>
                <a:rPr lang="en-US" sz="1600" b="1" spc="-1">
                  <a:solidFill>
                    <a:srgbClr val="000000"/>
                  </a:solidFill>
                  <a:latin typeface="Cambria"/>
                  <a:ea typeface="Arial"/>
                </a:rPr>
                <a:t>free( )</a:t>
              </a:r>
              <a:endParaRPr lang="en-US" sz="1600" spc="-1">
                <a:latin typeface="Arial"/>
              </a:endParaRPr>
            </a:p>
          </p:txBody>
        </p:sp>
        <p:sp>
          <p:nvSpPr>
            <p:cNvPr id="18" name="CustomShape 16">
              <a:extLst>
                <a:ext uri="{FF2B5EF4-FFF2-40B4-BE49-F238E27FC236}">
                  <a16:creationId xmlns:a16="http://schemas.microsoft.com/office/drawing/2014/main" id="{6D15F255-A32D-1E48-89BA-386FBFDEB92A}"/>
                </a:ext>
              </a:extLst>
            </p:cNvPr>
            <p:cNvSpPr/>
            <p:nvPr/>
          </p:nvSpPr>
          <p:spPr>
            <a:xfrm>
              <a:off x="5956920" y="4439880"/>
              <a:ext cx="681480" cy="766440"/>
            </a:xfrm>
            <a:prstGeom prst="flowChartMagneticDisk">
              <a:avLst/>
            </a:prstGeom>
            <a:gradFill rotWithShape="0">
              <a:gsLst>
                <a:gs pos="0">
                  <a:srgbClr val="765E00"/>
                </a:gs>
                <a:gs pos="100000">
                  <a:srgbClr val="FFCC00"/>
                </a:gs>
              </a:gsLst>
              <a:lin ang="0"/>
            </a:gradFill>
            <a:ln w="126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AE"/>
            </a:p>
          </p:txBody>
        </p:sp>
        <p:grpSp>
          <p:nvGrpSpPr>
            <p:cNvPr id="19" name="Group 17">
              <a:extLst>
                <a:ext uri="{FF2B5EF4-FFF2-40B4-BE49-F238E27FC236}">
                  <a16:creationId xmlns:a16="http://schemas.microsoft.com/office/drawing/2014/main" id="{7787485A-B685-5CF7-CF91-DBAFA918B0E5}"/>
                </a:ext>
              </a:extLst>
            </p:cNvPr>
            <p:cNvGrpSpPr/>
            <p:nvPr/>
          </p:nvGrpSpPr>
          <p:grpSpPr>
            <a:xfrm>
              <a:off x="6135120" y="4099680"/>
              <a:ext cx="308520" cy="277200"/>
              <a:chOff x="6135120" y="4099680"/>
              <a:chExt cx="308520" cy="277200"/>
            </a:xfrm>
          </p:grpSpPr>
          <p:sp>
            <p:nvSpPr>
              <p:cNvPr id="30" name="CustomShape 18">
                <a:extLst>
                  <a:ext uri="{FF2B5EF4-FFF2-40B4-BE49-F238E27FC236}">
                    <a16:creationId xmlns:a16="http://schemas.microsoft.com/office/drawing/2014/main" id="{E8FE8D39-2414-25B3-2B7F-A2D751FE0B67}"/>
                  </a:ext>
                </a:extLst>
              </p:cNvPr>
              <p:cNvSpPr/>
              <p:nvPr/>
            </p:nvSpPr>
            <p:spPr>
              <a:xfrm rot="2429400">
                <a:off x="6110280" y="4226760"/>
                <a:ext cx="367200" cy="29880"/>
              </a:xfrm>
              <a:prstGeom prst="rect">
                <a:avLst/>
              </a:prstGeom>
              <a:solidFill>
                <a:srgbClr val="000000"/>
              </a:solidFill>
              <a:ln w="9360">
                <a:noFill/>
              </a:ln>
              <a:effectLst>
                <a:outerShdw dist="17819" dir="2700000" algn="ctr" rotWithShape="0">
                  <a:srgbClr val="7F7F7F">
                    <a:alpha val="50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  <p:sp>
            <p:nvSpPr>
              <p:cNvPr id="31" name="CustomShape 19">
                <a:extLst>
                  <a:ext uri="{FF2B5EF4-FFF2-40B4-BE49-F238E27FC236}">
                    <a16:creationId xmlns:a16="http://schemas.microsoft.com/office/drawing/2014/main" id="{159D54F9-7AF1-1EA3-CB79-A1D64CA2FF53}"/>
                  </a:ext>
                </a:extLst>
              </p:cNvPr>
              <p:cNvSpPr/>
              <p:nvPr/>
            </p:nvSpPr>
            <p:spPr>
              <a:xfrm rot="19170600">
                <a:off x="6105600" y="4213080"/>
                <a:ext cx="367200" cy="45000"/>
              </a:xfrm>
              <a:prstGeom prst="rect">
                <a:avLst/>
              </a:prstGeom>
              <a:solidFill>
                <a:srgbClr val="000000"/>
              </a:solidFill>
              <a:ln w="9360">
                <a:noFill/>
              </a:ln>
              <a:effectLst>
                <a:outerShdw dist="17819" dir="2700000" algn="ctr" rotWithShape="0">
                  <a:srgbClr val="7F7F7F">
                    <a:alpha val="50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</p:grpSp>
        <p:grpSp>
          <p:nvGrpSpPr>
            <p:cNvPr id="20" name="Group 20">
              <a:extLst>
                <a:ext uri="{FF2B5EF4-FFF2-40B4-BE49-F238E27FC236}">
                  <a16:creationId xmlns:a16="http://schemas.microsoft.com/office/drawing/2014/main" id="{37A8DAAE-CE8A-FFD1-6DA9-BD59A2067A70}"/>
                </a:ext>
              </a:extLst>
            </p:cNvPr>
            <p:cNvGrpSpPr/>
            <p:nvPr/>
          </p:nvGrpSpPr>
          <p:grpSpPr>
            <a:xfrm>
              <a:off x="5002560" y="4111200"/>
              <a:ext cx="302040" cy="264600"/>
              <a:chOff x="5002560" y="4111200"/>
              <a:chExt cx="302040" cy="264600"/>
            </a:xfrm>
          </p:grpSpPr>
          <p:sp>
            <p:nvSpPr>
              <p:cNvPr id="28" name="CustomShape 21">
                <a:extLst>
                  <a:ext uri="{FF2B5EF4-FFF2-40B4-BE49-F238E27FC236}">
                    <a16:creationId xmlns:a16="http://schemas.microsoft.com/office/drawing/2014/main" id="{F625E74D-FFBE-0999-B78E-F97B8B9C4CBA}"/>
                  </a:ext>
                </a:extLst>
              </p:cNvPr>
              <p:cNvSpPr/>
              <p:nvPr/>
            </p:nvSpPr>
            <p:spPr>
              <a:xfrm rot="2434200">
                <a:off x="4971960" y="4226760"/>
                <a:ext cx="366840" cy="29880"/>
              </a:xfrm>
              <a:prstGeom prst="rect">
                <a:avLst/>
              </a:prstGeom>
              <a:solidFill>
                <a:srgbClr val="000000"/>
              </a:solidFill>
              <a:ln w="9360">
                <a:noFill/>
              </a:ln>
              <a:effectLst>
                <a:outerShdw dist="17819" dir="2700000" algn="ctr" rotWithShape="0">
                  <a:srgbClr val="7F7F7F">
                    <a:alpha val="50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  <p:sp>
            <p:nvSpPr>
              <p:cNvPr id="29" name="CustomShape 22">
                <a:extLst>
                  <a:ext uri="{FF2B5EF4-FFF2-40B4-BE49-F238E27FC236}">
                    <a16:creationId xmlns:a16="http://schemas.microsoft.com/office/drawing/2014/main" id="{64AC43A6-13A9-6BE5-A29B-4CEC6441FB7F}"/>
                  </a:ext>
                </a:extLst>
              </p:cNvPr>
              <p:cNvSpPr/>
              <p:nvPr/>
            </p:nvSpPr>
            <p:spPr>
              <a:xfrm rot="19165800">
                <a:off x="4968000" y="4226760"/>
                <a:ext cx="366840" cy="29880"/>
              </a:xfrm>
              <a:prstGeom prst="rect">
                <a:avLst/>
              </a:prstGeom>
              <a:solidFill>
                <a:srgbClr val="000000"/>
              </a:solidFill>
              <a:ln w="9360">
                <a:noFill/>
              </a:ln>
              <a:effectLst>
                <a:outerShdw dist="17819" dir="2700000" algn="ctr" rotWithShape="0">
                  <a:srgbClr val="7F7F7F">
                    <a:alpha val="50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</p:grpSp>
        <p:sp>
          <p:nvSpPr>
            <p:cNvPr id="21" name="CustomShape 23">
              <a:extLst>
                <a:ext uri="{FF2B5EF4-FFF2-40B4-BE49-F238E27FC236}">
                  <a16:creationId xmlns:a16="http://schemas.microsoft.com/office/drawing/2014/main" id="{B1D21087-F7CC-AC7E-4AE8-06EBE9A5914E}"/>
                </a:ext>
              </a:extLst>
            </p:cNvPr>
            <p:cNvSpPr/>
            <p:nvPr/>
          </p:nvSpPr>
          <p:spPr>
            <a:xfrm>
              <a:off x="4394160" y="3299010"/>
              <a:ext cx="1343705" cy="994710"/>
            </a:xfrm>
            <a:prstGeom prst="rect">
              <a:avLst/>
            </a:prstGeom>
            <a:noFill/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>
              <a:noAutofit/>
            </a:bodyPr>
            <a:lstStyle/>
            <a:p>
              <a:pPr algn="ctr">
                <a:spcAft>
                  <a:spcPts val="1001"/>
                </a:spcAft>
                <a:tabLst>
                  <a:tab pos="0" algn="l"/>
                </a:tabLst>
              </a:pPr>
              <a:r>
                <a:rPr lang="en-US" sz="1400" b="1" spc="-1">
                  <a:solidFill>
                    <a:srgbClr val="FF0000"/>
                  </a:solidFill>
                  <a:latin typeface="Calibri"/>
                  <a:ea typeface="Arial"/>
                </a:rPr>
                <a:t>REMOVE </a:t>
              </a:r>
              <a:r>
                <a:rPr lang="en-US" sz="1400" b="1" spc="-1">
                  <a:solidFill>
                    <a:srgbClr val="000000"/>
                  </a:solidFill>
                  <a:latin typeface="Calibri"/>
                  <a:ea typeface="Arial"/>
                </a:rPr>
                <a:t>Working Sets Pages in Given Range</a:t>
              </a:r>
              <a:endParaRPr lang="en-US" sz="1400" spc="-1">
                <a:latin typeface="Arial"/>
              </a:endParaRPr>
            </a:p>
          </p:txBody>
        </p:sp>
        <p:sp>
          <p:nvSpPr>
            <p:cNvPr id="22" name="CustomShape 24">
              <a:extLst>
                <a:ext uri="{FF2B5EF4-FFF2-40B4-BE49-F238E27FC236}">
                  <a16:creationId xmlns:a16="http://schemas.microsoft.com/office/drawing/2014/main" id="{57346034-D7A5-E858-1D94-A797D017A39E}"/>
                </a:ext>
              </a:extLst>
            </p:cNvPr>
            <p:cNvSpPr/>
            <p:nvPr/>
          </p:nvSpPr>
          <p:spPr>
            <a:xfrm>
              <a:off x="5811959" y="3299010"/>
              <a:ext cx="1039189" cy="758160"/>
            </a:xfrm>
            <a:prstGeom prst="rect">
              <a:avLst/>
            </a:prstGeom>
            <a:noFill/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>
              <a:noAutofit/>
            </a:bodyPr>
            <a:lstStyle/>
            <a:p>
              <a:pPr algn="ctr">
                <a:spcAft>
                  <a:spcPts val="1001"/>
                </a:spcAft>
                <a:tabLst>
                  <a:tab pos="0" algn="l"/>
                </a:tabLst>
              </a:pPr>
              <a:r>
                <a:rPr lang="en-US" sz="1400" b="1" spc="-1">
                  <a:solidFill>
                    <a:srgbClr val="FF0000"/>
                  </a:solidFill>
                  <a:latin typeface="Calibri"/>
                  <a:ea typeface="Arial"/>
                </a:rPr>
                <a:t>REMOVE</a:t>
              </a:r>
              <a:r>
                <a:rPr lang="en-US" sz="1400" b="1" spc="-1">
                  <a:solidFill>
                    <a:srgbClr val="000000"/>
                  </a:solidFill>
                  <a:latin typeface="Calibri"/>
                  <a:ea typeface="Arial"/>
                </a:rPr>
                <a:t> ALL Pages in Given Range</a:t>
              </a:r>
              <a:endParaRPr lang="en-US" sz="1400" spc="-1">
                <a:latin typeface="Arial"/>
              </a:endParaRPr>
            </a:p>
          </p:txBody>
        </p:sp>
        <p:grpSp>
          <p:nvGrpSpPr>
            <p:cNvPr id="23" name="Group 25">
              <a:extLst>
                <a:ext uri="{FF2B5EF4-FFF2-40B4-BE49-F238E27FC236}">
                  <a16:creationId xmlns:a16="http://schemas.microsoft.com/office/drawing/2014/main" id="{0412F8F3-CC2E-D12C-B3E2-CD52C61B707A}"/>
                </a:ext>
              </a:extLst>
            </p:cNvPr>
            <p:cNvGrpSpPr/>
            <p:nvPr/>
          </p:nvGrpSpPr>
          <p:grpSpPr>
            <a:xfrm>
              <a:off x="4773960" y="4459320"/>
              <a:ext cx="748800" cy="747360"/>
              <a:chOff x="4773960" y="4459320"/>
              <a:chExt cx="748800" cy="747360"/>
            </a:xfrm>
          </p:grpSpPr>
          <p:sp>
            <p:nvSpPr>
              <p:cNvPr id="24" name="CustomShape 26">
                <a:extLst>
                  <a:ext uri="{FF2B5EF4-FFF2-40B4-BE49-F238E27FC236}">
                    <a16:creationId xmlns:a16="http://schemas.microsoft.com/office/drawing/2014/main" id="{1D5E844C-8798-4D6B-0A90-794128852417}"/>
                  </a:ext>
                </a:extLst>
              </p:cNvPr>
              <p:cNvSpPr/>
              <p:nvPr/>
            </p:nvSpPr>
            <p:spPr>
              <a:xfrm>
                <a:off x="4777200" y="4832280"/>
                <a:ext cx="745560" cy="185040"/>
              </a:xfrm>
              <a:prstGeom prst="rect">
                <a:avLst/>
              </a:prstGeom>
              <a:gradFill rotWithShape="0">
                <a:gsLst>
                  <a:gs pos="0">
                    <a:srgbClr val="005125"/>
                  </a:gs>
                  <a:gs pos="100000">
                    <a:srgbClr val="00B050"/>
                  </a:gs>
                </a:gsLst>
                <a:lin ang="0"/>
              </a:gradFill>
              <a:ln w="1260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  <p:sp>
            <p:nvSpPr>
              <p:cNvPr id="25" name="CustomShape 27">
                <a:extLst>
                  <a:ext uri="{FF2B5EF4-FFF2-40B4-BE49-F238E27FC236}">
                    <a16:creationId xmlns:a16="http://schemas.microsoft.com/office/drawing/2014/main" id="{FB272E3F-14D6-816A-FC43-033797138786}"/>
                  </a:ext>
                </a:extLst>
              </p:cNvPr>
              <p:cNvSpPr/>
              <p:nvPr/>
            </p:nvSpPr>
            <p:spPr>
              <a:xfrm>
                <a:off x="4777200" y="4459320"/>
                <a:ext cx="745560" cy="185040"/>
              </a:xfrm>
              <a:prstGeom prst="rect">
                <a:avLst/>
              </a:prstGeom>
              <a:gradFill rotWithShape="0">
                <a:gsLst>
                  <a:gs pos="0">
                    <a:srgbClr val="005125"/>
                  </a:gs>
                  <a:gs pos="100000">
                    <a:srgbClr val="00B050"/>
                  </a:gs>
                </a:gsLst>
                <a:lin ang="0"/>
              </a:gradFill>
              <a:ln w="1260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  <p:sp>
            <p:nvSpPr>
              <p:cNvPr id="26" name="CustomShape 28">
                <a:extLst>
                  <a:ext uri="{FF2B5EF4-FFF2-40B4-BE49-F238E27FC236}">
                    <a16:creationId xmlns:a16="http://schemas.microsoft.com/office/drawing/2014/main" id="{1F5C359F-D2EB-E132-B627-A873034E1BCE}"/>
                  </a:ext>
                </a:extLst>
              </p:cNvPr>
              <p:cNvSpPr/>
              <p:nvPr/>
            </p:nvSpPr>
            <p:spPr>
              <a:xfrm>
                <a:off x="4777200" y="4645080"/>
                <a:ext cx="745560" cy="186120"/>
              </a:xfrm>
              <a:prstGeom prst="rect">
                <a:avLst/>
              </a:prstGeom>
              <a:gradFill rotWithShape="0">
                <a:gsLst>
                  <a:gs pos="0">
                    <a:srgbClr val="005125"/>
                  </a:gs>
                  <a:gs pos="100000">
                    <a:srgbClr val="00B050"/>
                  </a:gs>
                </a:gsLst>
                <a:lin ang="0"/>
              </a:gradFill>
              <a:ln w="1260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  <p:sp>
            <p:nvSpPr>
              <p:cNvPr id="27" name="CustomShape 29">
                <a:extLst>
                  <a:ext uri="{FF2B5EF4-FFF2-40B4-BE49-F238E27FC236}">
                    <a16:creationId xmlns:a16="http://schemas.microsoft.com/office/drawing/2014/main" id="{ECF4995E-A525-58A1-7E43-2ECA9B5C431F}"/>
                  </a:ext>
                </a:extLst>
              </p:cNvPr>
              <p:cNvSpPr/>
              <p:nvPr/>
            </p:nvSpPr>
            <p:spPr>
              <a:xfrm>
                <a:off x="4773960" y="5021640"/>
                <a:ext cx="745560" cy="185040"/>
              </a:xfrm>
              <a:prstGeom prst="rect">
                <a:avLst/>
              </a:prstGeom>
              <a:gradFill rotWithShape="0">
                <a:gsLst>
                  <a:gs pos="0">
                    <a:srgbClr val="005125"/>
                  </a:gs>
                  <a:gs pos="100000">
                    <a:srgbClr val="00B050"/>
                  </a:gs>
                </a:gsLst>
                <a:lin ang="0"/>
              </a:gradFill>
              <a:ln w="1260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</p:grpSp>
      </p:grpSp>
      <p:sp>
        <p:nvSpPr>
          <p:cNvPr id="32" name="CustomShape 7">
            <a:extLst>
              <a:ext uri="{FF2B5EF4-FFF2-40B4-BE49-F238E27FC236}">
                <a16:creationId xmlns:a16="http://schemas.microsoft.com/office/drawing/2014/main" id="{19F0A208-743A-8DD0-BDEF-F60E2B823387}"/>
              </a:ext>
            </a:extLst>
          </p:cNvPr>
          <p:cNvSpPr/>
          <p:nvPr/>
        </p:nvSpPr>
        <p:spPr>
          <a:xfrm>
            <a:off x="4184160" y="3448080"/>
            <a:ext cx="1009080" cy="85572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>
            <a:noAutofit/>
          </a:bodyPr>
          <a:lstStyle/>
          <a:p>
            <a:pPr algn="ctr">
              <a:spcAft>
                <a:spcPts val="1001"/>
              </a:spcAft>
              <a:tabLst>
                <a:tab pos="0" algn="l"/>
              </a:tabLst>
            </a:pPr>
            <a:r>
              <a:rPr lang="en-US" sz="1400" b="1" spc="-1">
                <a:solidFill>
                  <a:srgbClr val="FF0000"/>
                </a:solidFill>
                <a:latin typeface="Calibri"/>
                <a:ea typeface="Arial"/>
              </a:rPr>
              <a:t>MARK</a:t>
            </a:r>
            <a:r>
              <a:rPr lang="en-US" sz="1400" b="1" spc="-1">
                <a:solidFill>
                  <a:srgbClr val="000000"/>
                </a:solidFill>
                <a:latin typeface="Calibri"/>
                <a:ea typeface="Arial"/>
              </a:rPr>
              <a:t> allocated pages in VM</a:t>
            </a:r>
            <a:endParaRPr lang="en-US" sz="1400" spc="-1">
              <a:latin typeface="Arial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81F1139-3151-71C8-C459-0BB37C1D4B54}"/>
              </a:ext>
            </a:extLst>
          </p:cNvPr>
          <p:cNvGrpSpPr/>
          <p:nvPr/>
        </p:nvGrpSpPr>
        <p:grpSpPr>
          <a:xfrm>
            <a:off x="4309826" y="4293720"/>
            <a:ext cx="747180" cy="1097430"/>
            <a:chOff x="4309826" y="4293720"/>
            <a:chExt cx="747180" cy="1097430"/>
          </a:xfrm>
        </p:grpSpPr>
        <p:sp>
          <p:nvSpPr>
            <p:cNvPr id="33" name="CustomShape 11">
              <a:extLst>
                <a:ext uri="{FF2B5EF4-FFF2-40B4-BE49-F238E27FC236}">
                  <a16:creationId xmlns:a16="http://schemas.microsoft.com/office/drawing/2014/main" id="{F6ECED63-5149-74ED-55C5-2DEDB788E291}"/>
                </a:ext>
              </a:extLst>
            </p:cNvPr>
            <p:cNvSpPr/>
            <p:nvPr/>
          </p:nvSpPr>
          <p:spPr>
            <a:xfrm>
              <a:off x="4311446" y="4933950"/>
              <a:ext cx="745560" cy="101340"/>
            </a:xfrm>
            <a:prstGeom prst="rect">
              <a:avLst/>
            </a:prstGeom>
            <a:solidFill>
              <a:srgbClr val="00B0F0"/>
            </a:solidFill>
            <a:ln w="1260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AE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90BF8DE-764C-E83D-6C20-CBDAB150835A}"/>
                </a:ext>
              </a:extLst>
            </p:cNvPr>
            <p:cNvSpPr/>
            <p:nvPr/>
          </p:nvSpPr>
          <p:spPr>
            <a:xfrm>
              <a:off x="4327257" y="4293720"/>
              <a:ext cx="729749" cy="1097430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  <p:sp>
          <p:nvSpPr>
            <p:cNvPr id="35" name="CustomShape 11">
              <a:extLst>
                <a:ext uri="{FF2B5EF4-FFF2-40B4-BE49-F238E27FC236}">
                  <a16:creationId xmlns:a16="http://schemas.microsoft.com/office/drawing/2014/main" id="{5700B845-ADE6-45B1-3FC7-5CB1718FC65A}"/>
                </a:ext>
              </a:extLst>
            </p:cNvPr>
            <p:cNvSpPr/>
            <p:nvPr/>
          </p:nvSpPr>
          <p:spPr>
            <a:xfrm>
              <a:off x="4309826" y="4695610"/>
              <a:ext cx="745560" cy="122621"/>
            </a:xfrm>
            <a:prstGeom prst="rect">
              <a:avLst/>
            </a:prstGeom>
            <a:solidFill>
              <a:srgbClr val="00B0F0"/>
            </a:solidFill>
            <a:ln w="1260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AE"/>
            </a:p>
          </p:txBody>
        </p:sp>
        <p:sp>
          <p:nvSpPr>
            <p:cNvPr id="36" name="CustomShape 11">
              <a:extLst>
                <a:ext uri="{FF2B5EF4-FFF2-40B4-BE49-F238E27FC236}">
                  <a16:creationId xmlns:a16="http://schemas.microsoft.com/office/drawing/2014/main" id="{F5B47019-7529-1FB2-1A1C-FDBE5B789ECD}"/>
                </a:ext>
              </a:extLst>
            </p:cNvPr>
            <p:cNvSpPr/>
            <p:nvPr/>
          </p:nvSpPr>
          <p:spPr>
            <a:xfrm>
              <a:off x="4311446" y="4818450"/>
              <a:ext cx="745560" cy="101340"/>
            </a:xfrm>
            <a:prstGeom prst="rect">
              <a:avLst/>
            </a:prstGeom>
            <a:solidFill>
              <a:srgbClr val="00B0F0"/>
            </a:solidFill>
            <a:ln w="1260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AE"/>
            </a:p>
          </p:txBody>
        </p:sp>
      </p:grpSp>
      <p:sp>
        <p:nvSpPr>
          <p:cNvPr id="44" name="CustomShape 7">
            <a:extLst>
              <a:ext uri="{FF2B5EF4-FFF2-40B4-BE49-F238E27FC236}">
                <a16:creationId xmlns:a16="http://schemas.microsoft.com/office/drawing/2014/main" id="{2D6DC42F-718E-0CC6-9010-E8E4ED8964AA}"/>
              </a:ext>
            </a:extLst>
          </p:cNvPr>
          <p:cNvSpPr/>
          <p:nvPr/>
        </p:nvSpPr>
        <p:spPr>
          <a:xfrm>
            <a:off x="8451349" y="3299010"/>
            <a:ext cx="1009080" cy="84351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>
            <a:noAutofit/>
          </a:bodyPr>
          <a:lstStyle/>
          <a:p>
            <a:pPr algn="ctr">
              <a:spcAft>
                <a:spcPts val="1001"/>
              </a:spcAft>
              <a:tabLst>
                <a:tab pos="0" algn="l"/>
              </a:tabLst>
            </a:pPr>
            <a:r>
              <a:rPr lang="en-US" sz="1400" b="1" spc="-1">
                <a:solidFill>
                  <a:srgbClr val="FF0000"/>
                </a:solidFill>
                <a:latin typeface="Calibri"/>
                <a:ea typeface="Arial"/>
              </a:rPr>
              <a:t>UN-MARK</a:t>
            </a:r>
            <a:r>
              <a:rPr lang="en-US" sz="1400" b="1" spc="-1">
                <a:solidFill>
                  <a:srgbClr val="000000"/>
                </a:solidFill>
                <a:latin typeface="Calibri"/>
                <a:ea typeface="Arial"/>
              </a:rPr>
              <a:t> allocated pages in VM</a:t>
            </a:r>
            <a:endParaRPr lang="en-US" sz="1400" spc="-1">
              <a:latin typeface="Arial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1B4245A-C359-3B9A-AA72-867B549DAFEF}"/>
              </a:ext>
            </a:extLst>
          </p:cNvPr>
          <p:cNvGrpSpPr/>
          <p:nvPr/>
        </p:nvGrpSpPr>
        <p:grpSpPr>
          <a:xfrm>
            <a:off x="8577015" y="4132440"/>
            <a:ext cx="747180" cy="1097430"/>
            <a:chOff x="4309826" y="4293720"/>
            <a:chExt cx="747180" cy="1097430"/>
          </a:xfrm>
        </p:grpSpPr>
        <p:sp>
          <p:nvSpPr>
            <p:cNvPr id="46" name="CustomShape 11">
              <a:extLst>
                <a:ext uri="{FF2B5EF4-FFF2-40B4-BE49-F238E27FC236}">
                  <a16:creationId xmlns:a16="http://schemas.microsoft.com/office/drawing/2014/main" id="{1EDE0066-0AA7-03C7-3249-B8B4791B4406}"/>
                </a:ext>
              </a:extLst>
            </p:cNvPr>
            <p:cNvSpPr/>
            <p:nvPr/>
          </p:nvSpPr>
          <p:spPr>
            <a:xfrm>
              <a:off x="4311446" y="4914900"/>
              <a:ext cx="745560" cy="101340"/>
            </a:xfrm>
            <a:prstGeom prst="rect">
              <a:avLst/>
            </a:prstGeom>
            <a:noFill/>
            <a:ln w="1260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AE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CE9DD0B-7B19-3685-B33E-B00DF97D4A79}"/>
                </a:ext>
              </a:extLst>
            </p:cNvPr>
            <p:cNvSpPr/>
            <p:nvPr/>
          </p:nvSpPr>
          <p:spPr>
            <a:xfrm>
              <a:off x="4327257" y="4293720"/>
              <a:ext cx="729749" cy="1097430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  <p:sp>
          <p:nvSpPr>
            <p:cNvPr id="48" name="CustomShape 11">
              <a:extLst>
                <a:ext uri="{FF2B5EF4-FFF2-40B4-BE49-F238E27FC236}">
                  <a16:creationId xmlns:a16="http://schemas.microsoft.com/office/drawing/2014/main" id="{D9986A42-A37C-06A3-33F7-CABB40DDFB53}"/>
                </a:ext>
              </a:extLst>
            </p:cNvPr>
            <p:cNvSpPr/>
            <p:nvPr/>
          </p:nvSpPr>
          <p:spPr>
            <a:xfrm>
              <a:off x="4309826" y="4695610"/>
              <a:ext cx="745560" cy="122621"/>
            </a:xfrm>
            <a:prstGeom prst="rect">
              <a:avLst/>
            </a:prstGeom>
            <a:noFill/>
            <a:ln w="1260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AE"/>
            </a:p>
          </p:txBody>
        </p:sp>
        <p:sp>
          <p:nvSpPr>
            <p:cNvPr id="49" name="CustomShape 11">
              <a:extLst>
                <a:ext uri="{FF2B5EF4-FFF2-40B4-BE49-F238E27FC236}">
                  <a16:creationId xmlns:a16="http://schemas.microsoft.com/office/drawing/2014/main" id="{B2A87FD8-B4A3-849B-D5CD-18A42C58F5A0}"/>
                </a:ext>
              </a:extLst>
            </p:cNvPr>
            <p:cNvSpPr/>
            <p:nvPr/>
          </p:nvSpPr>
          <p:spPr>
            <a:xfrm>
              <a:off x="4311446" y="4818450"/>
              <a:ext cx="745560" cy="101340"/>
            </a:xfrm>
            <a:prstGeom prst="rect">
              <a:avLst/>
            </a:prstGeom>
            <a:noFill/>
            <a:ln w="1260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AE"/>
            </a:p>
          </p:txBody>
        </p:sp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A688DBB-EF6A-013D-7010-FBAAC5A7E5C2}"/>
              </a:ext>
            </a:extLst>
          </p:cNvPr>
          <p:cNvSpPr/>
          <p:nvPr/>
        </p:nvSpPr>
        <p:spPr>
          <a:xfrm>
            <a:off x="1866900" y="5870864"/>
            <a:ext cx="7877175" cy="422041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/>
              <a:t>USE </a:t>
            </a:r>
            <a:r>
              <a:rPr lang="en-US" sz="2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PERM_UHPAGE </a:t>
            </a:r>
            <a:r>
              <a:rPr lang="en-US" sz="2000" b="1"/>
              <a:t>TO UN/MARK PAGES</a:t>
            </a:r>
            <a:endParaRPr lang="en-AE" sz="2000" b="1"/>
          </a:p>
        </p:txBody>
      </p:sp>
    </p:spTree>
    <p:extLst>
      <p:ext uri="{BB962C8B-B14F-4D97-AF65-F5344CB8AC3E}">
        <p14:creationId xmlns:p14="http://schemas.microsoft.com/office/powerpoint/2010/main" val="2327890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44" grpId="0"/>
      <p:bldP spid="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6A23A-33CC-A3DB-8404-810776DC2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User Heap – Allocation Types? 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37210-20FF-1A27-8CB3-55F29D83A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12826"/>
          </a:xfrm>
        </p:spPr>
        <p:txBody>
          <a:bodyPr/>
          <a:lstStyle/>
          <a:p>
            <a:r>
              <a:rPr lang="en-US" dirty="0"/>
              <a:t>There’re </a:t>
            </a:r>
            <a:r>
              <a:rPr lang="en-US" b="1" dirty="0"/>
              <a:t>TWO</a:t>
            </a:r>
            <a:r>
              <a:rPr lang="en-US" dirty="0"/>
              <a:t> types of allocator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00B050"/>
                </a:solidFill>
              </a:rPr>
              <a:t>Block Allocator</a:t>
            </a:r>
          </a:p>
          <a:p>
            <a:pPr marL="749808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Used to allocate </a:t>
            </a:r>
            <a:r>
              <a:rPr lang="en-US" b="1" dirty="0"/>
              <a:t>small blocks </a:t>
            </a:r>
            <a:r>
              <a:rPr lang="en-US" dirty="0"/>
              <a:t>(with size </a:t>
            </a:r>
            <a:r>
              <a:rPr lang="en-US" b="1" dirty="0"/>
              <a:t>LESS OR EQUAL</a:t>
            </a:r>
            <a:r>
              <a:rPr lang="en-US" dirty="0"/>
              <a:t> </a:t>
            </a:r>
            <a:r>
              <a:rPr lang="en-US" i="1" dirty="0">
                <a:solidFill>
                  <a:srgbClr val="000000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DYN_ALLOC_MAX_BLOCK_SIZE</a:t>
            </a:r>
            <a:r>
              <a:rPr lang="en-US" dirty="0"/>
              <a:t>)</a:t>
            </a:r>
          </a:p>
          <a:p>
            <a:pPr marL="749808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Use </a:t>
            </a:r>
            <a:r>
              <a:rPr lang="en-US" b="1" dirty="0"/>
              <a:t>Buddy System</a:t>
            </a:r>
            <a:r>
              <a:rPr lang="en-US" dirty="0"/>
              <a:t> Functions</a:t>
            </a:r>
          </a:p>
          <a:p>
            <a:pPr marL="749808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Use </a:t>
            </a:r>
            <a:r>
              <a:rPr lang="en-US" b="1" dirty="0"/>
              <a:t>Page Allocator </a:t>
            </a:r>
            <a:r>
              <a:rPr lang="en-US" dirty="0"/>
              <a:t>to allocate/free pages of the Buddy System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Page Allocator</a:t>
            </a:r>
          </a:p>
          <a:p>
            <a:pPr marL="749808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Used to allocate </a:t>
            </a:r>
            <a:r>
              <a:rPr lang="en-US" b="1" dirty="0"/>
              <a:t>chunk of pages </a:t>
            </a:r>
            <a:r>
              <a:rPr lang="en-US" dirty="0"/>
              <a:t>(with size &gt; </a:t>
            </a:r>
            <a:r>
              <a:rPr lang="en-US" sz="1800" i="1" dirty="0">
                <a:solidFill>
                  <a:srgbClr val="000000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DYN_ALLOC_MAX_BLOCK_SIZE</a:t>
            </a:r>
            <a:r>
              <a:rPr lang="en-US" dirty="0"/>
              <a:t> )</a:t>
            </a:r>
          </a:p>
          <a:p>
            <a:pPr marL="749808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AE" dirty="0"/>
              <a:t>Allocation is done on </a:t>
            </a:r>
            <a:r>
              <a:rPr lang="en-AE" b="1" dirty="0"/>
              <a:t>page boundaries </a:t>
            </a:r>
            <a:r>
              <a:rPr lang="en-AE" dirty="0"/>
              <a:t>(i.e. internal fragmentation)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Range of both:</a:t>
            </a:r>
          </a:p>
          <a:p>
            <a:pPr marL="932688" lvl="2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1800" b="1" dirty="0"/>
              <a:t>USED</a:t>
            </a:r>
            <a:r>
              <a:rPr lang="en-US" sz="1800" dirty="0"/>
              <a:t> Area: </a:t>
            </a:r>
            <a:r>
              <a:rPr lang="en-US" sz="1800" b="1" dirty="0">
                <a:solidFill>
                  <a:srgbClr val="FF0000"/>
                </a:solidFill>
              </a:rPr>
              <a:t>[</a:t>
            </a:r>
            <a:r>
              <a:rPr lang="en-US" sz="1800" b="1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USER_HEAP_START</a:t>
            </a:r>
            <a:r>
              <a:rPr lang="en-US" sz="1800" dirty="0"/>
              <a:t>, PAGE ALLOC BREAK</a:t>
            </a:r>
            <a:r>
              <a:rPr lang="en-US" sz="1800" b="1" dirty="0">
                <a:solidFill>
                  <a:srgbClr val="FF0000"/>
                </a:solidFill>
              </a:rPr>
              <a:t>)</a:t>
            </a:r>
            <a:r>
              <a:rPr lang="en-US" sz="1800" dirty="0"/>
              <a:t> </a:t>
            </a:r>
          </a:p>
          <a:p>
            <a:pPr marL="932688" lvl="2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1800" b="1" dirty="0"/>
              <a:t>UNUSED </a:t>
            </a:r>
            <a:r>
              <a:rPr lang="en-US" sz="1800" dirty="0"/>
              <a:t>Area: </a:t>
            </a:r>
            <a:r>
              <a:rPr lang="en-US" sz="1800" b="1" dirty="0">
                <a:solidFill>
                  <a:srgbClr val="FF0000"/>
                </a:solidFill>
              </a:rPr>
              <a:t>[</a:t>
            </a:r>
            <a:r>
              <a:rPr lang="en-US" sz="1800" dirty="0"/>
              <a:t>PAGE ALLOC BREAK ,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USER_HEAP_MAX</a:t>
            </a:r>
            <a:r>
              <a:rPr lang="en-US" sz="1800" b="1" dirty="0">
                <a:solidFill>
                  <a:srgbClr val="FF0000"/>
                </a:solidFill>
              </a:rPr>
              <a:t>)</a:t>
            </a:r>
            <a:r>
              <a:rPr lang="en-US" sz="1800" dirty="0"/>
              <a:t> </a:t>
            </a:r>
          </a:p>
          <a:p>
            <a:pPr marL="292608" lvl="1" indent="0">
              <a:buNone/>
            </a:pPr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D47E2C-1CFA-5814-6426-11F12FA23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34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32DC57-01A9-9362-3730-86BCD5DAAE6F}"/>
              </a:ext>
            </a:extLst>
          </p:cNvPr>
          <p:cNvSpPr/>
          <p:nvPr/>
        </p:nvSpPr>
        <p:spPr>
          <a:xfrm>
            <a:off x="10973661" y="2294714"/>
            <a:ext cx="1123950" cy="35536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/>
              <a:t>USER HEAP</a:t>
            </a:r>
            <a:endParaRPr lang="en-AE" sz="2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88D0AA-A250-919D-5277-6C078D12A3DE}"/>
              </a:ext>
            </a:extLst>
          </p:cNvPr>
          <p:cNvSpPr/>
          <p:nvPr/>
        </p:nvSpPr>
        <p:spPr>
          <a:xfrm>
            <a:off x="10963275" y="5835756"/>
            <a:ext cx="1123950" cy="2952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…</a:t>
            </a:r>
            <a:endParaRPr lang="en-A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9C5491-8D84-8122-0F44-0B7C0E38CDD4}"/>
              </a:ext>
            </a:extLst>
          </p:cNvPr>
          <p:cNvSpPr/>
          <p:nvPr/>
        </p:nvSpPr>
        <p:spPr>
          <a:xfrm>
            <a:off x="10963275" y="2012033"/>
            <a:ext cx="1123950" cy="2952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…</a:t>
            </a:r>
            <a:endParaRPr lang="en-AE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8D76F5E-B517-E0F0-DD10-391E3147F830}"/>
              </a:ext>
            </a:extLst>
          </p:cNvPr>
          <p:cNvGrpSpPr/>
          <p:nvPr/>
        </p:nvGrpSpPr>
        <p:grpSpPr>
          <a:xfrm>
            <a:off x="8872279" y="5658792"/>
            <a:ext cx="2090994" cy="307777"/>
            <a:chOff x="8872279" y="5658792"/>
            <a:chExt cx="2090994" cy="307777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939C1B58-C803-8345-16F5-BEA3D195F514}"/>
                </a:ext>
              </a:extLst>
            </p:cNvPr>
            <p:cNvCxnSpPr>
              <a:cxnSpLocks/>
            </p:cNvCxnSpPr>
            <p:nvPr/>
          </p:nvCxnSpPr>
          <p:spPr>
            <a:xfrm>
              <a:off x="10582273" y="5822527"/>
              <a:ext cx="381000" cy="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02F686F-BCD4-406C-C04C-A0040BEEB999}"/>
                </a:ext>
              </a:extLst>
            </p:cNvPr>
            <p:cNvSpPr txBox="1"/>
            <p:nvPr/>
          </p:nvSpPr>
          <p:spPr>
            <a:xfrm>
              <a:off x="8872279" y="5658792"/>
              <a:ext cx="1633781" cy="307777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USER_HEAP_START</a:t>
              </a:r>
              <a:endParaRPr kumimoji="0" lang="ar-EG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 panose="020B0604020202020204" pitchFamily="34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AEF9564-3BBD-2623-CC71-076C44CC77D6}"/>
              </a:ext>
            </a:extLst>
          </p:cNvPr>
          <p:cNvGrpSpPr/>
          <p:nvPr/>
        </p:nvGrpSpPr>
        <p:grpSpPr>
          <a:xfrm>
            <a:off x="8924404" y="2142425"/>
            <a:ext cx="2024319" cy="307777"/>
            <a:chOff x="8938954" y="5658792"/>
            <a:chExt cx="2024319" cy="307777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FC78CBC6-A185-4CFF-98C4-E5412AAF5B45}"/>
                </a:ext>
              </a:extLst>
            </p:cNvPr>
            <p:cNvCxnSpPr>
              <a:cxnSpLocks/>
            </p:cNvCxnSpPr>
            <p:nvPr/>
          </p:nvCxnSpPr>
          <p:spPr>
            <a:xfrm>
              <a:off x="10582273" y="5822527"/>
              <a:ext cx="381000" cy="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48AFD3E-EECB-C770-9528-3B53CA4CEF9E}"/>
                </a:ext>
              </a:extLst>
            </p:cNvPr>
            <p:cNvSpPr txBox="1"/>
            <p:nvPr/>
          </p:nvSpPr>
          <p:spPr>
            <a:xfrm>
              <a:off x="8938954" y="5658792"/>
              <a:ext cx="1527982" cy="307777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USER_HEAP_MAX</a:t>
              </a:r>
              <a:endParaRPr kumimoji="0" lang="ar-EG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 panose="020B0604020202020204" pitchFamily="34" charset="0"/>
              </a:endParaRPr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EEF14367-E040-AA38-4769-758BD1B902D0}"/>
              </a:ext>
            </a:extLst>
          </p:cNvPr>
          <p:cNvSpPr/>
          <p:nvPr/>
        </p:nvSpPr>
        <p:spPr>
          <a:xfrm>
            <a:off x="10970692" y="3661064"/>
            <a:ext cx="1123949" cy="218728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b="1"/>
              <a:t>USED</a:t>
            </a:r>
            <a:endParaRPr lang="en-AE" b="1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CDCF867-6CB6-84EE-D95B-E1F44EC3E5FA}"/>
              </a:ext>
            </a:extLst>
          </p:cNvPr>
          <p:cNvSpPr/>
          <p:nvPr/>
        </p:nvSpPr>
        <p:spPr>
          <a:xfrm>
            <a:off x="10970691" y="2283639"/>
            <a:ext cx="1123949" cy="1370679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b="1"/>
              <a:t>UNUSED</a:t>
            </a:r>
            <a:endParaRPr lang="en-AE" b="1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F0A5859-C916-6F6E-A270-72E42A432C5B}"/>
              </a:ext>
            </a:extLst>
          </p:cNvPr>
          <p:cNvGrpSpPr/>
          <p:nvPr/>
        </p:nvGrpSpPr>
        <p:grpSpPr>
          <a:xfrm>
            <a:off x="9116347" y="3525215"/>
            <a:ext cx="1857314" cy="307777"/>
            <a:chOff x="9105959" y="5658792"/>
            <a:chExt cx="1857314" cy="307777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FDB5D131-90B6-EB99-0B0D-8947D8DAD167}"/>
                </a:ext>
              </a:extLst>
            </p:cNvPr>
            <p:cNvCxnSpPr>
              <a:cxnSpLocks/>
            </p:cNvCxnSpPr>
            <p:nvPr/>
          </p:nvCxnSpPr>
          <p:spPr>
            <a:xfrm>
              <a:off x="10582273" y="5822527"/>
              <a:ext cx="381000" cy="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5E4F104-564D-9CC9-B862-05276C0F7588}"/>
                </a:ext>
              </a:extLst>
            </p:cNvPr>
            <p:cNvSpPr txBox="1"/>
            <p:nvPr/>
          </p:nvSpPr>
          <p:spPr>
            <a:xfrm>
              <a:off x="9105959" y="5658792"/>
              <a:ext cx="1491114" cy="307777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Page </a:t>
              </a:r>
              <a:r>
                <a:rPr kumimoji="0" lang="en-US" sz="1400" b="1" i="0" u="none" strike="noStrike" kern="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Alloc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 BREAK</a:t>
              </a:r>
              <a:endParaRPr kumimoji="0" lang="ar-EG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 panose="020B0604020202020204" pitchFamily="34" charset="0"/>
              </a:endParaRPr>
            </a:p>
          </p:txBody>
        </p:sp>
      </p:grp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41650AC-13DB-D953-2A01-0A5161FF457D}"/>
              </a:ext>
            </a:extLst>
          </p:cNvPr>
          <p:cNvSpPr/>
          <p:nvPr/>
        </p:nvSpPr>
        <p:spPr>
          <a:xfrm>
            <a:off x="0" y="-13661"/>
            <a:ext cx="12192000" cy="91895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LAZY ALLOCATOR: </a:t>
            </a:r>
            <a:r>
              <a:rPr lang="en-US" sz="2000" b="1" dirty="0"/>
              <a:t>NOTHING</a:t>
            </a:r>
            <a:r>
              <a:rPr lang="en-US" sz="2000" dirty="0"/>
              <a:t> is actually </a:t>
            </a:r>
            <a:r>
              <a:rPr lang="en-US" sz="2000" b="1" dirty="0"/>
              <a:t>allocated in RAM until</a:t>
            </a:r>
            <a:r>
              <a:rPr lang="en-US" sz="2000" dirty="0"/>
              <a:t> the </a:t>
            </a:r>
            <a:r>
              <a:rPr lang="en-US" sz="2000" b="1" dirty="0"/>
              <a:t>user access </a:t>
            </a:r>
            <a:r>
              <a:rPr lang="en-US" sz="2000" dirty="0"/>
              <a:t>it. In this case, allocation will be done via </a:t>
            </a:r>
            <a:r>
              <a:rPr lang="en-US" sz="2000" b="1" dirty="0"/>
              <a:t>Fault Handler</a:t>
            </a:r>
            <a:endParaRPr lang="en-AE" sz="2000" b="1" dirty="0"/>
          </a:p>
        </p:txBody>
      </p:sp>
    </p:spTree>
    <p:extLst>
      <p:ext uri="{BB962C8B-B14F-4D97-AF65-F5344CB8AC3E}">
        <p14:creationId xmlns:p14="http://schemas.microsoft.com/office/powerpoint/2010/main" val="651110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6A23A-33CC-A3DB-8404-810776DC2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User Heap – </a:t>
            </a:r>
            <a:r>
              <a:rPr lang="en-US" b="1">
                <a:solidFill>
                  <a:srgbClr val="00B050"/>
                </a:solidFill>
              </a:rPr>
              <a:t>Block Allocator</a:t>
            </a:r>
            <a:r>
              <a:rPr lang="en-US"/>
              <a:t> 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37210-20FF-1A27-8CB3-55F29D83A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115203" cy="4473785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Use </a:t>
            </a:r>
            <a:r>
              <a:rPr lang="en-US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Buddy System </a:t>
            </a:r>
            <a:r>
              <a:rPr lang="en-US" dirty="0"/>
              <a:t>with its data structure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b="1" dirty="0"/>
              <a:t>lists </a:t>
            </a:r>
            <a:r>
              <a:rPr lang="en-US" dirty="0"/>
              <a:t>of the Buddy System are </a:t>
            </a:r>
            <a:r>
              <a:rPr lang="en-US" b="1" dirty="0"/>
              <a:t>already initialized</a:t>
            </a:r>
            <a:r>
              <a:rPr lang="en-US" dirty="0"/>
              <a:t> inside </a:t>
            </a:r>
            <a:r>
              <a:rPr lang="en-US" b="1" dirty="0" err="1">
                <a:latin typeface="Consolas" panose="020B0609020204030204" pitchFamily="49" charset="0"/>
              </a:rPr>
              <a:t>buddy_init</a:t>
            </a:r>
            <a:r>
              <a:rPr lang="en-US" b="1" dirty="0">
                <a:latin typeface="Consolas" panose="020B0609020204030204" pitchFamily="49" charset="0"/>
              </a:rPr>
              <a:t>()</a:t>
            </a:r>
            <a:r>
              <a:rPr lang="en-US" dirty="0"/>
              <a:t> which is called inside: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535353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uheap_init</a:t>
            </a:r>
            <a:r>
              <a:rPr lang="en-US" sz="1800" b="1" dirty="0">
                <a:solidFill>
                  <a:srgbClr val="787878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(</a:t>
            </a:r>
            <a:r>
              <a:rPr lang="en-US" sz="1800" b="1" dirty="0">
                <a:solidFill>
                  <a:srgbClr val="535353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…</a:t>
            </a:r>
            <a:r>
              <a:rPr lang="en-US" sz="1800" b="1" dirty="0">
                <a:solidFill>
                  <a:srgbClr val="787878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)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cs typeface="Courier New" panose="02070309020205020404" pitchFamily="49" charset="0"/>
              </a:rPr>
              <a:t>defined in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lib/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uheap.c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This function, in turn, is </a:t>
            </a:r>
            <a:r>
              <a:rPr lang="en-US" b="1" dirty="0"/>
              <a:t>already called </a:t>
            </a:r>
            <a:r>
              <a:rPr lang="en-US" dirty="0"/>
              <a:t>in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malloc</a:t>
            </a:r>
            <a:r>
              <a:rPr lang="en-US" dirty="0"/>
              <a:t>() 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0" indent="-457200">
              <a:lnSpc>
                <a:spcPct val="150000"/>
              </a:lnSpc>
              <a:buClr>
                <a:srgbClr val="4F81BD"/>
              </a:buClr>
              <a:buFont typeface="+mj-lt"/>
              <a:buAutoNum type="arabicPeriod" startAt="3"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</a:rPr>
              <a:t>Use </a:t>
            </a:r>
            <a:r>
              <a:rPr lang="en-US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Page Allocator 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</a:rPr>
              <a:t>to allocate/free pages of the Buddy System</a:t>
            </a:r>
          </a:p>
          <a:p>
            <a:pPr lvl="0" algn="ctr">
              <a:buClr>
                <a:srgbClr val="4F81BD"/>
              </a:buClr>
            </a:pPr>
            <a:r>
              <a:rPr lang="en-US" dirty="0">
                <a:solidFill>
                  <a:srgbClr val="535353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create_buddy_space</a:t>
            </a:r>
            <a:r>
              <a:rPr lang="en-US" b="1" dirty="0">
                <a:solidFill>
                  <a:srgbClr val="787878"/>
                </a:solidFill>
                <a:latin typeface="Consolas" panose="020B0609020204030204" pitchFamily="49" charset="0"/>
              </a:rPr>
              <a:t>()</a:t>
            </a:r>
            <a:r>
              <a:rPr lang="en-US" b="1" dirty="0">
                <a:solidFill>
                  <a:srgbClr val="A36622"/>
                </a:solidFill>
                <a:latin typeface="Consolas" panose="020B0609020204030204" pitchFamily="49" charset="0"/>
              </a:rPr>
              <a:t>;</a:t>
            </a:r>
          </a:p>
          <a:p>
            <a:pPr lvl="0" algn="ctr">
              <a:buClr>
                <a:srgbClr val="4F81BD"/>
              </a:buClr>
            </a:pPr>
            <a:r>
              <a:rPr lang="it-IT" dirty="0">
                <a:solidFill>
                  <a:srgbClr val="535353"/>
                </a:solidFill>
                <a:latin typeface="Consolas" panose="020B0609020204030204" pitchFamily="49" charset="0"/>
              </a:rPr>
              <a:t>void</a:t>
            </a:r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it-IT" b="1" dirty="0">
                <a:solidFill>
                  <a:srgbClr val="000000"/>
                </a:solidFill>
                <a:latin typeface="Consolas" panose="020B0609020204030204" pitchFamily="49" charset="0"/>
              </a:rPr>
              <a:t>delete_buddy_space</a:t>
            </a:r>
            <a:r>
              <a:rPr lang="it-IT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it-IT" b="1" dirty="0">
                <a:solidFill>
                  <a:srgbClr val="535353"/>
                </a:solidFill>
                <a:latin typeface="Consolas" panose="020B0609020204030204" pitchFamily="49" charset="0"/>
              </a:rPr>
              <a:t>void</a:t>
            </a:r>
            <a:r>
              <a:rPr lang="it-IT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it-IT" b="1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it-IT" b="1" dirty="0">
                <a:solidFill>
                  <a:srgbClr val="000000"/>
                </a:solidFill>
                <a:latin typeface="Consolas" panose="020B0609020204030204" pitchFamily="49" charset="0"/>
              </a:rPr>
              <a:t>va</a:t>
            </a:r>
            <a:r>
              <a:rPr lang="it-IT" b="1" dirty="0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  <a:r>
              <a:rPr lang="it-IT" b="1" dirty="0">
                <a:solidFill>
                  <a:srgbClr val="A36622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dirty="0"/>
          </a:p>
          <a:p>
            <a:pPr marL="292608" lvl="1" indent="0">
              <a:lnSpc>
                <a:spcPct val="150000"/>
              </a:lnSpc>
              <a:buNone/>
            </a:pPr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D47E2C-1CFA-5814-6426-11F12FA23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738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6A23A-33CC-A3DB-8404-810776DC2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User Heap – </a:t>
            </a:r>
            <a:r>
              <a:rPr lang="en-US" b="1">
                <a:solidFill>
                  <a:srgbClr val="FF0000"/>
                </a:solidFill>
              </a:rPr>
              <a:t>Page Allocator</a:t>
            </a:r>
            <a:r>
              <a:rPr lang="en-US"/>
              <a:t> 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37210-20FF-1A27-8CB3-55F29D83A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63626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AE" dirty="0"/>
              <a:t>Allocation is done on </a:t>
            </a:r>
            <a:r>
              <a:rPr lang="en-AE" b="1" dirty="0"/>
              <a:t>page boundaries (</a:t>
            </a:r>
            <a:r>
              <a:rPr lang="en-AE" dirty="0"/>
              <a:t>multiple of 4KB</a:t>
            </a:r>
            <a:r>
              <a:rPr lang="en-AE" b="1" dirty="0"/>
              <a:t>)</a:t>
            </a:r>
          </a:p>
          <a:p>
            <a:pPr marL="749808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AE" sz="2000" dirty="0"/>
              <a:t>i.e. </a:t>
            </a:r>
            <a:r>
              <a:rPr lang="en-AE" sz="2000" b="1" dirty="0"/>
              <a:t>internal fragmentation </a:t>
            </a:r>
            <a:r>
              <a:rPr lang="en-AE" sz="2000" dirty="0"/>
              <a:t>can occur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FF0000"/>
                </a:solidFill>
              </a:rPr>
              <a:t>NO</a:t>
            </a:r>
            <a:r>
              <a:rPr lang="en-US" b="1" dirty="0"/>
              <a:t> pages </a:t>
            </a:r>
            <a:r>
              <a:rPr lang="en-US" dirty="0"/>
              <a:t>will be </a:t>
            </a:r>
            <a:r>
              <a:rPr lang="en-US" b="1" dirty="0"/>
              <a:t>allocated </a:t>
            </a:r>
            <a:r>
              <a:rPr lang="en-US" dirty="0"/>
              <a:t>in </a:t>
            </a:r>
            <a:r>
              <a:rPr lang="en-US" b="1" dirty="0"/>
              <a:t>RAM</a:t>
            </a:r>
            <a:r>
              <a:rPr lang="en-US" dirty="0"/>
              <a:t> or </a:t>
            </a:r>
            <a:r>
              <a:rPr lang="en-US" b="1" dirty="0"/>
              <a:t>Page File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Allocation Strategy: </a:t>
            </a:r>
            <a:r>
              <a:rPr lang="en-US" b="1" dirty="0"/>
              <a:t>CUSTOM FIT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/>
          </a:p>
          <a:p>
            <a:pPr marL="292608" lvl="1" indent="0">
              <a:buNone/>
            </a:pPr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D47E2C-1CFA-5814-6426-11F12FA23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36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32DC57-01A9-9362-3730-86BCD5DAAE6F}"/>
              </a:ext>
            </a:extLst>
          </p:cNvPr>
          <p:cNvSpPr/>
          <p:nvPr/>
        </p:nvSpPr>
        <p:spPr>
          <a:xfrm>
            <a:off x="10963275" y="2294714"/>
            <a:ext cx="1123950" cy="35536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/>
              <a:t>KERNEL HEAP</a:t>
            </a:r>
            <a:endParaRPr lang="en-AE" sz="2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88D0AA-A250-919D-5277-6C078D12A3DE}"/>
              </a:ext>
            </a:extLst>
          </p:cNvPr>
          <p:cNvSpPr/>
          <p:nvPr/>
        </p:nvSpPr>
        <p:spPr>
          <a:xfrm>
            <a:off x="10963275" y="5835756"/>
            <a:ext cx="1123950" cy="2952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…</a:t>
            </a:r>
            <a:endParaRPr lang="en-A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9C5491-8D84-8122-0F44-0B7C0E38CDD4}"/>
              </a:ext>
            </a:extLst>
          </p:cNvPr>
          <p:cNvSpPr/>
          <p:nvPr/>
        </p:nvSpPr>
        <p:spPr>
          <a:xfrm>
            <a:off x="10963275" y="2012033"/>
            <a:ext cx="1123950" cy="2952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…</a:t>
            </a:r>
            <a:endParaRPr lang="en-AE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8D76F5E-B517-E0F0-DD10-391E3147F830}"/>
              </a:ext>
            </a:extLst>
          </p:cNvPr>
          <p:cNvGrpSpPr/>
          <p:nvPr/>
        </p:nvGrpSpPr>
        <p:grpSpPr>
          <a:xfrm>
            <a:off x="8872279" y="5658792"/>
            <a:ext cx="2090994" cy="307777"/>
            <a:chOff x="8872279" y="5658792"/>
            <a:chExt cx="2090994" cy="307777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939C1B58-C803-8345-16F5-BEA3D195F514}"/>
                </a:ext>
              </a:extLst>
            </p:cNvPr>
            <p:cNvCxnSpPr>
              <a:cxnSpLocks/>
            </p:cNvCxnSpPr>
            <p:nvPr/>
          </p:nvCxnSpPr>
          <p:spPr>
            <a:xfrm>
              <a:off x="10582273" y="5822527"/>
              <a:ext cx="381000" cy="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02F686F-BCD4-406C-C04C-A0040BEEB999}"/>
                </a:ext>
              </a:extLst>
            </p:cNvPr>
            <p:cNvSpPr txBox="1"/>
            <p:nvPr/>
          </p:nvSpPr>
          <p:spPr>
            <a:xfrm>
              <a:off x="8872279" y="5658792"/>
              <a:ext cx="1633781" cy="307777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USER_HEAP_START</a:t>
              </a:r>
              <a:endParaRPr kumimoji="0" lang="ar-EG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 panose="020B0604020202020204" pitchFamily="34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AEF9564-3BBD-2623-CC71-076C44CC77D6}"/>
              </a:ext>
            </a:extLst>
          </p:cNvPr>
          <p:cNvGrpSpPr/>
          <p:nvPr/>
        </p:nvGrpSpPr>
        <p:grpSpPr>
          <a:xfrm>
            <a:off x="8924404" y="2142425"/>
            <a:ext cx="2024319" cy="307777"/>
            <a:chOff x="8938954" y="5658792"/>
            <a:chExt cx="2024319" cy="307777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FC78CBC6-A185-4CFF-98C4-E5412AAF5B45}"/>
                </a:ext>
              </a:extLst>
            </p:cNvPr>
            <p:cNvCxnSpPr>
              <a:cxnSpLocks/>
            </p:cNvCxnSpPr>
            <p:nvPr/>
          </p:nvCxnSpPr>
          <p:spPr>
            <a:xfrm>
              <a:off x="10582273" y="5822527"/>
              <a:ext cx="381000" cy="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48AFD3E-EECB-C770-9528-3B53CA4CEF9E}"/>
                </a:ext>
              </a:extLst>
            </p:cNvPr>
            <p:cNvSpPr txBox="1"/>
            <p:nvPr/>
          </p:nvSpPr>
          <p:spPr>
            <a:xfrm>
              <a:off x="8938954" y="5658792"/>
              <a:ext cx="1527982" cy="307777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USER_HEAP_MAX</a:t>
              </a:r>
              <a:endParaRPr kumimoji="0" lang="ar-EG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37878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FD2DC-80F1-0805-20EF-8CE14583D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50BE7-FA14-A695-9043-002891123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User Heap – </a:t>
            </a:r>
            <a:r>
              <a:rPr lang="en-US" b="1">
                <a:solidFill>
                  <a:srgbClr val="FF0000"/>
                </a:solidFill>
              </a:rPr>
              <a:t>Page Allocator</a:t>
            </a:r>
            <a:r>
              <a:rPr lang="en-US"/>
              <a:t> 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6425E-F442-EE5C-A514-496DAA2E0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6955744" cy="4463626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/>
              <a:t>Has 2 limits defined in </a:t>
            </a:r>
            <a:r>
              <a:rPr 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inc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uheap.h</a:t>
            </a:r>
            <a:r>
              <a:rPr lang="en-US"/>
              <a:t>:</a:t>
            </a:r>
          </a:p>
          <a:p>
            <a:pPr marL="749808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err="1">
                <a:solidFill>
                  <a:srgbClr val="000000"/>
                </a:solidFill>
                <a:latin typeface="Consolas" panose="020B0609020204030204" pitchFamily="49" charset="0"/>
              </a:rPr>
              <a:t>uheapPageAllocStart</a:t>
            </a:r>
            <a:r>
              <a:rPr lang="en-US"/>
              <a:t>: begin of page allocator area</a:t>
            </a:r>
          </a:p>
          <a:p>
            <a:pPr marL="749808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err="1">
                <a:solidFill>
                  <a:srgbClr val="000000"/>
                </a:solidFill>
                <a:latin typeface="Consolas" panose="020B0609020204030204" pitchFamily="49" charset="0"/>
              </a:rPr>
              <a:t>uheapPageAllocBreak</a:t>
            </a:r>
            <a:r>
              <a:rPr lang="en-US"/>
              <a:t>: </a:t>
            </a:r>
            <a:r>
              <a:rPr lang="en-US" altLang="en-US"/>
              <a:t>end of currently used area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en-US"/>
              <a:t>malloc/free can move </a:t>
            </a:r>
            <a:r>
              <a:rPr lang="en-US" altLang="en-US" err="1">
                <a:solidFill>
                  <a:srgbClr val="000000"/>
                </a:solidFill>
                <a:latin typeface="Consolas" panose="020B0609020204030204" pitchFamily="49" charset="0"/>
              </a:rPr>
              <a:t>u</a:t>
            </a:r>
            <a:r>
              <a:rPr lang="en-US" err="1">
                <a:solidFill>
                  <a:srgbClr val="000000"/>
                </a:solidFill>
                <a:latin typeface="Consolas" panose="020B0609020204030204" pitchFamily="49" charset="0"/>
              </a:rPr>
              <a:t>heapPageAllocBreak</a:t>
            </a:r>
            <a:r>
              <a:rPr lang="en-US"/>
              <a:t> </a:t>
            </a:r>
            <a:r>
              <a:rPr lang="en-US" altLang="en-US"/>
              <a:t>up/down</a:t>
            </a:r>
          </a:p>
          <a:p>
            <a:pPr marL="749808" lvl="1" indent="-457200">
              <a:lnSpc>
                <a:spcPct val="150000"/>
              </a:lnSpc>
              <a:buFont typeface="+mj-lt"/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B2C96-28EE-48AA-5716-645672FDA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37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A9AB24-8BF6-DCCA-730E-41C268FE6C27}"/>
              </a:ext>
            </a:extLst>
          </p:cNvPr>
          <p:cNvSpPr/>
          <p:nvPr/>
        </p:nvSpPr>
        <p:spPr>
          <a:xfrm>
            <a:off x="10963275" y="2294714"/>
            <a:ext cx="1123950" cy="35536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/>
              <a:t>KERNEL HEAP</a:t>
            </a:r>
            <a:endParaRPr lang="en-AE" sz="2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C04A13-BFA9-8531-F638-45C2DF812653}"/>
              </a:ext>
            </a:extLst>
          </p:cNvPr>
          <p:cNvSpPr/>
          <p:nvPr/>
        </p:nvSpPr>
        <p:spPr>
          <a:xfrm>
            <a:off x="10963275" y="5835756"/>
            <a:ext cx="1123950" cy="2952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…</a:t>
            </a:r>
            <a:endParaRPr lang="en-A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4D7719-1FFF-75E6-31EB-48F09F286CDD}"/>
              </a:ext>
            </a:extLst>
          </p:cNvPr>
          <p:cNvSpPr/>
          <p:nvPr/>
        </p:nvSpPr>
        <p:spPr>
          <a:xfrm>
            <a:off x="10963275" y="2012033"/>
            <a:ext cx="1123950" cy="2952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…</a:t>
            </a:r>
            <a:endParaRPr lang="en-AE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210A34F-FB42-78AF-28DC-DC45A916BBC4}"/>
              </a:ext>
            </a:extLst>
          </p:cNvPr>
          <p:cNvGrpSpPr/>
          <p:nvPr/>
        </p:nvGrpSpPr>
        <p:grpSpPr>
          <a:xfrm>
            <a:off x="8872279" y="5658792"/>
            <a:ext cx="2090994" cy="307777"/>
            <a:chOff x="8872279" y="5658792"/>
            <a:chExt cx="2090994" cy="307777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CA3D319-160F-6CF9-5598-9C73955B34BE}"/>
                </a:ext>
              </a:extLst>
            </p:cNvPr>
            <p:cNvCxnSpPr>
              <a:cxnSpLocks/>
            </p:cNvCxnSpPr>
            <p:nvPr/>
          </p:nvCxnSpPr>
          <p:spPr>
            <a:xfrm>
              <a:off x="10582273" y="5822527"/>
              <a:ext cx="381000" cy="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00C6358-81A0-9DCA-6C9F-D166155639BC}"/>
                </a:ext>
              </a:extLst>
            </p:cNvPr>
            <p:cNvSpPr txBox="1"/>
            <p:nvPr/>
          </p:nvSpPr>
          <p:spPr>
            <a:xfrm>
              <a:off x="8872279" y="5658792"/>
              <a:ext cx="1633781" cy="307777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USER_HEAP_START</a:t>
              </a:r>
              <a:endParaRPr kumimoji="0" lang="ar-EG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 panose="020B0604020202020204" pitchFamily="34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07EBB30-888B-45FC-345A-CEF3B877D297}"/>
              </a:ext>
            </a:extLst>
          </p:cNvPr>
          <p:cNvGrpSpPr/>
          <p:nvPr/>
        </p:nvGrpSpPr>
        <p:grpSpPr>
          <a:xfrm>
            <a:off x="8924404" y="2142425"/>
            <a:ext cx="2024319" cy="307777"/>
            <a:chOff x="8938954" y="5658792"/>
            <a:chExt cx="2024319" cy="307777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180308EC-664B-D741-7E35-2EB9489724E5}"/>
                </a:ext>
              </a:extLst>
            </p:cNvPr>
            <p:cNvCxnSpPr>
              <a:cxnSpLocks/>
            </p:cNvCxnSpPr>
            <p:nvPr/>
          </p:nvCxnSpPr>
          <p:spPr>
            <a:xfrm>
              <a:off x="10582273" y="5822527"/>
              <a:ext cx="381000" cy="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A501FAE-2B04-AABF-0F70-C9DCA5E7C689}"/>
                </a:ext>
              </a:extLst>
            </p:cNvPr>
            <p:cNvSpPr txBox="1"/>
            <p:nvPr/>
          </p:nvSpPr>
          <p:spPr>
            <a:xfrm>
              <a:off x="8938954" y="5658792"/>
              <a:ext cx="1527982" cy="307777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USER_HEAP_MAX</a:t>
              </a:r>
              <a:endParaRPr kumimoji="0" lang="ar-EG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 panose="020B0604020202020204" pitchFamily="34" charset="0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F1337801-A96C-8A28-7CE2-262E6059DF0B}"/>
              </a:ext>
            </a:extLst>
          </p:cNvPr>
          <p:cNvSpPr txBox="1"/>
          <p:nvPr/>
        </p:nvSpPr>
        <p:spPr>
          <a:xfrm>
            <a:off x="8220666" y="5628015"/>
            <a:ext cx="2386795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uheapPageAllocStart</a:t>
            </a:r>
            <a:endParaRPr lang="en-AE" sz="1600" b="1" dirty="0">
              <a:solidFill>
                <a:srgbClr val="FF000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856DE29-802D-EA4E-928E-70DD6ECCB8D8}"/>
              </a:ext>
            </a:extLst>
          </p:cNvPr>
          <p:cNvSpPr/>
          <p:nvPr/>
        </p:nvSpPr>
        <p:spPr>
          <a:xfrm>
            <a:off x="10959117" y="3661063"/>
            <a:ext cx="1123949" cy="214823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b="1"/>
              <a:t>USED</a:t>
            </a:r>
            <a:endParaRPr lang="en-AE" b="1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1B5946F-ADF8-96F2-B752-91574A68A241}"/>
              </a:ext>
            </a:extLst>
          </p:cNvPr>
          <p:cNvGrpSpPr/>
          <p:nvPr/>
        </p:nvGrpSpPr>
        <p:grpSpPr>
          <a:xfrm>
            <a:off x="8371427" y="3485041"/>
            <a:ext cx="2602234" cy="347951"/>
            <a:chOff x="8371427" y="3485041"/>
            <a:chExt cx="2602234" cy="347951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EAB58FF-8DAC-D20D-D851-51DD5FB5A0DB}"/>
                </a:ext>
              </a:extLst>
            </p:cNvPr>
            <p:cNvGrpSpPr/>
            <p:nvPr/>
          </p:nvGrpSpPr>
          <p:grpSpPr>
            <a:xfrm>
              <a:off x="9116347" y="3525215"/>
              <a:ext cx="1857314" cy="307777"/>
              <a:chOff x="9105959" y="5658792"/>
              <a:chExt cx="1857314" cy="307777"/>
            </a:xfrm>
          </p:grpSpPr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866440B1-A093-824D-79D1-41DC9CB016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82273" y="5822527"/>
                <a:ext cx="381000" cy="0"/>
              </a:xfrm>
              <a:prstGeom prst="straightConnector1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tailEnd type="arrow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EFCE4FB-0AC8-C746-ABF8-4ED7E8EE8498}"/>
                  </a:ext>
                </a:extLst>
              </p:cNvPr>
              <p:cNvSpPr txBox="1"/>
              <p:nvPr/>
            </p:nvSpPr>
            <p:spPr>
              <a:xfrm>
                <a:off x="9105959" y="5658792"/>
                <a:ext cx="1491114" cy="307777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</a:rPr>
                  <a:t>Page </a:t>
                </a:r>
                <a:r>
                  <a:rPr kumimoji="0" lang="en-US" sz="1400" b="1" i="0" u="none" strike="noStrike" kern="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</a:rPr>
                  <a:t>Alloc</a:t>
                </a:r>
                <a:r>
                  <a:rPr kumimoji="0" lang="en-US" sz="1400" b="1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</a:rPr>
                  <a:t> BREAK</a:t>
                </a:r>
                <a:endParaRPr kumimoji="0" lang="ar-EG" sz="14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5E295E1-8963-D53F-C11E-A2896D261EEC}"/>
                </a:ext>
              </a:extLst>
            </p:cNvPr>
            <p:cNvSpPr txBox="1"/>
            <p:nvPr/>
          </p:nvSpPr>
          <p:spPr>
            <a:xfrm>
              <a:off x="8371427" y="3485041"/>
              <a:ext cx="2386795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err="1">
                  <a:solidFill>
                    <a:srgbClr val="FF0000"/>
                  </a:solidFill>
                  <a:latin typeface="Consolas" panose="020B0609020204030204" pitchFamily="49" charset="0"/>
                </a:rPr>
                <a:t>uheapPageAllocBreak</a:t>
              </a:r>
              <a:endParaRPr lang="en-AE" sz="1600" b="1">
                <a:solidFill>
                  <a:srgbClr val="FF0000"/>
                </a:solidFill>
              </a:endParaRP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EADF9862-73A2-8F17-0197-8FA005E84295}"/>
              </a:ext>
            </a:extLst>
          </p:cNvPr>
          <p:cNvSpPr/>
          <p:nvPr/>
        </p:nvSpPr>
        <p:spPr>
          <a:xfrm>
            <a:off x="10959118" y="2283639"/>
            <a:ext cx="1123949" cy="1370679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b="1" dirty="0"/>
              <a:t>UNUSED</a:t>
            </a:r>
            <a:endParaRPr lang="en-AE" b="1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98B85A5-9CAD-8C0A-D300-2F626B464B75}"/>
              </a:ext>
            </a:extLst>
          </p:cNvPr>
          <p:cNvSpPr/>
          <p:nvPr/>
        </p:nvSpPr>
        <p:spPr>
          <a:xfrm>
            <a:off x="10959111" y="3356811"/>
            <a:ext cx="1123949" cy="247679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b="1"/>
              <a:t>USED</a:t>
            </a:r>
            <a:endParaRPr lang="en-AE" b="1"/>
          </a:p>
        </p:txBody>
      </p:sp>
    </p:spTree>
    <p:extLst>
      <p:ext uri="{BB962C8B-B14F-4D97-AF65-F5344CB8AC3E}">
        <p14:creationId xmlns:p14="http://schemas.microsoft.com/office/powerpoint/2010/main" val="1788707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3.33333E-6 L -0.00091 -0.04745 " pathEditMode="relative" rAng="0" ptsTypes="AA">
                                      <p:cBhvr>
                                        <p:cTn id="26" dur="1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2384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 animBg="1"/>
      <p:bldP spid="29" grpId="0" animBg="1"/>
      <p:bldP spid="3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TextShape 2"/>
          <p:cNvSpPr txBox="1"/>
          <p:nvPr/>
        </p:nvSpPr>
        <p:spPr>
          <a:xfrm>
            <a:off x="1425931" y="1507902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2800" b="1"/>
              <a:t>Allocate pages on 4KB granularity</a:t>
            </a:r>
          </a:p>
          <a:p>
            <a:pPr>
              <a:spcBef>
                <a:spcPts val="360"/>
              </a:spcBef>
              <a:tabLst>
                <a:tab pos="0" algn="l"/>
              </a:tabLst>
            </a:pPr>
            <a:endParaRPr lang="en-US" sz="2800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702" name="Group 3"/>
          <p:cNvGrpSpPr/>
          <p:nvPr/>
        </p:nvGrpSpPr>
        <p:grpSpPr>
          <a:xfrm>
            <a:off x="7411377" y="1637322"/>
            <a:ext cx="1980720" cy="4267080"/>
            <a:chOff x="4952880" y="2286000"/>
            <a:chExt cx="1980720" cy="4267080"/>
          </a:xfrm>
        </p:grpSpPr>
        <p:sp>
          <p:nvSpPr>
            <p:cNvPr id="703" name="CustomShape 4"/>
            <p:cNvSpPr/>
            <p:nvPr/>
          </p:nvSpPr>
          <p:spPr>
            <a:xfrm>
              <a:off x="4952880" y="4876920"/>
              <a:ext cx="1980720" cy="456840"/>
            </a:xfrm>
            <a:prstGeom prst="rect">
              <a:avLst/>
            </a:prstGeom>
            <a:ln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/>
            <a:lstStyle/>
            <a:p>
              <a:endParaRPr lang="en-AE"/>
            </a:p>
          </p:txBody>
        </p:sp>
        <p:sp>
          <p:nvSpPr>
            <p:cNvPr id="704" name="CustomShape 5"/>
            <p:cNvSpPr/>
            <p:nvPr/>
          </p:nvSpPr>
          <p:spPr>
            <a:xfrm>
              <a:off x="4952880" y="2286000"/>
              <a:ext cx="1980720" cy="1218960"/>
            </a:xfrm>
            <a:prstGeom prst="rect">
              <a:avLst/>
            </a:prstGeom>
            <a:ln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pc="-1">
                  <a:solidFill>
                    <a:srgbClr val="000000"/>
                  </a:solidFill>
                  <a:latin typeface="Calibri"/>
                </a:rPr>
                <a:t>.</a:t>
              </a:r>
              <a:endParaRPr lang="en-US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pc="-1">
                  <a:solidFill>
                    <a:srgbClr val="000000"/>
                  </a:solidFill>
                  <a:latin typeface="Calibri"/>
                </a:rPr>
                <a:t>.</a:t>
              </a:r>
              <a:endParaRPr lang="en-US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pc="-1">
                  <a:solidFill>
                    <a:srgbClr val="000000"/>
                  </a:solidFill>
                  <a:latin typeface="Calibri"/>
                </a:rPr>
                <a:t>.</a:t>
              </a:r>
              <a:endParaRPr lang="en-US" spc="-1">
                <a:latin typeface="Arial"/>
              </a:endParaRPr>
            </a:p>
          </p:txBody>
        </p:sp>
        <p:sp>
          <p:nvSpPr>
            <p:cNvPr id="707" name="CustomShape 8"/>
            <p:cNvSpPr/>
            <p:nvPr/>
          </p:nvSpPr>
          <p:spPr>
            <a:xfrm>
              <a:off x="4952880" y="4419720"/>
              <a:ext cx="1980720" cy="456840"/>
            </a:xfrm>
            <a:prstGeom prst="rect">
              <a:avLst/>
            </a:prstGeom>
            <a:ln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/>
            <a:lstStyle/>
            <a:p>
              <a:endParaRPr lang="en-AE"/>
            </a:p>
          </p:txBody>
        </p:sp>
        <p:sp>
          <p:nvSpPr>
            <p:cNvPr id="708" name="CustomShape 9"/>
            <p:cNvSpPr/>
            <p:nvPr/>
          </p:nvSpPr>
          <p:spPr>
            <a:xfrm>
              <a:off x="4952880" y="3962520"/>
              <a:ext cx="1980720" cy="456840"/>
            </a:xfrm>
            <a:prstGeom prst="rect">
              <a:avLst/>
            </a:prstGeom>
            <a:ln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/>
            <a:lstStyle/>
            <a:p>
              <a:endParaRPr lang="en-AE"/>
            </a:p>
          </p:txBody>
        </p:sp>
        <p:sp>
          <p:nvSpPr>
            <p:cNvPr id="709" name="CustomShape 10"/>
            <p:cNvSpPr/>
            <p:nvPr/>
          </p:nvSpPr>
          <p:spPr>
            <a:xfrm>
              <a:off x="4952880" y="3505320"/>
              <a:ext cx="1980720" cy="456840"/>
            </a:xfrm>
            <a:prstGeom prst="rect">
              <a:avLst/>
            </a:prstGeom>
            <a:ln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/>
            <a:lstStyle/>
            <a:p>
              <a:endParaRPr lang="en-AE"/>
            </a:p>
          </p:txBody>
        </p:sp>
        <p:sp>
          <p:nvSpPr>
            <p:cNvPr id="710" name="CustomShape 11"/>
            <p:cNvSpPr/>
            <p:nvPr/>
          </p:nvSpPr>
          <p:spPr>
            <a:xfrm>
              <a:off x="4952880" y="5334120"/>
              <a:ext cx="1980720" cy="1218960"/>
            </a:xfrm>
            <a:prstGeom prst="rect">
              <a:avLst/>
            </a:prstGeom>
            <a:ln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pc="-1">
                  <a:solidFill>
                    <a:srgbClr val="000000"/>
                  </a:solidFill>
                  <a:latin typeface="Calibri"/>
                </a:rPr>
                <a:t>.</a:t>
              </a:r>
              <a:endParaRPr lang="en-US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pc="-1">
                  <a:solidFill>
                    <a:srgbClr val="000000"/>
                  </a:solidFill>
                  <a:latin typeface="Calibri"/>
                </a:rPr>
                <a:t>.</a:t>
              </a:r>
              <a:endParaRPr lang="en-US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pc="-1">
                  <a:solidFill>
                    <a:srgbClr val="000000"/>
                  </a:solidFill>
                  <a:latin typeface="Calibri"/>
                </a:rPr>
                <a:t>.</a:t>
              </a:r>
              <a:endParaRPr lang="en-US" spc="-1">
                <a:latin typeface="Arial"/>
              </a:endParaRPr>
            </a:p>
          </p:txBody>
        </p:sp>
      </p:grpSp>
      <p:grpSp>
        <p:nvGrpSpPr>
          <p:cNvPr id="711" name="Group 12"/>
          <p:cNvGrpSpPr/>
          <p:nvPr/>
        </p:nvGrpSpPr>
        <p:grpSpPr>
          <a:xfrm>
            <a:off x="3230697" y="4012242"/>
            <a:ext cx="6137640" cy="812478"/>
            <a:chOff x="772200" y="4660920"/>
            <a:chExt cx="6137640" cy="812478"/>
          </a:xfrm>
        </p:grpSpPr>
        <p:sp>
          <p:nvSpPr>
            <p:cNvPr id="712" name="CustomShape 13"/>
            <p:cNvSpPr/>
            <p:nvPr/>
          </p:nvSpPr>
          <p:spPr>
            <a:xfrm>
              <a:off x="4343400" y="5334120"/>
              <a:ext cx="609120" cy="3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>
              <a:round/>
              <a:tailEnd type="arrow" w="med" len="med"/>
            </a:ln>
            <a:effectLst>
              <a:outerShdw blurRad="4000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/>
          </p:style>
          <p:txBody>
            <a:bodyPr/>
            <a:lstStyle/>
            <a:p>
              <a:endParaRPr lang="en-AE"/>
            </a:p>
          </p:txBody>
        </p:sp>
        <p:sp>
          <p:nvSpPr>
            <p:cNvPr id="713" name="CustomShape 14"/>
            <p:cNvSpPr/>
            <p:nvPr/>
          </p:nvSpPr>
          <p:spPr>
            <a:xfrm>
              <a:off x="4966200" y="4889880"/>
              <a:ext cx="1943640" cy="431640"/>
            </a:xfrm>
            <a:prstGeom prst="rect">
              <a:avLst/>
            </a:prstGeom>
            <a:gradFill rotWithShape="0">
              <a:gsLst>
                <a:gs pos="0">
                  <a:srgbClr val="FFDED0"/>
                </a:gs>
                <a:gs pos="100000">
                  <a:srgbClr val="FFF1EC"/>
                </a:gs>
              </a:gsLst>
              <a:lin ang="16200000"/>
            </a:gradFill>
            <a:ln>
              <a:noFill/>
            </a:ln>
            <a:effectLst>
              <a:outerShdw blurRad="4000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pc="-1">
                  <a:solidFill>
                    <a:srgbClr val="000000"/>
                  </a:solidFill>
                  <a:latin typeface="Calibri"/>
                </a:rPr>
                <a:t>4 KB</a:t>
              </a:r>
              <a:endParaRPr lang="en-US" spc="-1">
                <a:latin typeface="Arial"/>
              </a:endParaRPr>
            </a:p>
          </p:txBody>
        </p:sp>
        <p:sp>
          <p:nvSpPr>
            <p:cNvPr id="714" name="CustomShape 15"/>
            <p:cNvSpPr/>
            <p:nvPr/>
          </p:nvSpPr>
          <p:spPr>
            <a:xfrm>
              <a:off x="772200" y="5105520"/>
              <a:ext cx="2205838" cy="367878"/>
            </a:xfrm>
            <a:prstGeom prst="rect">
              <a:avLst/>
            </a:prstGeom>
            <a:gradFill rotWithShape="0">
              <a:gsLst>
                <a:gs pos="0">
                  <a:srgbClr val="FFDED0"/>
                </a:gs>
                <a:gs pos="100000">
                  <a:srgbClr val="FFF1EC"/>
                </a:gs>
              </a:gsLst>
              <a:lin ang="16200000"/>
            </a:gradFill>
            <a:ln>
              <a:solidFill>
                <a:srgbClr val="F59240"/>
              </a:solidFill>
              <a:round/>
            </a:ln>
            <a:effectLst>
              <a:outerShdw blurRad="4000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b="1" spc="-1" dirty="0">
                  <a:solidFill>
                    <a:srgbClr val="000000"/>
                  </a:solidFill>
                  <a:latin typeface="Calibri"/>
                </a:rPr>
                <a:t>ptr1</a:t>
              </a:r>
              <a:r>
                <a:rPr lang="en-US" spc="-1" dirty="0">
                  <a:solidFill>
                    <a:srgbClr val="000000"/>
                  </a:solidFill>
                  <a:latin typeface="Calibri"/>
                </a:rPr>
                <a:t> = malloc (5.5 KB)</a:t>
              </a:r>
              <a:endParaRPr lang="en-US" spc="-1" dirty="0">
                <a:latin typeface="Arial"/>
              </a:endParaRPr>
            </a:p>
          </p:txBody>
        </p:sp>
        <p:sp>
          <p:nvSpPr>
            <p:cNvPr id="715" name="CustomShape 16"/>
            <p:cNvSpPr/>
            <p:nvPr/>
          </p:nvSpPr>
          <p:spPr>
            <a:xfrm>
              <a:off x="3737160" y="5105520"/>
              <a:ext cx="578880" cy="364680"/>
            </a:xfrm>
            <a:prstGeom prst="rect">
              <a:avLst/>
            </a:prstGeom>
            <a:gradFill rotWithShape="0">
              <a:gsLst>
                <a:gs pos="0">
                  <a:srgbClr val="FFDED0"/>
                </a:gs>
                <a:gs pos="100000">
                  <a:srgbClr val="FFF1EC"/>
                </a:gs>
              </a:gsLst>
              <a:lin ang="16200000"/>
            </a:gradFill>
            <a:ln>
              <a:noFill/>
            </a:ln>
            <a:effectLst>
              <a:outerShdw blurRad="4000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b="1" spc="-1">
                  <a:solidFill>
                    <a:srgbClr val="000000"/>
                  </a:solidFill>
                  <a:latin typeface="Calibri"/>
                </a:rPr>
                <a:t>ptr1</a:t>
              </a:r>
              <a:endParaRPr lang="en-US" spc="-1">
                <a:latin typeface="Arial"/>
              </a:endParaRPr>
            </a:p>
          </p:txBody>
        </p:sp>
        <p:sp>
          <p:nvSpPr>
            <p:cNvPr id="716" name="CustomShape 17"/>
            <p:cNvSpPr/>
            <p:nvPr/>
          </p:nvSpPr>
          <p:spPr>
            <a:xfrm>
              <a:off x="4966200" y="4660920"/>
              <a:ext cx="1943640" cy="189000"/>
            </a:xfrm>
            <a:prstGeom prst="rect">
              <a:avLst/>
            </a:prstGeom>
            <a:gradFill rotWithShape="0">
              <a:gsLst>
                <a:gs pos="0">
                  <a:srgbClr val="FFDED0"/>
                </a:gs>
                <a:gs pos="100000">
                  <a:srgbClr val="FFF1EC"/>
                </a:gs>
              </a:gsLst>
              <a:lin ang="16200000"/>
            </a:gradFill>
            <a:ln>
              <a:solidFill>
                <a:schemeClr val="tx1"/>
              </a:solidFill>
              <a:prstDash val="dash"/>
              <a:round/>
            </a:ln>
            <a:effectLst>
              <a:outerShdw blurRad="4000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pc="-1" dirty="0">
                  <a:solidFill>
                    <a:srgbClr val="000000"/>
                  </a:solidFill>
                  <a:latin typeface="Calibri"/>
                </a:rPr>
                <a:t>1.5 KB</a:t>
              </a:r>
              <a:endParaRPr lang="en-US" spc="-1" dirty="0">
                <a:latin typeface="Arial"/>
              </a:endParaRPr>
            </a:p>
          </p:txBody>
        </p:sp>
      </p:grpSp>
      <p:grpSp>
        <p:nvGrpSpPr>
          <p:cNvPr id="717" name="Group 18"/>
          <p:cNvGrpSpPr/>
          <p:nvPr/>
        </p:nvGrpSpPr>
        <p:grpSpPr>
          <a:xfrm>
            <a:off x="3233937" y="3516162"/>
            <a:ext cx="6134400" cy="367878"/>
            <a:chOff x="775440" y="4164840"/>
            <a:chExt cx="6134400" cy="367878"/>
          </a:xfrm>
        </p:grpSpPr>
        <p:sp>
          <p:nvSpPr>
            <p:cNvPr id="718" name="CustomShape 19"/>
            <p:cNvSpPr/>
            <p:nvPr/>
          </p:nvSpPr>
          <p:spPr>
            <a:xfrm>
              <a:off x="4343400" y="4393440"/>
              <a:ext cx="609120" cy="3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>
              <a:round/>
              <a:tailEnd type="arrow" w="med" len="med"/>
            </a:ln>
            <a:effectLst>
              <a:outerShdw blurRad="4000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/>
          </p:style>
          <p:txBody>
            <a:bodyPr/>
            <a:lstStyle/>
            <a:p>
              <a:endParaRPr lang="en-AE"/>
            </a:p>
          </p:txBody>
        </p:sp>
        <p:sp>
          <p:nvSpPr>
            <p:cNvPr id="719" name="CustomShape 20"/>
            <p:cNvSpPr/>
            <p:nvPr/>
          </p:nvSpPr>
          <p:spPr>
            <a:xfrm>
              <a:off x="4966200" y="4164840"/>
              <a:ext cx="1943640" cy="229320"/>
            </a:xfrm>
            <a:prstGeom prst="rect">
              <a:avLst/>
            </a:prstGeom>
            <a:gradFill rotWithShape="0">
              <a:gsLst>
                <a:gs pos="0">
                  <a:srgbClr val="D9CAEE"/>
                </a:gs>
                <a:gs pos="100000">
                  <a:srgbClr val="F1EAF8"/>
                </a:gs>
              </a:gsLst>
              <a:lin ang="16200000"/>
            </a:gradFill>
            <a:ln>
              <a:solidFill>
                <a:srgbClr val="7D5FA0"/>
              </a:solidFill>
              <a:prstDash val="dash"/>
              <a:round/>
            </a:ln>
            <a:effectLst>
              <a:outerShdw blurRad="4000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pc="-1" dirty="0">
                  <a:solidFill>
                    <a:srgbClr val="000000"/>
                  </a:solidFill>
                  <a:latin typeface="Calibri"/>
                </a:rPr>
                <a:t>2.1 KB</a:t>
              </a:r>
              <a:endParaRPr lang="en-US" spc="-1" dirty="0">
                <a:latin typeface="Arial"/>
              </a:endParaRPr>
            </a:p>
          </p:txBody>
        </p:sp>
        <p:sp>
          <p:nvSpPr>
            <p:cNvPr id="720" name="CustomShape 21"/>
            <p:cNvSpPr/>
            <p:nvPr/>
          </p:nvSpPr>
          <p:spPr>
            <a:xfrm>
              <a:off x="775440" y="4164840"/>
              <a:ext cx="2205838" cy="367878"/>
            </a:xfrm>
            <a:prstGeom prst="rect">
              <a:avLst/>
            </a:prstGeom>
            <a:gradFill rotWithShape="0">
              <a:gsLst>
                <a:gs pos="0">
                  <a:srgbClr val="D9CAEE"/>
                </a:gs>
                <a:gs pos="100000">
                  <a:srgbClr val="F1EAF8"/>
                </a:gs>
              </a:gsLst>
              <a:lin ang="16200000"/>
            </a:gradFill>
            <a:ln>
              <a:solidFill>
                <a:srgbClr val="7D5FA0"/>
              </a:solidFill>
              <a:round/>
            </a:ln>
            <a:effectLst>
              <a:outerShdw blurRad="4000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b="1" spc="-1">
                  <a:solidFill>
                    <a:srgbClr val="000000"/>
                  </a:solidFill>
                  <a:latin typeface="Calibri"/>
                </a:rPr>
                <a:t>ptr2</a:t>
              </a:r>
              <a:r>
                <a:rPr lang="en-US" spc="-1">
                  <a:solidFill>
                    <a:srgbClr val="000000"/>
                  </a:solidFill>
                  <a:latin typeface="Calibri"/>
                </a:rPr>
                <a:t> = malloc (2.1 KB)</a:t>
              </a:r>
              <a:endParaRPr lang="en-US" spc="-1">
                <a:latin typeface="Arial"/>
              </a:endParaRPr>
            </a:p>
          </p:txBody>
        </p:sp>
        <p:sp>
          <p:nvSpPr>
            <p:cNvPr id="721" name="CustomShape 22"/>
            <p:cNvSpPr/>
            <p:nvPr/>
          </p:nvSpPr>
          <p:spPr>
            <a:xfrm>
              <a:off x="3737160" y="4164840"/>
              <a:ext cx="578880" cy="364680"/>
            </a:xfrm>
            <a:prstGeom prst="rect">
              <a:avLst/>
            </a:prstGeom>
            <a:gradFill rotWithShape="0">
              <a:gsLst>
                <a:gs pos="0">
                  <a:srgbClr val="D9CAEE"/>
                </a:gs>
                <a:gs pos="100000">
                  <a:srgbClr val="F1EAF8"/>
                </a:gs>
              </a:gsLst>
              <a:lin ang="16200000"/>
            </a:gradFill>
            <a:ln>
              <a:noFill/>
            </a:ln>
            <a:effectLst>
              <a:outerShdw blurRad="4000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b="1" spc="-1">
                  <a:solidFill>
                    <a:srgbClr val="000000"/>
                  </a:solidFill>
                  <a:latin typeface="Calibri"/>
                </a:rPr>
                <a:t>ptr2</a:t>
              </a:r>
              <a:endParaRPr lang="en-US" spc="-1">
                <a:latin typeface="Arial"/>
              </a:endParaRPr>
            </a:p>
          </p:txBody>
        </p:sp>
      </p:grpSp>
      <p:grpSp>
        <p:nvGrpSpPr>
          <p:cNvPr id="722" name="Group 23"/>
          <p:cNvGrpSpPr/>
          <p:nvPr/>
        </p:nvGrpSpPr>
        <p:grpSpPr>
          <a:xfrm>
            <a:off x="3233937" y="3008922"/>
            <a:ext cx="6134400" cy="420078"/>
            <a:chOff x="775440" y="3657600"/>
            <a:chExt cx="6134400" cy="420078"/>
          </a:xfrm>
        </p:grpSpPr>
        <p:sp>
          <p:nvSpPr>
            <p:cNvPr id="723" name="CustomShape 24"/>
            <p:cNvSpPr/>
            <p:nvPr/>
          </p:nvSpPr>
          <p:spPr>
            <a:xfrm>
              <a:off x="4343400" y="3938400"/>
              <a:ext cx="609120" cy="3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>
              <a:round/>
              <a:tailEnd type="arrow" w="med" len="med"/>
            </a:ln>
            <a:effectLst>
              <a:outerShdw blurRad="4000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/>
          </p:style>
          <p:txBody>
            <a:bodyPr/>
            <a:lstStyle/>
            <a:p>
              <a:endParaRPr lang="en-AE"/>
            </a:p>
          </p:txBody>
        </p:sp>
        <p:sp>
          <p:nvSpPr>
            <p:cNvPr id="724" name="CustomShape 25"/>
            <p:cNvSpPr/>
            <p:nvPr/>
          </p:nvSpPr>
          <p:spPr>
            <a:xfrm>
              <a:off x="4966200" y="3657600"/>
              <a:ext cx="1943640" cy="287640"/>
            </a:xfrm>
            <a:prstGeom prst="rect">
              <a:avLst/>
            </a:prstGeom>
            <a:gradFill rotWithShape="0">
              <a:gsLst>
                <a:gs pos="0">
                  <a:srgbClr val="FFC1BE"/>
                </a:gs>
                <a:gs pos="100000">
                  <a:srgbClr val="FFE5E5"/>
                </a:gs>
              </a:gsLst>
              <a:lin ang="16200000"/>
            </a:gradFill>
            <a:ln>
              <a:solidFill>
                <a:srgbClr val="BE4B48"/>
              </a:solidFill>
              <a:prstDash val="dash"/>
              <a:round/>
            </a:ln>
            <a:effectLst>
              <a:outerShdw blurRad="4000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pc="-1">
                  <a:solidFill>
                    <a:srgbClr val="000000"/>
                  </a:solidFill>
                  <a:latin typeface="Calibri"/>
                </a:rPr>
                <a:t>3 KB</a:t>
              </a:r>
              <a:endParaRPr lang="en-US" spc="-1">
                <a:latin typeface="Arial"/>
              </a:endParaRPr>
            </a:p>
          </p:txBody>
        </p:sp>
        <p:sp>
          <p:nvSpPr>
            <p:cNvPr id="725" name="CustomShape 26"/>
            <p:cNvSpPr/>
            <p:nvPr/>
          </p:nvSpPr>
          <p:spPr>
            <a:xfrm>
              <a:off x="775440" y="3709800"/>
              <a:ext cx="2031367" cy="367878"/>
            </a:xfrm>
            <a:prstGeom prst="rect">
              <a:avLst/>
            </a:prstGeom>
            <a:gradFill rotWithShape="0">
              <a:gsLst>
                <a:gs pos="0">
                  <a:srgbClr val="FFC1BE"/>
                </a:gs>
                <a:gs pos="100000">
                  <a:srgbClr val="FFE5E5"/>
                </a:gs>
              </a:gsLst>
              <a:lin ang="16200000"/>
            </a:gradFill>
            <a:ln>
              <a:solidFill>
                <a:srgbClr val="BE4B48"/>
              </a:solidFill>
              <a:round/>
            </a:ln>
            <a:effectLst>
              <a:outerShdw blurRad="4000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b="1" spc="-1">
                  <a:solidFill>
                    <a:srgbClr val="000000"/>
                  </a:solidFill>
                  <a:latin typeface="Calibri"/>
                </a:rPr>
                <a:t>ptr3</a:t>
              </a:r>
              <a:r>
                <a:rPr lang="en-US" spc="-1">
                  <a:solidFill>
                    <a:srgbClr val="000000"/>
                  </a:solidFill>
                  <a:latin typeface="Calibri"/>
                </a:rPr>
                <a:t> = malloc (3 KB)</a:t>
              </a:r>
              <a:endParaRPr lang="en-US" spc="-1">
                <a:latin typeface="Arial"/>
              </a:endParaRPr>
            </a:p>
          </p:txBody>
        </p:sp>
        <p:sp>
          <p:nvSpPr>
            <p:cNvPr id="726" name="CustomShape 27"/>
            <p:cNvSpPr/>
            <p:nvPr/>
          </p:nvSpPr>
          <p:spPr>
            <a:xfrm>
              <a:off x="3737160" y="3709800"/>
              <a:ext cx="578880" cy="364680"/>
            </a:xfrm>
            <a:prstGeom prst="rect">
              <a:avLst/>
            </a:prstGeom>
            <a:gradFill rotWithShape="0">
              <a:gsLst>
                <a:gs pos="0">
                  <a:srgbClr val="FFC1BE"/>
                </a:gs>
                <a:gs pos="100000">
                  <a:srgbClr val="FFE5E5"/>
                </a:gs>
              </a:gsLst>
              <a:lin ang="16200000"/>
            </a:gradFill>
            <a:ln>
              <a:noFill/>
            </a:ln>
            <a:effectLst>
              <a:outerShdw blurRad="4000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b="1" spc="-1">
                  <a:solidFill>
                    <a:srgbClr val="000000"/>
                  </a:solidFill>
                  <a:latin typeface="Calibri"/>
                </a:rPr>
                <a:t>ptr3</a:t>
              </a:r>
              <a:endParaRPr lang="en-US" spc="-1">
                <a:latin typeface="Arial"/>
              </a:endParaRP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36E2CC-E258-C21F-2705-6A88F5807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38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0ED7A3-95C5-BE9C-F41B-3531F18AF1E0}"/>
              </a:ext>
            </a:extLst>
          </p:cNvPr>
          <p:cNvSpPr txBox="1">
            <a:spLocks/>
          </p:cNvSpPr>
          <p:nvPr/>
        </p:nvSpPr>
        <p:spPr>
          <a:xfrm>
            <a:off x="0" y="5822"/>
            <a:ext cx="10058400" cy="77760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User Heap – </a:t>
            </a:r>
            <a:r>
              <a:rPr lang="en-US" b="1">
                <a:solidFill>
                  <a:srgbClr val="FF0000"/>
                </a:solidFill>
              </a:rPr>
              <a:t>Page Allocator (</a:t>
            </a:r>
            <a:r>
              <a:rPr lang="en-US" b="1">
                <a:solidFill>
                  <a:schemeClr val="tx1"/>
                </a:solidFill>
              </a:rPr>
              <a:t>malloc</a:t>
            </a:r>
            <a:r>
              <a:rPr lang="en-US" b="1">
                <a:solidFill>
                  <a:srgbClr val="FF0000"/>
                </a:solidFill>
              </a:rPr>
              <a:t>) </a:t>
            </a:r>
            <a:r>
              <a:rPr lang="en-US"/>
              <a:t> </a:t>
            </a:r>
            <a:endParaRPr lang="en-A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/>
          <p:cNvGrpSpPr/>
          <p:nvPr/>
        </p:nvGrpSpPr>
        <p:grpSpPr>
          <a:xfrm>
            <a:off x="6897894" y="512961"/>
            <a:ext cx="5294106" cy="5218413"/>
            <a:chOff x="2498995" y="818264"/>
            <a:chExt cx="5294106" cy="5218413"/>
          </a:xfrm>
        </p:grpSpPr>
        <p:sp>
          <p:nvSpPr>
            <p:cNvPr id="5" name="Rectangle 4"/>
            <p:cNvSpPr/>
            <p:nvPr/>
          </p:nvSpPr>
          <p:spPr>
            <a:xfrm>
              <a:off x="4953000" y="5147400"/>
              <a:ext cx="1981200" cy="72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 b="1"/>
                <a:t>4 MB</a:t>
              </a:r>
              <a:endParaRPr lang="ar-EG" b="1"/>
            </a:p>
          </p:txBody>
        </p:sp>
        <p:sp>
          <p:nvSpPr>
            <p:cNvPr id="6" name="Rectangle 5"/>
            <p:cNvSpPr/>
            <p:nvPr/>
          </p:nvSpPr>
          <p:spPr>
            <a:xfrm>
              <a:off x="4953000" y="2550027"/>
              <a:ext cx="1981200" cy="3432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 sz="1200" b="1"/>
            </a:p>
          </p:txBody>
        </p:sp>
        <p:cxnSp>
          <p:nvCxnSpPr>
            <p:cNvPr id="7" name="Straight Arrow Connector 6"/>
            <p:cNvCxnSpPr>
              <a:cxnSpLocks/>
              <a:stCxn id="8" idx="3"/>
            </p:cNvCxnSpPr>
            <p:nvPr/>
          </p:nvCxnSpPr>
          <p:spPr>
            <a:xfrm>
              <a:off x="4624975" y="5867400"/>
              <a:ext cx="32785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2498995" y="5698123"/>
              <a:ext cx="2125980" cy="338554"/>
            </a:xfrm>
            <a:prstGeom prst="rect">
              <a:avLst/>
            </a:prstGeom>
            <a:noFill/>
          </p:spPr>
          <p:txBody>
            <a:bodyPr wrap="square" lIns="0" rIns="0" rtlCol="1">
              <a:spAutoFit/>
            </a:bodyPr>
            <a:lstStyle/>
            <a:p>
              <a:pPr algn="ctr"/>
              <a:r>
                <a:rPr lang="en-US" sz="1600" b="1" err="1">
                  <a:solidFill>
                    <a:srgbClr val="FF0000"/>
                  </a:solidFill>
                  <a:latin typeface="Consolas" panose="020B0609020204030204" pitchFamily="49" charset="0"/>
                </a:rPr>
                <a:t>uheapPageAllocStart</a:t>
              </a:r>
              <a:endParaRPr lang="en-AE" sz="1600" b="1">
                <a:solidFill>
                  <a:srgbClr val="FF0000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4953000" y="4641600"/>
              <a:ext cx="1981200" cy="540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953000" y="3365863"/>
              <a:ext cx="1981200" cy="252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 b="1"/>
                <a:t>1 MB</a:t>
              </a:r>
              <a:endParaRPr lang="ar-EG" b="1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953000" y="3623400"/>
              <a:ext cx="1981200" cy="720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953000" y="4288200"/>
              <a:ext cx="1981200" cy="36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 b="1"/>
                <a:t>2 MB</a:t>
              </a:r>
              <a:endParaRPr lang="ar-EG" b="1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953000" y="975864"/>
              <a:ext cx="1981200" cy="12298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 sz="1200" b="1"/>
                <a:t>.</a:t>
              </a:r>
            </a:p>
            <a:p>
              <a:pPr algn="ctr"/>
              <a:r>
                <a:rPr lang="en-US" sz="1200" b="1"/>
                <a:t>.</a:t>
              </a:r>
            </a:p>
            <a:p>
              <a:pPr algn="ctr"/>
              <a:r>
                <a:rPr lang="en-US" sz="1200" b="1"/>
                <a:t>.</a:t>
              </a:r>
              <a:endParaRPr lang="ar-EG" sz="1200" b="1"/>
            </a:p>
          </p:txBody>
        </p:sp>
        <p:cxnSp>
          <p:nvCxnSpPr>
            <p:cNvPr id="15" name="Straight Arrow Connector 14"/>
            <p:cNvCxnSpPr>
              <a:cxnSpLocks/>
            </p:cNvCxnSpPr>
            <p:nvPr/>
          </p:nvCxnSpPr>
          <p:spPr>
            <a:xfrm>
              <a:off x="4594322" y="990351"/>
              <a:ext cx="3810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2797475" y="818264"/>
              <a:ext cx="1792607" cy="338554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1600" b="1"/>
                <a:t>USER_HEAP_MAX</a:t>
              </a:r>
              <a:endParaRPr lang="ar-EG" sz="1600" b="1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149737" y="4753783"/>
              <a:ext cx="630301" cy="338554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1600" b="1"/>
                <a:t>3 MB</a:t>
              </a:r>
              <a:endParaRPr lang="ar-EG" sz="1600" b="1"/>
            </a:p>
          </p:txBody>
        </p:sp>
        <p:sp>
          <p:nvSpPr>
            <p:cNvPr id="28" name="Right Brace 27"/>
            <p:cNvSpPr/>
            <p:nvPr/>
          </p:nvSpPr>
          <p:spPr>
            <a:xfrm>
              <a:off x="6973389" y="4648200"/>
              <a:ext cx="216000" cy="540000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162800" y="3782709"/>
              <a:ext cx="630301" cy="338554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1600" b="1"/>
                <a:t>4 MB</a:t>
              </a:r>
              <a:endParaRPr lang="ar-EG" sz="1600" b="1"/>
            </a:p>
          </p:txBody>
        </p:sp>
        <p:sp>
          <p:nvSpPr>
            <p:cNvPr id="30" name="Right Brace 29"/>
            <p:cNvSpPr/>
            <p:nvPr/>
          </p:nvSpPr>
          <p:spPr>
            <a:xfrm>
              <a:off x="6986452" y="3632263"/>
              <a:ext cx="216000" cy="648000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  <p:sp>
        <p:nvSpPr>
          <p:cNvPr id="41" name="Slide Number Placeholder 4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  <p:grpSp>
        <p:nvGrpSpPr>
          <p:cNvPr id="32" name="Group 31"/>
          <p:cNvGrpSpPr/>
          <p:nvPr/>
        </p:nvGrpSpPr>
        <p:grpSpPr>
          <a:xfrm>
            <a:off x="5685491" y="3323036"/>
            <a:ext cx="5627871" cy="573987"/>
            <a:chOff x="1282192" y="3492134"/>
            <a:chExt cx="5627871" cy="573987"/>
          </a:xfrm>
        </p:grpSpPr>
        <p:cxnSp>
          <p:nvCxnSpPr>
            <p:cNvPr id="33" name="Straight Arrow Connector 32"/>
            <p:cNvCxnSpPr/>
            <p:nvPr/>
          </p:nvCxnSpPr>
          <p:spPr>
            <a:xfrm>
              <a:off x="4343400" y="3925389"/>
              <a:ext cx="6096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34" name="Rectangle 33"/>
            <p:cNvSpPr/>
            <p:nvPr/>
          </p:nvSpPr>
          <p:spPr>
            <a:xfrm>
              <a:off x="4966063" y="3492134"/>
              <a:ext cx="1944000" cy="484167"/>
            </a:xfrm>
            <a:prstGeom prst="rect">
              <a:avLst/>
            </a:prstGeom>
            <a:ln>
              <a:prstDash val="dash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/>
                <a:t>3 MB</a:t>
              </a:r>
              <a:endParaRPr lang="ar-EG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282192" y="3625397"/>
              <a:ext cx="2438497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1">
              <a:spAutoFit/>
            </a:bodyPr>
            <a:lstStyle/>
            <a:p>
              <a:r>
                <a:rPr lang="en-US" b="1"/>
                <a:t>ptr3</a:t>
              </a:r>
              <a:r>
                <a:rPr lang="en-US"/>
                <a:t> = malloc (3 MB)</a:t>
              </a:r>
              <a:endParaRPr lang="ar-EG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733800" y="3696789"/>
              <a:ext cx="649537" cy="36933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rtlCol="1">
              <a:spAutoFit/>
            </a:bodyPr>
            <a:lstStyle/>
            <a:p>
              <a:r>
                <a:rPr lang="en-US" b="1"/>
                <a:t>ptr3</a:t>
              </a:r>
              <a:endParaRPr lang="ar-EG" sz="1600" b="1"/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5681091" y="3792179"/>
            <a:ext cx="5627871" cy="469626"/>
            <a:chOff x="1282192" y="4188743"/>
            <a:chExt cx="5627871" cy="469626"/>
          </a:xfrm>
        </p:grpSpPr>
        <p:cxnSp>
          <p:nvCxnSpPr>
            <p:cNvPr id="48" name="Straight Arrow Connector 47"/>
            <p:cNvCxnSpPr/>
            <p:nvPr/>
          </p:nvCxnSpPr>
          <p:spPr>
            <a:xfrm>
              <a:off x="4343400" y="4393474"/>
              <a:ext cx="6096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49" name="Rectangle 48"/>
            <p:cNvSpPr/>
            <p:nvPr/>
          </p:nvSpPr>
          <p:spPr>
            <a:xfrm>
              <a:off x="4966063" y="4188743"/>
              <a:ext cx="1944000" cy="180000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/>
                <a:t>1 MB</a:t>
              </a:r>
              <a:endParaRPr lang="ar-EG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282192" y="4246333"/>
              <a:ext cx="2438497" cy="369332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1">
              <a:spAutoFit/>
            </a:bodyPr>
            <a:lstStyle/>
            <a:p>
              <a:r>
                <a:rPr lang="en-US" b="1"/>
                <a:t>ptr2</a:t>
              </a:r>
              <a:r>
                <a:rPr lang="en-US"/>
                <a:t> = malloc(1 MB)</a:t>
              </a:r>
              <a:endParaRPr lang="ar-EG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733799" y="4289037"/>
              <a:ext cx="685799" cy="36933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1">
              <a:spAutoFit/>
            </a:bodyPr>
            <a:lstStyle/>
            <a:p>
              <a:r>
                <a:rPr lang="en-US" b="1"/>
                <a:t>ptr2</a:t>
              </a:r>
              <a:endParaRPr lang="ar-EG" sz="1600" b="1"/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5674995" y="4569502"/>
            <a:ext cx="5638898" cy="477230"/>
            <a:chOff x="1271165" y="3619021"/>
            <a:chExt cx="5638898" cy="477230"/>
          </a:xfrm>
        </p:grpSpPr>
        <p:cxnSp>
          <p:nvCxnSpPr>
            <p:cNvPr id="53" name="Straight Arrow Connector 52"/>
            <p:cNvCxnSpPr/>
            <p:nvPr/>
          </p:nvCxnSpPr>
          <p:spPr>
            <a:xfrm>
              <a:off x="4343400" y="3925389"/>
              <a:ext cx="6096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54" name="Rectangle 53"/>
            <p:cNvSpPr/>
            <p:nvPr/>
          </p:nvSpPr>
          <p:spPr>
            <a:xfrm>
              <a:off x="4966063" y="3619021"/>
              <a:ext cx="1944000" cy="294700"/>
            </a:xfrm>
            <a:prstGeom prst="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/>
                <a:t>1.5 MB</a:t>
              </a:r>
              <a:endParaRPr lang="ar-EG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271165" y="3726919"/>
              <a:ext cx="2438498" cy="369332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0" rIns="0" rtlCol="1">
              <a:spAutoFit/>
            </a:bodyPr>
            <a:lstStyle/>
            <a:p>
              <a:r>
                <a:rPr lang="en-US" b="1"/>
                <a:t>ptr4</a:t>
              </a:r>
              <a:r>
                <a:rPr lang="en-US"/>
                <a:t> = malloc (1.5 MB)</a:t>
              </a:r>
              <a:endParaRPr lang="ar-EG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3733800" y="3696789"/>
              <a:ext cx="586122" cy="36933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rtlCol="1">
              <a:spAutoFit/>
            </a:bodyPr>
            <a:lstStyle/>
            <a:p>
              <a:r>
                <a:rPr lang="en-US" b="1"/>
                <a:t>ptr4</a:t>
              </a:r>
              <a:endParaRPr lang="ar-EG" sz="1600" b="1"/>
            </a:p>
          </p:txBody>
        </p:sp>
      </p:grpSp>
      <p:sp>
        <p:nvSpPr>
          <p:cNvPr id="42" name="Rectangle 41"/>
          <p:cNvSpPr/>
          <p:nvPr/>
        </p:nvSpPr>
        <p:spPr>
          <a:xfrm>
            <a:off x="9351898" y="1906422"/>
            <a:ext cx="1981200" cy="33830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/>
              <a:t>2 MB</a:t>
            </a:r>
            <a:endParaRPr lang="ar-EG" b="1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9586A83E-C504-0DD0-7C80-ADCEC9D4731F}"/>
              </a:ext>
            </a:extLst>
          </p:cNvPr>
          <p:cNvSpPr txBox="1">
            <a:spLocks/>
          </p:cNvSpPr>
          <p:nvPr/>
        </p:nvSpPr>
        <p:spPr>
          <a:xfrm>
            <a:off x="0" y="960456"/>
            <a:ext cx="5551176" cy="5891722"/>
          </a:xfrm>
          <a:prstGeom prst="rect">
            <a:avLst/>
          </a:prstGeom>
          <a:solidFill>
            <a:schemeClr val="bg1"/>
          </a:solidFill>
        </p:spPr>
        <p:txBody>
          <a:bodyPr vert="horz" lIns="0" tIns="45720" rIns="0" bIns="45720" rtlCol="0">
            <a:normAutofit fontScale="925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</a:pPr>
            <a:r>
              <a:rPr lang="en-US" sz="3200" b="1" dirty="0"/>
              <a:t>CUSTOM FIT </a:t>
            </a:r>
            <a:r>
              <a:rPr lang="en-US" sz="3200" dirty="0"/>
              <a:t>Strategy</a:t>
            </a:r>
          </a:p>
          <a:p>
            <a:pPr marL="0" indent="0"/>
            <a:r>
              <a:rPr lang="en-US" sz="2800" b="1" dirty="0"/>
              <a:t>1.</a:t>
            </a:r>
            <a:r>
              <a:rPr lang="en-US" sz="2800" dirty="0"/>
              <a:t> Search for </a:t>
            </a:r>
            <a:r>
              <a:rPr lang="en-US" sz="2800" b="1" dirty="0"/>
              <a:t>EXACT fit</a:t>
            </a:r>
          </a:p>
          <a:p>
            <a:pPr marL="0" indent="0"/>
            <a:r>
              <a:rPr lang="en-US" sz="2800" b="1" dirty="0"/>
              <a:t>2. </a:t>
            </a:r>
            <a:r>
              <a:rPr lang="en-US" sz="2800" dirty="0"/>
              <a:t>if not found,</a:t>
            </a:r>
            <a:r>
              <a:rPr lang="en-US" sz="2800" b="1" dirty="0"/>
              <a:t> </a:t>
            </a:r>
          </a:p>
          <a:p>
            <a:pPr marL="0" indent="0"/>
            <a:r>
              <a:rPr lang="en-US" sz="2800" b="1" dirty="0"/>
              <a:t>    </a:t>
            </a:r>
            <a:r>
              <a:rPr lang="en-US" sz="2800" dirty="0"/>
              <a:t>search for </a:t>
            </a:r>
            <a:r>
              <a:rPr lang="en-US" sz="2800" b="1" dirty="0"/>
              <a:t>WORST fit </a:t>
            </a:r>
            <a:r>
              <a:rPr lang="en-US" sz="2800" dirty="0"/>
              <a:t>till break</a:t>
            </a:r>
          </a:p>
          <a:p>
            <a:pPr marL="0" indent="0"/>
            <a:r>
              <a:rPr lang="en-US" sz="2800" b="1" dirty="0"/>
              <a:t>3. </a:t>
            </a:r>
            <a:r>
              <a:rPr lang="en-US" sz="2800" dirty="0"/>
              <a:t>if not found,</a:t>
            </a:r>
            <a:r>
              <a:rPr lang="en-US" sz="2800" b="1" dirty="0"/>
              <a:t> </a:t>
            </a:r>
          </a:p>
          <a:p>
            <a:pPr marL="0" indent="0"/>
            <a:r>
              <a:rPr lang="en-US" sz="2800" b="1" dirty="0"/>
              <a:t>    </a:t>
            </a:r>
            <a:r>
              <a:rPr lang="en-US" sz="2800" dirty="0"/>
              <a:t>extend </a:t>
            </a:r>
            <a:r>
              <a:rPr lang="en-US" sz="2800" b="1" dirty="0"/>
              <a:t>BREAK </a:t>
            </a:r>
            <a:r>
              <a:rPr lang="en-US" sz="2800" dirty="0"/>
              <a:t>if available</a:t>
            </a:r>
          </a:p>
          <a:p>
            <a:pPr marL="0" indent="0"/>
            <a:r>
              <a:rPr lang="en-US" sz="2800" b="1" dirty="0"/>
              <a:t>4. </a:t>
            </a:r>
            <a:r>
              <a:rPr lang="en-US" sz="2800" dirty="0"/>
              <a:t>if not available,</a:t>
            </a:r>
            <a:r>
              <a:rPr lang="en-US" sz="2800" b="1" dirty="0"/>
              <a:t> </a:t>
            </a:r>
          </a:p>
          <a:p>
            <a:pPr marL="0" indent="0"/>
            <a:r>
              <a:rPr lang="en-US" sz="2800" b="1" dirty="0"/>
              <a:t>    </a:t>
            </a:r>
            <a:r>
              <a:rPr lang="en-US" sz="2800" dirty="0"/>
              <a:t>return </a:t>
            </a:r>
            <a:r>
              <a:rPr lang="en-US" sz="2800" b="1" dirty="0"/>
              <a:t>NULL</a:t>
            </a:r>
          </a:p>
          <a:p>
            <a:pPr marL="0" indent="0"/>
            <a:r>
              <a:rPr lang="en-US" sz="2800" b="1" dirty="0"/>
              <a:t>Required Complexity: </a:t>
            </a:r>
            <a:r>
              <a:rPr lang="en-US" sz="2800" b="1" dirty="0">
                <a:solidFill>
                  <a:srgbClr val="FF0000"/>
                </a:solidFill>
              </a:rPr>
              <a:t>bounded by</a:t>
            </a:r>
            <a:r>
              <a:rPr lang="en-US" sz="2800" b="1" dirty="0"/>
              <a:t> </a:t>
            </a:r>
          </a:p>
          <a:p>
            <a:pPr marL="0" indent="0"/>
            <a:r>
              <a:rPr lang="en-US" sz="2800" b="1" dirty="0">
                <a:solidFill>
                  <a:srgbClr val="FF0000"/>
                </a:solidFill>
              </a:rPr>
              <a:t>O(# FREE areas + # required pages)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6E4512D2-E0A0-2B37-29E4-36462198B29C}"/>
              </a:ext>
            </a:extLst>
          </p:cNvPr>
          <p:cNvGrpSpPr/>
          <p:nvPr/>
        </p:nvGrpSpPr>
        <p:grpSpPr>
          <a:xfrm>
            <a:off x="6897894" y="1747606"/>
            <a:ext cx="2453832" cy="338554"/>
            <a:chOff x="6897894" y="1747606"/>
            <a:chExt cx="2453832" cy="338554"/>
          </a:xfrm>
        </p:grpSpPr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D73893F8-E906-AC30-3279-AD4E2C709E15}"/>
                </a:ext>
              </a:extLst>
            </p:cNvPr>
            <p:cNvCxnSpPr>
              <a:cxnSpLocks/>
              <a:stCxn id="57" idx="3"/>
            </p:cNvCxnSpPr>
            <p:nvPr/>
          </p:nvCxnSpPr>
          <p:spPr>
            <a:xfrm>
              <a:off x="9023874" y="1916883"/>
              <a:ext cx="32785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A42396D-2633-A1D6-DB88-983AD7E8CA4F}"/>
                </a:ext>
              </a:extLst>
            </p:cNvPr>
            <p:cNvSpPr txBox="1"/>
            <p:nvPr/>
          </p:nvSpPr>
          <p:spPr>
            <a:xfrm>
              <a:off x="6897894" y="1747606"/>
              <a:ext cx="2125980" cy="338554"/>
            </a:xfrm>
            <a:prstGeom prst="rect">
              <a:avLst/>
            </a:prstGeom>
            <a:noFill/>
          </p:spPr>
          <p:txBody>
            <a:bodyPr wrap="square" lIns="0" rIns="0" rtlCol="1">
              <a:spAutoFit/>
            </a:bodyPr>
            <a:lstStyle/>
            <a:p>
              <a:pPr algn="ctr"/>
              <a:r>
                <a:rPr lang="en-US" sz="1600" b="1" err="1">
                  <a:solidFill>
                    <a:srgbClr val="FF0000"/>
                  </a:solidFill>
                  <a:latin typeface="Consolas" panose="020B0609020204030204" pitchFamily="49" charset="0"/>
                </a:rPr>
                <a:t>uheapPageAllocBreak</a:t>
              </a:r>
              <a:endParaRPr lang="en-AE" sz="1600" b="1">
                <a:solidFill>
                  <a:srgbClr val="FF0000"/>
                </a:solidFill>
              </a:endParaRPr>
            </a:p>
          </p:txBody>
        </p:sp>
      </p:grpSp>
      <p:sp>
        <p:nvSpPr>
          <p:cNvPr id="58" name="Title 1">
            <a:extLst>
              <a:ext uri="{FF2B5EF4-FFF2-40B4-BE49-F238E27FC236}">
                <a16:creationId xmlns:a16="http://schemas.microsoft.com/office/drawing/2014/main" id="{B07495A2-A71C-69FF-91D2-778FBBAFD929}"/>
              </a:ext>
            </a:extLst>
          </p:cNvPr>
          <p:cNvSpPr txBox="1">
            <a:spLocks/>
          </p:cNvSpPr>
          <p:nvPr/>
        </p:nvSpPr>
        <p:spPr>
          <a:xfrm>
            <a:off x="-1" y="5822"/>
            <a:ext cx="11601351" cy="77760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User Heap – </a:t>
            </a:r>
            <a:r>
              <a:rPr lang="en-US" b="1">
                <a:solidFill>
                  <a:srgbClr val="FF0000"/>
                </a:solidFill>
              </a:rPr>
              <a:t>Page Allocator (</a:t>
            </a:r>
            <a:r>
              <a:rPr lang="en-US" b="1">
                <a:solidFill>
                  <a:schemeClr val="tx1"/>
                </a:solidFill>
              </a:rPr>
              <a:t>malloc</a:t>
            </a:r>
            <a:r>
              <a:rPr lang="en-US" b="1">
                <a:solidFill>
                  <a:srgbClr val="FF0000"/>
                </a:solidFill>
              </a:rPr>
              <a:t>) </a:t>
            </a:r>
            <a:r>
              <a:rPr lang="en-US"/>
              <a:t> </a:t>
            </a:r>
            <a:endParaRPr lang="en-AE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4E9C463-DD31-36E2-522D-608DC0248A44}"/>
              </a:ext>
            </a:extLst>
          </p:cNvPr>
          <p:cNvSpPr/>
          <p:nvPr/>
        </p:nvSpPr>
        <p:spPr>
          <a:xfrm>
            <a:off x="9351898" y="2795498"/>
            <a:ext cx="1981200" cy="252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EG" b="1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4D4CF00-E352-9368-2C21-16A74A8036E1}"/>
              </a:ext>
            </a:extLst>
          </p:cNvPr>
          <p:cNvSpPr/>
          <p:nvPr/>
        </p:nvSpPr>
        <p:spPr>
          <a:xfrm>
            <a:off x="9355175" y="2586636"/>
            <a:ext cx="1981200" cy="252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/>
              <a:t>1 MB</a:t>
            </a:r>
            <a:endParaRPr lang="ar-EG" b="1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05F5593-AC3B-4526-0428-D1335BA34F1D}"/>
              </a:ext>
            </a:extLst>
          </p:cNvPr>
          <p:cNvSpPr txBox="1"/>
          <p:nvPr/>
        </p:nvSpPr>
        <p:spPr>
          <a:xfrm>
            <a:off x="11530493" y="2795498"/>
            <a:ext cx="657552" cy="33855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600" b="1"/>
              <a:t>1 MB</a:t>
            </a:r>
            <a:endParaRPr lang="ar-EG" sz="1600" b="1"/>
          </a:p>
        </p:txBody>
      </p:sp>
      <p:sp>
        <p:nvSpPr>
          <p:cNvPr id="62" name="Right Brace 61">
            <a:extLst>
              <a:ext uri="{FF2B5EF4-FFF2-40B4-BE49-F238E27FC236}">
                <a16:creationId xmlns:a16="http://schemas.microsoft.com/office/drawing/2014/main" id="{6A62ED4A-E409-11C0-11B7-930943CA32DA}"/>
              </a:ext>
            </a:extLst>
          </p:cNvPr>
          <p:cNvSpPr/>
          <p:nvPr/>
        </p:nvSpPr>
        <p:spPr>
          <a:xfrm>
            <a:off x="11333098" y="2858709"/>
            <a:ext cx="165379" cy="186619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grpSp>
        <p:nvGrpSpPr>
          <p:cNvPr id="17" name="Group 16"/>
          <p:cNvGrpSpPr/>
          <p:nvPr/>
        </p:nvGrpSpPr>
        <p:grpSpPr>
          <a:xfrm>
            <a:off x="5681091" y="2842660"/>
            <a:ext cx="5627871" cy="433080"/>
            <a:chOff x="1282192" y="4188743"/>
            <a:chExt cx="5627871" cy="433080"/>
          </a:xfrm>
        </p:grpSpPr>
        <p:cxnSp>
          <p:nvCxnSpPr>
            <p:cNvPr id="18" name="Straight Arrow Connector 17"/>
            <p:cNvCxnSpPr/>
            <p:nvPr/>
          </p:nvCxnSpPr>
          <p:spPr>
            <a:xfrm>
              <a:off x="4343400" y="4393474"/>
              <a:ext cx="6096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19" name="Rectangle 18"/>
            <p:cNvSpPr/>
            <p:nvPr/>
          </p:nvSpPr>
          <p:spPr>
            <a:xfrm>
              <a:off x="4966063" y="4188743"/>
              <a:ext cx="1944000" cy="218916"/>
            </a:xfrm>
            <a:prstGeom prst="rect">
              <a:avLst/>
            </a:prstGeom>
            <a:ln>
              <a:prstDash val="dash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/>
                <a:t>1 MB</a:t>
              </a:r>
              <a:endParaRPr lang="ar-EG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282192" y="4252491"/>
              <a:ext cx="2438497" cy="369332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1">
              <a:spAutoFit/>
            </a:bodyPr>
            <a:lstStyle/>
            <a:p>
              <a:r>
                <a:rPr lang="en-US" b="1"/>
                <a:t>ptr1</a:t>
              </a:r>
              <a:r>
                <a:rPr lang="en-US"/>
                <a:t> = malloc (1 MB)</a:t>
              </a:r>
              <a:endParaRPr lang="ar-EG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733800" y="4229406"/>
              <a:ext cx="685798" cy="36933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1">
              <a:spAutoFit/>
            </a:bodyPr>
            <a:lstStyle/>
            <a:p>
              <a:r>
                <a:rPr lang="en-US" b="1"/>
                <a:t>ptr1</a:t>
              </a:r>
              <a:endParaRPr lang="ar-EG" sz="1600" b="1"/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F4F395ED-58C9-1891-7C72-F0B27C4624D4}"/>
              </a:ext>
            </a:extLst>
          </p:cNvPr>
          <p:cNvSpPr txBox="1"/>
          <p:nvPr/>
        </p:nvSpPr>
        <p:spPr>
          <a:xfrm>
            <a:off x="11544118" y="2258284"/>
            <a:ext cx="657552" cy="33855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600" b="1"/>
              <a:t>2 MB</a:t>
            </a:r>
            <a:endParaRPr lang="ar-EG" sz="1600" b="1"/>
          </a:p>
        </p:txBody>
      </p:sp>
      <p:sp>
        <p:nvSpPr>
          <p:cNvPr id="64" name="Right Brace 63">
            <a:extLst>
              <a:ext uri="{FF2B5EF4-FFF2-40B4-BE49-F238E27FC236}">
                <a16:creationId xmlns:a16="http://schemas.microsoft.com/office/drawing/2014/main" id="{AC4F3090-97EC-4475-8ACD-0185FF114B10}"/>
              </a:ext>
            </a:extLst>
          </p:cNvPr>
          <p:cNvSpPr/>
          <p:nvPr/>
        </p:nvSpPr>
        <p:spPr>
          <a:xfrm>
            <a:off x="11351851" y="2251260"/>
            <a:ext cx="196785" cy="338555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26A0BD0-7FBB-3566-5219-7860CCCE3AF6}"/>
              </a:ext>
            </a:extLst>
          </p:cNvPr>
          <p:cNvGrpSpPr/>
          <p:nvPr/>
        </p:nvGrpSpPr>
        <p:grpSpPr>
          <a:xfrm>
            <a:off x="2512846" y="2432248"/>
            <a:ext cx="5610477" cy="556379"/>
            <a:chOff x="1299586" y="3592003"/>
            <a:chExt cx="5610477" cy="556379"/>
          </a:xfrm>
        </p:grpSpPr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1161C833-4460-1261-841E-F57589629F27}"/>
                </a:ext>
              </a:extLst>
            </p:cNvPr>
            <p:cNvCxnSpPr/>
            <p:nvPr/>
          </p:nvCxnSpPr>
          <p:spPr>
            <a:xfrm>
              <a:off x="4343400" y="3925389"/>
              <a:ext cx="6096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CD938BE6-C554-0B2A-37DD-B45A5AF933AB}"/>
                </a:ext>
              </a:extLst>
            </p:cNvPr>
            <p:cNvSpPr/>
            <p:nvPr/>
          </p:nvSpPr>
          <p:spPr>
            <a:xfrm>
              <a:off x="4966063" y="3592003"/>
              <a:ext cx="1944000" cy="384298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/>
                <a:t>2.5 MB</a:t>
              </a:r>
              <a:endParaRPr lang="ar-EG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F87C89AF-5756-0B75-CC01-36C622A323C4}"/>
                </a:ext>
              </a:extLst>
            </p:cNvPr>
            <p:cNvSpPr txBox="1"/>
            <p:nvPr/>
          </p:nvSpPr>
          <p:spPr>
            <a:xfrm>
              <a:off x="1299586" y="3779050"/>
              <a:ext cx="2438497" cy="36933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lIns="0" rIns="0" rtlCol="1">
              <a:spAutoFit/>
            </a:bodyPr>
            <a:lstStyle/>
            <a:p>
              <a:r>
                <a:rPr lang="en-US" b="1"/>
                <a:t>ptr5</a:t>
              </a:r>
              <a:r>
                <a:rPr lang="en-US"/>
                <a:t> = malloc (2.5 MB)</a:t>
              </a:r>
              <a:endParaRPr lang="ar-EG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D0037ADF-4A20-6CB8-764A-7122EEB6F804}"/>
                </a:ext>
              </a:extLst>
            </p:cNvPr>
            <p:cNvSpPr txBox="1"/>
            <p:nvPr/>
          </p:nvSpPr>
          <p:spPr>
            <a:xfrm>
              <a:off x="3733800" y="3696789"/>
              <a:ext cx="649537" cy="36933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rtlCol="1">
              <a:spAutoFit/>
            </a:bodyPr>
            <a:lstStyle/>
            <a:p>
              <a:r>
                <a:rPr lang="en-US" b="1"/>
                <a:t>ptr5</a:t>
              </a:r>
              <a:endParaRPr lang="ar-EG" sz="1600" b="1"/>
            </a:p>
          </p:txBody>
        </p:sp>
      </p:grpSp>
      <p:sp>
        <p:nvSpPr>
          <p:cNvPr id="72" name="Rectangle 71">
            <a:extLst>
              <a:ext uri="{FF2B5EF4-FFF2-40B4-BE49-F238E27FC236}">
                <a16:creationId xmlns:a16="http://schemas.microsoft.com/office/drawing/2014/main" id="{118B3C72-2508-5F71-5FC0-75913D0EC486}"/>
              </a:ext>
            </a:extLst>
          </p:cNvPr>
          <p:cNvSpPr/>
          <p:nvPr/>
        </p:nvSpPr>
        <p:spPr>
          <a:xfrm>
            <a:off x="9364962" y="687309"/>
            <a:ext cx="1972719" cy="1225620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b="1"/>
              <a:t>UNUSED</a:t>
            </a:r>
            <a:endParaRPr lang="en-AE" b="1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9961CC5-FAB8-5653-4DFB-17499E56FFD2}"/>
              </a:ext>
            </a:extLst>
          </p:cNvPr>
          <p:cNvSpPr/>
          <p:nvPr/>
        </p:nvSpPr>
        <p:spPr>
          <a:xfrm>
            <a:off x="9360379" y="687308"/>
            <a:ext cx="1972719" cy="817220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b="1"/>
              <a:t>UNUSED</a:t>
            </a:r>
            <a:endParaRPr lang="en-AE" b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4EE66E-9FB2-A6FE-1D4C-84765A7F5BA7}"/>
              </a:ext>
            </a:extLst>
          </p:cNvPr>
          <p:cNvSpPr txBox="1"/>
          <p:nvPr/>
        </p:nvSpPr>
        <p:spPr>
          <a:xfrm>
            <a:off x="4163790" y="708994"/>
            <a:ext cx="2438497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en-US" b="1" dirty="0"/>
              <a:t>ptr1</a:t>
            </a:r>
            <a:r>
              <a:rPr lang="en-US" dirty="0"/>
              <a:t> = malloc (1 MB)</a:t>
            </a:r>
            <a:endParaRPr lang="ar-E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DA7B9A-0F15-56E6-E390-2F767BFD386B}"/>
              </a:ext>
            </a:extLst>
          </p:cNvPr>
          <p:cNvSpPr txBox="1"/>
          <p:nvPr/>
        </p:nvSpPr>
        <p:spPr>
          <a:xfrm>
            <a:off x="4163789" y="1109821"/>
            <a:ext cx="2438497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en-US" b="1" dirty="0"/>
              <a:t>ptr2</a:t>
            </a:r>
            <a:r>
              <a:rPr lang="en-US" dirty="0"/>
              <a:t> = malloc(1 MB)</a:t>
            </a:r>
            <a:endParaRPr lang="ar-E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BD777E-DAC8-852D-50E3-6E2DB9CF55B0}"/>
              </a:ext>
            </a:extLst>
          </p:cNvPr>
          <p:cNvSpPr txBox="1"/>
          <p:nvPr/>
        </p:nvSpPr>
        <p:spPr>
          <a:xfrm>
            <a:off x="4163788" y="1511558"/>
            <a:ext cx="2438497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en-US" b="1" dirty="0"/>
              <a:t>ptr3</a:t>
            </a:r>
            <a:r>
              <a:rPr lang="en-US" dirty="0"/>
              <a:t> = malloc (3 MB)</a:t>
            </a:r>
            <a:endParaRPr lang="ar-EG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AED149-1927-4369-7252-FC0FEDFC5CD0}"/>
              </a:ext>
            </a:extLst>
          </p:cNvPr>
          <p:cNvSpPr txBox="1"/>
          <p:nvPr/>
        </p:nvSpPr>
        <p:spPr>
          <a:xfrm>
            <a:off x="4170527" y="1925867"/>
            <a:ext cx="2438498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0" rIns="0" rtlCol="1">
            <a:spAutoFit/>
          </a:bodyPr>
          <a:lstStyle/>
          <a:p>
            <a:r>
              <a:rPr lang="en-US" b="1" dirty="0"/>
              <a:t>ptr4</a:t>
            </a:r>
            <a:r>
              <a:rPr lang="en-US" dirty="0"/>
              <a:t> = malloc (1.5 MB)</a:t>
            </a:r>
            <a:endParaRPr lang="ar-EG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D88440-0D60-9540-5975-5EB4BFCA9BB0}"/>
              </a:ext>
            </a:extLst>
          </p:cNvPr>
          <p:cNvSpPr txBox="1"/>
          <p:nvPr/>
        </p:nvSpPr>
        <p:spPr>
          <a:xfrm>
            <a:off x="5791980" y="5812732"/>
            <a:ext cx="2125980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en-US" b="1" dirty="0"/>
              <a:t>x</a:t>
            </a:r>
            <a:r>
              <a:rPr lang="en-US" dirty="0"/>
              <a:t> = malloc (12 KB)</a:t>
            </a:r>
            <a:endParaRPr lang="ar-EG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B27211-2655-E616-CCC7-169C3AC4712C}"/>
              </a:ext>
            </a:extLst>
          </p:cNvPr>
          <p:cNvSpPr txBox="1"/>
          <p:nvPr/>
        </p:nvSpPr>
        <p:spPr>
          <a:xfrm>
            <a:off x="8158005" y="5728066"/>
            <a:ext cx="30893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O(2 + 12KB/4KB)</a:t>
            </a:r>
            <a:endParaRPr lang="en-AE" sz="2800" b="1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B0A3BB4-AD3F-DFBB-F465-54DC5957AD01}"/>
              </a:ext>
            </a:extLst>
          </p:cNvPr>
          <p:cNvSpPr/>
          <p:nvPr/>
        </p:nvSpPr>
        <p:spPr>
          <a:xfrm>
            <a:off x="6965275" y="5808416"/>
            <a:ext cx="766612" cy="369331"/>
          </a:xfrm>
          <a:prstGeom prst="rect">
            <a:avLst/>
          </a:prstGeom>
          <a:solidFill>
            <a:srgbClr val="FF000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65D3302-2DA0-8CFC-527E-62151BED437B}"/>
              </a:ext>
            </a:extLst>
          </p:cNvPr>
          <p:cNvSpPr/>
          <p:nvPr/>
        </p:nvSpPr>
        <p:spPr>
          <a:xfrm>
            <a:off x="9351726" y="2258284"/>
            <a:ext cx="1996849" cy="310607"/>
          </a:xfrm>
          <a:prstGeom prst="rect">
            <a:avLst/>
          </a:prstGeom>
          <a:solidFill>
            <a:srgbClr val="00B05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FREE</a:t>
            </a:r>
            <a:endParaRPr lang="en-AE" b="1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7988D97-AAA5-8BDD-9250-C309D78967A8}"/>
              </a:ext>
            </a:extLst>
          </p:cNvPr>
          <p:cNvSpPr/>
          <p:nvPr/>
        </p:nvSpPr>
        <p:spPr>
          <a:xfrm>
            <a:off x="9338537" y="4353615"/>
            <a:ext cx="1996849" cy="219771"/>
          </a:xfrm>
          <a:prstGeom prst="rect">
            <a:avLst/>
          </a:prstGeom>
          <a:solidFill>
            <a:srgbClr val="00B05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FREE</a:t>
            </a:r>
            <a:endParaRPr lang="en-AE" b="1" dirty="0"/>
          </a:p>
        </p:txBody>
      </p:sp>
    </p:spTree>
    <p:extLst>
      <p:ext uri="{BB962C8B-B14F-4D97-AF65-F5344CB8AC3E}">
        <p14:creationId xmlns:p14="http://schemas.microsoft.com/office/powerpoint/2010/main" val="1921076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7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1.85185E-6 L -0.00092 -0.05625 " pathEditMode="relative" rAng="0" ptsTypes="AA">
                                      <p:cBhvr>
                                        <p:cTn id="78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28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834 -0.01134 L -0.00834 -0.01111 C -0.00391 -0.01458 0.00078 -0.0169 0.00521 -0.0206 C 0.00768 -0.02245 0.00989 -0.02546 0.01211 -0.02801 C 0.01471 -0.03148 0.01679 -0.03634 0.01966 -0.03866 C 0.02539 -0.04352 0.03164 -0.0456 0.03763 -0.04931 C 0.04075 -0.05116 0.04375 -0.0537 0.047 -0.05533 C 0.05078 -0.05718 0.06068 -0.06273 0.06653 -0.06435 C 0.06888 -0.06505 0.07109 -0.06551 0.07344 -0.06597 C 0.08216 -0.07107 0.07552 -0.06806 0.08789 -0.0706 C 0.11706 -0.07639 0.08073 -0.07107 0.12448 -0.07662 C 0.12734 -0.07755 0.13463 -0.08009 0.13646 -0.08102 C 0.13854 -0.08218 0.14036 -0.08449 0.14245 -0.08565 C 0.14466 -0.08704 0.147 -0.0875 0.14922 -0.08866 C 0.15091 -0.08958 0.1526 -0.09074 0.15429 -0.09167 C 0.15573 -0.09236 0.15729 -0.09236 0.15859 -0.09329 C 0.16002 -0.09398 0.16133 -0.0956 0.16289 -0.0963 C 0.16562 -0.09722 0.16862 -0.09722 0.17135 -0.09769 C 0.17422 -0.09884 0.17708 -0.09931 0.17995 -0.1007 C 0.19062 -0.10625 0.17044 -0.10417 0.19349 -0.10833 L 0.20208 -0.10995 C 0.20325 -0.11042 0.20429 -0.11088 0.20547 -0.11134 C 0.20638 -0.11181 0.20716 -0.1125 0.20807 -0.11296 C 0.21002 -0.11366 0.21198 -0.11389 0.21406 -0.11435 C 0.222 -0.11921 0.21614 -0.1162 0.22344 -0.11898 C 0.22448 -0.11945 0.22565 -0.12014 0.22682 -0.12037 C 0.23307 -0.12222 0.23346 -0.12153 0.23958 -0.12338 C 0.24219 -0.12431 0.24466 -0.1257 0.24726 -0.12662 C 0.25065 -0.12778 0.25403 -0.12847 0.25742 -0.12963 C 0.25885 -0.13148 0.26028 -0.13357 0.26172 -0.13565 C 0.2625 -0.13658 0.26341 -0.13935 0.26432 -0.13866 C 0.26536 -0.13773 0.26575 -0.13426 0.2651 -0.13264 C 0.26458 -0.13125 0.26341 -0.13357 0.26263 -0.13403 L 0.26263 -0.1338 " pathEditMode="relative" rAng="0" ptsTypes="AAAAAAAAAAAAAAAAAAAAAAAAAAAAAAAAAA">
                                      <p:cBhvr>
                                        <p:cTn id="81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685" y="-63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73" grpId="0" animBg="1"/>
      <p:bldP spid="2" grpId="0" animBg="1"/>
      <p:bldP spid="2" grpId="1" animBg="1"/>
      <p:bldP spid="3" grpId="0" animBg="1"/>
      <p:bldP spid="3" grpId="1" animBg="1"/>
      <p:bldP spid="4" grpId="0" animBg="1"/>
      <p:bldP spid="4" grpId="1" animBg="1"/>
      <p:bldP spid="23" grpId="0" animBg="1"/>
      <p:bldP spid="23" grpId="1" animBg="1"/>
      <p:bldP spid="24" grpId="0" animBg="1"/>
      <p:bldP spid="25" grpId="0"/>
      <p:bldP spid="26" grpId="0" animBg="1"/>
      <p:bldP spid="37" grpId="0" animBg="1"/>
      <p:bldP spid="3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BF8C8-A8E0-794E-E851-D768B22C9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47A865C8-95A7-6E1E-9F6A-DFC6A6022899}"/>
              </a:ext>
            </a:extLst>
          </p:cNvPr>
          <p:cNvGrpSpPr/>
          <p:nvPr/>
        </p:nvGrpSpPr>
        <p:grpSpPr>
          <a:xfrm>
            <a:off x="6897894" y="552453"/>
            <a:ext cx="5294106" cy="5178921"/>
            <a:chOff x="2498995" y="857756"/>
            <a:chExt cx="5294106" cy="517892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54D33B0-FC1D-7C98-7979-406C6652DE40}"/>
                </a:ext>
              </a:extLst>
            </p:cNvPr>
            <p:cNvSpPr/>
            <p:nvPr/>
          </p:nvSpPr>
          <p:spPr>
            <a:xfrm>
              <a:off x="4953000" y="5147400"/>
              <a:ext cx="1981200" cy="72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 b="1"/>
                <a:t>4 MB</a:t>
              </a:r>
              <a:endParaRPr lang="ar-EG" b="1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77F0180-D4A9-7189-2B27-6375388E8DA3}"/>
                </a:ext>
              </a:extLst>
            </p:cNvPr>
            <p:cNvSpPr/>
            <p:nvPr/>
          </p:nvSpPr>
          <p:spPr>
            <a:xfrm>
              <a:off x="4953000" y="2550027"/>
              <a:ext cx="1981200" cy="3432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 sz="1200" b="1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6E69047-7AD8-08DB-A051-996EA9C67E09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>
              <a:off x="4624975" y="5867400"/>
              <a:ext cx="32785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0B62595-9916-1AA1-1D4E-331BA7A7E930}"/>
                </a:ext>
              </a:extLst>
            </p:cNvPr>
            <p:cNvSpPr txBox="1"/>
            <p:nvPr/>
          </p:nvSpPr>
          <p:spPr>
            <a:xfrm>
              <a:off x="2498995" y="5698123"/>
              <a:ext cx="2125980" cy="338554"/>
            </a:xfrm>
            <a:prstGeom prst="rect">
              <a:avLst/>
            </a:prstGeom>
            <a:noFill/>
          </p:spPr>
          <p:txBody>
            <a:bodyPr wrap="square" lIns="0" rIns="0" rtlCol="1">
              <a:spAutoFit/>
            </a:bodyPr>
            <a:lstStyle/>
            <a:p>
              <a:pPr algn="ctr"/>
              <a:r>
                <a:rPr lang="en-US" sz="1600" b="1" err="1">
                  <a:solidFill>
                    <a:srgbClr val="FF0000"/>
                  </a:solidFill>
                  <a:latin typeface="Consolas" panose="020B0609020204030204" pitchFamily="49" charset="0"/>
                </a:rPr>
                <a:t>uheapPageAllocStart</a:t>
              </a:r>
              <a:endParaRPr lang="en-AE" sz="1600" b="1">
                <a:solidFill>
                  <a:srgbClr val="FF0000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75BCF9C-AEFB-9ECD-43D0-C1673B72B68F}"/>
                </a:ext>
              </a:extLst>
            </p:cNvPr>
            <p:cNvSpPr/>
            <p:nvPr/>
          </p:nvSpPr>
          <p:spPr>
            <a:xfrm>
              <a:off x="4953000" y="4641600"/>
              <a:ext cx="1981200" cy="540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5E57584-CD9F-8410-222B-D55469CDF956}"/>
                </a:ext>
              </a:extLst>
            </p:cNvPr>
            <p:cNvSpPr/>
            <p:nvPr/>
          </p:nvSpPr>
          <p:spPr>
            <a:xfrm>
              <a:off x="4953000" y="3365863"/>
              <a:ext cx="1981200" cy="252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 b="1"/>
                <a:t>1 MB</a:t>
              </a:r>
              <a:endParaRPr lang="ar-EG" b="1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E469858-0815-8B59-1C9C-B0F48E29B4FA}"/>
                </a:ext>
              </a:extLst>
            </p:cNvPr>
            <p:cNvSpPr/>
            <p:nvPr/>
          </p:nvSpPr>
          <p:spPr>
            <a:xfrm>
              <a:off x="4953000" y="3623400"/>
              <a:ext cx="1981200" cy="720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64CF786-5DC8-5023-C58F-B60663126783}"/>
                </a:ext>
              </a:extLst>
            </p:cNvPr>
            <p:cNvSpPr/>
            <p:nvPr/>
          </p:nvSpPr>
          <p:spPr>
            <a:xfrm>
              <a:off x="4953000" y="4288200"/>
              <a:ext cx="1981200" cy="36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 b="1"/>
                <a:t>2 MB</a:t>
              </a:r>
              <a:endParaRPr lang="ar-EG" b="1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99008C9-A706-208A-37FB-61D0EB187777}"/>
                </a:ext>
              </a:extLst>
            </p:cNvPr>
            <p:cNvSpPr/>
            <p:nvPr/>
          </p:nvSpPr>
          <p:spPr>
            <a:xfrm>
              <a:off x="4953000" y="975864"/>
              <a:ext cx="1981200" cy="12298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 sz="1200" b="1"/>
                <a:t>.</a:t>
              </a:r>
            </a:p>
            <a:p>
              <a:pPr algn="ctr"/>
              <a:r>
                <a:rPr lang="en-US" sz="1200" b="1"/>
                <a:t>.</a:t>
              </a:r>
            </a:p>
            <a:p>
              <a:pPr algn="ctr"/>
              <a:r>
                <a:rPr lang="en-US" sz="1200" b="1"/>
                <a:t>.</a:t>
              </a:r>
              <a:endParaRPr lang="ar-EG" sz="1200" b="1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9391567-209D-B314-B7EB-F49F6D589CE8}"/>
                </a:ext>
              </a:extLst>
            </p:cNvPr>
            <p:cNvCxnSpPr>
              <a:cxnSpLocks/>
            </p:cNvCxnSpPr>
            <p:nvPr/>
          </p:nvCxnSpPr>
          <p:spPr>
            <a:xfrm>
              <a:off x="4594322" y="990351"/>
              <a:ext cx="3810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F28A13B-7A77-71E6-4671-FA69382B45A2}"/>
                </a:ext>
              </a:extLst>
            </p:cNvPr>
            <p:cNvSpPr txBox="1"/>
            <p:nvPr/>
          </p:nvSpPr>
          <p:spPr>
            <a:xfrm>
              <a:off x="2647400" y="857756"/>
              <a:ext cx="1916615" cy="338554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1600" b="1"/>
                <a:t>KERNEL_HEAP_MAX</a:t>
              </a:r>
              <a:endParaRPr lang="ar-EG" sz="1600" b="1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8B43DD3-4221-45FA-CB2A-CB068F58B522}"/>
                </a:ext>
              </a:extLst>
            </p:cNvPr>
            <p:cNvSpPr txBox="1"/>
            <p:nvPr/>
          </p:nvSpPr>
          <p:spPr>
            <a:xfrm>
              <a:off x="7149737" y="4753783"/>
              <a:ext cx="630301" cy="338554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1600" b="1"/>
                <a:t>3 MB</a:t>
              </a:r>
              <a:endParaRPr lang="ar-EG" sz="1600" b="1"/>
            </a:p>
          </p:txBody>
        </p:sp>
        <p:sp>
          <p:nvSpPr>
            <p:cNvPr id="28" name="Right Brace 27">
              <a:extLst>
                <a:ext uri="{FF2B5EF4-FFF2-40B4-BE49-F238E27FC236}">
                  <a16:creationId xmlns:a16="http://schemas.microsoft.com/office/drawing/2014/main" id="{4B285B48-0401-B74E-2218-B0236F45D109}"/>
                </a:ext>
              </a:extLst>
            </p:cNvPr>
            <p:cNvSpPr/>
            <p:nvPr/>
          </p:nvSpPr>
          <p:spPr>
            <a:xfrm>
              <a:off x="6973389" y="4648200"/>
              <a:ext cx="216000" cy="540000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2BC7DB2-C5EE-4B9F-8FBE-C9D84309FD64}"/>
                </a:ext>
              </a:extLst>
            </p:cNvPr>
            <p:cNvSpPr txBox="1"/>
            <p:nvPr/>
          </p:nvSpPr>
          <p:spPr>
            <a:xfrm>
              <a:off x="7162800" y="3782709"/>
              <a:ext cx="630301" cy="338554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1600" b="1"/>
                <a:t>4 MB</a:t>
              </a:r>
              <a:endParaRPr lang="ar-EG" sz="1600" b="1"/>
            </a:p>
          </p:txBody>
        </p:sp>
        <p:sp>
          <p:nvSpPr>
            <p:cNvPr id="30" name="Right Brace 29">
              <a:extLst>
                <a:ext uri="{FF2B5EF4-FFF2-40B4-BE49-F238E27FC236}">
                  <a16:creationId xmlns:a16="http://schemas.microsoft.com/office/drawing/2014/main" id="{80A436F5-AB2E-9E0C-9F43-DA2293837CCC}"/>
                </a:ext>
              </a:extLst>
            </p:cNvPr>
            <p:cNvSpPr/>
            <p:nvPr/>
          </p:nvSpPr>
          <p:spPr>
            <a:xfrm>
              <a:off x="6986452" y="3632263"/>
              <a:ext cx="216000" cy="648000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  <p:sp>
        <p:nvSpPr>
          <p:cNvPr id="41" name="Slide Number Placeholder 40">
            <a:extLst>
              <a:ext uri="{FF2B5EF4-FFF2-40B4-BE49-F238E27FC236}">
                <a16:creationId xmlns:a16="http://schemas.microsoft.com/office/drawing/2014/main" id="{DE9E79E6-079C-00AA-59D4-C3B5A8310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DE70B62-F04B-D293-0AA5-F001001CC214}"/>
              </a:ext>
            </a:extLst>
          </p:cNvPr>
          <p:cNvGrpSpPr/>
          <p:nvPr/>
        </p:nvGrpSpPr>
        <p:grpSpPr>
          <a:xfrm>
            <a:off x="8137099" y="3323036"/>
            <a:ext cx="3176263" cy="573987"/>
            <a:chOff x="3733800" y="3492134"/>
            <a:chExt cx="3176263" cy="573987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CD02FAB-620A-07F0-887E-6098FCE74994}"/>
                </a:ext>
              </a:extLst>
            </p:cNvPr>
            <p:cNvCxnSpPr/>
            <p:nvPr/>
          </p:nvCxnSpPr>
          <p:spPr>
            <a:xfrm>
              <a:off x="4343400" y="3925389"/>
              <a:ext cx="6096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CDC81AC-2C8B-4DC3-5077-5441ADCEB0F9}"/>
                </a:ext>
              </a:extLst>
            </p:cNvPr>
            <p:cNvSpPr/>
            <p:nvPr/>
          </p:nvSpPr>
          <p:spPr>
            <a:xfrm>
              <a:off x="4966063" y="3492134"/>
              <a:ext cx="1944000" cy="484167"/>
            </a:xfrm>
            <a:prstGeom prst="rect">
              <a:avLst/>
            </a:prstGeom>
            <a:ln>
              <a:prstDash val="dash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/>
                <a:t>3 MB</a:t>
              </a:r>
              <a:endParaRPr lang="ar-EG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07D3B90-25F1-CB93-2FD6-F6B2011C3007}"/>
                </a:ext>
              </a:extLst>
            </p:cNvPr>
            <p:cNvSpPr txBox="1"/>
            <p:nvPr/>
          </p:nvSpPr>
          <p:spPr>
            <a:xfrm>
              <a:off x="3733800" y="3696789"/>
              <a:ext cx="649537" cy="36933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rtlCol="1">
              <a:spAutoFit/>
            </a:bodyPr>
            <a:lstStyle/>
            <a:p>
              <a:r>
                <a:rPr lang="en-US" b="1"/>
                <a:t>ptr3</a:t>
              </a:r>
              <a:endParaRPr lang="ar-EG" sz="1600" b="1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C6A7C02-636F-DDE8-6BF8-BB191480B3E4}"/>
              </a:ext>
            </a:extLst>
          </p:cNvPr>
          <p:cNvGrpSpPr/>
          <p:nvPr/>
        </p:nvGrpSpPr>
        <p:grpSpPr>
          <a:xfrm>
            <a:off x="8132698" y="3792179"/>
            <a:ext cx="3176264" cy="469626"/>
            <a:chOff x="3733799" y="4188743"/>
            <a:chExt cx="3176264" cy="469626"/>
          </a:xfrm>
        </p:grpSpPr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B7116898-FE03-EBE4-9E7A-931C7CAAA3FA}"/>
                </a:ext>
              </a:extLst>
            </p:cNvPr>
            <p:cNvCxnSpPr/>
            <p:nvPr/>
          </p:nvCxnSpPr>
          <p:spPr>
            <a:xfrm>
              <a:off x="4343400" y="4393474"/>
              <a:ext cx="6096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C3E1D2F0-0F00-D980-8E9E-CD55400F12C3}"/>
                </a:ext>
              </a:extLst>
            </p:cNvPr>
            <p:cNvSpPr/>
            <p:nvPr/>
          </p:nvSpPr>
          <p:spPr>
            <a:xfrm>
              <a:off x="4966063" y="4188743"/>
              <a:ext cx="1944000" cy="180000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/>
                <a:t>1 MB</a:t>
              </a:r>
              <a:endParaRPr lang="ar-EG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892B208-DE60-9759-C281-1A476631B27B}"/>
                </a:ext>
              </a:extLst>
            </p:cNvPr>
            <p:cNvSpPr txBox="1"/>
            <p:nvPr/>
          </p:nvSpPr>
          <p:spPr>
            <a:xfrm>
              <a:off x="3733799" y="4289037"/>
              <a:ext cx="685799" cy="36933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1">
              <a:spAutoFit/>
            </a:bodyPr>
            <a:lstStyle/>
            <a:p>
              <a:r>
                <a:rPr lang="en-US" b="1"/>
                <a:t>ptr2</a:t>
              </a:r>
              <a:endParaRPr lang="ar-EG" sz="1600" b="1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1C4341A-0678-6CD6-F20D-5D9EE64590E2}"/>
              </a:ext>
            </a:extLst>
          </p:cNvPr>
          <p:cNvGrpSpPr/>
          <p:nvPr/>
        </p:nvGrpSpPr>
        <p:grpSpPr>
          <a:xfrm>
            <a:off x="8137630" y="4569502"/>
            <a:ext cx="3176263" cy="447100"/>
            <a:chOff x="3733800" y="3619021"/>
            <a:chExt cx="3176263" cy="447100"/>
          </a:xfrm>
        </p:grpSpPr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942DC1A1-5C32-9BDB-8736-0EC14329B53C}"/>
                </a:ext>
              </a:extLst>
            </p:cNvPr>
            <p:cNvCxnSpPr/>
            <p:nvPr/>
          </p:nvCxnSpPr>
          <p:spPr>
            <a:xfrm>
              <a:off x="4343400" y="3925389"/>
              <a:ext cx="6096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8FA20A2-729B-ED2E-69AE-7064BD230D90}"/>
                </a:ext>
              </a:extLst>
            </p:cNvPr>
            <p:cNvSpPr/>
            <p:nvPr/>
          </p:nvSpPr>
          <p:spPr>
            <a:xfrm>
              <a:off x="4966063" y="3619021"/>
              <a:ext cx="1944000" cy="294700"/>
            </a:xfrm>
            <a:prstGeom prst="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/>
                <a:t>1.5 MB</a:t>
              </a:r>
              <a:endParaRPr lang="ar-EG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38ED7F0-2012-D858-9308-0348D250E54F}"/>
                </a:ext>
              </a:extLst>
            </p:cNvPr>
            <p:cNvSpPr txBox="1"/>
            <p:nvPr/>
          </p:nvSpPr>
          <p:spPr>
            <a:xfrm>
              <a:off x="3733800" y="3696789"/>
              <a:ext cx="586122" cy="36933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rtlCol="1">
              <a:spAutoFit/>
            </a:bodyPr>
            <a:lstStyle/>
            <a:p>
              <a:r>
                <a:rPr lang="en-US" b="1"/>
                <a:t>ptr4</a:t>
              </a:r>
              <a:endParaRPr lang="ar-EG" sz="1600" b="1"/>
            </a:p>
          </p:txBody>
        </p: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147469F0-C440-78F9-329C-40DE90EEBDC4}"/>
              </a:ext>
            </a:extLst>
          </p:cNvPr>
          <p:cNvSpPr/>
          <p:nvPr/>
        </p:nvSpPr>
        <p:spPr>
          <a:xfrm>
            <a:off x="9351898" y="1906422"/>
            <a:ext cx="1981200" cy="33830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/>
              <a:t>2 MB</a:t>
            </a:r>
            <a:endParaRPr lang="ar-EG" b="1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51B0B39D-9813-9D82-7EB7-DBCDB08D7E9E}"/>
              </a:ext>
            </a:extLst>
          </p:cNvPr>
          <p:cNvSpPr txBox="1">
            <a:spLocks/>
          </p:cNvSpPr>
          <p:nvPr/>
        </p:nvSpPr>
        <p:spPr>
          <a:xfrm>
            <a:off x="83850" y="891007"/>
            <a:ext cx="5968205" cy="496490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sz="2800" b="1" dirty="0"/>
              <a:t>Make sure to:</a:t>
            </a:r>
            <a:endParaRPr lang="en-US" sz="2800" dirty="0"/>
          </a:p>
          <a:p>
            <a:pPr marL="0" indent="0">
              <a:lnSpc>
                <a:spcPct val="150000"/>
              </a:lnSpc>
            </a:pPr>
            <a:r>
              <a:rPr lang="en-US" sz="2400" b="1" dirty="0"/>
              <a:t>1.</a:t>
            </a:r>
            <a:r>
              <a:rPr lang="en-US" sz="2400" dirty="0"/>
              <a:t> Merge adjacent blocks</a:t>
            </a:r>
            <a:endParaRPr lang="en-US" sz="2400" b="1" dirty="0"/>
          </a:p>
          <a:p>
            <a:pPr marL="0" indent="0">
              <a:lnSpc>
                <a:spcPct val="150000"/>
              </a:lnSpc>
            </a:pPr>
            <a:r>
              <a:rPr lang="en-US" sz="2400" b="1" dirty="0"/>
              <a:t>2. </a:t>
            </a:r>
            <a:r>
              <a:rPr lang="en-US" sz="2400" dirty="0"/>
              <a:t>Update the </a:t>
            </a:r>
            <a:r>
              <a:rPr lang="en-US" sz="24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uheapPageAllocBreak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/>
              <a:t>if freeing the last space</a:t>
            </a:r>
            <a:endParaRPr lang="en-US" sz="2400" b="1" dirty="0"/>
          </a:p>
          <a:p>
            <a:pPr marL="0" indent="0"/>
            <a:r>
              <a:rPr lang="en-US" sz="2400" b="1" dirty="0"/>
              <a:t>Required Complexity: </a:t>
            </a:r>
            <a:r>
              <a:rPr lang="en-US" sz="2400" b="1" dirty="0">
                <a:solidFill>
                  <a:srgbClr val="FF0000"/>
                </a:solidFill>
              </a:rPr>
              <a:t>bounded by</a:t>
            </a:r>
          </a:p>
          <a:p>
            <a:pPr marL="0" indent="0"/>
            <a:r>
              <a:rPr lang="en-US" sz="2400" b="1" dirty="0">
                <a:solidFill>
                  <a:srgbClr val="FF0000"/>
                </a:solidFill>
              </a:rPr>
              <a:t>O(# FREE areas + # freed pages)</a:t>
            </a:r>
            <a:endParaRPr lang="en-US" sz="2400" b="1" dirty="0"/>
          </a:p>
          <a:p>
            <a:pPr marL="0" indent="0"/>
            <a:endParaRPr lang="en-US" sz="2400" dirty="0"/>
          </a:p>
          <a:p>
            <a:pPr marL="0" indent="0">
              <a:lnSpc>
                <a:spcPct val="150000"/>
              </a:lnSpc>
            </a:pPr>
            <a:endParaRPr lang="en-US" sz="2400" dirty="0"/>
          </a:p>
          <a:p>
            <a:pPr marL="0" indent="0">
              <a:lnSpc>
                <a:spcPct val="150000"/>
              </a:lnSpc>
              <a:buFont typeface="Calibri" panose="020F0502020204030204" pitchFamily="34" charset="0"/>
              <a:buNone/>
            </a:pPr>
            <a:endParaRPr lang="ar-EG" sz="1600" dirty="0">
              <a:latin typeface="Consolas" panose="020B0609020204030204" pitchFamily="49" charset="0"/>
            </a:endParaRP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B471E218-FD5C-4339-C703-DC2282005836}"/>
              </a:ext>
            </a:extLst>
          </p:cNvPr>
          <p:cNvGrpSpPr/>
          <p:nvPr/>
        </p:nvGrpSpPr>
        <p:grpSpPr>
          <a:xfrm>
            <a:off x="6921121" y="1355592"/>
            <a:ext cx="2453832" cy="338554"/>
            <a:chOff x="6897894" y="1747606"/>
            <a:chExt cx="2453832" cy="338554"/>
          </a:xfrm>
        </p:grpSpPr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F33AFB34-7B88-7954-2DA2-281B6CFCEA29}"/>
                </a:ext>
              </a:extLst>
            </p:cNvPr>
            <p:cNvCxnSpPr>
              <a:cxnSpLocks/>
              <a:stCxn id="57" idx="3"/>
            </p:cNvCxnSpPr>
            <p:nvPr/>
          </p:nvCxnSpPr>
          <p:spPr>
            <a:xfrm>
              <a:off x="9023874" y="1916883"/>
              <a:ext cx="32785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9C5DAAD-F07A-BEBD-E214-FA46F44413A3}"/>
                </a:ext>
              </a:extLst>
            </p:cNvPr>
            <p:cNvSpPr txBox="1"/>
            <p:nvPr/>
          </p:nvSpPr>
          <p:spPr>
            <a:xfrm>
              <a:off x="6897894" y="1747606"/>
              <a:ext cx="2125980" cy="338554"/>
            </a:xfrm>
            <a:prstGeom prst="rect">
              <a:avLst/>
            </a:prstGeom>
            <a:noFill/>
          </p:spPr>
          <p:txBody>
            <a:bodyPr wrap="square" lIns="0" rIns="0" rtlCol="1">
              <a:spAutoFit/>
            </a:bodyPr>
            <a:lstStyle/>
            <a:p>
              <a:pPr algn="ctr"/>
              <a:r>
                <a:rPr lang="en-US" sz="1600" b="1" err="1">
                  <a:solidFill>
                    <a:srgbClr val="FF0000"/>
                  </a:solidFill>
                  <a:latin typeface="Consolas" panose="020B0609020204030204" pitchFamily="49" charset="0"/>
                </a:rPr>
                <a:t>uheapPageAllocBreak</a:t>
              </a:r>
              <a:endParaRPr lang="en-AE" sz="1600" b="1">
                <a:solidFill>
                  <a:srgbClr val="FF0000"/>
                </a:solidFill>
              </a:endParaRPr>
            </a:p>
          </p:txBody>
        </p:sp>
      </p:grpSp>
      <p:sp>
        <p:nvSpPr>
          <p:cNvPr id="58" name="Title 1">
            <a:extLst>
              <a:ext uri="{FF2B5EF4-FFF2-40B4-BE49-F238E27FC236}">
                <a16:creationId xmlns:a16="http://schemas.microsoft.com/office/drawing/2014/main" id="{9C23D501-93D5-8F00-A5E7-6C14F4C1D69D}"/>
              </a:ext>
            </a:extLst>
          </p:cNvPr>
          <p:cNvSpPr txBox="1">
            <a:spLocks/>
          </p:cNvSpPr>
          <p:nvPr/>
        </p:nvSpPr>
        <p:spPr>
          <a:xfrm>
            <a:off x="0" y="5822"/>
            <a:ext cx="12178938" cy="77760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User Heap – </a:t>
            </a:r>
            <a:r>
              <a:rPr lang="en-US" b="1">
                <a:solidFill>
                  <a:srgbClr val="FF0000"/>
                </a:solidFill>
              </a:rPr>
              <a:t>Page Allocator (</a:t>
            </a:r>
            <a:r>
              <a:rPr lang="en-US" b="1"/>
              <a:t>free</a:t>
            </a:r>
            <a:r>
              <a:rPr lang="en-US" b="1">
                <a:solidFill>
                  <a:srgbClr val="FF0000"/>
                </a:solidFill>
              </a:rPr>
              <a:t>)</a:t>
            </a:r>
            <a:r>
              <a:rPr lang="en-US"/>
              <a:t> </a:t>
            </a:r>
            <a:endParaRPr lang="en-AE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753E663-0460-4007-B0D0-A399E0ED6623}"/>
              </a:ext>
            </a:extLst>
          </p:cNvPr>
          <p:cNvSpPr/>
          <p:nvPr/>
        </p:nvSpPr>
        <p:spPr>
          <a:xfrm>
            <a:off x="9351898" y="2795498"/>
            <a:ext cx="1981200" cy="252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EG" b="1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90AA805-E26C-F136-B7DD-0D1B867C0F48}"/>
              </a:ext>
            </a:extLst>
          </p:cNvPr>
          <p:cNvSpPr/>
          <p:nvPr/>
        </p:nvSpPr>
        <p:spPr>
          <a:xfrm>
            <a:off x="9355175" y="2586636"/>
            <a:ext cx="1981200" cy="252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/>
              <a:t>1 MB</a:t>
            </a:r>
            <a:endParaRPr lang="ar-EG" b="1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61FEB2A-C81F-F60F-ECA5-1CEDA255A282}"/>
              </a:ext>
            </a:extLst>
          </p:cNvPr>
          <p:cNvSpPr txBox="1"/>
          <p:nvPr/>
        </p:nvSpPr>
        <p:spPr>
          <a:xfrm>
            <a:off x="11530493" y="2795498"/>
            <a:ext cx="657552" cy="33855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600" b="1"/>
              <a:t>1 MB</a:t>
            </a:r>
            <a:endParaRPr lang="ar-EG" sz="1600" b="1"/>
          </a:p>
        </p:txBody>
      </p:sp>
      <p:sp>
        <p:nvSpPr>
          <p:cNvPr id="62" name="Right Brace 61">
            <a:extLst>
              <a:ext uri="{FF2B5EF4-FFF2-40B4-BE49-F238E27FC236}">
                <a16:creationId xmlns:a16="http://schemas.microsoft.com/office/drawing/2014/main" id="{E9778721-D807-F131-5FDA-2BC9960620ED}"/>
              </a:ext>
            </a:extLst>
          </p:cNvPr>
          <p:cNvSpPr/>
          <p:nvPr/>
        </p:nvSpPr>
        <p:spPr>
          <a:xfrm>
            <a:off x="11333098" y="2858709"/>
            <a:ext cx="165379" cy="186619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7376B97-438E-F7E9-1E60-04BA8A22A3B6}"/>
              </a:ext>
            </a:extLst>
          </p:cNvPr>
          <p:cNvGrpSpPr/>
          <p:nvPr/>
        </p:nvGrpSpPr>
        <p:grpSpPr>
          <a:xfrm>
            <a:off x="8132699" y="2842660"/>
            <a:ext cx="3176263" cy="409995"/>
            <a:chOff x="3733800" y="4188743"/>
            <a:chExt cx="3176263" cy="409995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AB6A2C2-779D-89FD-6143-99A4A12249EE}"/>
                </a:ext>
              </a:extLst>
            </p:cNvPr>
            <p:cNvCxnSpPr/>
            <p:nvPr/>
          </p:nvCxnSpPr>
          <p:spPr>
            <a:xfrm>
              <a:off x="4343400" y="4393474"/>
              <a:ext cx="6096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4CBBD6A-F431-1465-A0D5-31602CE8E1E4}"/>
                </a:ext>
              </a:extLst>
            </p:cNvPr>
            <p:cNvSpPr/>
            <p:nvPr/>
          </p:nvSpPr>
          <p:spPr>
            <a:xfrm>
              <a:off x="4966063" y="4188743"/>
              <a:ext cx="1944000" cy="218916"/>
            </a:xfrm>
            <a:prstGeom prst="rect">
              <a:avLst/>
            </a:prstGeom>
            <a:ln>
              <a:prstDash val="dash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/>
                <a:t>1 MB</a:t>
              </a:r>
              <a:endParaRPr lang="ar-EG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89CE02B-AF0A-C30B-A2A2-E431B5F95C8D}"/>
                </a:ext>
              </a:extLst>
            </p:cNvPr>
            <p:cNvSpPr txBox="1"/>
            <p:nvPr/>
          </p:nvSpPr>
          <p:spPr>
            <a:xfrm>
              <a:off x="3733800" y="4229406"/>
              <a:ext cx="685798" cy="36933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1">
              <a:spAutoFit/>
            </a:bodyPr>
            <a:lstStyle/>
            <a:p>
              <a:r>
                <a:rPr lang="en-US" b="1"/>
                <a:t>ptr1</a:t>
              </a:r>
              <a:endParaRPr lang="ar-EG" sz="1600" b="1"/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EDC56526-3086-B158-E075-DB9AD769D78C}"/>
              </a:ext>
            </a:extLst>
          </p:cNvPr>
          <p:cNvSpPr txBox="1"/>
          <p:nvPr/>
        </p:nvSpPr>
        <p:spPr>
          <a:xfrm>
            <a:off x="11544118" y="2258284"/>
            <a:ext cx="657552" cy="33855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600" b="1"/>
              <a:t>2 MB</a:t>
            </a:r>
            <a:endParaRPr lang="ar-EG" sz="1600" b="1"/>
          </a:p>
        </p:txBody>
      </p:sp>
      <p:sp>
        <p:nvSpPr>
          <p:cNvPr id="64" name="Right Brace 63">
            <a:extLst>
              <a:ext uri="{FF2B5EF4-FFF2-40B4-BE49-F238E27FC236}">
                <a16:creationId xmlns:a16="http://schemas.microsoft.com/office/drawing/2014/main" id="{73C6F0A4-19E8-BFB0-D5D9-550D4186436D}"/>
              </a:ext>
            </a:extLst>
          </p:cNvPr>
          <p:cNvSpPr/>
          <p:nvPr/>
        </p:nvSpPr>
        <p:spPr>
          <a:xfrm>
            <a:off x="11351851" y="2251260"/>
            <a:ext cx="196785" cy="338555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0C3B837-D48C-0548-500D-9990009E0CDB}"/>
              </a:ext>
            </a:extLst>
          </p:cNvPr>
          <p:cNvSpPr/>
          <p:nvPr/>
        </p:nvSpPr>
        <p:spPr>
          <a:xfrm>
            <a:off x="9364962" y="687309"/>
            <a:ext cx="1972719" cy="1225620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b="1"/>
              <a:t>UNUSED</a:t>
            </a:r>
            <a:endParaRPr lang="en-AE" b="1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A5772AB-A3AD-D825-8FFD-EE474A135438}"/>
              </a:ext>
            </a:extLst>
          </p:cNvPr>
          <p:cNvSpPr/>
          <p:nvPr/>
        </p:nvSpPr>
        <p:spPr>
          <a:xfrm>
            <a:off x="9360379" y="687308"/>
            <a:ext cx="1972719" cy="817220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b="1"/>
              <a:t>UNUSED</a:t>
            </a:r>
            <a:endParaRPr lang="en-AE" b="1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B4D1974-312A-B2B9-48B1-637EB8A2B967}"/>
              </a:ext>
            </a:extLst>
          </p:cNvPr>
          <p:cNvGrpSpPr/>
          <p:nvPr/>
        </p:nvGrpSpPr>
        <p:grpSpPr>
          <a:xfrm>
            <a:off x="8141105" y="1517839"/>
            <a:ext cx="3176263" cy="474118"/>
            <a:chOff x="3733800" y="3592003"/>
            <a:chExt cx="3176263" cy="474118"/>
          </a:xfrm>
        </p:grpSpPr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DA535C59-031C-A126-7BD2-C7DD1776F907}"/>
                </a:ext>
              </a:extLst>
            </p:cNvPr>
            <p:cNvCxnSpPr/>
            <p:nvPr/>
          </p:nvCxnSpPr>
          <p:spPr>
            <a:xfrm>
              <a:off x="4343400" y="3925389"/>
              <a:ext cx="6096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C8E5FCF0-933F-6780-6A20-9E6894CBA60E}"/>
                </a:ext>
              </a:extLst>
            </p:cNvPr>
            <p:cNvSpPr/>
            <p:nvPr/>
          </p:nvSpPr>
          <p:spPr>
            <a:xfrm>
              <a:off x="4966063" y="3592003"/>
              <a:ext cx="1944000" cy="384298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/>
                <a:t>2.5 MB</a:t>
              </a:r>
              <a:endParaRPr lang="ar-EG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1B3C509D-7CBB-41AA-BFD4-929DE205B73A}"/>
                </a:ext>
              </a:extLst>
            </p:cNvPr>
            <p:cNvSpPr txBox="1"/>
            <p:nvPr/>
          </p:nvSpPr>
          <p:spPr>
            <a:xfrm>
              <a:off x="3733800" y="3696789"/>
              <a:ext cx="649537" cy="36933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rtlCol="1">
              <a:spAutoFit/>
            </a:bodyPr>
            <a:lstStyle/>
            <a:p>
              <a:r>
                <a:rPr lang="en-US" b="1"/>
                <a:t>ptr5</a:t>
              </a:r>
              <a:endParaRPr lang="ar-EG" sz="1600" b="1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EFF7087-2B24-BA68-AE19-7396500A02EC}"/>
              </a:ext>
            </a:extLst>
          </p:cNvPr>
          <p:cNvSpPr txBox="1"/>
          <p:nvPr/>
        </p:nvSpPr>
        <p:spPr>
          <a:xfrm>
            <a:off x="6598520" y="2906408"/>
            <a:ext cx="1521068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en-US" b="1"/>
              <a:t>free</a:t>
            </a:r>
            <a:r>
              <a:rPr lang="en-US"/>
              <a:t> (ptr1)</a:t>
            </a:r>
            <a:endParaRPr lang="ar-E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428F1C-F7B8-28B0-9E66-61914B3734B5}"/>
              </a:ext>
            </a:extLst>
          </p:cNvPr>
          <p:cNvSpPr txBox="1"/>
          <p:nvPr/>
        </p:nvSpPr>
        <p:spPr>
          <a:xfrm>
            <a:off x="6585457" y="3456299"/>
            <a:ext cx="1538531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en-US" b="1"/>
              <a:t>free</a:t>
            </a:r>
            <a:r>
              <a:rPr lang="en-US"/>
              <a:t> (ptr3)</a:t>
            </a:r>
            <a:endParaRPr lang="ar-E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A695E4-3239-3DF8-7D2D-8B34D0244B00}"/>
              </a:ext>
            </a:extLst>
          </p:cNvPr>
          <p:cNvSpPr txBox="1"/>
          <p:nvPr/>
        </p:nvSpPr>
        <p:spPr>
          <a:xfrm>
            <a:off x="6581057" y="3849769"/>
            <a:ext cx="1538531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en-US" b="1"/>
              <a:t>free</a:t>
            </a:r>
            <a:r>
              <a:rPr lang="en-US"/>
              <a:t> (ptr2)</a:t>
            </a:r>
            <a:endParaRPr lang="ar-EG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E8F1236-AFB9-6D83-3B8C-546E12B1A04A}"/>
              </a:ext>
            </a:extLst>
          </p:cNvPr>
          <p:cNvSpPr/>
          <p:nvPr/>
        </p:nvSpPr>
        <p:spPr>
          <a:xfrm>
            <a:off x="9364962" y="3326341"/>
            <a:ext cx="1965643" cy="4397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3MB Free</a:t>
            </a:r>
            <a:endParaRPr lang="en-AE" b="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419873-3A37-87D2-CEE6-A15EF49754A4}"/>
              </a:ext>
            </a:extLst>
          </p:cNvPr>
          <p:cNvSpPr/>
          <p:nvPr/>
        </p:nvSpPr>
        <p:spPr>
          <a:xfrm>
            <a:off x="9351725" y="3312560"/>
            <a:ext cx="1965643" cy="6582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4MB Free</a:t>
            </a:r>
            <a:endParaRPr lang="en-AE" b="1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0F57BC-26E6-0B37-BC29-D9DC68FB7E06}"/>
              </a:ext>
            </a:extLst>
          </p:cNvPr>
          <p:cNvSpPr txBox="1"/>
          <p:nvPr/>
        </p:nvSpPr>
        <p:spPr>
          <a:xfrm>
            <a:off x="6581057" y="1728036"/>
            <a:ext cx="1564331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0" rIns="0" rtlCol="1">
            <a:spAutoFit/>
          </a:bodyPr>
          <a:lstStyle/>
          <a:p>
            <a:r>
              <a:rPr lang="en-US" b="1"/>
              <a:t>free</a:t>
            </a:r>
            <a:r>
              <a:rPr lang="en-US"/>
              <a:t> (ptr5)</a:t>
            </a:r>
            <a:endParaRPr lang="ar-EG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6DD239-30C9-46B3-4BB1-6F8C16BCD2C8}"/>
              </a:ext>
            </a:extLst>
          </p:cNvPr>
          <p:cNvSpPr txBox="1"/>
          <p:nvPr/>
        </p:nvSpPr>
        <p:spPr>
          <a:xfrm>
            <a:off x="1857865" y="4882897"/>
            <a:ext cx="32319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O(3 + 1.5MB/4KB)</a:t>
            </a:r>
            <a:endParaRPr lang="en-AE" sz="28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A4ACEC-16BC-BF64-965D-5DAF9B6E4437}"/>
              </a:ext>
            </a:extLst>
          </p:cNvPr>
          <p:cNvSpPr txBox="1"/>
          <p:nvPr/>
        </p:nvSpPr>
        <p:spPr>
          <a:xfrm>
            <a:off x="365995" y="4988460"/>
            <a:ext cx="1365209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0" rIns="0" rtlCol="1">
            <a:spAutoFit/>
          </a:bodyPr>
          <a:lstStyle/>
          <a:p>
            <a:r>
              <a:rPr lang="en-US" dirty="0" err="1"/>
              <a:t>kfree</a:t>
            </a:r>
            <a:r>
              <a:rPr lang="en-US" dirty="0"/>
              <a:t> (ptr4)</a:t>
            </a:r>
            <a:endParaRPr lang="ar-EG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0BEEDE4-610C-CF35-2DA5-865DBE9C287D}"/>
              </a:ext>
            </a:extLst>
          </p:cNvPr>
          <p:cNvSpPr/>
          <p:nvPr/>
        </p:nvSpPr>
        <p:spPr>
          <a:xfrm>
            <a:off x="9351726" y="2258284"/>
            <a:ext cx="1996849" cy="310607"/>
          </a:xfrm>
          <a:prstGeom prst="rect">
            <a:avLst/>
          </a:prstGeom>
          <a:solidFill>
            <a:srgbClr val="00B05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FREE</a:t>
            </a:r>
            <a:endParaRPr lang="en-AE" b="1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D93ADAE-7486-695C-3FDF-3733E6F3390D}"/>
              </a:ext>
            </a:extLst>
          </p:cNvPr>
          <p:cNvSpPr/>
          <p:nvPr/>
        </p:nvSpPr>
        <p:spPr>
          <a:xfrm>
            <a:off x="9342937" y="3310949"/>
            <a:ext cx="1996849" cy="671522"/>
          </a:xfrm>
          <a:prstGeom prst="rect">
            <a:avLst/>
          </a:prstGeom>
          <a:solidFill>
            <a:srgbClr val="00B05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FREE</a:t>
            </a:r>
            <a:endParaRPr lang="en-AE" sz="3200" b="1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1E24FB3-40F2-D02C-8845-17D3F5D1A538}"/>
              </a:ext>
            </a:extLst>
          </p:cNvPr>
          <p:cNvSpPr/>
          <p:nvPr/>
        </p:nvSpPr>
        <p:spPr>
          <a:xfrm>
            <a:off x="9351726" y="4356910"/>
            <a:ext cx="1996849" cy="206242"/>
          </a:xfrm>
          <a:prstGeom prst="rect">
            <a:avLst/>
          </a:prstGeom>
          <a:solidFill>
            <a:srgbClr val="00B05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FREE</a:t>
            </a:r>
            <a:endParaRPr lang="en-AE" b="1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BF3A6C5-5A61-2865-1092-E188DF36BB94}"/>
              </a:ext>
            </a:extLst>
          </p:cNvPr>
          <p:cNvSpPr/>
          <p:nvPr/>
        </p:nvSpPr>
        <p:spPr>
          <a:xfrm>
            <a:off x="9964477" y="4569501"/>
            <a:ext cx="766612" cy="291851"/>
          </a:xfrm>
          <a:prstGeom prst="rect">
            <a:avLst/>
          </a:prstGeom>
          <a:solidFill>
            <a:srgbClr val="FF000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3747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2.22222E-6 L -0.00221 0.05324 " pathEditMode="relative" rAng="0" ptsTypes="AA">
                                      <p:cBhvr>
                                        <p:cTn id="63" dur="1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7" y="2662"/>
                                    </p:animMotion>
                                  </p:childTnLst>
                                </p:cTn>
                              </p:par>
                              <p:par>
                                <p:cTn id="64" presetID="2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5" dur="7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2" grpId="0" animBg="1"/>
      <p:bldP spid="2" grpId="1" animBg="1"/>
      <p:bldP spid="3" grpId="0" animBg="1"/>
      <p:bldP spid="3" grpId="1" animBg="1"/>
      <p:bldP spid="4" grpId="0" animBg="1"/>
      <p:bldP spid="4" grpId="1" animBg="1"/>
      <p:bldP spid="24" grpId="0" animBg="1"/>
      <p:bldP spid="23" grpId="0" animBg="1"/>
      <p:bldP spid="25" grpId="0" animBg="1"/>
      <p:bldP spid="25" grpId="1" animBg="1"/>
      <p:bldP spid="20" grpId="0"/>
      <p:bldP spid="26" grpId="0" animBg="1"/>
      <p:bldP spid="35" grpId="0" animBg="1"/>
      <p:bldP spid="37" grpId="0" animBg="1"/>
      <p:bldP spid="38" grpId="0" animBg="1"/>
      <p:bldP spid="3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FE696-40A0-E814-D48C-7BCC42259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Heap </a:t>
            </a:r>
            <a:r>
              <a:rPr lang="en-US" b="1" dirty="0"/>
              <a:t>– </a:t>
            </a:r>
            <a:r>
              <a:rPr lang="en-US" b="1" dirty="0">
                <a:solidFill>
                  <a:srgbClr val="00B050"/>
                </a:solidFill>
              </a:rPr>
              <a:t>Given</a:t>
            </a:r>
            <a:r>
              <a:rPr lang="en-US" b="1" dirty="0"/>
              <a:t> Functions</a:t>
            </a:r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FCA44-1D06-94C1-44EC-CBFB45FF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41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8BFE17F-F4FC-8BB2-A4F6-3CCEEC6CF556}"/>
              </a:ext>
            </a:extLst>
          </p:cNvPr>
          <p:cNvGrpSpPr/>
          <p:nvPr/>
        </p:nvGrpSpPr>
        <p:grpSpPr>
          <a:xfrm>
            <a:off x="8982224" y="116702"/>
            <a:ext cx="3148491" cy="968297"/>
            <a:chOff x="8575842" y="86548"/>
            <a:chExt cx="3148491" cy="96829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FE3CE4D-563E-F567-B5ED-74A0B5FDD2C6}"/>
                </a:ext>
              </a:extLst>
            </p:cNvPr>
            <p:cNvSpPr txBox="1"/>
            <p:nvPr/>
          </p:nvSpPr>
          <p:spPr>
            <a:xfrm>
              <a:off x="8575842" y="86548"/>
              <a:ext cx="314849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Refer to </a:t>
              </a:r>
              <a:r>
                <a:rPr lang="en-US" sz="2000" b="1" dirty="0">
                  <a:hlinkClick r:id="rId2" action="ppaction://hlinkfile"/>
                </a:rPr>
                <a:t>APPENDICES</a:t>
              </a:r>
              <a:r>
                <a:rPr lang="en-US" sz="2000" b="1" dirty="0"/>
                <a:t> for:</a:t>
              </a:r>
              <a:endParaRPr lang="en-AE" sz="2000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708547F-7EFB-48A8-DCB3-B7135676A1B1}"/>
                </a:ext>
              </a:extLst>
            </p:cNvPr>
            <p:cNvSpPr txBox="1"/>
            <p:nvPr/>
          </p:nvSpPr>
          <p:spPr>
            <a:xfrm>
              <a:off x="9097050" y="604298"/>
              <a:ext cx="246041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LISTS Helper Macros</a:t>
              </a:r>
              <a:endParaRPr lang="en-AE" sz="2000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7CCA2F1-3596-5738-2456-7765E7DF70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75842" y="553860"/>
              <a:ext cx="500985" cy="500985"/>
            </a:xfrm>
            <a:prstGeom prst="rect">
              <a:avLst/>
            </a:prstGeom>
          </p:spPr>
        </p:pic>
      </p:grp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96F7CD9-F7AF-991C-DB33-DEB41C40C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5"/>
            <a:ext cx="10245909" cy="4458406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535353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uheap_init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()</a:t>
            </a:r>
            <a:endParaRPr lang="en-US" sz="2400" b="1" dirty="0">
              <a:solidFill>
                <a:srgbClr val="A36622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1" dirty="0"/>
              <a:t>Description:</a:t>
            </a:r>
          </a:p>
          <a:p>
            <a:pPr marL="658368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Initialize the free block lists of Buddy System (by calling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buddy_init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()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)</a:t>
            </a:r>
          </a:p>
          <a:p>
            <a:pPr marL="658368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Get current strategy of page allocator (CUSTOM_FIT)</a:t>
            </a:r>
          </a:p>
          <a:p>
            <a:pPr marL="658368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Initialize </a:t>
            </a:r>
            <a:r>
              <a:rPr lang="en-US" sz="20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uheapPageAllocStart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&amp; </a:t>
            </a:r>
            <a:r>
              <a:rPr lang="en-US" sz="20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uheapPageAllocBreak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to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USER_HEAP_START</a:t>
            </a:r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16764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C4B3A-DD86-2686-3752-D8ADD9215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5EE3B-8239-E22B-7446-0ACE027CB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#1:</a:t>
            </a:r>
            <a:r>
              <a:rPr lang="en-US" dirty="0"/>
              <a:t> </a:t>
            </a:r>
            <a:r>
              <a:rPr lang="en-US" dirty="0" err="1"/>
              <a:t>create_buddy_space</a:t>
            </a:r>
            <a:r>
              <a:rPr lang="en-US" dirty="0"/>
              <a:t>()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1E032-6BA3-1A44-5B2B-4F582E9D8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250439"/>
            <a:ext cx="11094720" cy="4064635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Description: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Get a </a:t>
            </a:r>
            <a:r>
              <a:rPr lang="en-US" sz="2000" b="1" dirty="0">
                <a:solidFill>
                  <a:schemeClr val="tx1"/>
                </a:solidFill>
                <a:latin typeface="+mj-lt"/>
              </a:rPr>
              <a:t>new page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from the </a:t>
            </a:r>
            <a:r>
              <a:rPr lang="en-US" sz="2000" b="1" dirty="0">
                <a:solidFill>
                  <a:schemeClr val="tx1"/>
                </a:solidFill>
                <a:latin typeface="+mj-lt"/>
              </a:rPr>
              <a:t>Page Allocator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and return its address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Mark this page as a </a:t>
            </a:r>
            <a:r>
              <a:rPr lang="en-US" sz="2000" dirty="0">
                <a:solidFill>
                  <a:prstClr val="black"/>
                </a:solidFill>
              </a:rPr>
              <a:t>“</a:t>
            </a:r>
            <a:r>
              <a:rPr lang="en-US" sz="2000" b="1" u="sng" dirty="0">
                <a:solidFill>
                  <a:prstClr val="black"/>
                </a:solidFill>
              </a:rPr>
              <a:t>B</a:t>
            </a:r>
            <a:r>
              <a:rPr lang="en-US" sz="2000" dirty="0">
                <a:solidFill>
                  <a:prstClr val="black"/>
                </a:solidFill>
              </a:rPr>
              <a:t>uddy </a:t>
            </a:r>
            <a:r>
              <a:rPr lang="en-US" sz="2000" b="1" u="sng" dirty="0">
                <a:solidFill>
                  <a:prstClr val="black"/>
                </a:solidFill>
              </a:rPr>
              <a:t>S</a:t>
            </a:r>
            <a:r>
              <a:rPr lang="en-US" sz="2000" dirty="0">
                <a:solidFill>
                  <a:prstClr val="black"/>
                </a:solidFill>
              </a:rPr>
              <a:t>ystem </a:t>
            </a:r>
            <a:r>
              <a:rPr lang="en-US" sz="2000" b="1" u="sng" dirty="0">
                <a:solidFill>
                  <a:prstClr val="black"/>
                </a:solidFill>
              </a:rPr>
              <a:t>P</a:t>
            </a:r>
            <a:r>
              <a:rPr lang="en-US" sz="2000" dirty="0">
                <a:solidFill>
                  <a:prstClr val="black"/>
                </a:solidFill>
              </a:rPr>
              <a:t>age” to differentiate it from Page Allocator pages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 </a:t>
            </a:r>
            <a:endParaRPr lang="en-US" sz="2000" b="1" dirty="0">
              <a:solidFill>
                <a:schemeClr val="tx1"/>
              </a:solidFill>
              <a:latin typeface="+mj-lt"/>
            </a:endParaRPr>
          </a:p>
          <a:p>
            <a:pPr lvl="1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77C43-356F-D7EB-BAAE-740C1E23C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42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FCB7EF-D259-70F9-9D8E-389C1B5ED87D}"/>
              </a:ext>
            </a:extLst>
          </p:cNvPr>
          <p:cNvSpPr txBox="1"/>
          <p:nvPr/>
        </p:nvSpPr>
        <p:spPr>
          <a:xfrm>
            <a:off x="1097279" y="1875208"/>
            <a:ext cx="10058399" cy="469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535353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create_buddy_space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()</a:t>
            </a:r>
            <a:endParaRPr lang="en-US" sz="2400" b="1" dirty="0">
              <a:solidFill>
                <a:srgbClr val="A36622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544DE7-328C-D2AC-87CF-3D63FB7FE3E7}"/>
              </a:ext>
            </a:extLst>
          </p:cNvPr>
          <p:cNvSpPr txBox="1"/>
          <p:nvPr/>
        </p:nvSpPr>
        <p:spPr>
          <a:xfrm>
            <a:off x="10036461" y="1921062"/>
            <a:ext cx="111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FF0000"/>
                </a:solidFill>
                <a:latin typeface="Gill Sans Light"/>
              </a:rPr>
              <a:t>lib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Light"/>
                <a:ea typeface="+mn-ea"/>
                <a:cs typeface="+mn-cs"/>
              </a:rPr>
              <a:t>/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Light"/>
                <a:ea typeface="+mn-ea"/>
                <a:cs typeface="+mn-cs"/>
              </a:rPr>
              <a:t>uheap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Light"/>
                <a:ea typeface="+mn-ea"/>
                <a:cs typeface="+mn-cs"/>
              </a:rPr>
              <a:t>.</a:t>
            </a:r>
            <a:r>
              <a:rPr lang="en-US" b="1" dirty="0">
                <a:solidFill>
                  <a:srgbClr val="FF0000"/>
                </a:solidFill>
                <a:latin typeface="Gill Sans Light"/>
              </a:rPr>
              <a:t>c</a:t>
            </a:r>
            <a:endParaRPr kumimoji="0" lang="en-AE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ill Sans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2348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5DFD1-CEE4-C4A7-347E-5A1754186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1081B-3FA0-6D28-2751-03106CC78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#2:</a:t>
            </a:r>
            <a:r>
              <a:rPr lang="en-US" dirty="0"/>
              <a:t> </a:t>
            </a:r>
            <a:r>
              <a:rPr lang="en-US" dirty="0" err="1"/>
              <a:t>delete_buddy_space</a:t>
            </a:r>
            <a:r>
              <a:rPr lang="en-US" dirty="0"/>
              <a:t>()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20E8B-8741-A400-154C-27FCDC729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250439"/>
            <a:ext cx="11094720" cy="4064635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Description: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Delete the </a:t>
            </a:r>
            <a:r>
              <a:rPr lang="en-US" sz="2000" b="1" dirty="0">
                <a:solidFill>
                  <a:schemeClr val="tx1"/>
                </a:solidFill>
                <a:latin typeface="+mj-lt"/>
              </a:rPr>
              <a:t>page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at the given </a:t>
            </a:r>
            <a:r>
              <a:rPr lang="it-IT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va</a:t>
            </a:r>
            <a:r>
              <a:rPr lang="en-US" sz="2000" b="1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from the </a:t>
            </a:r>
            <a:r>
              <a:rPr lang="en-US" sz="2000" b="1" dirty="0">
                <a:solidFill>
                  <a:schemeClr val="tx1"/>
                </a:solidFill>
                <a:latin typeface="+mj-lt"/>
              </a:rPr>
              <a:t>Page Allocator 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Unmark it</a:t>
            </a:r>
          </a:p>
          <a:p>
            <a:pPr lvl="1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2B7E52-1D35-F191-1964-6D73ED5AC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43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CB1510-A20C-4251-52C2-E83DFDAD3B7F}"/>
              </a:ext>
            </a:extLst>
          </p:cNvPr>
          <p:cNvSpPr txBox="1"/>
          <p:nvPr/>
        </p:nvSpPr>
        <p:spPr>
          <a:xfrm>
            <a:off x="1097279" y="1875208"/>
            <a:ext cx="10058399" cy="469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dirty="0">
                <a:solidFill>
                  <a:srgbClr val="535353"/>
                </a:solidFill>
                <a:latin typeface="Consolas" panose="020B0609020204030204" pitchFamily="49" charset="0"/>
              </a:rPr>
              <a:t>void</a:t>
            </a:r>
            <a:r>
              <a:rPr lang="it-IT" sz="2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it-IT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delete_buddy_space</a:t>
            </a:r>
            <a:r>
              <a:rPr lang="it-IT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it-IT" sz="2400" b="1" dirty="0">
                <a:solidFill>
                  <a:srgbClr val="535353"/>
                </a:solidFill>
                <a:latin typeface="Consolas" panose="020B0609020204030204" pitchFamily="49" charset="0"/>
              </a:rPr>
              <a:t>void</a:t>
            </a:r>
            <a:r>
              <a:rPr lang="it-IT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it-IT" sz="2400" b="1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it-IT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va</a:t>
            </a:r>
            <a:r>
              <a:rPr lang="it-IT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633FCB-94D3-2619-953D-E63FE07673A9}"/>
              </a:ext>
            </a:extLst>
          </p:cNvPr>
          <p:cNvSpPr txBox="1"/>
          <p:nvPr/>
        </p:nvSpPr>
        <p:spPr>
          <a:xfrm>
            <a:off x="10036461" y="1921062"/>
            <a:ext cx="111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FF0000"/>
                </a:solidFill>
                <a:latin typeface="Gill Sans Light"/>
              </a:rPr>
              <a:t>lib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Light"/>
                <a:ea typeface="+mn-ea"/>
                <a:cs typeface="+mn-cs"/>
              </a:rPr>
              <a:t>/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Light"/>
                <a:ea typeface="+mn-ea"/>
                <a:cs typeface="+mn-cs"/>
              </a:rPr>
              <a:t>uheap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Light"/>
                <a:ea typeface="+mn-ea"/>
                <a:cs typeface="+mn-cs"/>
              </a:rPr>
              <a:t>.</a:t>
            </a:r>
            <a:r>
              <a:rPr lang="en-US" b="1" dirty="0">
                <a:solidFill>
                  <a:srgbClr val="FF0000"/>
                </a:solidFill>
                <a:latin typeface="Gill Sans Light"/>
              </a:rPr>
              <a:t>c</a:t>
            </a:r>
            <a:endParaRPr kumimoji="0" lang="en-AE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ill Sans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56338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FE696-40A0-E814-D48C-7BCC42259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#3:</a:t>
            </a:r>
            <a:r>
              <a:rPr lang="en-US" dirty="0"/>
              <a:t> malloc()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5B943-A737-2E09-8DF5-AD94F37CD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921061"/>
            <a:ext cx="11094721" cy="5058473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US" sz="2400" b="1" dirty="0"/>
              <a:t>Description:</a:t>
            </a:r>
          </a:p>
          <a:p>
            <a:pPr marL="201168" lvl="1" indent="0">
              <a:lnSpc>
                <a:spcPct val="150000"/>
              </a:lnSpc>
              <a:buNone/>
            </a:pPr>
            <a:r>
              <a:rPr lang="en-US" sz="2200" b="1" spc="-1" dirty="0">
                <a:solidFill>
                  <a:srgbClr val="FF0000"/>
                </a:solidFill>
                <a:latin typeface="Calibri"/>
              </a:rPr>
              <a:t>[USER SIDE] </a:t>
            </a:r>
            <a:r>
              <a:rPr lang="en-US" sz="2200" b="1" spc="-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lib/</a:t>
            </a:r>
            <a:r>
              <a:rPr lang="en-US" sz="2200" b="1" spc="-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uheap.c</a:t>
            </a:r>
            <a:endParaRPr lang="en-US" sz="2000" dirty="0"/>
          </a:p>
          <a:p>
            <a:pPr marL="544068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If size ≤ </a:t>
            </a:r>
            <a:r>
              <a:rPr lang="en-US" sz="2000" i="1" dirty="0">
                <a:solidFill>
                  <a:srgbClr val="000000"/>
                </a:solidFill>
                <a:latin typeface="Consolas" panose="020B0609020204030204" pitchFamily="49" charset="0"/>
              </a:rPr>
              <a:t>DYN_ALLOC_MAX_BLOCK_SIZE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:</a:t>
            </a:r>
            <a:r>
              <a:rPr lang="en-US" sz="2000" b="1" dirty="0">
                <a:solidFill>
                  <a:schemeClr val="tx1"/>
                </a:solidFill>
                <a:latin typeface="+mj-lt"/>
              </a:rPr>
              <a:t> 	[</a:t>
            </a:r>
            <a:r>
              <a:rPr lang="en-US" sz="2000" b="1" dirty="0">
                <a:solidFill>
                  <a:srgbClr val="00B050"/>
                </a:solidFill>
                <a:latin typeface="+mj-lt"/>
              </a:rPr>
              <a:t>BLOCK ALLOCATOR</a:t>
            </a:r>
            <a:r>
              <a:rPr lang="en-US" sz="2000" b="1" dirty="0">
                <a:solidFill>
                  <a:schemeClr val="tx1"/>
                </a:solidFill>
                <a:latin typeface="+mj-lt"/>
              </a:rPr>
              <a:t>]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+mj-lt"/>
              </a:rPr>
              <a:t>Use dynamic allocator to allocate the required space 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</a:rPr>
              <a:t>Possibly invoke the Page Allocator to </a:t>
            </a:r>
            <a:r>
              <a:rPr lang="en-US" sz="1800" dirty="0" err="1"/>
              <a:t>create_buddy_space</a:t>
            </a:r>
            <a:r>
              <a:rPr lang="en-US" sz="1800" dirty="0"/>
              <a:t>()</a:t>
            </a:r>
            <a:endParaRPr lang="en-US" sz="1800" dirty="0">
              <a:solidFill>
                <a:schemeClr val="tx1"/>
              </a:solidFill>
              <a:latin typeface="+mj-lt"/>
            </a:endParaRPr>
          </a:p>
          <a:p>
            <a:pPr marL="658368" lvl="1" indent="-457200">
              <a:lnSpc>
                <a:spcPct val="150000"/>
              </a:lnSpc>
              <a:buFont typeface="+mj-lt"/>
              <a:buAutoNum type="arabicPeriod" startAt="2"/>
            </a:pPr>
            <a:r>
              <a:rPr lang="en-US" sz="2000" dirty="0">
                <a:solidFill>
                  <a:schemeClr val="tx1"/>
                </a:solidFill>
              </a:rPr>
              <a:t>Else: 					</a:t>
            </a:r>
            <a:r>
              <a:rPr lang="en-US" sz="2000" b="1" dirty="0">
                <a:solidFill>
                  <a:schemeClr val="tx1"/>
                </a:solidFill>
              </a:rPr>
              <a:t>[</a:t>
            </a:r>
            <a:r>
              <a:rPr lang="en-US" sz="2000" b="1" dirty="0">
                <a:solidFill>
                  <a:srgbClr val="FF0000"/>
                </a:solidFill>
              </a:rPr>
              <a:t>PAGE ALLOCATOR</a:t>
            </a:r>
            <a:r>
              <a:rPr lang="en-US" sz="2000" b="1" dirty="0">
                <a:solidFill>
                  <a:schemeClr val="tx1"/>
                </a:solidFill>
              </a:rPr>
              <a:t>]</a:t>
            </a:r>
          </a:p>
          <a:p>
            <a:pPr marL="726948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</a:rPr>
              <a:t>Implement CUSTOM FIT strategy to search the page allocator for suitable space to the required allocation size (space should be on 4 KB BOUNDARY)</a:t>
            </a:r>
          </a:p>
          <a:p>
            <a:pPr marL="726948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</a:rPr>
              <a:t>Call </a:t>
            </a:r>
            <a:r>
              <a:rPr lang="en-US" sz="18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sys_allocate_user_mem</a:t>
            </a:r>
            <a:r>
              <a:rPr lang="en-US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1800" dirty="0">
                <a:solidFill>
                  <a:schemeClr val="tx1"/>
                </a:solidFill>
              </a:rPr>
              <a:t>to </a:t>
            </a:r>
            <a:r>
              <a:rPr lang="en-US" sz="1800" b="1" dirty="0">
                <a:solidFill>
                  <a:schemeClr val="tx1"/>
                </a:solidFill>
              </a:rPr>
              <a:t>mark</a:t>
            </a:r>
            <a:r>
              <a:rPr lang="en-US" sz="1800" dirty="0">
                <a:solidFill>
                  <a:schemeClr val="tx1"/>
                </a:solidFill>
              </a:rPr>
              <a:t> the reserved space</a:t>
            </a:r>
            <a:endParaRPr lang="en-US" sz="2000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If failed to allocate: return NULL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It should </a:t>
            </a:r>
            <a:r>
              <a:rPr lang="en-US" sz="2100" dirty="0">
                <a:solidFill>
                  <a:prstClr val="black"/>
                </a:solidFill>
              </a:rPr>
              <a:t>be bounded by </a:t>
            </a:r>
            <a:r>
              <a:rPr lang="en-US" sz="2000" b="1" dirty="0">
                <a:solidFill>
                  <a:srgbClr val="FF0000"/>
                </a:solidFill>
              </a:rPr>
              <a:t>O(# FREE areas)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FCA44-1D06-94C1-44EC-CBFB45FF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44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3A13C4-D33B-7B08-DF00-FD34BB9EC8F8}"/>
              </a:ext>
            </a:extLst>
          </p:cNvPr>
          <p:cNvSpPr txBox="1"/>
          <p:nvPr/>
        </p:nvSpPr>
        <p:spPr>
          <a:xfrm>
            <a:off x="1097279" y="1875208"/>
            <a:ext cx="10058399" cy="469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>
                <a:solidFill>
                  <a:srgbClr val="535353"/>
                </a:solidFill>
                <a:latin typeface="Consolas" panose="020B0609020204030204" pitchFamily="49" charset="0"/>
              </a:rPr>
              <a:t>void</a:t>
            </a:r>
            <a:r>
              <a:rPr lang="en-US" sz="240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malloc</a:t>
            </a:r>
            <a:r>
              <a:rPr lang="en-US" sz="2400" b="1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2400" b="1">
                <a:solidFill>
                  <a:srgbClr val="535353"/>
                </a:solidFill>
                <a:latin typeface="Consolas" panose="020B0609020204030204" pitchFamily="49" charset="0"/>
              </a:rPr>
              <a:t>unsigned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>
                <a:solidFill>
                  <a:srgbClr val="535353"/>
                </a:solidFill>
                <a:latin typeface="Consolas" panose="020B0609020204030204" pitchFamily="49" charset="0"/>
              </a:rPr>
              <a:t>int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 size</a:t>
            </a:r>
            <a:r>
              <a:rPr lang="en-US" sz="2400" b="1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  <a:endParaRPr lang="en-AE" sz="3200" kern="1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B62050-0593-CA01-4D1F-01FC96092F76}"/>
              </a:ext>
            </a:extLst>
          </p:cNvPr>
          <p:cNvSpPr/>
          <p:nvPr/>
        </p:nvSpPr>
        <p:spPr>
          <a:xfrm>
            <a:off x="7989551" y="5599751"/>
            <a:ext cx="3554323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To access the environment data, use 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myEnv</a:t>
            </a:r>
            <a:r>
              <a:rPr lang="en-US" b="1" dirty="0"/>
              <a:t> pointer</a:t>
            </a:r>
            <a:endParaRPr lang="en-AE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E49EB8-A8F6-D8AF-D6F6-58106DA65D8A}"/>
              </a:ext>
            </a:extLst>
          </p:cNvPr>
          <p:cNvSpPr txBox="1"/>
          <p:nvPr/>
        </p:nvSpPr>
        <p:spPr>
          <a:xfrm>
            <a:off x="10036461" y="1921062"/>
            <a:ext cx="111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FF0000"/>
                </a:solidFill>
                <a:latin typeface="Gill Sans Light"/>
              </a:rPr>
              <a:t>lib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Light"/>
                <a:ea typeface="+mn-ea"/>
                <a:cs typeface="+mn-cs"/>
              </a:rPr>
              <a:t>/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Light"/>
                <a:ea typeface="+mn-ea"/>
                <a:cs typeface="+mn-cs"/>
              </a:rPr>
              <a:t>uheap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Light"/>
                <a:ea typeface="+mn-ea"/>
                <a:cs typeface="+mn-cs"/>
              </a:rPr>
              <a:t>.</a:t>
            </a:r>
            <a:r>
              <a:rPr lang="en-US" b="1" dirty="0">
                <a:solidFill>
                  <a:srgbClr val="FF0000"/>
                </a:solidFill>
                <a:latin typeface="Gill Sans Light"/>
              </a:rPr>
              <a:t>c</a:t>
            </a:r>
            <a:endParaRPr kumimoji="0" lang="en-AE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ill Sans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4231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FE696-40A0-E814-D48C-7BCC42259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#4:</a:t>
            </a:r>
            <a:r>
              <a:rPr lang="en-US" dirty="0"/>
              <a:t> </a:t>
            </a:r>
            <a:r>
              <a:rPr lang="en-US" dirty="0" err="1"/>
              <a:t>allocate_user_mem</a:t>
            </a:r>
            <a:r>
              <a:rPr lang="en-US" dirty="0"/>
              <a:t>()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5B943-A737-2E09-8DF5-AD94F37CD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260830"/>
            <a:ext cx="11094721" cy="4064635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/>
              <a:t>Description:</a:t>
            </a:r>
          </a:p>
          <a:p>
            <a:pPr marL="201168" lvl="1" indent="0">
              <a:lnSpc>
                <a:spcPct val="150000"/>
              </a:lnSpc>
              <a:buNone/>
            </a:pPr>
            <a:r>
              <a:rPr lang="en-US" sz="2000" b="1" spc="-1" dirty="0">
                <a:solidFill>
                  <a:srgbClr val="FF0000"/>
                </a:solidFill>
                <a:latin typeface="Calibri"/>
              </a:rPr>
              <a:t>[KERNEL SIDE] </a:t>
            </a:r>
            <a:r>
              <a:rPr lang="en-US" sz="2000" b="1" spc="-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kern/mem/</a:t>
            </a:r>
            <a:r>
              <a:rPr lang="en-US" sz="2000" b="1" spc="-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chunk_operations.c</a:t>
            </a:r>
            <a:r>
              <a:rPr lang="en-US" sz="2000" dirty="0"/>
              <a:t>: </a:t>
            </a:r>
          </a:p>
          <a:p>
            <a:pPr marL="544068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Mark</a:t>
            </a:r>
            <a:r>
              <a:rPr lang="en-US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the given range to indicate it’s </a:t>
            </a:r>
            <a:r>
              <a:rPr lang="en-US" b="1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reserved </a:t>
            </a:r>
            <a:r>
              <a:rPr lang="en-US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for page allocator of this environment (use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PERM_UHPAGE</a:t>
            </a:r>
            <a:r>
              <a:rPr lang="en-US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)</a:t>
            </a:r>
          </a:p>
          <a:p>
            <a:pPr marL="544068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NOTE</a:t>
            </a:r>
            <a:r>
              <a:rPr lang="en-US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: you can use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create_page_table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to create non-exiting tables (if any)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It should be bounded by </a:t>
            </a:r>
            <a:r>
              <a:rPr lang="en-US" b="1" dirty="0">
                <a:solidFill>
                  <a:srgbClr val="FF0000"/>
                </a:solidFill>
              </a:rPr>
              <a:t>O(# pages)</a:t>
            </a:r>
          </a:p>
          <a:p>
            <a:pPr marL="544068" lvl="1" indent="-342900">
              <a:lnSpc>
                <a:spcPct val="150000"/>
              </a:lnSpc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FCA44-1D06-94C1-44EC-CBFB45FF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45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3A13C4-D33B-7B08-DF00-FD34BB9EC8F8}"/>
              </a:ext>
            </a:extLst>
          </p:cNvPr>
          <p:cNvSpPr txBox="1"/>
          <p:nvPr/>
        </p:nvSpPr>
        <p:spPr>
          <a:xfrm>
            <a:off x="1097279" y="1875208"/>
            <a:ext cx="10618471" cy="43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200">
                <a:solidFill>
                  <a:srgbClr val="535353"/>
                </a:solidFill>
                <a:latin typeface="Consolas" panose="020B0609020204030204" pitchFamily="49" charset="0"/>
              </a:rPr>
              <a:t>void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b="1" err="1">
                <a:solidFill>
                  <a:srgbClr val="000000"/>
                </a:solidFill>
                <a:latin typeface="Consolas" panose="020B0609020204030204" pitchFamily="49" charset="0"/>
              </a:rPr>
              <a:t>allocate_user_mem</a:t>
            </a:r>
            <a:r>
              <a:rPr lang="en-US" sz="2200" b="1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2200" b="1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en-US" sz="2200" b="1">
                <a:solidFill>
                  <a:srgbClr val="000000"/>
                </a:solidFill>
                <a:latin typeface="Consolas" panose="020B0609020204030204" pitchFamily="49" charset="0"/>
              </a:rPr>
              <a:t> Env</a:t>
            </a:r>
            <a:r>
              <a:rPr lang="en-US" sz="2200" b="1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200" b="1">
                <a:solidFill>
                  <a:srgbClr val="000000"/>
                </a:solidFill>
                <a:latin typeface="Consolas" panose="020B0609020204030204" pitchFamily="49" charset="0"/>
              </a:rPr>
              <a:t> e</a:t>
            </a:r>
            <a:r>
              <a:rPr lang="en-US" sz="2200" b="1">
                <a:solidFill>
                  <a:srgbClr val="A36622"/>
                </a:solidFill>
                <a:latin typeface="Consolas" panose="020B0609020204030204" pitchFamily="49" charset="0"/>
              </a:rPr>
              <a:t>,</a:t>
            </a:r>
            <a:r>
              <a:rPr lang="en-US" sz="22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b="1">
                <a:solidFill>
                  <a:srgbClr val="535353"/>
                </a:solidFill>
                <a:latin typeface="Consolas" panose="020B0609020204030204" pitchFamily="49" charset="0"/>
              </a:rPr>
              <a:t>uint32</a:t>
            </a:r>
            <a:r>
              <a:rPr lang="en-US" sz="22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b="1" err="1">
                <a:solidFill>
                  <a:srgbClr val="000000"/>
                </a:solidFill>
                <a:latin typeface="Consolas" panose="020B0609020204030204" pitchFamily="49" charset="0"/>
              </a:rPr>
              <a:t>va</a:t>
            </a:r>
            <a:r>
              <a:rPr lang="en-US" sz="2200" b="1">
                <a:solidFill>
                  <a:srgbClr val="A36622"/>
                </a:solidFill>
                <a:latin typeface="Consolas" panose="020B0609020204030204" pitchFamily="49" charset="0"/>
              </a:rPr>
              <a:t>,</a:t>
            </a:r>
            <a:r>
              <a:rPr lang="en-US" sz="22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b="1">
                <a:solidFill>
                  <a:srgbClr val="535353"/>
                </a:solidFill>
                <a:latin typeface="Consolas" panose="020B0609020204030204" pitchFamily="49" charset="0"/>
              </a:rPr>
              <a:t>uint32</a:t>
            </a:r>
            <a:r>
              <a:rPr lang="en-US" sz="2200" b="1">
                <a:solidFill>
                  <a:srgbClr val="000000"/>
                </a:solidFill>
                <a:latin typeface="Consolas" panose="020B0609020204030204" pitchFamily="49" charset="0"/>
              </a:rPr>
              <a:t> size</a:t>
            </a:r>
            <a:r>
              <a:rPr lang="en-US" sz="2200" b="1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  <a:endParaRPr lang="en-AE" sz="2200" kern="1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DE08F45-F6CD-B0E8-376A-E95A6226899E}"/>
              </a:ext>
            </a:extLst>
          </p:cNvPr>
          <p:cNvGrpSpPr/>
          <p:nvPr/>
        </p:nvGrpSpPr>
        <p:grpSpPr>
          <a:xfrm>
            <a:off x="7802421" y="4251148"/>
            <a:ext cx="3353259" cy="2063926"/>
            <a:chOff x="638175" y="3429000"/>
            <a:chExt cx="3353259" cy="2063926"/>
          </a:xfrm>
        </p:grpSpPr>
        <p:sp>
          <p:nvSpPr>
            <p:cNvPr id="23" name="CustomShape 5">
              <a:extLst>
                <a:ext uri="{FF2B5EF4-FFF2-40B4-BE49-F238E27FC236}">
                  <a16:creationId xmlns:a16="http://schemas.microsoft.com/office/drawing/2014/main" id="{37F1F4A7-3AEA-59F7-B613-62C18F74E085}"/>
                </a:ext>
              </a:extLst>
            </p:cNvPr>
            <p:cNvSpPr/>
            <p:nvPr/>
          </p:nvSpPr>
          <p:spPr>
            <a:xfrm>
              <a:off x="638175" y="3429000"/>
              <a:ext cx="3353259" cy="2063926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8000" rIns="18000">
              <a:noAutofit/>
            </a:bodyPr>
            <a:lstStyle/>
            <a:p>
              <a:pPr algn="ctr">
                <a:spcAft>
                  <a:spcPts val="1001"/>
                </a:spcAft>
                <a:tabLst>
                  <a:tab pos="0" algn="l"/>
                </a:tabLst>
              </a:pPr>
              <a:endParaRPr lang="en-US" sz="1400" spc="-1">
                <a:latin typeface="Arial"/>
              </a:endParaRPr>
            </a:p>
          </p:txBody>
        </p:sp>
        <p:sp>
          <p:nvSpPr>
            <p:cNvPr id="24" name="CustomShape 6">
              <a:extLst>
                <a:ext uri="{FF2B5EF4-FFF2-40B4-BE49-F238E27FC236}">
                  <a16:creationId xmlns:a16="http://schemas.microsoft.com/office/drawing/2014/main" id="{9DB0E853-BD9B-0059-35CC-3B29308824E8}"/>
                </a:ext>
              </a:extLst>
            </p:cNvPr>
            <p:cNvSpPr/>
            <p:nvPr/>
          </p:nvSpPr>
          <p:spPr>
            <a:xfrm>
              <a:off x="2018415" y="4438080"/>
              <a:ext cx="681480" cy="766440"/>
            </a:xfrm>
            <a:prstGeom prst="flowChartMagneticDisk">
              <a:avLst/>
            </a:prstGeom>
            <a:gradFill rotWithShape="0">
              <a:gsLst>
                <a:gs pos="0">
                  <a:srgbClr val="765E00"/>
                </a:gs>
                <a:gs pos="100000">
                  <a:srgbClr val="FFCC00"/>
                </a:gs>
              </a:gsLst>
              <a:lin ang="0"/>
            </a:gradFill>
            <a:ln w="126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AE"/>
            </a:p>
          </p:txBody>
        </p:sp>
        <p:sp>
          <p:nvSpPr>
            <p:cNvPr id="25" name="CustomShape 7">
              <a:extLst>
                <a:ext uri="{FF2B5EF4-FFF2-40B4-BE49-F238E27FC236}">
                  <a16:creationId xmlns:a16="http://schemas.microsoft.com/office/drawing/2014/main" id="{EC061FE3-1461-1904-E01B-5E67EC485C5A}"/>
                </a:ext>
              </a:extLst>
            </p:cNvPr>
            <p:cNvSpPr/>
            <p:nvPr/>
          </p:nvSpPr>
          <p:spPr>
            <a:xfrm>
              <a:off x="654015" y="3429000"/>
              <a:ext cx="1009080" cy="855720"/>
            </a:xfrm>
            <a:prstGeom prst="rect">
              <a:avLst/>
            </a:prstGeom>
            <a:noFill/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6720" tIns="36720" rIns="36720" bIns="36720">
              <a:noAutofit/>
            </a:bodyPr>
            <a:lstStyle/>
            <a:p>
              <a:pPr algn="ctr">
                <a:spcAft>
                  <a:spcPts val="1001"/>
                </a:spcAft>
                <a:tabLst>
                  <a:tab pos="0" algn="l"/>
                </a:tabLst>
              </a:pPr>
              <a:r>
                <a:rPr lang="en-US" sz="1400" b="1" spc="-1">
                  <a:solidFill>
                    <a:srgbClr val="FF0000"/>
                  </a:solidFill>
                  <a:latin typeface="Calibri"/>
                  <a:ea typeface="Arial"/>
                </a:rPr>
                <a:t>Nothing</a:t>
              </a:r>
              <a:r>
                <a:rPr lang="en-US" sz="1400" b="1" spc="-1">
                  <a:solidFill>
                    <a:srgbClr val="000000"/>
                  </a:solidFill>
                  <a:latin typeface="Calibri"/>
                  <a:ea typeface="Arial"/>
                </a:rPr>
                <a:t> Created in Memory</a:t>
              </a:r>
              <a:endParaRPr lang="en-US" sz="1400" spc="-1">
                <a:latin typeface="Arial"/>
              </a:endParaRPr>
            </a:p>
          </p:txBody>
        </p:sp>
        <p:sp>
          <p:nvSpPr>
            <p:cNvPr id="26" name="CustomShape 8">
              <a:extLst>
                <a:ext uri="{FF2B5EF4-FFF2-40B4-BE49-F238E27FC236}">
                  <a16:creationId xmlns:a16="http://schemas.microsoft.com/office/drawing/2014/main" id="{3016F2EC-A8F1-CD7E-0855-653FF17A5530}"/>
                </a:ext>
              </a:extLst>
            </p:cNvPr>
            <p:cNvSpPr/>
            <p:nvPr/>
          </p:nvSpPr>
          <p:spPr>
            <a:xfrm>
              <a:off x="1674615" y="3441960"/>
              <a:ext cx="1166040" cy="825120"/>
            </a:xfrm>
            <a:prstGeom prst="rect">
              <a:avLst/>
            </a:prstGeom>
            <a:noFill/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6720" tIns="36720" rIns="36720" bIns="36720">
              <a:noAutofit/>
            </a:bodyPr>
            <a:lstStyle/>
            <a:p>
              <a:pPr algn="ctr">
                <a:spcAft>
                  <a:spcPts val="1001"/>
                </a:spcAft>
                <a:tabLst>
                  <a:tab pos="0" algn="l"/>
                </a:tabLst>
              </a:pPr>
              <a:r>
                <a:rPr lang="en-US" sz="1400" b="1" spc="-1">
                  <a:solidFill>
                    <a:srgbClr val="FF0000"/>
                  </a:solidFill>
                  <a:latin typeface="Calibri"/>
                  <a:ea typeface="Arial"/>
                </a:rPr>
                <a:t>Nothing</a:t>
              </a:r>
              <a:r>
                <a:rPr lang="en-US" sz="1400" b="1" spc="-1">
                  <a:solidFill>
                    <a:srgbClr val="000000"/>
                  </a:solidFill>
                  <a:latin typeface="Calibri"/>
                  <a:ea typeface="Arial"/>
                </a:rPr>
                <a:t> Created in Page File</a:t>
              </a:r>
              <a:endParaRPr lang="en-US" sz="1400" spc="-1">
                <a:latin typeface="Arial"/>
              </a:endParaRPr>
            </a:p>
          </p:txBody>
        </p:sp>
        <p:grpSp>
          <p:nvGrpSpPr>
            <p:cNvPr id="27" name="Group 9">
              <a:extLst>
                <a:ext uri="{FF2B5EF4-FFF2-40B4-BE49-F238E27FC236}">
                  <a16:creationId xmlns:a16="http://schemas.microsoft.com/office/drawing/2014/main" id="{032570A7-4FFC-CF72-982A-E9F78723EA94}"/>
                </a:ext>
              </a:extLst>
            </p:cNvPr>
            <p:cNvGrpSpPr/>
            <p:nvPr/>
          </p:nvGrpSpPr>
          <p:grpSpPr>
            <a:xfrm>
              <a:off x="838695" y="4459320"/>
              <a:ext cx="748440" cy="747360"/>
              <a:chOff x="838695" y="4459320"/>
              <a:chExt cx="748440" cy="747360"/>
            </a:xfrm>
          </p:grpSpPr>
          <p:sp>
            <p:nvSpPr>
              <p:cNvPr id="28" name="CustomShape 10">
                <a:extLst>
                  <a:ext uri="{FF2B5EF4-FFF2-40B4-BE49-F238E27FC236}">
                    <a16:creationId xmlns:a16="http://schemas.microsoft.com/office/drawing/2014/main" id="{3C304CB7-95DC-955E-09FB-59EF7796E756}"/>
                  </a:ext>
                </a:extLst>
              </p:cNvPr>
              <p:cNvSpPr/>
              <p:nvPr/>
            </p:nvSpPr>
            <p:spPr>
              <a:xfrm>
                <a:off x="841575" y="4832280"/>
                <a:ext cx="745560" cy="185040"/>
              </a:xfrm>
              <a:prstGeom prst="rect">
                <a:avLst/>
              </a:prstGeom>
              <a:gradFill rotWithShape="0">
                <a:gsLst>
                  <a:gs pos="0">
                    <a:srgbClr val="005125"/>
                  </a:gs>
                  <a:gs pos="100000">
                    <a:srgbClr val="00B050"/>
                  </a:gs>
                </a:gsLst>
                <a:lin ang="0"/>
              </a:gradFill>
              <a:ln w="1260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  <p:sp>
            <p:nvSpPr>
              <p:cNvPr id="29" name="CustomShape 11">
                <a:extLst>
                  <a:ext uri="{FF2B5EF4-FFF2-40B4-BE49-F238E27FC236}">
                    <a16:creationId xmlns:a16="http://schemas.microsoft.com/office/drawing/2014/main" id="{45265FEF-98C7-E304-26BA-3618BCCDCD1C}"/>
                  </a:ext>
                </a:extLst>
              </p:cNvPr>
              <p:cNvSpPr/>
              <p:nvPr/>
            </p:nvSpPr>
            <p:spPr>
              <a:xfrm>
                <a:off x="841575" y="4459320"/>
                <a:ext cx="745560" cy="185040"/>
              </a:xfrm>
              <a:prstGeom prst="rect">
                <a:avLst/>
              </a:prstGeom>
              <a:gradFill rotWithShape="0">
                <a:gsLst>
                  <a:gs pos="0">
                    <a:srgbClr val="005125"/>
                  </a:gs>
                  <a:gs pos="100000">
                    <a:srgbClr val="00B050"/>
                  </a:gs>
                </a:gsLst>
                <a:lin ang="0"/>
              </a:gradFill>
              <a:ln w="1260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  <p:sp>
            <p:nvSpPr>
              <p:cNvPr id="30" name="CustomShape 12">
                <a:extLst>
                  <a:ext uri="{FF2B5EF4-FFF2-40B4-BE49-F238E27FC236}">
                    <a16:creationId xmlns:a16="http://schemas.microsoft.com/office/drawing/2014/main" id="{86241791-4B7B-DF9D-42F3-48F673107575}"/>
                  </a:ext>
                </a:extLst>
              </p:cNvPr>
              <p:cNvSpPr/>
              <p:nvPr/>
            </p:nvSpPr>
            <p:spPr>
              <a:xfrm>
                <a:off x="841575" y="4645080"/>
                <a:ext cx="745560" cy="186120"/>
              </a:xfrm>
              <a:prstGeom prst="rect">
                <a:avLst/>
              </a:prstGeom>
              <a:gradFill rotWithShape="0">
                <a:gsLst>
                  <a:gs pos="0">
                    <a:srgbClr val="005125"/>
                  </a:gs>
                  <a:gs pos="100000">
                    <a:srgbClr val="00B050"/>
                  </a:gs>
                </a:gsLst>
                <a:lin ang="0"/>
              </a:gradFill>
              <a:ln w="1260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  <p:sp>
            <p:nvSpPr>
              <p:cNvPr id="31" name="CustomShape 13">
                <a:extLst>
                  <a:ext uri="{FF2B5EF4-FFF2-40B4-BE49-F238E27FC236}">
                    <a16:creationId xmlns:a16="http://schemas.microsoft.com/office/drawing/2014/main" id="{D7BC1668-9A46-2642-C23D-680304EF99F5}"/>
                  </a:ext>
                </a:extLst>
              </p:cNvPr>
              <p:cNvSpPr/>
              <p:nvPr/>
            </p:nvSpPr>
            <p:spPr>
              <a:xfrm>
                <a:off x="838695" y="5021640"/>
                <a:ext cx="745560" cy="185040"/>
              </a:xfrm>
              <a:prstGeom prst="rect">
                <a:avLst/>
              </a:prstGeom>
              <a:gradFill rotWithShape="0">
                <a:gsLst>
                  <a:gs pos="0">
                    <a:srgbClr val="005125"/>
                  </a:gs>
                  <a:gs pos="100000">
                    <a:srgbClr val="00B050"/>
                  </a:gs>
                </a:gsLst>
                <a:lin ang="0"/>
              </a:gradFill>
              <a:ln w="1260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</p:grpSp>
      </p:grpSp>
      <p:sp>
        <p:nvSpPr>
          <p:cNvPr id="32" name="CustomShape 7">
            <a:extLst>
              <a:ext uri="{FF2B5EF4-FFF2-40B4-BE49-F238E27FC236}">
                <a16:creationId xmlns:a16="http://schemas.microsoft.com/office/drawing/2014/main" id="{F2F1065B-CA6D-180A-1933-4DA9703BAEE9}"/>
              </a:ext>
            </a:extLst>
          </p:cNvPr>
          <p:cNvSpPr/>
          <p:nvPr/>
        </p:nvSpPr>
        <p:spPr>
          <a:xfrm>
            <a:off x="10001455" y="4270228"/>
            <a:ext cx="1009080" cy="85572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>
            <a:noAutofit/>
          </a:bodyPr>
          <a:lstStyle/>
          <a:p>
            <a:pPr algn="ctr">
              <a:spcAft>
                <a:spcPts val="1001"/>
              </a:spcAft>
              <a:tabLst>
                <a:tab pos="0" algn="l"/>
              </a:tabLst>
            </a:pPr>
            <a:r>
              <a:rPr lang="en-US" sz="1400" b="1" spc="-1">
                <a:solidFill>
                  <a:srgbClr val="FF0000"/>
                </a:solidFill>
                <a:latin typeface="Calibri"/>
                <a:ea typeface="Arial"/>
              </a:rPr>
              <a:t>MARK</a:t>
            </a:r>
            <a:r>
              <a:rPr lang="en-US" sz="1400" b="1" spc="-1">
                <a:solidFill>
                  <a:srgbClr val="000000"/>
                </a:solidFill>
                <a:latin typeface="Calibri"/>
                <a:ea typeface="Arial"/>
              </a:rPr>
              <a:t> allocated pages in VM</a:t>
            </a:r>
            <a:endParaRPr lang="en-US" sz="1400" spc="-1">
              <a:latin typeface="Arial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206C7F4-6380-AB35-2902-7707D8B90C02}"/>
              </a:ext>
            </a:extLst>
          </p:cNvPr>
          <p:cNvGrpSpPr/>
          <p:nvPr/>
        </p:nvGrpSpPr>
        <p:grpSpPr>
          <a:xfrm>
            <a:off x="10127121" y="5115868"/>
            <a:ext cx="747180" cy="1097430"/>
            <a:chOff x="4309826" y="4293720"/>
            <a:chExt cx="747180" cy="1097430"/>
          </a:xfrm>
        </p:grpSpPr>
        <p:sp>
          <p:nvSpPr>
            <p:cNvPr id="34" name="CustomShape 11">
              <a:extLst>
                <a:ext uri="{FF2B5EF4-FFF2-40B4-BE49-F238E27FC236}">
                  <a16:creationId xmlns:a16="http://schemas.microsoft.com/office/drawing/2014/main" id="{3102A2CF-2439-6E04-7184-A40CF96C2D24}"/>
                </a:ext>
              </a:extLst>
            </p:cNvPr>
            <p:cNvSpPr/>
            <p:nvPr/>
          </p:nvSpPr>
          <p:spPr>
            <a:xfrm>
              <a:off x="4311446" y="4933950"/>
              <a:ext cx="745560" cy="101340"/>
            </a:xfrm>
            <a:prstGeom prst="rect">
              <a:avLst/>
            </a:prstGeom>
            <a:solidFill>
              <a:srgbClr val="00B0F0"/>
            </a:solidFill>
            <a:ln w="1260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AE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999C97A-49E9-D757-8F96-CD8714C4CE8A}"/>
                </a:ext>
              </a:extLst>
            </p:cNvPr>
            <p:cNvSpPr/>
            <p:nvPr/>
          </p:nvSpPr>
          <p:spPr>
            <a:xfrm>
              <a:off x="4327257" y="4293720"/>
              <a:ext cx="729749" cy="1097430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  <p:sp>
          <p:nvSpPr>
            <p:cNvPr id="36" name="CustomShape 11">
              <a:extLst>
                <a:ext uri="{FF2B5EF4-FFF2-40B4-BE49-F238E27FC236}">
                  <a16:creationId xmlns:a16="http://schemas.microsoft.com/office/drawing/2014/main" id="{7D2B4AAA-156F-7326-7EE4-7CD2719AAC76}"/>
                </a:ext>
              </a:extLst>
            </p:cNvPr>
            <p:cNvSpPr/>
            <p:nvPr/>
          </p:nvSpPr>
          <p:spPr>
            <a:xfrm>
              <a:off x="4309826" y="4695610"/>
              <a:ext cx="745560" cy="122621"/>
            </a:xfrm>
            <a:prstGeom prst="rect">
              <a:avLst/>
            </a:prstGeom>
            <a:solidFill>
              <a:srgbClr val="00B0F0"/>
            </a:solidFill>
            <a:ln w="1260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AE"/>
            </a:p>
          </p:txBody>
        </p:sp>
        <p:sp>
          <p:nvSpPr>
            <p:cNvPr id="37" name="CustomShape 11">
              <a:extLst>
                <a:ext uri="{FF2B5EF4-FFF2-40B4-BE49-F238E27FC236}">
                  <a16:creationId xmlns:a16="http://schemas.microsoft.com/office/drawing/2014/main" id="{A8B11F7F-2BAB-1EDA-E0E2-BD69023DB86E}"/>
                </a:ext>
              </a:extLst>
            </p:cNvPr>
            <p:cNvSpPr/>
            <p:nvPr/>
          </p:nvSpPr>
          <p:spPr>
            <a:xfrm>
              <a:off x="4311446" y="4818450"/>
              <a:ext cx="745560" cy="101340"/>
            </a:xfrm>
            <a:prstGeom prst="rect">
              <a:avLst/>
            </a:prstGeom>
            <a:solidFill>
              <a:srgbClr val="00B0F0"/>
            </a:solidFill>
            <a:ln w="1260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AE"/>
            </a:p>
          </p:txBody>
        </p:sp>
      </p:grpSp>
    </p:spTree>
    <p:extLst>
      <p:ext uri="{BB962C8B-B14F-4D97-AF65-F5344CB8AC3E}">
        <p14:creationId xmlns:p14="http://schemas.microsoft.com/office/powerpoint/2010/main" val="1212363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FE696-40A0-E814-D48C-7BCC42259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#5:</a:t>
            </a:r>
            <a:r>
              <a:rPr lang="en-US" dirty="0"/>
              <a:t> free()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5B943-A737-2E09-8DF5-AD94F37CD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75209"/>
            <a:ext cx="11094721" cy="4982792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US" sz="2400" b="1" dirty="0"/>
              <a:t>Description:</a:t>
            </a:r>
          </a:p>
          <a:p>
            <a:pPr marL="201168" lvl="1" indent="0">
              <a:lnSpc>
                <a:spcPct val="150000"/>
              </a:lnSpc>
              <a:buClr>
                <a:srgbClr val="4F81BD"/>
              </a:buClr>
              <a:buNone/>
            </a:pPr>
            <a:r>
              <a:rPr lang="en-US" sz="2200" b="1" spc="-1" dirty="0">
                <a:solidFill>
                  <a:srgbClr val="FF0000"/>
                </a:solidFill>
                <a:latin typeface="Calibri"/>
              </a:rPr>
              <a:t>[USER SIDE] </a:t>
            </a:r>
            <a:r>
              <a:rPr lang="en-US" sz="2200" b="1" spc="-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lib/</a:t>
            </a:r>
            <a:r>
              <a:rPr lang="en-US" sz="2200" b="1" spc="-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uheap.c</a:t>
            </a:r>
            <a:endParaRPr lang="en-US" sz="21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544068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If the virtual address belong to a “</a:t>
            </a:r>
            <a:r>
              <a:rPr lang="en-US" sz="2000" b="1" u="sng" dirty="0">
                <a:solidFill>
                  <a:schemeClr val="tx1"/>
                </a:solidFill>
              </a:rPr>
              <a:t>B</a:t>
            </a:r>
            <a:r>
              <a:rPr lang="en-US" sz="2000" dirty="0">
                <a:solidFill>
                  <a:schemeClr val="tx1"/>
                </a:solidFill>
              </a:rPr>
              <a:t>uddy </a:t>
            </a:r>
            <a:r>
              <a:rPr lang="en-US" sz="2000" b="1" u="sng" dirty="0">
                <a:solidFill>
                  <a:schemeClr val="tx1"/>
                </a:solidFill>
              </a:rPr>
              <a:t>S</a:t>
            </a:r>
            <a:r>
              <a:rPr lang="en-US" sz="2000" dirty="0">
                <a:solidFill>
                  <a:schemeClr val="tx1"/>
                </a:solidFill>
              </a:rPr>
              <a:t>ystem </a:t>
            </a:r>
            <a:r>
              <a:rPr lang="en-US" sz="2000" b="1" u="sng" dirty="0">
                <a:solidFill>
                  <a:schemeClr val="tx1"/>
                </a:solidFill>
              </a:rPr>
              <a:t>P</a:t>
            </a:r>
            <a:r>
              <a:rPr lang="en-US" sz="2000" dirty="0">
                <a:solidFill>
                  <a:schemeClr val="tx1"/>
                </a:solidFill>
              </a:rPr>
              <a:t>age” </a:t>
            </a:r>
            <a:r>
              <a:rPr lang="en-US" sz="2000" b="1" dirty="0">
                <a:solidFill>
                  <a:prstClr val="black"/>
                </a:solidFill>
              </a:rPr>
              <a:t>[</a:t>
            </a:r>
            <a:r>
              <a:rPr lang="en-US" sz="2000" b="1" dirty="0">
                <a:solidFill>
                  <a:srgbClr val="00B050"/>
                </a:solidFill>
              </a:rPr>
              <a:t>BLOCK ALLOCATOR</a:t>
            </a:r>
            <a:r>
              <a:rPr lang="en-US" sz="2000" b="1" dirty="0">
                <a:solidFill>
                  <a:prstClr val="black"/>
                </a:solidFill>
              </a:rPr>
              <a:t>] </a:t>
            </a:r>
            <a:endParaRPr lang="en-US" sz="2000" dirty="0">
              <a:solidFill>
                <a:schemeClr val="tx1"/>
              </a:solidFill>
            </a:endParaRPr>
          </a:p>
          <a:p>
            <a:pPr lvl="2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Use Buddy System to free the given address</a:t>
            </a:r>
          </a:p>
          <a:p>
            <a:pPr lvl="2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Possibly invoke the Page Allocator to </a:t>
            </a:r>
            <a:r>
              <a:rPr lang="en-US" sz="1800" dirty="0" err="1"/>
              <a:t>delete_buddy_space</a:t>
            </a:r>
            <a:r>
              <a:rPr lang="en-US" sz="1800" dirty="0"/>
              <a:t>()</a:t>
            </a:r>
            <a:endParaRPr lang="en-US" sz="1800" dirty="0">
              <a:solidFill>
                <a:schemeClr val="tx1"/>
              </a:solidFill>
            </a:endParaRPr>
          </a:p>
          <a:p>
            <a:pPr marL="544068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Else if virtual address inside the Heap </a:t>
            </a:r>
            <a:r>
              <a:rPr lang="en-US" sz="2000" b="1" dirty="0">
                <a:solidFill>
                  <a:schemeClr val="tx1"/>
                </a:solidFill>
              </a:rPr>
              <a:t>[</a:t>
            </a:r>
            <a:r>
              <a:rPr lang="en-US" sz="2000" b="1" dirty="0">
                <a:solidFill>
                  <a:srgbClr val="FF0000"/>
                </a:solidFill>
              </a:rPr>
              <a:t>PAGE ALLOCATOR</a:t>
            </a:r>
            <a:r>
              <a:rPr lang="en-US" sz="2000" b="1" dirty="0">
                <a:solidFill>
                  <a:schemeClr val="tx1"/>
                </a:solidFill>
              </a:rPr>
              <a:t>]</a:t>
            </a:r>
            <a:endParaRPr lang="en-US" sz="2000" dirty="0">
              <a:solidFill>
                <a:schemeClr val="tx1"/>
              </a:solidFill>
            </a:endParaRPr>
          </a:p>
          <a:p>
            <a:pPr marL="726948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b="1" dirty="0">
                <a:solidFill>
                  <a:schemeClr val="tx1"/>
                </a:solidFill>
                <a:latin typeface="+mj-lt"/>
              </a:rPr>
              <a:t>Find </a:t>
            </a:r>
            <a:r>
              <a:rPr lang="en-US" sz="1800" dirty="0">
                <a:solidFill>
                  <a:schemeClr val="tx1"/>
                </a:solidFill>
                <a:latin typeface="+mj-lt"/>
              </a:rPr>
              <a:t>the allocated size of the given </a:t>
            </a:r>
            <a:r>
              <a:rPr lang="en-US" sz="1800" dirty="0" err="1">
                <a:solidFill>
                  <a:schemeClr val="tx1"/>
                </a:solidFill>
                <a:latin typeface="+mj-lt"/>
              </a:rPr>
              <a:t>virtual_address</a:t>
            </a:r>
            <a:r>
              <a:rPr lang="en-US" sz="1800" dirty="0">
                <a:solidFill>
                  <a:schemeClr val="tx1"/>
                </a:solidFill>
                <a:latin typeface="+mj-lt"/>
              </a:rPr>
              <a:t> </a:t>
            </a:r>
          </a:p>
          <a:p>
            <a:pPr marL="726948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b="1" dirty="0">
                <a:solidFill>
                  <a:schemeClr val="tx1"/>
                </a:solidFill>
                <a:latin typeface="+mj-lt"/>
              </a:rPr>
              <a:t>Free </a:t>
            </a:r>
            <a:r>
              <a:rPr lang="en-US" sz="1800" dirty="0">
                <a:solidFill>
                  <a:schemeClr val="tx1"/>
                </a:solidFill>
                <a:latin typeface="+mj-lt"/>
              </a:rPr>
              <a:t>this allocation from the page allocator of the user heap</a:t>
            </a:r>
          </a:p>
          <a:p>
            <a:pPr marL="726948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  <a:latin typeface="+mj-lt"/>
              </a:rPr>
              <a:t>Call “</a:t>
            </a:r>
            <a:r>
              <a:rPr lang="en-US" sz="18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sys_free_user_mem</a:t>
            </a:r>
            <a:r>
              <a:rPr lang="en-US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1800" dirty="0">
                <a:solidFill>
                  <a:schemeClr val="tx1"/>
                </a:solidFill>
                <a:latin typeface="+mj-lt"/>
              </a:rPr>
              <a:t>” to free the allocation from the memory &amp; page file and UNMARK pages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Else (i.e. invalid address): should 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panic(…)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It should be bounded by </a:t>
            </a:r>
            <a:r>
              <a:rPr lang="en-US" sz="2000" b="1" dirty="0">
                <a:solidFill>
                  <a:srgbClr val="FF0000"/>
                </a:solidFill>
              </a:rPr>
              <a:t>O(# FREE areas)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FCA44-1D06-94C1-44EC-CBFB45FF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46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3A13C4-D33B-7B08-DF00-FD34BB9EC8F8}"/>
              </a:ext>
            </a:extLst>
          </p:cNvPr>
          <p:cNvSpPr txBox="1"/>
          <p:nvPr/>
        </p:nvSpPr>
        <p:spPr>
          <a:xfrm>
            <a:off x="1097279" y="1875208"/>
            <a:ext cx="10058399" cy="469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>
                <a:solidFill>
                  <a:srgbClr val="535353"/>
                </a:solidFill>
                <a:latin typeface="Consolas" panose="020B0609020204030204" pitchFamily="49" charset="0"/>
              </a:rPr>
              <a:t>void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free</a:t>
            </a:r>
            <a:r>
              <a:rPr lang="en-US" sz="2400" b="1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2400" b="1">
                <a:solidFill>
                  <a:srgbClr val="535353"/>
                </a:solidFill>
                <a:latin typeface="Consolas" panose="020B0609020204030204" pitchFamily="49" charset="0"/>
              </a:rPr>
              <a:t>void</a:t>
            </a:r>
            <a:r>
              <a:rPr lang="en-US" sz="2400" b="1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err="1">
                <a:solidFill>
                  <a:srgbClr val="000000"/>
                </a:solidFill>
                <a:latin typeface="Consolas" panose="020B0609020204030204" pitchFamily="49" charset="0"/>
              </a:rPr>
              <a:t>virtual_address</a:t>
            </a:r>
            <a:r>
              <a:rPr lang="en-US" sz="2400" b="1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  <a:endParaRPr lang="en-AE" sz="3200" kern="1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AC97F2-1636-CA5A-35B2-23A8A63C5EFF}"/>
              </a:ext>
            </a:extLst>
          </p:cNvPr>
          <p:cNvSpPr/>
          <p:nvPr/>
        </p:nvSpPr>
        <p:spPr>
          <a:xfrm>
            <a:off x="8005401" y="5892729"/>
            <a:ext cx="3554323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To access the environment data, use 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myEnv</a:t>
            </a:r>
            <a:r>
              <a:rPr lang="en-US" b="1" dirty="0"/>
              <a:t> pointer</a:t>
            </a:r>
            <a:endParaRPr lang="en-AE" b="1" dirty="0"/>
          </a:p>
        </p:txBody>
      </p:sp>
    </p:spTree>
    <p:extLst>
      <p:ext uri="{BB962C8B-B14F-4D97-AF65-F5344CB8AC3E}">
        <p14:creationId xmlns:p14="http://schemas.microsoft.com/office/powerpoint/2010/main" val="2578813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FE696-40A0-E814-D48C-7BCC42259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#6:</a:t>
            </a:r>
            <a:r>
              <a:rPr lang="en-US" dirty="0"/>
              <a:t> </a:t>
            </a:r>
            <a:r>
              <a:rPr lang="en-US" dirty="0" err="1"/>
              <a:t>free_user_mem</a:t>
            </a:r>
            <a:r>
              <a:rPr lang="en-US" dirty="0"/>
              <a:t>()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5B943-A737-2E09-8DF5-AD94F37CD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250438"/>
            <a:ext cx="10718801" cy="3490391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/>
              <a:t>Description:</a:t>
            </a:r>
          </a:p>
          <a:p>
            <a:pPr marL="201168" lvl="1" indent="0">
              <a:lnSpc>
                <a:spcPct val="150000"/>
              </a:lnSpc>
              <a:buNone/>
            </a:pPr>
            <a:r>
              <a:rPr lang="en-US" sz="2000" b="1" spc="-1" dirty="0">
                <a:solidFill>
                  <a:srgbClr val="FF0000"/>
                </a:solidFill>
                <a:latin typeface="Calibri"/>
              </a:rPr>
              <a:t>[KERNEL SIDE] </a:t>
            </a:r>
            <a:r>
              <a:rPr lang="en-US" sz="2000" b="1" spc="-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kern/mem/</a:t>
            </a:r>
            <a:r>
              <a:rPr lang="en-US" sz="2000" b="1" spc="-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chunk_operations.c</a:t>
            </a:r>
            <a:r>
              <a:rPr lang="en-US" sz="2000" dirty="0"/>
              <a:t>: </a:t>
            </a:r>
          </a:p>
          <a:p>
            <a:pPr marL="544068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Unmark</a:t>
            </a:r>
            <a:r>
              <a:rPr lang="en-US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the given range to indicate it’s </a:t>
            </a:r>
            <a:r>
              <a:rPr lang="en-US" b="1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NOT </a:t>
            </a:r>
            <a:r>
              <a:rPr lang="en-US" b="1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reserved </a:t>
            </a:r>
            <a:r>
              <a:rPr lang="en-US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for the page allocator of this environment</a:t>
            </a:r>
          </a:p>
          <a:p>
            <a:pPr marL="544068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Free ALL pages </a:t>
            </a:r>
            <a:r>
              <a:rPr lang="en-US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of the given range from the </a:t>
            </a:r>
            <a:r>
              <a:rPr lang="en-US" b="1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Page File</a:t>
            </a:r>
            <a:endParaRPr lang="en-US" dirty="0">
              <a:solidFill>
                <a:schemeClr val="tx1"/>
              </a:solidFill>
              <a:latin typeface="+mj-lt"/>
              <a:cs typeface="Courier New" panose="02070309020205020404" pitchFamily="49" charset="0"/>
            </a:endParaRPr>
          </a:p>
          <a:p>
            <a:pPr marL="544068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Free</a:t>
            </a:r>
            <a:r>
              <a:rPr lang="en-US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ONLY pages that are resident in the </a:t>
            </a:r>
            <a:r>
              <a:rPr lang="en-US" b="1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working set </a:t>
            </a:r>
            <a:r>
              <a:rPr lang="en-US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from the memory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It should be bounded by </a:t>
            </a:r>
            <a:r>
              <a:rPr lang="en-US" b="1" dirty="0">
                <a:solidFill>
                  <a:srgbClr val="FF0000"/>
                </a:solidFill>
              </a:rPr>
              <a:t>O(# pages)</a:t>
            </a:r>
          </a:p>
          <a:p>
            <a:pPr marL="544068" lvl="1" indent="-342900">
              <a:lnSpc>
                <a:spcPct val="150000"/>
              </a:lnSpc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+mj-lt"/>
              <a:cs typeface="Courier New" panose="02070309020205020404" pitchFamily="49" charset="0"/>
            </a:endParaRPr>
          </a:p>
          <a:p>
            <a:pPr marL="544068" lvl="1" indent="-342900">
              <a:lnSpc>
                <a:spcPct val="150000"/>
              </a:lnSpc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FCA44-1D06-94C1-44EC-CBFB45FF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47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3A13C4-D33B-7B08-DF00-FD34BB9EC8F8}"/>
              </a:ext>
            </a:extLst>
          </p:cNvPr>
          <p:cNvSpPr txBox="1"/>
          <p:nvPr/>
        </p:nvSpPr>
        <p:spPr>
          <a:xfrm>
            <a:off x="1097279" y="1875208"/>
            <a:ext cx="10618471" cy="43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200">
                <a:solidFill>
                  <a:srgbClr val="535353"/>
                </a:solidFill>
                <a:latin typeface="Consolas" panose="020B0609020204030204" pitchFamily="49" charset="0"/>
              </a:rPr>
              <a:t>void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b="1" err="1">
                <a:solidFill>
                  <a:srgbClr val="000000"/>
                </a:solidFill>
                <a:latin typeface="Consolas" panose="020B0609020204030204" pitchFamily="49" charset="0"/>
              </a:rPr>
              <a:t>free_user_mem</a:t>
            </a:r>
            <a:r>
              <a:rPr lang="en-US" sz="2200" b="1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2200" b="1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en-US" sz="2200" b="1">
                <a:solidFill>
                  <a:srgbClr val="000000"/>
                </a:solidFill>
                <a:latin typeface="Consolas" panose="020B0609020204030204" pitchFamily="49" charset="0"/>
              </a:rPr>
              <a:t> Env</a:t>
            </a:r>
            <a:r>
              <a:rPr lang="en-US" sz="2200" b="1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200" b="1">
                <a:solidFill>
                  <a:srgbClr val="000000"/>
                </a:solidFill>
                <a:latin typeface="Consolas" panose="020B0609020204030204" pitchFamily="49" charset="0"/>
              </a:rPr>
              <a:t> e</a:t>
            </a:r>
            <a:r>
              <a:rPr lang="en-US" sz="2200" b="1">
                <a:solidFill>
                  <a:srgbClr val="A36622"/>
                </a:solidFill>
                <a:latin typeface="Consolas" panose="020B0609020204030204" pitchFamily="49" charset="0"/>
              </a:rPr>
              <a:t>,</a:t>
            </a:r>
            <a:r>
              <a:rPr lang="en-US" sz="22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b="1">
                <a:solidFill>
                  <a:srgbClr val="535353"/>
                </a:solidFill>
                <a:latin typeface="Consolas" panose="020B0609020204030204" pitchFamily="49" charset="0"/>
              </a:rPr>
              <a:t>uint32</a:t>
            </a:r>
            <a:r>
              <a:rPr lang="en-US" sz="22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b="1" err="1">
                <a:solidFill>
                  <a:srgbClr val="000000"/>
                </a:solidFill>
                <a:latin typeface="Consolas" panose="020B0609020204030204" pitchFamily="49" charset="0"/>
              </a:rPr>
              <a:t>va</a:t>
            </a:r>
            <a:r>
              <a:rPr lang="en-US" sz="2200" b="1">
                <a:solidFill>
                  <a:srgbClr val="A36622"/>
                </a:solidFill>
                <a:latin typeface="Consolas" panose="020B0609020204030204" pitchFamily="49" charset="0"/>
              </a:rPr>
              <a:t>,</a:t>
            </a:r>
            <a:r>
              <a:rPr lang="en-US" sz="22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b="1">
                <a:solidFill>
                  <a:srgbClr val="535353"/>
                </a:solidFill>
                <a:latin typeface="Consolas" panose="020B0609020204030204" pitchFamily="49" charset="0"/>
              </a:rPr>
              <a:t>uint32</a:t>
            </a:r>
            <a:r>
              <a:rPr lang="en-US" sz="2200" b="1">
                <a:solidFill>
                  <a:srgbClr val="000000"/>
                </a:solidFill>
                <a:latin typeface="Consolas" panose="020B0609020204030204" pitchFamily="49" charset="0"/>
              </a:rPr>
              <a:t> size</a:t>
            </a:r>
            <a:r>
              <a:rPr lang="en-US" sz="2200" b="1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  <a:endParaRPr lang="en-AE" sz="2200" kern="1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stomShape 15">
            <a:extLst>
              <a:ext uri="{FF2B5EF4-FFF2-40B4-BE49-F238E27FC236}">
                <a16:creationId xmlns:a16="http://schemas.microsoft.com/office/drawing/2014/main" id="{72A3EE90-291E-4E14-B526-EEBB310A578F}"/>
              </a:ext>
            </a:extLst>
          </p:cNvPr>
          <p:cNvSpPr/>
          <p:nvPr/>
        </p:nvSpPr>
        <p:spPr>
          <a:xfrm>
            <a:off x="7941366" y="4657725"/>
            <a:ext cx="3774384" cy="2200275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000" rIns="18000">
            <a:noAutofit/>
          </a:bodyPr>
          <a:lstStyle/>
          <a:p>
            <a:pPr algn="ctr">
              <a:spcAft>
                <a:spcPts val="1001"/>
              </a:spcAft>
              <a:tabLst>
                <a:tab pos="0" algn="l"/>
              </a:tabLst>
            </a:pPr>
            <a:endParaRPr lang="en-US" sz="1600" spc="-1">
              <a:latin typeface="Arial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9AD8CC6-57E7-C582-240F-6C935EABFA40}"/>
              </a:ext>
            </a:extLst>
          </p:cNvPr>
          <p:cNvGrpSpPr/>
          <p:nvPr/>
        </p:nvGrpSpPr>
        <p:grpSpPr>
          <a:xfrm>
            <a:off x="9507659" y="4737285"/>
            <a:ext cx="1039189" cy="1907310"/>
            <a:chOff x="5564309" y="4737285"/>
            <a:chExt cx="1039189" cy="1907310"/>
          </a:xfrm>
        </p:grpSpPr>
        <p:sp>
          <p:nvSpPr>
            <p:cNvPr id="8" name="CustomShape 16">
              <a:extLst>
                <a:ext uri="{FF2B5EF4-FFF2-40B4-BE49-F238E27FC236}">
                  <a16:creationId xmlns:a16="http://schemas.microsoft.com/office/drawing/2014/main" id="{BF66AB05-11E3-2336-94D7-DA402A25673E}"/>
                </a:ext>
              </a:extLst>
            </p:cNvPr>
            <p:cNvSpPr/>
            <p:nvPr/>
          </p:nvSpPr>
          <p:spPr>
            <a:xfrm>
              <a:off x="5709270" y="5878155"/>
              <a:ext cx="681480" cy="766440"/>
            </a:xfrm>
            <a:prstGeom prst="flowChartMagneticDisk">
              <a:avLst/>
            </a:prstGeom>
            <a:gradFill rotWithShape="0">
              <a:gsLst>
                <a:gs pos="0">
                  <a:srgbClr val="765E00"/>
                </a:gs>
                <a:gs pos="100000">
                  <a:srgbClr val="FFCC00"/>
                </a:gs>
              </a:gsLst>
              <a:lin ang="0"/>
            </a:gradFill>
            <a:ln w="126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AE"/>
            </a:p>
          </p:txBody>
        </p:sp>
        <p:grpSp>
          <p:nvGrpSpPr>
            <p:cNvPr id="9" name="Group 17">
              <a:extLst>
                <a:ext uri="{FF2B5EF4-FFF2-40B4-BE49-F238E27FC236}">
                  <a16:creationId xmlns:a16="http://schemas.microsoft.com/office/drawing/2014/main" id="{7461D2E8-6BBA-5891-F23C-B20DA31A0834}"/>
                </a:ext>
              </a:extLst>
            </p:cNvPr>
            <p:cNvGrpSpPr/>
            <p:nvPr/>
          </p:nvGrpSpPr>
          <p:grpSpPr>
            <a:xfrm>
              <a:off x="5887470" y="5537955"/>
              <a:ext cx="308520" cy="277200"/>
              <a:chOff x="6135120" y="4099680"/>
              <a:chExt cx="308520" cy="277200"/>
            </a:xfrm>
          </p:grpSpPr>
          <p:sp>
            <p:nvSpPr>
              <p:cNvPr id="20" name="CustomShape 18">
                <a:extLst>
                  <a:ext uri="{FF2B5EF4-FFF2-40B4-BE49-F238E27FC236}">
                    <a16:creationId xmlns:a16="http://schemas.microsoft.com/office/drawing/2014/main" id="{D2D0F8B6-B81D-0092-41F7-7F374AC0AE0D}"/>
                  </a:ext>
                </a:extLst>
              </p:cNvPr>
              <p:cNvSpPr/>
              <p:nvPr/>
            </p:nvSpPr>
            <p:spPr>
              <a:xfrm rot="2429400">
                <a:off x="6110280" y="4226760"/>
                <a:ext cx="367200" cy="29880"/>
              </a:xfrm>
              <a:prstGeom prst="rect">
                <a:avLst/>
              </a:prstGeom>
              <a:solidFill>
                <a:srgbClr val="000000"/>
              </a:solidFill>
              <a:ln w="9360">
                <a:noFill/>
              </a:ln>
              <a:effectLst>
                <a:outerShdw dist="17819" dir="2700000" algn="ctr" rotWithShape="0">
                  <a:srgbClr val="7F7F7F">
                    <a:alpha val="50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  <p:sp>
            <p:nvSpPr>
              <p:cNvPr id="21" name="CustomShape 19">
                <a:extLst>
                  <a:ext uri="{FF2B5EF4-FFF2-40B4-BE49-F238E27FC236}">
                    <a16:creationId xmlns:a16="http://schemas.microsoft.com/office/drawing/2014/main" id="{6A5ABBAA-3810-2AB5-F34A-6419CD6BCE3E}"/>
                  </a:ext>
                </a:extLst>
              </p:cNvPr>
              <p:cNvSpPr/>
              <p:nvPr/>
            </p:nvSpPr>
            <p:spPr>
              <a:xfrm rot="19170600">
                <a:off x="6105600" y="4213080"/>
                <a:ext cx="367200" cy="45000"/>
              </a:xfrm>
              <a:prstGeom prst="rect">
                <a:avLst/>
              </a:prstGeom>
              <a:solidFill>
                <a:srgbClr val="000000"/>
              </a:solidFill>
              <a:ln w="9360">
                <a:noFill/>
              </a:ln>
              <a:effectLst>
                <a:outerShdw dist="17819" dir="2700000" algn="ctr" rotWithShape="0">
                  <a:srgbClr val="7F7F7F">
                    <a:alpha val="50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</p:grpSp>
        <p:sp>
          <p:nvSpPr>
            <p:cNvPr id="12" name="CustomShape 24">
              <a:extLst>
                <a:ext uri="{FF2B5EF4-FFF2-40B4-BE49-F238E27FC236}">
                  <a16:creationId xmlns:a16="http://schemas.microsoft.com/office/drawing/2014/main" id="{77CE6180-42A6-EF6B-4C59-097F973A506A}"/>
                </a:ext>
              </a:extLst>
            </p:cNvPr>
            <p:cNvSpPr/>
            <p:nvPr/>
          </p:nvSpPr>
          <p:spPr>
            <a:xfrm>
              <a:off x="5564309" y="4737285"/>
              <a:ext cx="1039189" cy="758160"/>
            </a:xfrm>
            <a:prstGeom prst="rect">
              <a:avLst/>
            </a:prstGeom>
            <a:noFill/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>
              <a:noAutofit/>
            </a:bodyPr>
            <a:lstStyle/>
            <a:p>
              <a:pPr algn="ctr">
                <a:spcAft>
                  <a:spcPts val="1001"/>
                </a:spcAft>
                <a:tabLst>
                  <a:tab pos="0" algn="l"/>
                </a:tabLst>
              </a:pPr>
              <a:r>
                <a:rPr lang="en-US" sz="1400" b="1" spc="-1">
                  <a:solidFill>
                    <a:srgbClr val="FF0000"/>
                  </a:solidFill>
                  <a:latin typeface="Calibri"/>
                  <a:ea typeface="Arial"/>
                </a:rPr>
                <a:t>REMOVE</a:t>
              </a:r>
              <a:r>
                <a:rPr lang="en-US" sz="1400" b="1" spc="-1">
                  <a:solidFill>
                    <a:srgbClr val="000000"/>
                  </a:solidFill>
                  <a:latin typeface="Calibri"/>
                  <a:ea typeface="Arial"/>
                </a:rPr>
                <a:t> ALL Pages in Given Range</a:t>
              </a:r>
              <a:endParaRPr lang="en-US" sz="1400" spc="-1">
                <a:latin typeface="Arial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A35E28F-609E-FC0E-5C6C-4EF8778A3C9E}"/>
              </a:ext>
            </a:extLst>
          </p:cNvPr>
          <p:cNvGrpSpPr/>
          <p:nvPr/>
        </p:nvGrpSpPr>
        <p:grpSpPr>
          <a:xfrm>
            <a:off x="8089860" y="4737285"/>
            <a:ext cx="1343705" cy="1907670"/>
            <a:chOff x="4146510" y="4737285"/>
            <a:chExt cx="1343705" cy="1907670"/>
          </a:xfrm>
        </p:grpSpPr>
        <p:grpSp>
          <p:nvGrpSpPr>
            <p:cNvPr id="10" name="Group 20">
              <a:extLst>
                <a:ext uri="{FF2B5EF4-FFF2-40B4-BE49-F238E27FC236}">
                  <a16:creationId xmlns:a16="http://schemas.microsoft.com/office/drawing/2014/main" id="{32D04F4F-83EE-86DB-D926-AEAF15416C02}"/>
                </a:ext>
              </a:extLst>
            </p:cNvPr>
            <p:cNvGrpSpPr/>
            <p:nvPr/>
          </p:nvGrpSpPr>
          <p:grpSpPr>
            <a:xfrm>
              <a:off x="4754910" y="5549475"/>
              <a:ext cx="302040" cy="264600"/>
              <a:chOff x="5002560" y="4111200"/>
              <a:chExt cx="302040" cy="264600"/>
            </a:xfrm>
          </p:grpSpPr>
          <p:sp>
            <p:nvSpPr>
              <p:cNvPr id="18" name="CustomShape 21">
                <a:extLst>
                  <a:ext uri="{FF2B5EF4-FFF2-40B4-BE49-F238E27FC236}">
                    <a16:creationId xmlns:a16="http://schemas.microsoft.com/office/drawing/2014/main" id="{724D145B-1022-BC61-75F6-B4F9CDEFFBA1}"/>
                  </a:ext>
                </a:extLst>
              </p:cNvPr>
              <p:cNvSpPr/>
              <p:nvPr/>
            </p:nvSpPr>
            <p:spPr>
              <a:xfrm rot="2434200">
                <a:off x="4971960" y="4226760"/>
                <a:ext cx="366840" cy="29880"/>
              </a:xfrm>
              <a:prstGeom prst="rect">
                <a:avLst/>
              </a:prstGeom>
              <a:solidFill>
                <a:srgbClr val="000000"/>
              </a:solidFill>
              <a:ln w="9360">
                <a:noFill/>
              </a:ln>
              <a:effectLst>
                <a:outerShdw dist="17819" dir="2700000" algn="ctr" rotWithShape="0">
                  <a:srgbClr val="7F7F7F">
                    <a:alpha val="50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  <p:sp>
            <p:nvSpPr>
              <p:cNvPr id="19" name="CustomShape 22">
                <a:extLst>
                  <a:ext uri="{FF2B5EF4-FFF2-40B4-BE49-F238E27FC236}">
                    <a16:creationId xmlns:a16="http://schemas.microsoft.com/office/drawing/2014/main" id="{2F0F1FE3-4827-8B42-13ED-7179D1D6DE99}"/>
                  </a:ext>
                </a:extLst>
              </p:cNvPr>
              <p:cNvSpPr/>
              <p:nvPr/>
            </p:nvSpPr>
            <p:spPr>
              <a:xfrm rot="19165800">
                <a:off x="4968000" y="4226760"/>
                <a:ext cx="366840" cy="29880"/>
              </a:xfrm>
              <a:prstGeom prst="rect">
                <a:avLst/>
              </a:prstGeom>
              <a:solidFill>
                <a:srgbClr val="000000"/>
              </a:solidFill>
              <a:ln w="9360">
                <a:noFill/>
              </a:ln>
              <a:effectLst>
                <a:outerShdw dist="17819" dir="2700000" algn="ctr" rotWithShape="0">
                  <a:srgbClr val="7F7F7F">
                    <a:alpha val="50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</p:grpSp>
        <p:sp>
          <p:nvSpPr>
            <p:cNvPr id="11" name="CustomShape 23">
              <a:extLst>
                <a:ext uri="{FF2B5EF4-FFF2-40B4-BE49-F238E27FC236}">
                  <a16:creationId xmlns:a16="http://schemas.microsoft.com/office/drawing/2014/main" id="{E69231EE-5B33-4F0B-234B-07263BF27662}"/>
                </a:ext>
              </a:extLst>
            </p:cNvPr>
            <p:cNvSpPr/>
            <p:nvPr/>
          </p:nvSpPr>
          <p:spPr>
            <a:xfrm>
              <a:off x="4146510" y="4737285"/>
              <a:ext cx="1343705" cy="994710"/>
            </a:xfrm>
            <a:prstGeom prst="rect">
              <a:avLst/>
            </a:prstGeom>
            <a:noFill/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>
              <a:noAutofit/>
            </a:bodyPr>
            <a:lstStyle/>
            <a:p>
              <a:pPr algn="ctr">
                <a:spcAft>
                  <a:spcPts val="1001"/>
                </a:spcAft>
                <a:tabLst>
                  <a:tab pos="0" algn="l"/>
                </a:tabLst>
              </a:pPr>
              <a:r>
                <a:rPr lang="en-US" sz="1400" b="1" spc="-1">
                  <a:solidFill>
                    <a:srgbClr val="FF0000"/>
                  </a:solidFill>
                  <a:latin typeface="Calibri"/>
                  <a:ea typeface="Arial"/>
                </a:rPr>
                <a:t>REMOVE </a:t>
              </a:r>
              <a:r>
                <a:rPr lang="en-US" sz="1400" b="1" spc="-1">
                  <a:solidFill>
                    <a:srgbClr val="000000"/>
                  </a:solidFill>
                  <a:latin typeface="Calibri"/>
                  <a:ea typeface="Arial"/>
                </a:rPr>
                <a:t>Working Sets Pages in Given Range</a:t>
              </a:r>
              <a:endParaRPr lang="en-US" sz="1400" spc="-1">
                <a:latin typeface="Arial"/>
              </a:endParaRPr>
            </a:p>
          </p:txBody>
        </p:sp>
        <p:grpSp>
          <p:nvGrpSpPr>
            <p:cNvPr id="13" name="Group 25">
              <a:extLst>
                <a:ext uri="{FF2B5EF4-FFF2-40B4-BE49-F238E27FC236}">
                  <a16:creationId xmlns:a16="http://schemas.microsoft.com/office/drawing/2014/main" id="{A3E6B350-2B27-7F92-9425-3B07FF39E0C5}"/>
                </a:ext>
              </a:extLst>
            </p:cNvPr>
            <p:cNvGrpSpPr/>
            <p:nvPr/>
          </p:nvGrpSpPr>
          <p:grpSpPr>
            <a:xfrm>
              <a:off x="4526310" y="5897595"/>
              <a:ext cx="748800" cy="747360"/>
              <a:chOff x="4773960" y="4459320"/>
              <a:chExt cx="748800" cy="747360"/>
            </a:xfrm>
          </p:grpSpPr>
          <p:sp>
            <p:nvSpPr>
              <p:cNvPr id="14" name="CustomShape 26">
                <a:extLst>
                  <a:ext uri="{FF2B5EF4-FFF2-40B4-BE49-F238E27FC236}">
                    <a16:creationId xmlns:a16="http://schemas.microsoft.com/office/drawing/2014/main" id="{56B0F816-3D7D-19C2-5042-3662A1E1973B}"/>
                  </a:ext>
                </a:extLst>
              </p:cNvPr>
              <p:cNvSpPr/>
              <p:nvPr/>
            </p:nvSpPr>
            <p:spPr>
              <a:xfrm>
                <a:off x="4777200" y="4832280"/>
                <a:ext cx="745560" cy="185040"/>
              </a:xfrm>
              <a:prstGeom prst="rect">
                <a:avLst/>
              </a:prstGeom>
              <a:gradFill rotWithShape="0">
                <a:gsLst>
                  <a:gs pos="0">
                    <a:srgbClr val="005125"/>
                  </a:gs>
                  <a:gs pos="100000">
                    <a:srgbClr val="00B050"/>
                  </a:gs>
                </a:gsLst>
                <a:lin ang="0"/>
              </a:gradFill>
              <a:ln w="1260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  <p:sp>
            <p:nvSpPr>
              <p:cNvPr id="15" name="CustomShape 27">
                <a:extLst>
                  <a:ext uri="{FF2B5EF4-FFF2-40B4-BE49-F238E27FC236}">
                    <a16:creationId xmlns:a16="http://schemas.microsoft.com/office/drawing/2014/main" id="{4F6078B0-C42A-3299-D10B-209409102B4E}"/>
                  </a:ext>
                </a:extLst>
              </p:cNvPr>
              <p:cNvSpPr/>
              <p:nvPr/>
            </p:nvSpPr>
            <p:spPr>
              <a:xfrm>
                <a:off x="4777200" y="4459320"/>
                <a:ext cx="745560" cy="185040"/>
              </a:xfrm>
              <a:prstGeom prst="rect">
                <a:avLst/>
              </a:prstGeom>
              <a:gradFill rotWithShape="0">
                <a:gsLst>
                  <a:gs pos="0">
                    <a:srgbClr val="005125"/>
                  </a:gs>
                  <a:gs pos="100000">
                    <a:srgbClr val="00B050"/>
                  </a:gs>
                </a:gsLst>
                <a:lin ang="0"/>
              </a:gradFill>
              <a:ln w="1260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  <p:sp>
            <p:nvSpPr>
              <p:cNvPr id="16" name="CustomShape 28">
                <a:extLst>
                  <a:ext uri="{FF2B5EF4-FFF2-40B4-BE49-F238E27FC236}">
                    <a16:creationId xmlns:a16="http://schemas.microsoft.com/office/drawing/2014/main" id="{A5606B9D-2D61-7378-5347-3B10CAC300BD}"/>
                  </a:ext>
                </a:extLst>
              </p:cNvPr>
              <p:cNvSpPr/>
              <p:nvPr/>
            </p:nvSpPr>
            <p:spPr>
              <a:xfrm>
                <a:off x="4777200" y="4645080"/>
                <a:ext cx="745560" cy="186120"/>
              </a:xfrm>
              <a:prstGeom prst="rect">
                <a:avLst/>
              </a:prstGeom>
              <a:gradFill rotWithShape="0">
                <a:gsLst>
                  <a:gs pos="0">
                    <a:srgbClr val="005125"/>
                  </a:gs>
                  <a:gs pos="100000">
                    <a:srgbClr val="00B050"/>
                  </a:gs>
                </a:gsLst>
                <a:lin ang="0"/>
              </a:gradFill>
              <a:ln w="1260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  <p:sp>
            <p:nvSpPr>
              <p:cNvPr id="17" name="CustomShape 29">
                <a:extLst>
                  <a:ext uri="{FF2B5EF4-FFF2-40B4-BE49-F238E27FC236}">
                    <a16:creationId xmlns:a16="http://schemas.microsoft.com/office/drawing/2014/main" id="{80F409D7-B354-CD02-80DD-14D8ED2BE421}"/>
                  </a:ext>
                </a:extLst>
              </p:cNvPr>
              <p:cNvSpPr/>
              <p:nvPr/>
            </p:nvSpPr>
            <p:spPr>
              <a:xfrm>
                <a:off x="4773960" y="5021640"/>
                <a:ext cx="745560" cy="185040"/>
              </a:xfrm>
              <a:prstGeom prst="rect">
                <a:avLst/>
              </a:prstGeom>
              <a:gradFill rotWithShape="0">
                <a:gsLst>
                  <a:gs pos="0">
                    <a:srgbClr val="005125"/>
                  </a:gs>
                  <a:gs pos="100000">
                    <a:srgbClr val="00B050"/>
                  </a:gs>
                </a:gsLst>
                <a:lin ang="0"/>
              </a:gradFill>
              <a:ln w="1260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</p:grpSp>
      </p:grpSp>
      <p:sp>
        <p:nvSpPr>
          <p:cNvPr id="38" name="CustomShape 7">
            <a:extLst>
              <a:ext uri="{FF2B5EF4-FFF2-40B4-BE49-F238E27FC236}">
                <a16:creationId xmlns:a16="http://schemas.microsoft.com/office/drawing/2014/main" id="{38D28AF5-0336-04E8-1002-B2DA3F629752}"/>
              </a:ext>
            </a:extLst>
          </p:cNvPr>
          <p:cNvSpPr/>
          <p:nvPr/>
        </p:nvSpPr>
        <p:spPr>
          <a:xfrm>
            <a:off x="10623049" y="4737285"/>
            <a:ext cx="1009080" cy="84351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>
            <a:noAutofit/>
          </a:bodyPr>
          <a:lstStyle/>
          <a:p>
            <a:pPr algn="ctr">
              <a:spcAft>
                <a:spcPts val="1001"/>
              </a:spcAft>
              <a:tabLst>
                <a:tab pos="0" algn="l"/>
              </a:tabLst>
            </a:pPr>
            <a:r>
              <a:rPr lang="en-US" sz="1400" b="1" spc="-1">
                <a:solidFill>
                  <a:srgbClr val="FF0000"/>
                </a:solidFill>
                <a:latin typeface="Calibri"/>
                <a:ea typeface="Arial"/>
              </a:rPr>
              <a:t>UN-MARK</a:t>
            </a:r>
            <a:r>
              <a:rPr lang="en-US" sz="1400" b="1" spc="-1">
                <a:solidFill>
                  <a:srgbClr val="000000"/>
                </a:solidFill>
                <a:latin typeface="Calibri"/>
                <a:ea typeface="Arial"/>
              </a:rPr>
              <a:t> allocated pages in VM</a:t>
            </a:r>
            <a:endParaRPr lang="en-US" sz="1400" spc="-1">
              <a:latin typeface="Arial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4A11225-B0D3-C4D9-6C4C-3A76FF300D83}"/>
              </a:ext>
            </a:extLst>
          </p:cNvPr>
          <p:cNvGrpSpPr/>
          <p:nvPr/>
        </p:nvGrpSpPr>
        <p:grpSpPr>
          <a:xfrm>
            <a:off x="10748715" y="5570715"/>
            <a:ext cx="747180" cy="1097430"/>
            <a:chOff x="4309826" y="4293720"/>
            <a:chExt cx="747180" cy="1097430"/>
          </a:xfrm>
        </p:grpSpPr>
        <p:sp>
          <p:nvSpPr>
            <p:cNvPr id="40" name="CustomShape 11">
              <a:extLst>
                <a:ext uri="{FF2B5EF4-FFF2-40B4-BE49-F238E27FC236}">
                  <a16:creationId xmlns:a16="http://schemas.microsoft.com/office/drawing/2014/main" id="{318F80E7-6C8D-8992-4BF4-22D93AF5039A}"/>
                </a:ext>
              </a:extLst>
            </p:cNvPr>
            <p:cNvSpPr/>
            <p:nvPr/>
          </p:nvSpPr>
          <p:spPr>
            <a:xfrm>
              <a:off x="4311446" y="4914900"/>
              <a:ext cx="745560" cy="101340"/>
            </a:xfrm>
            <a:prstGeom prst="rect">
              <a:avLst/>
            </a:prstGeom>
            <a:noFill/>
            <a:ln w="1260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AE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EF9F062-8E68-FEC8-47F0-D4C8A6D3E64D}"/>
                </a:ext>
              </a:extLst>
            </p:cNvPr>
            <p:cNvSpPr/>
            <p:nvPr/>
          </p:nvSpPr>
          <p:spPr>
            <a:xfrm>
              <a:off x="4327257" y="4293720"/>
              <a:ext cx="729749" cy="1097430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  <p:sp>
          <p:nvSpPr>
            <p:cNvPr id="42" name="CustomShape 11">
              <a:extLst>
                <a:ext uri="{FF2B5EF4-FFF2-40B4-BE49-F238E27FC236}">
                  <a16:creationId xmlns:a16="http://schemas.microsoft.com/office/drawing/2014/main" id="{4F4CCB58-79F8-8436-E638-4387BB7C737E}"/>
                </a:ext>
              </a:extLst>
            </p:cNvPr>
            <p:cNvSpPr/>
            <p:nvPr/>
          </p:nvSpPr>
          <p:spPr>
            <a:xfrm>
              <a:off x="4309826" y="4695610"/>
              <a:ext cx="745560" cy="122621"/>
            </a:xfrm>
            <a:prstGeom prst="rect">
              <a:avLst/>
            </a:prstGeom>
            <a:noFill/>
            <a:ln w="1260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AE"/>
            </a:p>
          </p:txBody>
        </p:sp>
        <p:sp>
          <p:nvSpPr>
            <p:cNvPr id="43" name="CustomShape 11">
              <a:extLst>
                <a:ext uri="{FF2B5EF4-FFF2-40B4-BE49-F238E27FC236}">
                  <a16:creationId xmlns:a16="http://schemas.microsoft.com/office/drawing/2014/main" id="{CBB29DB6-5E99-9AE3-8DC0-6EFE17442C7E}"/>
                </a:ext>
              </a:extLst>
            </p:cNvPr>
            <p:cNvSpPr/>
            <p:nvPr/>
          </p:nvSpPr>
          <p:spPr>
            <a:xfrm>
              <a:off x="4311446" y="4818450"/>
              <a:ext cx="745560" cy="101340"/>
            </a:xfrm>
            <a:prstGeom prst="rect">
              <a:avLst/>
            </a:prstGeom>
            <a:noFill/>
            <a:ln w="1260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AE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E976432-5503-ED32-5D21-7DC226843B64}"/>
              </a:ext>
            </a:extLst>
          </p:cNvPr>
          <p:cNvGrpSpPr/>
          <p:nvPr/>
        </p:nvGrpSpPr>
        <p:grpSpPr>
          <a:xfrm>
            <a:off x="7652576" y="0"/>
            <a:ext cx="4539424" cy="1704462"/>
            <a:chOff x="8631328" y="-51300"/>
            <a:chExt cx="4539424" cy="1704462"/>
          </a:xfrm>
        </p:grpSpPr>
        <p:sp>
          <p:nvSpPr>
            <p:cNvPr id="23" name="CustomShape 5">
              <a:extLst>
                <a:ext uri="{FF2B5EF4-FFF2-40B4-BE49-F238E27FC236}">
                  <a16:creationId xmlns:a16="http://schemas.microsoft.com/office/drawing/2014/main" id="{74B7645B-F6E0-0F46-E69D-5D7EDB23F5E8}"/>
                </a:ext>
              </a:extLst>
            </p:cNvPr>
            <p:cNvSpPr/>
            <p:nvPr/>
          </p:nvSpPr>
          <p:spPr>
            <a:xfrm>
              <a:off x="8638317" y="457842"/>
              <a:ext cx="390122" cy="508444"/>
            </a:xfrm>
            <a:prstGeom prst="flowChartMagneticDisk">
              <a:avLst/>
            </a:prstGeom>
            <a:gradFill rotWithShape="0">
              <a:gsLst>
                <a:gs pos="0">
                  <a:srgbClr val="765E00"/>
                </a:gs>
                <a:gs pos="100000">
                  <a:srgbClr val="FFCC00">
                    <a:alpha val="40000"/>
                  </a:srgbClr>
                </a:gs>
              </a:gsLst>
              <a:lin ang="0"/>
            </a:gradFill>
            <a:ln w="9360">
              <a:solidFill>
                <a:srgbClr val="96969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AE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412D337-F748-BE27-5B50-80DBE710FCE5}"/>
                </a:ext>
              </a:extLst>
            </p:cNvPr>
            <p:cNvGrpSpPr/>
            <p:nvPr/>
          </p:nvGrpSpPr>
          <p:grpSpPr>
            <a:xfrm>
              <a:off x="8681797" y="1221176"/>
              <a:ext cx="356166" cy="431986"/>
              <a:chOff x="7002621" y="5757664"/>
              <a:chExt cx="356166" cy="431986"/>
            </a:xfrm>
          </p:grpSpPr>
          <p:sp>
            <p:nvSpPr>
              <p:cNvPr id="28" name="CustomShape 15">
                <a:extLst>
                  <a:ext uri="{FF2B5EF4-FFF2-40B4-BE49-F238E27FC236}">
                    <a16:creationId xmlns:a16="http://schemas.microsoft.com/office/drawing/2014/main" id="{34D3846C-DB5B-734D-DE29-0F79190CF584}"/>
                  </a:ext>
                </a:extLst>
              </p:cNvPr>
              <p:cNvSpPr/>
              <p:nvPr/>
            </p:nvSpPr>
            <p:spPr>
              <a:xfrm>
                <a:off x="7004130" y="6082689"/>
                <a:ext cx="354657" cy="106961"/>
              </a:xfrm>
              <a:prstGeom prst="rect">
                <a:avLst/>
              </a:prstGeom>
              <a:gradFill rotWithShape="0">
                <a:gsLst>
                  <a:gs pos="0">
                    <a:srgbClr val="005125"/>
                  </a:gs>
                  <a:gs pos="100000">
                    <a:srgbClr val="00B050">
                      <a:alpha val="40000"/>
                    </a:srgbClr>
                  </a:gs>
                </a:gsLst>
                <a:lin ang="0"/>
              </a:gradFill>
              <a:ln w="9360">
                <a:solidFill>
                  <a:srgbClr val="969696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  <p:sp>
            <p:nvSpPr>
              <p:cNvPr id="29" name="CustomShape 16">
                <a:extLst>
                  <a:ext uri="{FF2B5EF4-FFF2-40B4-BE49-F238E27FC236}">
                    <a16:creationId xmlns:a16="http://schemas.microsoft.com/office/drawing/2014/main" id="{E1F2EB9D-3154-B18B-0543-F337C9FE3816}"/>
                  </a:ext>
                </a:extLst>
              </p:cNvPr>
              <p:cNvSpPr/>
              <p:nvPr/>
            </p:nvSpPr>
            <p:spPr>
              <a:xfrm>
                <a:off x="7002621" y="5757664"/>
                <a:ext cx="354657" cy="106961"/>
              </a:xfrm>
              <a:prstGeom prst="rect">
                <a:avLst/>
              </a:prstGeom>
              <a:gradFill rotWithShape="0">
                <a:gsLst>
                  <a:gs pos="0">
                    <a:srgbClr val="005125"/>
                  </a:gs>
                  <a:gs pos="100000">
                    <a:srgbClr val="00B050">
                      <a:alpha val="40000"/>
                    </a:srgbClr>
                  </a:gs>
                </a:gsLst>
                <a:lin ang="0"/>
              </a:gradFill>
              <a:ln w="9360">
                <a:solidFill>
                  <a:srgbClr val="969696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  <p:sp>
            <p:nvSpPr>
              <p:cNvPr id="30" name="CustomShape 17">
                <a:extLst>
                  <a:ext uri="{FF2B5EF4-FFF2-40B4-BE49-F238E27FC236}">
                    <a16:creationId xmlns:a16="http://schemas.microsoft.com/office/drawing/2014/main" id="{5DD0FF25-634A-9B45-EA27-8A5096FEEA39}"/>
                  </a:ext>
                </a:extLst>
              </p:cNvPr>
              <p:cNvSpPr/>
              <p:nvPr/>
            </p:nvSpPr>
            <p:spPr>
              <a:xfrm>
                <a:off x="7004130" y="5865002"/>
                <a:ext cx="353525" cy="108467"/>
              </a:xfrm>
              <a:prstGeom prst="rect">
                <a:avLst/>
              </a:prstGeom>
              <a:gradFill rotWithShape="0">
                <a:gsLst>
                  <a:gs pos="0">
                    <a:srgbClr val="005125"/>
                  </a:gs>
                  <a:gs pos="100000">
                    <a:srgbClr val="00B050">
                      <a:alpha val="40000"/>
                    </a:srgbClr>
                  </a:gs>
                </a:gsLst>
                <a:lin ang="0"/>
              </a:gradFill>
              <a:ln w="9360">
                <a:solidFill>
                  <a:srgbClr val="969696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  <p:sp>
            <p:nvSpPr>
              <p:cNvPr id="31" name="CustomShape 18">
                <a:extLst>
                  <a:ext uri="{FF2B5EF4-FFF2-40B4-BE49-F238E27FC236}">
                    <a16:creationId xmlns:a16="http://schemas.microsoft.com/office/drawing/2014/main" id="{4B34318A-9BC0-24E3-408D-208CC924996C}"/>
                  </a:ext>
                </a:extLst>
              </p:cNvPr>
              <p:cNvSpPr/>
              <p:nvPr/>
            </p:nvSpPr>
            <p:spPr>
              <a:xfrm>
                <a:off x="7002621" y="5973845"/>
                <a:ext cx="354657" cy="108467"/>
              </a:xfrm>
              <a:prstGeom prst="rect">
                <a:avLst/>
              </a:prstGeom>
              <a:gradFill rotWithShape="0">
                <a:gsLst>
                  <a:gs pos="0">
                    <a:srgbClr val="005125"/>
                  </a:gs>
                  <a:gs pos="100000">
                    <a:srgbClr val="00B050">
                      <a:alpha val="40000"/>
                    </a:srgbClr>
                  </a:gs>
                </a:gsLst>
                <a:lin ang="0"/>
              </a:gradFill>
              <a:ln w="9360">
                <a:solidFill>
                  <a:srgbClr val="969696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AE"/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B6787E1-77F7-09EF-A86E-9DDDD1BD63E1}"/>
                </a:ext>
              </a:extLst>
            </p:cNvPr>
            <p:cNvSpPr txBox="1"/>
            <p:nvPr/>
          </p:nvSpPr>
          <p:spPr>
            <a:xfrm>
              <a:off x="8631328" y="-51300"/>
              <a:ext cx="314849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/>
                <a:t>Refer to </a:t>
              </a:r>
              <a:r>
                <a:rPr lang="en-US" sz="2000" b="1">
                  <a:hlinkClick r:id="rId2" action="ppaction://hlinkfile"/>
                </a:rPr>
                <a:t>APPENDICES</a:t>
              </a:r>
              <a:r>
                <a:rPr lang="en-US" sz="2000" b="1"/>
                <a:t> for:</a:t>
              </a:r>
              <a:endParaRPr lang="en-AE" sz="2000" b="1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DDE644B-4F48-5228-C9E2-6D3D8499C65C}"/>
                </a:ext>
              </a:extLst>
            </p:cNvPr>
            <p:cNvSpPr txBox="1"/>
            <p:nvPr/>
          </p:nvSpPr>
          <p:spPr>
            <a:xfrm>
              <a:off x="9152536" y="466450"/>
              <a:ext cx="30949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/>
                <a:t>Page File Helper Functions</a:t>
              </a:r>
              <a:endParaRPr lang="en-AE" sz="200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FF852E7-A3C8-C3A7-2788-3735A629D9A7}"/>
                </a:ext>
              </a:extLst>
            </p:cNvPr>
            <p:cNvSpPr txBox="1"/>
            <p:nvPr/>
          </p:nvSpPr>
          <p:spPr>
            <a:xfrm>
              <a:off x="9152536" y="1161615"/>
              <a:ext cx="401821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/>
                <a:t>Working Set Struct &amp; Helper Func’s</a:t>
              </a:r>
              <a:endParaRPr lang="en-AE" sz="2000"/>
            </a:p>
          </p:txBody>
        </p:sp>
      </p:grpSp>
    </p:spTree>
    <p:extLst>
      <p:ext uri="{BB962C8B-B14F-4D97-AF65-F5344CB8AC3E}">
        <p14:creationId xmlns:p14="http://schemas.microsoft.com/office/powerpoint/2010/main" val="4271114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98957-508C-8982-0524-80EBE8793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D23A52A-E305-A670-A503-B84A5B484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CPU Scheduling</a:t>
            </a:r>
            <a:endParaRPr lang="en-A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F003094-4868-2E33-1CEB-EAD9AEC5EA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PART III: INDIVIDUAL module </a:t>
            </a:r>
            <a:r>
              <a:rPr lang="en-US" b="1" dirty="0">
                <a:solidFill>
                  <a:srgbClr val="FF0000"/>
                </a:solidFill>
              </a:rPr>
              <a:t>#3</a:t>
            </a:r>
            <a:endParaRPr lang="en-AE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AB8903-5D8D-651D-7754-E800956D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48</a:t>
            </a:fld>
            <a:endParaRPr lang="en-US"/>
          </a:p>
        </p:txBody>
      </p:sp>
      <p:pic>
        <p:nvPicPr>
          <p:cNvPr id="7" name="Picture 6" descr="A clock with a number on it&#10;&#10;AI-generated content may be incorrect.">
            <a:extLst>
              <a:ext uri="{FF2B5EF4-FFF2-40B4-BE49-F238E27FC236}">
                <a16:creationId xmlns:a16="http://schemas.microsoft.com/office/drawing/2014/main" id="{FE0083B6-9E8B-B68F-39B8-63B80B1E0B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1375" y="0"/>
            <a:ext cx="1190625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1750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5151C-4BAE-EB62-8A16-FC8CCA625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D2E99-9FE4-CB3E-F42A-703ACADDB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Overview</a:t>
            </a:r>
            <a:endParaRPr lang="ar-EG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82E8918-FAB2-9E62-035C-E3E34752EF87}"/>
              </a:ext>
            </a:extLst>
          </p:cNvPr>
          <p:cNvSpPr/>
          <p:nvPr/>
        </p:nvSpPr>
        <p:spPr>
          <a:xfrm>
            <a:off x="235394" y="364720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Individual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Module#1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725C69F-133F-5663-363E-EBDB96864087}"/>
              </a:ext>
            </a:extLst>
          </p:cNvPr>
          <p:cNvSpPr/>
          <p:nvPr/>
        </p:nvSpPr>
        <p:spPr>
          <a:xfrm>
            <a:off x="2220990" y="364720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Individual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Module#2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681E95F-0D18-3EB8-B337-654D35441658}"/>
              </a:ext>
            </a:extLst>
          </p:cNvPr>
          <p:cNvSpPr/>
          <p:nvPr/>
        </p:nvSpPr>
        <p:spPr>
          <a:xfrm>
            <a:off x="4206586" y="364720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Individual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Module#3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EFFDD0F-D49D-C382-0834-CEB9C7C5755F}"/>
              </a:ext>
            </a:extLst>
          </p:cNvPr>
          <p:cNvSpPr/>
          <p:nvPr/>
        </p:nvSpPr>
        <p:spPr>
          <a:xfrm>
            <a:off x="6192182" y="364720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Individual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Module#4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08B5EE7D-5F27-1FC9-C329-E250F0EA3044}"/>
              </a:ext>
            </a:extLst>
          </p:cNvPr>
          <p:cNvCxnSpPr>
            <a:cxnSpLocks/>
            <a:stCxn id="13" idx="2"/>
            <a:endCxn id="5" idx="0"/>
          </p:cNvCxnSpPr>
          <p:nvPr/>
        </p:nvCxnSpPr>
        <p:spPr>
          <a:xfrm rot="5400000">
            <a:off x="3215515" y="740890"/>
            <a:ext cx="859648" cy="4952990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A579F652-903F-F783-393B-EFDA2B672A3B}"/>
              </a:ext>
            </a:extLst>
          </p:cNvPr>
          <p:cNvCxnSpPr>
            <a:cxnSpLocks/>
            <a:stCxn id="13" idx="2"/>
            <a:endCxn id="7" idx="0"/>
          </p:cNvCxnSpPr>
          <p:nvPr/>
        </p:nvCxnSpPr>
        <p:spPr>
          <a:xfrm rot="5400000">
            <a:off x="4208313" y="1733688"/>
            <a:ext cx="859648" cy="296739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A4F8ED9A-9718-672D-AD25-D0B721AE77C6}"/>
              </a:ext>
            </a:extLst>
          </p:cNvPr>
          <p:cNvCxnSpPr>
            <a:cxnSpLocks/>
            <a:stCxn id="13" idx="2"/>
            <a:endCxn id="8" idx="0"/>
          </p:cNvCxnSpPr>
          <p:nvPr/>
        </p:nvCxnSpPr>
        <p:spPr>
          <a:xfrm rot="5400000">
            <a:off x="5201111" y="2726486"/>
            <a:ext cx="859648" cy="98179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01A0C215-73CB-76AC-CB7D-3C7C05F50BF4}"/>
              </a:ext>
            </a:extLst>
          </p:cNvPr>
          <p:cNvCxnSpPr>
            <a:cxnSpLocks/>
            <a:stCxn id="13" idx="2"/>
            <a:endCxn id="9" idx="0"/>
          </p:cNvCxnSpPr>
          <p:nvPr/>
        </p:nvCxnSpPr>
        <p:spPr>
          <a:xfrm rot="16200000" flipH="1">
            <a:off x="6193909" y="2715486"/>
            <a:ext cx="859648" cy="100379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10167C7B-3DC3-6FCF-8074-53149D71D60C}"/>
              </a:ext>
            </a:extLst>
          </p:cNvPr>
          <p:cNvCxnSpPr>
            <a:cxnSpLocks/>
            <a:stCxn id="5" idx="2"/>
            <a:endCxn id="23" idx="0"/>
          </p:cNvCxnSpPr>
          <p:nvPr/>
        </p:nvCxnSpPr>
        <p:spPr>
          <a:xfrm rot="16200000" flipH="1">
            <a:off x="3229415" y="2501037"/>
            <a:ext cx="831849" cy="495299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23EFE8E8-8425-3717-5F1E-341DC4FF381C}"/>
              </a:ext>
            </a:extLst>
          </p:cNvPr>
          <p:cNvCxnSpPr>
            <a:cxnSpLocks/>
            <a:stCxn id="7" idx="2"/>
            <a:endCxn id="23" idx="0"/>
          </p:cNvCxnSpPr>
          <p:nvPr/>
        </p:nvCxnSpPr>
        <p:spPr>
          <a:xfrm rot="16200000" flipH="1">
            <a:off x="4222213" y="3493835"/>
            <a:ext cx="831849" cy="296739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FAA80D17-45F3-B64E-269B-28B31170E7CE}"/>
              </a:ext>
            </a:extLst>
          </p:cNvPr>
          <p:cNvCxnSpPr>
            <a:cxnSpLocks/>
            <a:stCxn id="8" idx="2"/>
            <a:endCxn id="23" idx="0"/>
          </p:cNvCxnSpPr>
          <p:nvPr/>
        </p:nvCxnSpPr>
        <p:spPr>
          <a:xfrm rot="16200000" flipH="1">
            <a:off x="5215011" y="4486633"/>
            <a:ext cx="831849" cy="98179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00C46862-B4DF-8B74-09DE-5D93F6FA1A33}"/>
              </a:ext>
            </a:extLst>
          </p:cNvPr>
          <p:cNvCxnSpPr>
            <a:cxnSpLocks/>
            <a:stCxn id="9" idx="2"/>
            <a:endCxn id="23" idx="0"/>
          </p:cNvCxnSpPr>
          <p:nvPr/>
        </p:nvCxnSpPr>
        <p:spPr>
          <a:xfrm rot="5400000">
            <a:off x="6207810" y="4475635"/>
            <a:ext cx="831849" cy="100379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7049BC2-2A52-4634-0B2E-13EE54E7C082}"/>
              </a:ext>
            </a:extLst>
          </p:cNvPr>
          <p:cNvSpPr/>
          <p:nvPr/>
        </p:nvSpPr>
        <p:spPr>
          <a:xfrm>
            <a:off x="2220989" y="1873161"/>
            <a:ext cx="7801689" cy="914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[TW]</a:t>
            </a:r>
            <a:r>
              <a:rPr kumimoji="0" lang="en-US" sz="28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Prerequisite Modules </a:t>
            </a:r>
          </a:p>
          <a:p>
            <a:pPr lvl="0" algn="ctr" defTabSz="914400">
              <a:defRPr/>
            </a:pPr>
            <a:r>
              <a:rPr lang="en-US" sz="2400" b="1" dirty="0">
                <a:solidFill>
                  <a:prstClr val="black"/>
                </a:solidFill>
                <a:latin typeface="Calibri"/>
              </a:rPr>
              <a:t>Dyn. </a:t>
            </a:r>
            <a:r>
              <a:rPr lang="en-US" sz="2400" b="1" dirty="0" err="1">
                <a:solidFill>
                  <a:prstClr val="black"/>
                </a:solidFill>
                <a:latin typeface="Calibri"/>
              </a:rPr>
              <a:t>Alloc</a:t>
            </a:r>
            <a:r>
              <a:rPr lang="en-US" sz="2400" b="1" dirty="0">
                <a:solidFill>
                  <a:prstClr val="black"/>
                </a:solidFill>
                <a:latin typeface="Calibri"/>
              </a:rPr>
              <a:t>, Kern Heap, Fault Handl. 1, Blocking</a:t>
            </a:r>
            <a:endParaRPr lang="en-AE" sz="28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3442800-8711-274B-B30F-5A8D06C728B3}"/>
              </a:ext>
            </a:extLst>
          </p:cNvPr>
          <p:cNvSpPr/>
          <p:nvPr/>
        </p:nvSpPr>
        <p:spPr>
          <a:xfrm>
            <a:off x="229044" y="3640858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[M#1]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Fault Handl. 2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3B0E69A-2F03-91D6-8D17-C5924E3590B2}"/>
              </a:ext>
            </a:extLst>
          </p:cNvPr>
          <p:cNvSpPr/>
          <p:nvPr/>
        </p:nvSpPr>
        <p:spPr>
          <a:xfrm>
            <a:off x="2220990" y="364720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[M#2]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User Heap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1A43286-1DFE-E9A9-8C33-7F2DD1087833}"/>
              </a:ext>
            </a:extLst>
          </p:cNvPr>
          <p:cNvSpPr/>
          <p:nvPr/>
        </p:nvSpPr>
        <p:spPr>
          <a:xfrm>
            <a:off x="4212936" y="365355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[M#3]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lvl="0" algn="ctr" defTabSz="914400"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CPU Sched.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CD7DF75-19A2-2B07-4961-DFC6BD9057C3}"/>
              </a:ext>
            </a:extLst>
          </p:cNvPr>
          <p:cNvSpPr/>
          <p:nvPr/>
        </p:nvSpPr>
        <p:spPr>
          <a:xfrm>
            <a:off x="6198532" y="3650583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[M#4]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lvl="0" algn="ctr" defTabSz="914400"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IPC #1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4E27DCE3-7E47-BCC4-6983-2CA883F7621B}"/>
              </a:ext>
            </a:extLst>
          </p:cNvPr>
          <p:cNvCxnSpPr>
            <a:cxnSpLocks/>
            <a:stCxn id="13" idx="2"/>
            <a:endCxn id="22" idx="0"/>
          </p:cNvCxnSpPr>
          <p:nvPr/>
        </p:nvCxnSpPr>
        <p:spPr>
          <a:xfrm rot="16200000" flipH="1">
            <a:off x="7178883" y="1730511"/>
            <a:ext cx="853297" cy="296739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A4714816-1B04-A065-2CF9-36C826A8BD4A}"/>
              </a:ext>
            </a:extLst>
          </p:cNvPr>
          <p:cNvCxnSpPr>
            <a:cxnSpLocks/>
            <a:stCxn id="22" idx="2"/>
            <a:endCxn id="23" idx="0"/>
          </p:cNvCxnSpPr>
          <p:nvPr/>
        </p:nvCxnSpPr>
        <p:spPr>
          <a:xfrm rot="5400000">
            <a:off x="7186432" y="3490661"/>
            <a:ext cx="838200" cy="296739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5318521-09AF-2D7B-D2EB-73F66AE5B71D}"/>
              </a:ext>
            </a:extLst>
          </p:cNvPr>
          <p:cNvSpPr/>
          <p:nvPr/>
        </p:nvSpPr>
        <p:spPr>
          <a:xfrm>
            <a:off x="8155779" y="3640858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[M#5]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lvl="0" algn="ctr" defTabSz="914400"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IPC #2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1E77694-E967-A343-D7A9-80D5D25955F7}"/>
              </a:ext>
            </a:extLst>
          </p:cNvPr>
          <p:cNvSpPr/>
          <p:nvPr/>
        </p:nvSpPr>
        <p:spPr>
          <a:xfrm>
            <a:off x="3154440" y="5393458"/>
            <a:ext cx="5934789" cy="9144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[TW]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Integration &amp; Overall Testing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prstClr val="black"/>
                </a:solidFill>
                <a:latin typeface="Calibri"/>
              </a:rPr>
              <a:t>Scenarios &amp; Bonuses</a:t>
            </a:r>
            <a:endParaRPr kumimoji="0" lang="en-AE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A2A0121-1924-6ED1-DC50-F20C7CD985BB}"/>
              </a:ext>
            </a:extLst>
          </p:cNvPr>
          <p:cNvSpPr/>
          <p:nvPr/>
        </p:nvSpPr>
        <p:spPr>
          <a:xfrm>
            <a:off x="10157026" y="364720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lvl="0" algn="ctr" defTabSz="914400">
              <a:defRPr/>
            </a:pPr>
            <a:r>
              <a:rPr lang="en-US" sz="2400" b="1" dirty="0">
                <a:solidFill>
                  <a:prstClr val="black"/>
                </a:solidFill>
                <a:latin typeface="Calibri"/>
              </a:rPr>
              <a:t>[M#6]</a:t>
            </a:r>
            <a:r>
              <a:rPr lang="en-US" sz="2800" dirty="0">
                <a:solidFill>
                  <a:prstClr val="black"/>
                </a:solidFill>
                <a:latin typeface="Calibri"/>
              </a:rPr>
              <a:t> </a:t>
            </a:r>
          </a:p>
          <a:p>
            <a:pPr lvl="0" algn="ctr" defTabSz="914400"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Shared Memory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24030CD6-26B7-54CD-7CB3-812C44C5DED8}"/>
              </a:ext>
            </a:extLst>
          </p:cNvPr>
          <p:cNvCxnSpPr>
            <a:cxnSpLocks/>
            <a:stCxn id="13" idx="2"/>
            <a:endCxn id="28" idx="0"/>
          </p:cNvCxnSpPr>
          <p:nvPr/>
        </p:nvCxnSpPr>
        <p:spPr>
          <a:xfrm rot="16200000" flipH="1">
            <a:off x="8176331" y="733064"/>
            <a:ext cx="859648" cy="496864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2703810F-2B86-D9BF-E43B-0EE2BB432659}"/>
              </a:ext>
            </a:extLst>
          </p:cNvPr>
          <p:cNvCxnSpPr>
            <a:cxnSpLocks/>
            <a:stCxn id="28" idx="2"/>
            <a:endCxn id="23" idx="0"/>
          </p:cNvCxnSpPr>
          <p:nvPr/>
        </p:nvCxnSpPr>
        <p:spPr>
          <a:xfrm rot="5400000">
            <a:off x="8190232" y="2493213"/>
            <a:ext cx="831849" cy="496864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0191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5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23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5340D-6196-63A7-7CAF-F28B963B3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FB97A-CDDF-7DD7-2344-80544BEA5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Objective</a:t>
            </a:r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09D6F5B6-C55A-8034-1183-2C854E71EE24}"/>
              </a:ext>
            </a:extLst>
          </p:cNvPr>
          <p:cNvSpPr/>
          <p:nvPr/>
        </p:nvSpPr>
        <p:spPr>
          <a:xfrm>
            <a:off x="1154084" y="2270926"/>
            <a:ext cx="10058400" cy="2924072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200" dirty="0"/>
              <a:t>Support </a:t>
            </a:r>
            <a:r>
              <a:rPr lang="en-US" sz="2200" b="1" dirty="0"/>
              <a:t>Multi-level Feedback Queue (MLFQ) </a:t>
            </a:r>
            <a:r>
              <a:rPr lang="en-US" sz="2200" dirty="0"/>
              <a:t>scheduling among user processes &amp; </a:t>
            </a:r>
            <a:r>
              <a:rPr lang="en-US" sz="2200" b="1" dirty="0">
                <a:solidFill>
                  <a:srgbClr val="FF0000"/>
                </a:solidFill>
              </a:rPr>
              <a:t>avoid</a:t>
            </a:r>
            <a:r>
              <a:rPr lang="en-US" sz="2200" b="1" dirty="0"/>
              <a:t> starvation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ADF54F-FD71-00AB-5E1D-1A15EC10D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47192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35C3A-C7C5-77F8-6544-93DB7753B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TextShape 2">
            <a:extLst>
              <a:ext uri="{FF2B5EF4-FFF2-40B4-BE49-F238E27FC236}">
                <a16:creationId xmlns:a16="http://schemas.microsoft.com/office/drawing/2014/main" id="{6C475723-14A3-5B7F-2E2E-6273EB9F001C}"/>
              </a:ext>
            </a:extLst>
          </p:cNvPr>
          <p:cNvSpPr txBox="1"/>
          <p:nvPr/>
        </p:nvSpPr>
        <p:spPr>
          <a:xfrm>
            <a:off x="1016560" y="1779103"/>
            <a:ext cx="6385000" cy="44845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noAutofit/>
          </a:bodyPr>
          <a:lstStyle/>
          <a:p>
            <a:pPr marL="343080" indent="-342720">
              <a:lnSpc>
                <a:spcPct val="15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endParaRPr lang="en-US"/>
          </a:p>
        </p:txBody>
      </p:sp>
      <p:sp>
        <p:nvSpPr>
          <p:cNvPr id="652" name="CustomShape 3">
            <a:extLst>
              <a:ext uri="{FF2B5EF4-FFF2-40B4-BE49-F238E27FC236}">
                <a16:creationId xmlns:a16="http://schemas.microsoft.com/office/drawing/2014/main" id="{FE2CFD0D-6572-C840-D3FF-C3EB27B649FE}"/>
              </a:ext>
            </a:extLst>
          </p:cNvPr>
          <p:cNvSpPr/>
          <p:nvPr/>
        </p:nvSpPr>
        <p:spPr>
          <a:xfrm>
            <a:off x="1524000" y="0"/>
            <a:ext cx="9143640" cy="3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A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2FF30C4-7C3B-0688-8E25-5A2E93CB7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MLFQ Scheduler</a:t>
            </a:r>
            <a:endParaRPr lang="en-A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51736F-753E-BDED-0331-EB5EEC8DB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51</a:t>
            </a:fld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982522A-FD2B-63F2-29B4-A81E715406A6}"/>
              </a:ext>
            </a:extLst>
          </p:cNvPr>
          <p:cNvSpPr/>
          <p:nvPr/>
        </p:nvSpPr>
        <p:spPr>
          <a:xfrm>
            <a:off x="1214959" y="2417329"/>
            <a:ext cx="9761722" cy="280743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4400" b="1">
                <a:solidFill>
                  <a:srgbClr val="FF0000"/>
                </a:solidFill>
              </a:rPr>
              <a:t>REMEMBER</a:t>
            </a:r>
          </a:p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en-US" sz="3200" b="1"/>
              <a:t>During your solution, any SHARED data need to be PROTECTED by critical section via LOCKS</a:t>
            </a:r>
            <a:endParaRPr lang="en-AE" sz="3200" b="1"/>
          </a:p>
        </p:txBody>
      </p:sp>
    </p:spTree>
    <p:extLst>
      <p:ext uri="{BB962C8B-B14F-4D97-AF65-F5344CB8AC3E}">
        <p14:creationId xmlns:p14="http://schemas.microsoft.com/office/powerpoint/2010/main" val="3775072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2768F-CE77-6265-A40F-2868EE8FA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B1E2A-8847-8757-CDB8-9404F3171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MLFQ Scheduler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2F7F25-A011-0B69-0872-1721688E0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52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E84B38E-ED6B-81EA-E40B-3F8293218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/>
          <a:lstStyle/>
          <a:p>
            <a:r>
              <a:rPr lang="en-US" dirty="0"/>
              <a:t>The main functions required to handle “</a:t>
            </a:r>
            <a:r>
              <a:rPr lang="en-US" sz="2000" b="1" dirty="0"/>
              <a:t>MLFQ Scheduler</a:t>
            </a:r>
            <a:r>
              <a:rPr lang="en-US" dirty="0"/>
              <a:t>” are: 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FDA0CBF3-A667-6466-F3D9-3955F404A4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3042038"/>
              </p:ext>
            </p:extLst>
          </p:nvPr>
        </p:nvGraphicFramePr>
        <p:xfrm>
          <a:off x="813136" y="2384920"/>
          <a:ext cx="10565727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9937">
                  <a:extLst>
                    <a:ext uri="{9D8B030D-6E8A-4147-A177-3AD203B41FA5}">
                      <a16:colId xmlns:a16="http://schemas.microsoft.com/office/drawing/2014/main" val="422314023"/>
                    </a:ext>
                  </a:extLst>
                </a:gridCol>
                <a:gridCol w="4945567">
                  <a:extLst>
                    <a:ext uri="{9D8B030D-6E8A-4147-A177-3AD203B41FA5}">
                      <a16:colId xmlns:a16="http://schemas.microsoft.com/office/drawing/2014/main" val="1877600023"/>
                    </a:ext>
                  </a:extLst>
                </a:gridCol>
                <a:gridCol w="4480223">
                  <a:extLst>
                    <a:ext uri="{9D8B030D-6E8A-4147-A177-3AD203B41FA5}">
                      <a16:colId xmlns:a16="http://schemas.microsoft.com/office/drawing/2014/main" val="2719033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424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sched_set_starv_thresh</a:t>
                      </a:r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u="none" dirty="0">
                          <a:solidFill>
                            <a:srgbClr val="C00000"/>
                          </a:solidFill>
                        </a:rPr>
                        <a:t>kern/sched/</a:t>
                      </a:r>
                      <a:r>
                        <a:rPr lang="en-US" b="1" u="none" dirty="0" err="1">
                          <a:solidFill>
                            <a:srgbClr val="C00000"/>
                          </a:solidFill>
                        </a:rPr>
                        <a:t>sched_helpers.c</a:t>
                      </a:r>
                      <a:endParaRPr lang="en-US" b="1" u="none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7880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sched_init_MLFQ</a:t>
                      </a:r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u="none" dirty="0">
                          <a:solidFill>
                            <a:srgbClr val="C00000"/>
                          </a:solidFill>
                        </a:rPr>
                        <a:t>Functions definitions </a:t>
                      </a:r>
                      <a:r>
                        <a:rPr lang="en-US" b="1" u="sng" dirty="0">
                          <a:solidFill>
                            <a:srgbClr val="C00000"/>
                          </a:solidFill>
                        </a:rPr>
                        <a:t>TO DO </a:t>
                      </a:r>
                      <a:r>
                        <a:rPr lang="en-US" b="1" u="none" dirty="0">
                          <a:solidFill>
                            <a:srgbClr val="C00000"/>
                          </a:solidFill>
                        </a:rPr>
                        <a:t>in: kern/sched/</a:t>
                      </a:r>
                      <a:r>
                        <a:rPr lang="en-US" b="1" u="none" dirty="0" err="1">
                          <a:solidFill>
                            <a:srgbClr val="C00000"/>
                          </a:solidFill>
                        </a:rPr>
                        <a:t>sched.c</a:t>
                      </a:r>
                      <a:endParaRPr lang="en-US" b="1" u="none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896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fos_scheduler_MLFQ</a:t>
                      </a:r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2437644"/>
                  </a:ext>
                </a:extLst>
              </a:tr>
              <a:tr h="307480"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clock_interrupt_handler</a:t>
                      </a:r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u="none">
                        <a:solidFill>
                          <a:srgbClr val="C00000"/>
                        </a:solidFill>
                      </a:endParaRPr>
                    </a:p>
                    <a:p>
                      <a:pPr algn="ctr"/>
                      <a:endParaRPr lang="en-US" b="1" u="none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5229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612853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1AED6-76D0-C23C-173B-E0F22F58C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29DB3-2095-9312-FCF7-5C3733002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MLFQ Scheduler: Current </a:t>
            </a:r>
            <a:r>
              <a:rPr lang="en-US" b="1" dirty="0"/>
              <a:t>Scheduling</a:t>
            </a:r>
            <a:r>
              <a:rPr lang="en-US" dirty="0"/>
              <a:t> 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0768C-25A7-D60C-C734-E8B4321C7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52215"/>
            <a:ext cx="6528642" cy="3908095"/>
          </a:xfrm>
        </p:spPr>
        <p:txBody>
          <a:bodyPr>
            <a:normAutofit lnSpcReduction="10000"/>
          </a:bodyPr>
          <a:lstStyle/>
          <a:p>
            <a:pPr marL="164592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NZ" sz="2300" b="1" dirty="0"/>
              <a:t>Dynamic Peer Assignment</a:t>
            </a:r>
            <a:r>
              <a:rPr lang="en-US" sz="2300" b="1" dirty="0"/>
              <a:t> </a:t>
            </a:r>
          </a:p>
          <a:p>
            <a:pPr marL="507492" indent="-342900">
              <a:lnSpc>
                <a:spcPct val="120000"/>
              </a:lnSpc>
              <a:spcBef>
                <a:spcPts val="600"/>
              </a:spcBef>
            </a:pPr>
            <a:r>
              <a:rPr lang="en-NZ" dirty="0"/>
              <a:t>Process is </a:t>
            </a:r>
            <a:r>
              <a:rPr lang="en-NZ" b="1" dirty="0"/>
              <a:t>moved </a:t>
            </a:r>
            <a:r>
              <a:rPr lang="en-NZ" dirty="0"/>
              <a:t>from</a:t>
            </a:r>
            <a:r>
              <a:rPr lang="en-NZ" b="1" dirty="0"/>
              <a:t> </a:t>
            </a:r>
            <a:r>
              <a:rPr lang="en-NZ" dirty="0"/>
              <a:t>CPU to another</a:t>
            </a:r>
          </a:p>
          <a:p>
            <a:pPr marL="507492" indent="-342900">
              <a:lnSpc>
                <a:spcPct val="120000"/>
              </a:lnSpc>
              <a:spcBef>
                <a:spcPts val="600"/>
              </a:spcBef>
            </a:pPr>
            <a:r>
              <a:rPr lang="en-NZ" dirty="0"/>
              <a:t>Each processor does </a:t>
            </a:r>
            <a:r>
              <a:rPr lang="en-NZ" b="1" dirty="0"/>
              <a:t>self-scheduling</a:t>
            </a:r>
          </a:p>
          <a:p>
            <a:pPr marL="164592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NZ" sz="2300" b="1" dirty="0"/>
              <a:t>Round Robin Scheduling</a:t>
            </a:r>
          </a:p>
          <a:p>
            <a:pPr marL="507492" indent="-342900">
              <a:lnSpc>
                <a:spcPct val="120000"/>
              </a:lnSpc>
              <a:spcBef>
                <a:spcPts val="600"/>
              </a:spcBef>
            </a:pPr>
            <a:r>
              <a:rPr lang="en-NZ" dirty="0"/>
              <a:t>Single ready queue </a:t>
            </a:r>
          </a:p>
          <a:p>
            <a:pPr marL="507492" indent="-342900">
              <a:lnSpc>
                <a:spcPct val="120000"/>
              </a:lnSpc>
              <a:spcBef>
                <a:spcPts val="600"/>
              </a:spcBef>
            </a:pPr>
            <a:r>
              <a:rPr lang="en-US" dirty="0"/>
              <a:t>Each process is given a slice of time (</a:t>
            </a:r>
            <a:r>
              <a:rPr lang="en-US" b="1" dirty="0"/>
              <a:t>quantum</a:t>
            </a:r>
            <a:r>
              <a:rPr lang="en-US" dirty="0"/>
              <a:t>) on the specific CPU </a:t>
            </a:r>
          </a:p>
          <a:p>
            <a:pPr marL="507492" indent="-342900">
              <a:lnSpc>
                <a:spcPct val="120000"/>
              </a:lnSpc>
              <a:spcBef>
                <a:spcPts val="600"/>
              </a:spcBef>
            </a:pPr>
            <a:r>
              <a:rPr lang="en-US" dirty="0"/>
              <a:t>When timeout, it’s preempted by </a:t>
            </a:r>
            <a:r>
              <a:rPr lang="en-US" b="1" dirty="0"/>
              <a:t>clock interrupt</a:t>
            </a:r>
            <a:r>
              <a:rPr lang="en-US" dirty="0"/>
              <a:t> and returned to RQ</a:t>
            </a:r>
          </a:p>
        </p:txBody>
      </p:sp>
      <p:sp>
        <p:nvSpPr>
          <p:cNvPr id="4" name="Oval 3"/>
          <p:cNvSpPr/>
          <p:nvPr/>
        </p:nvSpPr>
        <p:spPr>
          <a:xfrm>
            <a:off x="10559938" y="2164080"/>
            <a:ext cx="1219200" cy="53340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CPU</a:t>
            </a:r>
            <a:r>
              <a:rPr lang="en-US" b="1" baseline="-25000" dirty="0"/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10559938" y="3154680"/>
            <a:ext cx="1219200" cy="53340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CPU</a:t>
            </a:r>
            <a:r>
              <a:rPr lang="en-US" b="1" baseline="-25000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10559938" y="4450080"/>
            <a:ext cx="1219200" cy="53340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CPU</a:t>
            </a:r>
            <a:r>
              <a:rPr lang="en-US" b="1" baseline="-25000" dirty="0" err="1"/>
              <a:t>n</a:t>
            </a:r>
            <a:endParaRPr lang="en-US" b="1" baseline="-25000" dirty="0"/>
          </a:p>
        </p:txBody>
      </p:sp>
      <p:sp>
        <p:nvSpPr>
          <p:cNvPr id="7" name="TextBox 6"/>
          <p:cNvSpPr txBox="1"/>
          <p:nvPr/>
        </p:nvSpPr>
        <p:spPr>
          <a:xfrm>
            <a:off x="10996952" y="3535680"/>
            <a:ext cx="2487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923418" y="3154680"/>
            <a:ext cx="2179320" cy="548640"/>
            <a:chOff x="1950720" y="5410200"/>
            <a:chExt cx="2179320" cy="548640"/>
          </a:xfrm>
        </p:grpSpPr>
        <p:sp>
          <p:nvSpPr>
            <p:cNvPr id="10" name="Rectangle 9"/>
            <p:cNvSpPr>
              <a:spLocks noChangeAspect="1"/>
            </p:cNvSpPr>
            <p:nvPr/>
          </p:nvSpPr>
          <p:spPr>
            <a:xfrm>
              <a:off x="358140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P</a:t>
              </a:r>
              <a:r>
                <a:rPr lang="en-US" b="1" baseline="-25000" dirty="0"/>
                <a:t>1</a:t>
              </a:r>
            </a:p>
          </p:txBody>
        </p:sp>
        <p:sp>
          <p:nvSpPr>
            <p:cNvPr id="11" name="Rectangle 10"/>
            <p:cNvSpPr>
              <a:spLocks noChangeAspect="1"/>
            </p:cNvSpPr>
            <p:nvPr/>
          </p:nvSpPr>
          <p:spPr>
            <a:xfrm>
              <a:off x="303276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P</a:t>
              </a:r>
              <a:r>
                <a:rPr lang="en-US" b="1" baseline="-25000" dirty="0"/>
                <a:t>2</a:t>
              </a:r>
            </a:p>
          </p:txBody>
        </p:sp>
        <p:sp>
          <p:nvSpPr>
            <p:cNvPr id="12" name="Rectangle 11"/>
            <p:cNvSpPr>
              <a:spLocks noChangeAspect="1"/>
            </p:cNvSpPr>
            <p:nvPr/>
          </p:nvSpPr>
          <p:spPr>
            <a:xfrm>
              <a:off x="249936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…</a:t>
              </a:r>
            </a:p>
          </p:txBody>
        </p:sp>
        <p:sp>
          <p:nvSpPr>
            <p:cNvPr id="13" name="Rectangle 12"/>
            <p:cNvSpPr>
              <a:spLocks noChangeAspect="1"/>
            </p:cNvSpPr>
            <p:nvPr/>
          </p:nvSpPr>
          <p:spPr>
            <a:xfrm>
              <a:off x="195072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P</a:t>
              </a:r>
              <a:r>
                <a:rPr lang="en-US" b="1" baseline="-25000" dirty="0"/>
                <a:t>m</a:t>
              </a:r>
            </a:p>
          </p:txBody>
        </p:sp>
      </p:grpSp>
      <p:cxnSp>
        <p:nvCxnSpPr>
          <p:cNvPr id="14" name="Straight Arrow Connector 13"/>
          <p:cNvCxnSpPr>
            <a:stCxn id="10" idx="3"/>
            <a:endCxn id="4" idx="2"/>
          </p:cNvCxnSpPr>
          <p:nvPr/>
        </p:nvCxnSpPr>
        <p:spPr>
          <a:xfrm flipV="1">
            <a:off x="10102738" y="2430780"/>
            <a:ext cx="457200" cy="9982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0" idx="3"/>
            <a:endCxn id="5" idx="2"/>
          </p:cNvCxnSpPr>
          <p:nvPr/>
        </p:nvCxnSpPr>
        <p:spPr>
          <a:xfrm flipV="1">
            <a:off x="10102738" y="3421380"/>
            <a:ext cx="457200" cy="76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0" idx="3"/>
            <a:endCxn id="6" idx="2"/>
          </p:cNvCxnSpPr>
          <p:nvPr/>
        </p:nvCxnSpPr>
        <p:spPr>
          <a:xfrm>
            <a:off x="10102738" y="3429000"/>
            <a:ext cx="457200" cy="1287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0" name="Shape 29"/>
          <p:cNvCxnSpPr>
            <a:stCxn id="4" idx="6"/>
            <a:endCxn id="13" idx="1"/>
          </p:cNvCxnSpPr>
          <p:nvPr/>
        </p:nvCxnSpPr>
        <p:spPr>
          <a:xfrm flipH="1">
            <a:off x="7923418" y="2430780"/>
            <a:ext cx="3855720" cy="998220"/>
          </a:xfrm>
          <a:prstGeom prst="bentConnector5">
            <a:avLst>
              <a:gd name="adj1" fmla="val -5929"/>
              <a:gd name="adj2" fmla="val -44021"/>
              <a:gd name="adj3" fmla="val 105929"/>
            </a:avLst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1" name="Shape 30"/>
          <p:cNvCxnSpPr>
            <a:stCxn id="5" idx="6"/>
            <a:endCxn id="13" idx="1"/>
          </p:cNvCxnSpPr>
          <p:nvPr/>
        </p:nvCxnSpPr>
        <p:spPr>
          <a:xfrm flipH="1">
            <a:off x="7923418" y="3421380"/>
            <a:ext cx="3855720" cy="7620"/>
          </a:xfrm>
          <a:prstGeom prst="bentConnector5">
            <a:avLst>
              <a:gd name="adj1" fmla="val -5929"/>
              <a:gd name="adj2" fmla="val -5833335"/>
              <a:gd name="adj3" fmla="val 105929"/>
            </a:avLst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4" name="Shape 33"/>
          <p:cNvCxnSpPr>
            <a:stCxn id="6" idx="6"/>
            <a:endCxn id="13" idx="1"/>
          </p:cNvCxnSpPr>
          <p:nvPr/>
        </p:nvCxnSpPr>
        <p:spPr>
          <a:xfrm flipH="1" flipV="1">
            <a:off x="7923418" y="3429000"/>
            <a:ext cx="3855720" cy="1287780"/>
          </a:xfrm>
          <a:prstGeom prst="bentConnector5">
            <a:avLst>
              <a:gd name="adj1" fmla="val -5929"/>
              <a:gd name="adj2" fmla="val -28403"/>
              <a:gd name="adj3" fmla="val 105929"/>
            </a:avLst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9" name="Picture 8" descr="Timer time stock illustration. Illustration of isolated - 7534112">
            <a:extLst>
              <a:ext uri="{FF2B5EF4-FFF2-40B4-BE49-F238E27FC236}">
                <a16:creationId xmlns:a16="http://schemas.microsoft.com/office/drawing/2014/main" id="{03D61EA4-7B3F-171A-9E82-F04781F4AA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555"/>
          <a:stretch>
            <a:fillRect/>
          </a:stretch>
        </p:blipFill>
        <p:spPr>
          <a:xfrm>
            <a:off x="11520744" y="2052591"/>
            <a:ext cx="671256" cy="680178"/>
          </a:xfrm>
          <a:prstGeom prst="rect">
            <a:avLst/>
          </a:prstGeom>
        </p:spPr>
      </p:pic>
      <p:pic>
        <p:nvPicPr>
          <p:cNvPr id="18" name="Picture 17" descr="Timer time stock illustration. Illustration of isolated - 7534112">
            <a:extLst>
              <a:ext uri="{FF2B5EF4-FFF2-40B4-BE49-F238E27FC236}">
                <a16:creationId xmlns:a16="http://schemas.microsoft.com/office/drawing/2014/main" id="{1C53A649-0733-9925-5C13-5B5E62B81A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555"/>
          <a:stretch>
            <a:fillRect/>
          </a:stretch>
        </p:blipFill>
        <p:spPr>
          <a:xfrm>
            <a:off x="11519362" y="3154680"/>
            <a:ext cx="671256" cy="680178"/>
          </a:xfrm>
          <a:prstGeom prst="rect">
            <a:avLst/>
          </a:prstGeom>
        </p:spPr>
      </p:pic>
      <p:pic>
        <p:nvPicPr>
          <p:cNvPr id="20" name="Picture 19" descr="Timer time stock illustration. Illustration of isolated - 7534112">
            <a:extLst>
              <a:ext uri="{FF2B5EF4-FFF2-40B4-BE49-F238E27FC236}">
                <a16:creationId xmlns:a16="http://schemas.microsoft.com/office/drawing/2014/main" id="{B4B6BDA3-7159-A185-2361-92EBBEA36B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555"/>
          <a:stretch>
            <a:fillRect/>
          </a:stretch>
        </p:blipFill>
        <p:spPr>
          <a:xfrm>
            <a:off x="11519362" y="4332969"/>
            <a:ext cx="671256" cy="680178"/>
          </a:xfrm>
          <a:prstGeom prst="rect">
            <a:avLst/>
          </a:prstGeom>
        </p:spPr>
      </p:pic>
      <p:pic>
        <p:nvPicPr>
          <p:cNvPr id="21" name="Picture 20" descr="Time Out Vector Icon 31458261 Vector Art at Vecteezy">
            <a:extLst>
              <a:ext uri="{FF2B5EF4-FFF2-40B4-BE49-F238E27FC236}">
                <a16:creationId xmlns:a16="http://schemas.microsoft.com/office/drawing/2014/main" id="{D32B2CB2-2EFB-E580-C81A-98CFE9D4A7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4616" y="2089785"/>
            <a:ext cx="647384" cy="621030"/>
          </a:xfrm>
          <a:prstGeom prst="rect">
            <a:avLst/>
          </a:prstGeom>
        </p:spPr>
      </p:pic>
      <p:pic>
        <p:nvPicPr>
          <p:cNvPr id="23" name="Picture 22" descr="Time Out Vector Icon 31458261 Vector Art at Vecteezy">
            <a:extLst>
              <a:ext uri="{FF2B5EF4-FFF2-40B4-BE49-F238E27FC236}">
                <a16:creationId xmlns:a16="http://schemas.microsoft.com/office/drawing/2014/main" id="{4796D15B-A50E-A128-DEDC-6E514CAF5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3234" y="3208926"/>
            <a:ext cx="647384" cy="621030"/>
          </a:xfrm>
          <a:prstGeom prst="rect">
            <a:avLst/>
          </a:prstGeom>
        </p:spPr>
      </p:pic>
      <p:pic>
        <p:nvPicPr>
          <p:cNvPr id="25" name="Picture 24" descr="Time Out Vector Icon 31458261 Vector Art at Vecteezy">
            <a:extLst>
              <a:ext uri="{FF2B5EF4-FFF2-40B4-BE49-F238E27FC236}">
                <a16:creationId xmlns:a16="http://schemas.microsoft.com/office/drawing/2014/main" id="{41357690-68D8-F012-F61B-44B3E4C72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9362" y="4362543"/>
            <a:ext cx="647384" cy="62103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361BD1F-78F9-8DAC-54D6-CA68DC55C940}"/>
              </a:ext>
            </a:extLst>
          </p:cNvPr>
          <p:cNvSpPr txBox="1"/>
          <p:nvPr/>
        </p:nvSpPr>
        <p:spPr>
          <a:xfrm>
            <a:off x="1097280" y="5542868"/>
            <a:ext cx="11069466" cy="133882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164592" indent="0">
              <a:buNone/>
            </a:pPr>
            <a:r>
              <a:rPr lang="en-US" sz="2300" b="1" dirty="0"/>
              <a:t>Drawback</a:t>
            </a:r>
            <a:r>
              <a:rPr lang="en-US" sz="2300" dirty="0"/>
              <a:t>:</a:t>
            </a:r>
            <a:r>
              <a:rPr lang="en-US" sz="2400" dirty="0"/>
              <a:t> </a:t>
            </a:r>
            <a:r>
              <a:rPr lang="en-US" sz="2000" dirty="0"/>
              <a:t>favor </a:t>
            </a:r>
            <a:r>
              <a:rPr lang="en-NZ" sz="2000" dirty="0"/>
              <a:t>processor-bound processes over I/O-bound processes, which results: </a:t>
            </a:r>
            <a:endParaRPr lang="en-US" sz="2000" dirty="0"/>
          </a:p>
          <a:p>
            <a:pPr marL="971550" lvl="1" indent="-514350">
              <a:buFont typeface="+mj-lt"/>
              <a:buAutoNum type="arabicPeriod"/>
            </a:pPr>
            <a:r>
              <a:rPr lang="en-NZ" sz="1900" dirty="0"/>
              <a:t>in poor performance for I/O-bound processes, </a:t>
            </a:r>
            <a:endParaRPr lang="en-US" sz="1900" dirty="0"/>
          </a:p>
          <a:p>
            <a:pPr marL="971550" lvl="1" indent="-514350">
              <a:buFont typeface="+mj-lt"/>
              <a:buAutoNum type="arabicPeriod"/>
            </a:pPr>
            <a:r>
              <a:rPr lang="en-NZ" sz="1900" dirty="0"/>
              <a:t>inefficient use of I/O devices, </a:t>
            </a:r>
            <a:endParaRPr lang="en-US" sz="1900" dirty="0"/>
          </a:p>
          <a:p>
            <a:pPr marL="971550" lvl="1" indent="-514350">
              <a:buFont typeface="+mj-lt"/>
              <a:buAutoNum type="arabicPeriod"/>
            </a:pPr>
            <a:r>
              <a:rPr lang="en-NZ" sz="1900" dirty="0"/>
              <a:t>an increase in the variance of response time. </a:t>
            </a:r>
            <a:endParaRPr lang="en-US" sz="19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64928CD-656F-8F75-698E-01A7C262679B}"/>
              </a:ext>
            </a:extLst>
          </p:cNvPr>
          <p:cNvGrpSpPr/>
          <p:nvPr/>
        </p:nvGrpSpPr>
        <p:grpSpPr>
          <a:xfrm>
            <a:off x="6704217" y="3080463"/>
            <a:ext cx="1053199" cy="455216"/>
            <a:chOff x="6597571" y="3080463"/>
            <a:chExt cx="1333468" cy="455216"/>
          </a:xfrm>
        </p:grpSpPr>
        <p:sp>
          <p:nvSpPr>
            <p:cNvPr id="22" name="Arrow: Right 21">
              <a:extLst>
                <a:ext uri="{FF2B5EF4-FFF2-40B4-BE49-F238E27FC236}">
                  <a16:creationId xmlns:a16="http://schemas.microsoft.com/office/drawing/2014/main" id="{A0F8D620-F9CE-5CB5-9AD1-75F3D6EEDF6A}"/>
                </a:ext>
              </a:extLst>
            </p:cNvPr>
            <p:cNvSpPr/>
            <p:nvPr/>
          </p:nvSpPr>
          <p:spPr>
            <a:xfrm>
              <a:off x="6597571" y="3363912"/>
              <a:ext cx="1333468" cy="171767"/>
            </a:xfrm>
            <a:prstGeom prst="rightArrow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9E00CAC-9ADB-F9B2-A303-9C087D2889AF}"/>
                </a:ext>
              </a:extLst>
            </p:cNvPr>
            <p:cNvSpPr txBox="1"/>
            <p:nvPr/>
          </p:nvSpPr>
          <p:spPr>
            <a:xfrm>
              <a:off x="6793386" y="3080463"/>
              <a:ext cx="8325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Admit</a:t>
              </a:r>
              <a:endParaRPr lang="en-AE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538871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hape 33">
            <a:extLst>
              <a:ext uri="{FF2B5EF4-FFF2-40B4-BE49-F238E27FC236}">
                <a16:creationId xmlns:a16="http://schemas.microsoft.com/office/drawing/2014/main" id="{A40DD2A2-BD5C-2ADC-349A-6A1F7C92AA4C}"/>
              </a:ext>
            </a:extLst>
          </p:cNvPr>
          <p:cNvCxnSpPr>
            <a:cxnSpLocks/>
            <a:stCxn id="22" idx="3"/>
            <a:endCxn id="25" idx="1"/>
          </p:cNvCxnSpPr>
          <p:nvPr/>
        </p:nvCxnSpPr>
        <p:spPr>
          <a:xfrm flipH="1">
            <a:off x="7865185" y="5709921"/>
            <a:ext cx="2179320" cy="12700"/>
          </a:xfrm>
          <a:prstGeom prst="bentConnector5">
            <a:avLst>
              <a:gd name="adj1" fmla="val -88345"/>
              <a:gd name="adj2" fmla="val 3960000"/>
              <a:gd name="adj3" fmla="val 110490"/>
            </a:avLst>
          </a:prstGeom>
          <a:ln w="38100">
            <a:prstDash val="dash"/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669" name="Group 668">
            <a:extLst>
              <a:ext uri="{FF2B5EF4-FFF2-40B4-BE49-F238E27FC236}">
                <a16:creationId xmlns:a16="http://schemas.microsoft.com/office/drawing/2014/main" id="{41A94E64-E368-C25B-7FC0-F5432AC275C8}"/>
              </a:ext>
            </a:extLst>
          </p:cNvPr>
          <p:cNvGrpSpPr/>
          <p:nvPr/>
        </p:nvGrpSpPr>
        <p:grpSpPr>
          <a:xfrm>
            <a:off x="11446595" y="5562927"/>
            <a:ext cx="785833" cy="839115"/>
            <a:chOff x="4161689" y="3230618"/>
            <a:chExt cx="3973785" cy="839115"/>
          </a:xfrm>
        </p:grpSpPr>
        <p:sp>
          <p:nvSpPr>
            <p:cNvPr id="670" name="Arrow: Right 669">
              <a:extLst>
                <a:ext uri="{FF2B5EF4-FFF2-40B4-BE49-F238E27FC236}">
                  <a16:creationId xmlns:a16="http://schemas.microsoft.com/office/drawing/2014/main" id="{9F0061A1-F572-4A82-7574-994B4C653203}"/>
                </a:ext>
              </a:extLst>
            </p:cNvPr>
            <p:cNvSpPr/>
            <p:nvPr/>
          </p:nvSpPr>
          <p:spPr>
            <a:xfrm>
              <a:off x="5376252" y="3230618"/>
              <a:ext cx="2554787" cy="243328"/>
            </a:xfrm>
            <a:prstGeom prst="rightArrow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  <p:sp>
          <p:nvSpPr>
            <p:cNvPr id="671" name="TextBox 670">
              <a:extLst>
                <a:ext uri="{FF2B5EF4-FFF2-40B4-BE49-F238E27FC236}">
                  <a16:creationId xmlns:a16="http://schemas.microsoft.com/office/drawing/2014/main" id="{4539D36C-EE7D-C5B1-4F19-C5A8464133D6}"/>
                </a:ext>
              </a:extLst>
            </p:cNvPr>
            <p:cNvSpPr txBox="1"/>
            <p:nvPr/>
          </p:nvSpPr>
          <p:spPr>
            <a:xfrm>
              <a:off x="4161689" y="3423402"/>
              <a:ext cx="397378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Exit/ Block</a:t>
              </a:r>
              <a:endParaRPr lang="en-AE" b="1" dirty="0"/>
            </a:p>
          </p:txBody>
        </p:sp>
      </p:grpSp>
      <p:sp>
        <p:nvSpPr>
          <p:cNvPr id="651" name="TextShape 2"/>
          <p:cNvSpPr txBox="1"/>
          <p:nvPr/>
        </p:nvSpPr>
        <p:spPr>
          <a:xfrm>
            <a:off x="1" y="1779102"/>
            <a:ext cx="7528558" cy="50788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noAutofit/>
          </a:bodyPr>
          <a:lstStyle/>
          <a:p>
            <a:pPr marL="343080" indent="-342720">
              <a:lnSpc>
                <a:spcPct val="15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spc="-1" dirty="0">
                <a:solidFill>
                  <a:srgbClr val="000000"/>
                </a:solidFill>
                <a:latin typeface="+mj-lt"/>
              </a:rPr>
              <a:t>WHAT?</a:t>
            </a:r>
            <a:endParaRPr lang="en-US" sz="2400" spc="-1" dirty="0">
              <a:solidFill>
                <a:srgbClr val="000000"/>
              </a:solidFill>
              <a:latin typeface="+mj-lt"/>
            </a:endParaRPr>
          </a:p>
          <a:p>
            <a:pPr marL="743040" lvl="1" indent="-285480">
              <a:lnSpc>
                <a:spcPct val="15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spc="-1" dirty="0">
                <a:solidFill>
                  <a:srgbClr val="000000"/>
                </a:solidFill>
                <a:latin typeface="+mj-lt"/>
              </a:rPr>
              <a:t>multiple </a:t>
            </a:r>
            <a:r>
              <a:rPr lang="en-US" sz="2000" b="1" spc="-1" dirty="0">
                <a:solidFill>
                  <a:srgbClr val="000000"/>
                </a:solidFill>
                <a:latin typeface="+mj-lt"/>
              </a:rPr>
              <a:t>ready queues </a:t>
            </a:r>
            <a:r>
              <a:rPr lang="en-US" sz="2000" spc="-1" dirty="0">
                <a:solidFill>
                  <a:srgbClr val="000000"/>
                </a:solidFill>
                <a:latin typeface="+mj-lt"/>
              </a:rPr>
              <a:t>to represent each </a:t>
            </a:r>
            <a:r>
              <a:rPr lang="en-US" sz="2000" b="1" spc="-1" dirty="0">
                <a:solidFill>
                  <a:srgbClr val="000000"/>
                </a:solidFill>
                <a:latin typeface="+mj-lt"/>
              </a:rPr>
              <a:t>level </a:t>
            </a:r>
            <a:r>
              <a:rPr lang="en-US" sz="2000" spc="-1" dirty="0">
                <a:solidFill>
                  <a:srgbClr val="000000"/>
                </a:solidFill>
                <a:latin typeface="+mj-lt"/>
              </a:rPr>
              <a:t>of </a:t>
            </a:r>
            <a:r>
              <a:rPr lang="en-US" sz="2000" b="1" spc="-1" dirty="0">
                <a:solidFill>
                  <a:srgbClr val="000000"/>
                </a:solidFill>
                <a:latin typeface="+mj-lt"/>
              </a:rPr>
              <a:t>priority</a:t>
            </a:r>
          </a:p>
          <a:p>
            <a:pPr marL="743040" lvl="1" indent="-285480">
              <a:lnSpc>
                <a:spcPct val="15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spc="-1" dirty="0">
                <a:solidFill>
                  <a:srgbClr val="000000"/>
                </a:solidFill>
              </a:rPr>
              <a:t>At any given time: the scheduler of any CPU chooses a process from the </a:t>
            </a:r>
            <a:r>
              <a:rPr lang="en-US" sz="2000" b="1" spc="-1" dirty="0">
                <a:solidFill>
                  <a:srgbClr val="000000"/>
                </a:solidFill>
              </a:rPr>
              <a:t>highest-priority</a:t>
            </a:r>
            <a:r>
              <a:rPr lang="en-US" sz="2000" spc="-1" dirty="0">
                <a:solidFill>
                  <a:srgbClr val="000000"/>
                </a:solidFill>
              </a:rPr>
              <a:t> </a:t>
            </a:r>
            <a:r>
              <a:rPr lang="en-US" sz="2000" b="1" spc="-1" dirty="0">
                <a:solidFill>
                  <a:srgbClr val="000000"/>
                </a:solidFill>
              </a:rPr>
              <a:t>non-empty</a:t>
            </a:r>
            <a:r>
              <a:rPr lang="en-US" sz="2000" spc="-1" dirty="0">
                <a:solidFill>
                  <a:srgbClr val="000000"/>
                </a:solidFill>
              </a:rPr>
              <a:t> queue. </a:t>
            </a:r>
          </a:p>
          <a:p>
            <a:pPr marL="743040" lvl="1" indent="-285480">
              <a:lnSpc>
                <a:spcPct val="15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spc="-1" dirty="0">
                <a:solidFill>
                  <a:srgbClr val="000000"/>
                </a:solidFill>
                <a:latin typeface="+mj-lt"/>
              </a:rPr>
              <a:t>Preemptive on clock (different </a:t>
            </a:r>
            <a:r>
              <a:rPr lang="en-US" sz="2000" b="1" spc="-1" dirty="0">
                <a:solidFill>
                  <a:srgbClr val="000000"/>
                </a:solidFill>
                <a:latin typeface="+mj-lt"/>
              </a:rPr>
              <a:t>quantum per queue</a:t>
            </a:r>
            <a:r>
              <a:rPr lang="en-US" sz="2000" spc="-1" dirty="0">
                <a:solidFill>
                  <a:srgbClr val="000000"/>
                </a:solidFill>
                <a:latin typeface="+mj-lt"/>
              </a:rPr>
              <a:t>)</a:t>
            </a:r>
          </a:p>
          <a:p>
            <a:pPr marL="743040" lvl="1" indent="-285480">
              <a:lnSpc>
                <a:spcPct val="15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NZ" sz="2000" dirty="0"/>
              <a:t>Each subsequent time the process is </a:t>
            </a:r>
            <a:r>
              <a:rPr lang="en-NZ" sz="2000" dirty="0" err="1"/>
              <a:t>preempted</a:t>
            </a:r>
            <a:r>
              <a:rPr lang="en-NZ" sz="2000" dirty="0"/>
              <a:t>, it is </a:t>
            </a:r>
            <a:r>
              <a:rPr lang="en-NZ" sz="2000" b="1" dirty="0"/>
              <a:t>demoted</a:t>
            </a:r>
            <a:r>
              <a:rPr lang="en-NZ" sz="2000" dirty="0"/>
              <a:t> to the </a:t>
            </a:r>
            <a:r>
              <a:rPr lang="en-NZ" sz="2000" b="1" dirty="0"/>
              <a:t>next lower-priority </a:t>
            </a:r>
            <a:r>
              <a:rPr lang="en-NZ" sz="2000" dirty="0"/>
              <a:t>queue.</a:t>
            </a:r>
          </a:p>
          <a:p>
            <a:pPr marL="743040" lvl="1" indent="-285480">
              <a:lnSpc>
                <a:spcPct val="15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NZ" sz="2000" spc="-1" dirty="0">
                <a:solidFill>
                  <a:srgbClr val="000000"/>
                </a:solidFill>
                <a:latin typeface="+mj-lt"/>
              </a:rPr>
              <a:t>Last level can run in 1-of-2 modes, based on the quantum</a:t>
            </a:r>
          </a:p>
          <a:p>
            <a:pPr marL="1371960" lvl="2" indent="-457200">
              <a:lnSpc>
                <a:spcPct val="150000"/>
              </a:lnSpc>
              <a:spcBef>
                <a:spcPts val="47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sz="2000" b="1" spc="-1" dirty="0">
                <a:solidFill>
                  <a:srgbClr val="000000"/>
                </a:solidFill>
              </a:rPr>
              <a:t>preemptive</a:t>
            </a:r>
            <a:r>
              <a:rPr lang="en-NZ" sz="2000" b="1" spc="-1" dirty="0">
                <a:solidFill>
                  <a:srgbClr val="000000"/>
                </a:solidFill>
              </a:rPr>
              <a:t> </a:t>
            </a:r>
            <a:r>
              <a:rPr lang="en-NZ" sz="2000" spc="-1" dirty="0">
                <a:solidFill>
                  <a:srgbClr val="000000"/>
                </a:solidFill>
              </a:rPr>
              <a:t>manner (i.e. RR) (quantum &gt; 0)</a:t>
            </a:r>
            <a:r>
              <a:rPr lang="en-NZ" sz="2000" b="1" spc="-1" dirty="0">
                <a:solidFill>
                  <a:srgbClr val="000000"/>
                </a:solidFill>
              </a:rPr>
              <a:t> </a:t>
            </a:r>
          </a:p>
          <a:p>
            <a:pPr marL="1371960" lvl="2" indent="-457200">
              <a:lnSpc>
                <a:spcPct val="150000"/>
              </a:lnSpc>
              <a:spcBef>
                <a:spcPts val="47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NZ" sz="2000" b="1" spc="-1" dirty="0">
                <a:solidFill>
                  <a:srgbClr val="000000"/>
                </a:solidFill>
              </a:rPr>
              <a:t>non-</a:t>
            </a:r>
            <a:r>
              <a:rPr lang="en-US" sz="2000" b="1" spc="-1" dirty="0">
                <a:solidFill>
                  <a:srgbClr val="000000"/>
                </a:solidFill>
              </a:rPr>
              <a:t>preemptive</a:t>
            </a:r>
            <a:r>
              <a:rPr lang="en-NZ" sz="2000" b="1" spc="-1" dirty="0">
                <a:solidFill>
                  <a:srgbClr val="000000"/>
                </a:solidFill>
              </a:rPr>
              <a:t> </a:t>
            </a:r>
            <a:r>
              <a:rPr lang="en-NZ" sz="2000" spc="-1" dirty="0">
                <a:solidFill>
                  <a:srgbClr val="000000"/>
                </a:solidFill>
              </a:rPr>
              <a:t>manner (i.e. FCFS) (quantum = 0)</a:t>
            </a:r>
            <a:endParaRPr lang="en-US" sz="2000" spc="-1" dirty="0">
              <a:solidFill>
                <a:srgbClr val="000000"/>
              </a:solidFill>
            </a:endParaRPr>
          </a:p>
          <a:p>
            <a:pPr marL="1371960" lvl="2" indent="-457200">
              <a:lnSpc>
                <a:spcPct val="150000"/>
              </a:lnSpc>
              <a:spcBef>
                <a:spcPts val="479"/>
              </a:spcBef>
              <a:buClr>
                <a:srgbClr val="000000"/>
              </a:buClr>
              <a:buFont typeface="+mj-lt"/>
              <a:buAutoNum type="arabicPeriod"/>
            </a:pPr>
            <a:endParaRPr lang="en-US" sz="2000" spc="-1" dirty="0">
              <a:solidFill>
                <a:srgbClr val="000000"/>
              </a:solidFill>
            </a:endParaRPr>
          </a:p>
        </p:txBody>
      </p:sp>
      <p:sp>
        <p:nvSpPr>
          <p:cNvPr id="652" name="CustomShape 3"/>
          <p:cNvSpPr/>
          <p:nvPr/>
        </p:nvSpPr>
        <p:spPr>
          <a:xfrm>
            <a:off x="1524000" y="0"/>
            <a:ext cx="9143640" cy="3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A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0B922B-6143-F968-9DB1-B6862519F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MLFQ </a:t>
            </a:r>
            <a:r>
              <a:rPr lang="en-US" sz="4800" dirty="0"/>
              <a:t>Scheduler</a:t>
            </a:r>
            <a:r>
              <a:rPr lang="en-US" sz="4800" dirty="0">
                <a:latin typeface="+mj-lt"/>
              </a:rPr>
              <a:t>: </a:t>
            </a:r>
            <a:r>
              <a:rPr lang="en-US" sz="4800" b="1" dirty="0">
                <a:latin typeface="+mj-lt"/>
              </a:rPr>
              <a:t>Overview</a:t>
            </a:r>
            <a:endParaRPr lang="en-A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3FA6F5-E207-D2BC-F3E8-E6F36762D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54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46A45E-4AEF-ACC6-992D-5751337FB336}"/>
              </a:ext>
            </a:extLst>
          </p:cNvPr>
          <p:cNvSpPr txBox="1"/>
          <p:nvPr/>
        </p:nvSpPr>
        <p:spPr>
          <a:xfrm>
            <a:off x="8316403" y="4114801"/>
            <a:ext cx="1283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…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2E76E75-E547-46E5-0651-E797D1580CC6}"/>
              </a:ext>
            </a:extLst>
          </p:cNvPr>
          <p:cNvGrpSpPr/>
          <p:nvPr/>
        </p:nvGrpSpPr>
        <p:grpSpPr>
          <a:xfrm>
            <a:off x="7865185" y="3291841"/>
            <a:ext cx="2179320" cy="548640"/>
            <a:chOff x="1950720" y="5410200"/>
            <a:chExt cx="2179320" cy="54864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2A3995E-22DC-44CB-4797-E2D3E809F7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8140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P</a:t>
              </a:r>
              <a:r>
                <a:rPr lang="en-US" b="1" baseline="-25000"/>
                <a:t>2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494096A-F710-A803-1790-C35041C07F3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3276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P</a:t>
              </a:r>
              <a:r>
                <a:rPr lang="en-US" b="1" baseline="-25000"/>
                <a:t>6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9CDC4-3155-3834-A64E-42302ED6FF3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9936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…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29A6ACE-1D2C-B808-D3F6-CD0EA0212E4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5072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baseline="-25000"/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FE6C66E-3F35-52F8-95CC-5EA7A693134F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10044505" y="2575561"/>
            <a:ext cx="62313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E4B51C9-6412-0244-7837-7BAB094DB2B5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10044505" y="3566161"/>
            <a:ext cx="63319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8EB59E8-5CB7-5411-63AA-2880B9AF7D0C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10044505" y="5709921"/>
            <a:ext cx="62313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8D8767D-6136-258F-19BE-A2BC32EC3308}"/>
              </a:ext>
            </a:extLst>
          </p:cNvPr>
          <p:cNvGrpSpPr/>
          <p:nvPr/>
        </p:nvGrpSpPr>
        <p:grpSpPr>
          <a:xfrm>
            <a:off x="7865185" y="2301241"/>
            <a:ext cx="2179320" cy="548640"/>
            <a:chOff x="1950720" y="5410200"/>
            <a:chExt cx="2179320" cy="54864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02FA0D8-E217-C4DF-8122-F052758BCD7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8140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P</a:t>
              </a:r>
              <a:r>
                <a:rPr lang="en-US" b="1" baseline="-25000"/>
                <a:t>1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3BB99E-0E46-974D-099D-96458A7CD90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3276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P</a:t>
              </a:r>
              <a:r>
                <a:rPr lang="en-US" b="1" baseline="-25000"/>
                <a:t>4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3FA56D8-749B-DDDD-F5DF-4F4B2D0876B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9936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…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5032D83-5F6A-DC46-9A45-92B81644C2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5072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baseline="-2500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179BEAA-6DF7-BC2E-E758-F8DF887B1BD6}"/>
              </a:ext>
            </a:extLst>
          </p:cNvPr>
          <p:cNvGrpSpPr/>
          <p:nvPr/>
        </p:nvGrpSpPr>
        <p:grpSpPr>
          <a:xfrm>
            <a:off x="7865185" y="5435601"/>
            <a:ext cx="2179320" cy="548640"/>
            <a:chOff x="1950720" y="5410200"/>
            <a:chExt cx="2179320" cy="54864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0596F02-6037-0520-D7A7-5F83CE05EC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8140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P</a:t>
              </a:r>
              <a:r>
                <a:rPr lang="en-US" b="1" baseline="-25000"/>
                <a:t>3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4BD9D3E-127E-5008-8C39-9FFEA9CBCA7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3276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P</a:t>
              </a:r>
              <a:r>
                <a:rPr lang="en-US" b="1" baseline="-25000"/>
                <a:t>5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776E37-9D8D-0887-CFFA-B1078CCFC8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9936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…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2949081-C316-6815-115B-83D871BFD8E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5072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P</a:t>
              </a:r>
              <a:r>
                <a:rPr lang="en-US" b="1" baseline="-25000"/>
                <a:t>12</a:t>
              </a:r>
            </a:p>
          </p:txBody>
        </p:sp>
      </p:grpSp>
      <p:cxnSp>
        <p:nvCxnSpPr>
          <p:cNvPr id="26" name="Shape 29">
            <a:extLst>
              <a:ext uri="{FF2B5EF4-FFF2-40B4-BE49-F238E27FC236}">
                <a16:creationId xmlns:a16="http://schemas.microsoft.com/office/drawing/2014/main" id="{2B4AD4D5-3D29-3EF3-3DF0-0826BBCC02E6}"/>
              </a:ext>
            </a:extLst>
          </p:cNvPr>
          <p:cNvCxnSpPr>
            <a:cxnSpLocks/>
            <a:stCxn id="648" idx="3"/>
            <a:endCxn id="12" idx="1"/>
          </p:cNvCxnSpPr>
          <p:nvPr/>
        </p:nvCxnSpPr>
        <p:spPr>
          <a:xfrm flipH="1">
            <a:off x="7865185" y="2576590"/>
            <a:ext cx="2193326" cy="989571"/>
          </a:xfrm>
          <a:prstGeom prst="bentConnector5">
            <a:avLst>
              <a:gd name="adj1" fmla="val -93276"/>
              <a:gd name="adj2" fmla="val 50000"/>
              <a:gd name="adj3" fmla="val 110423"/>
            </a:avLst>
          </a:prstGeom>
          <a:ln>
            <a:prstDash val="dash"/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" name="Shape 30">
            <a:extLst>
              <a:ext uri="{FF2B5EF4-FFF2-40B4-BE49-F238E27FC236}">
                <a16:creationId xmlns:a16="http://schemas.microsoft.com/office/drawing/2014/main" id="{92F2C1A1-C621-7E89-6C46-B9BB4E70FF01}"/>
              </a:ext>
            </a:extLst>
          </p:cNvPr>
          <p:cNvCxnSpPr>
            <a:cxnSpLocks/>
            <a:stCxn id="9" idx="3"/>
            <a:endCxn id="36" idx="1"/>
          </p:cNvCxnSpPr>
          <p:nvPr/>
        </p:nvCxnSpPr>
        <p:spPr>
          <a:xfrm flipH="1">
            <a:off x="7865185" y="3566161"/>
            <a:ext cx="2179320" cy="1249680"/>
          </a:xfrm>
          <a:prstGeom prst="bentConnector5">
            <a:avLst>
              <a:gd name="adj1" fmla="val -93875"/>
              <a:gd name="adj2" fmla="val 50000"/>
              <a:gd name="adj3" fmla="val 110490"/>
            </a:avLst>
          </a:prstGeom>
          <a:ln>
            <a:prstDash val="dash"/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5EC1504-F59A-246B-9D5A-73CA0987A8BB}"/>
              </a:ext>
            </a:extLst>
          </p:cNvPr>
          <p:cNvGrpSpPr/>
          <p:nvPr/>
        </p:nvGrpSpPr>
        <p:grpSpPr>
          <a:xfrm>
            <a:off x="6929047" y="2514600"/>
            <a:ext cx="446292" cy="3469641"/>
            <a:chOff x="4078005" y="2286000"/>
            <a:chExt cx="369332" cy="3667100"/>
          </a:xfrm>
        </p:grpSpPr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394C2D0D-E9C3-0352-DB63-F8F867F9CD6A}"/>
                </a:ext>
              </a:extLst>
            </p:cNvPr>
            <p:cNvCxnSpPr>
              <a:cxnSpLocks/>
            </p:cNvCxnSpPr>
            <p:nvPr/>
          </p:nvCxnSpPr>
          <p:spPr>
            <a:xfrm>
              <a:off x="4419600" y="2286000"/>
              <a:ext cx="0" cy="366710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1D69C77-B547-57D9-39EB-C4229D2B8468}"/>
                </a:ext>
              </a:extLst>
            </p:cNvPr>
            <p:cNvSpPr txBox="1"/>
            <p:nvPr/>
          </p:nvSpPr>
          <p:spPr>
            <a:xfrm rot="16200000">
              <a:off x="3195712" y="4061124"/>
              <a:ext cx="21339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Decreasing Priority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3433907-2790-26C6-8991-757303ED6459}"/>
              </a:ext>
            </a:extLst>
          </p:cNvPr>
          <p:cNvSpPr txBox="1"/>
          <p:nvPr/>
        </p:nvSpPr>
        <p:spPr>
          <a:xfrm>
            <a:off x="0" y="0"/>
            <a:ext cx="31484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/>
              <a:t>Refer to </a:t>
            </a:r>
            <a:r>
              <a:rPr lang="en-US" sz="2000" b="1">
                <a:hlinkClick r:id="rId2" action="ppaction://hlinkfile"/>
              </a:rPr>
              <a:t>APPENDICES</a:t>
            </a:r>
            <a:r>
              <a:rPr lang="en-US" sz="2000" b="1"/>
              <a:t> for:</a:t>
            </a:r>
            <a:endParaRPr lang="en-AE" sz="2000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77CB20-1391-4022-4EE9-A54FE3966EBC}"/>
              </a:ext>
            </a:extLst>
          </p:cNvPr>
          <p:cNvSpPr txBox="1"/>
          <p:nvPr/>
        </p:nvSpPr>
        <p:spPr>
          <a:xfrm>
            <a:off x="739434" y="512973"/>
            <a:ext cx="31544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CPU &amp; Scheduler Functions</a:t>
            </a:r>
            <a:endParaRPr lang="en-AE" sz="2000" dirty="0"/>
          </a:p>
        </p:txBody>
      </p:sp>
      <p:pic>
        <p:nvPicPr>
          <p:cNvPr id="29" name="Picture 2" descr="CPU Icon. Central Processor Unit Vector Sign. Micro Chip Electronics  Illustration. Semiconductor Logo. Microchip and Circuits Board Industry  Symbol. Stock Vector | Adobe Stock">
            <a:extLst>
              <a:ext uri="{FF2B5EF4-FFF2-40B4-BE49-F238E27FC236}">
                <a16:creationId xmlns:a16="http://schemas.microsoft.com/office/drawing/2014/main" id="{5A3F04E4-7BDD-6622-DCAB-84BE772080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51" t="6240" r="12648" b="19574"/>
          <a:stretch/>
        </p:blipFill>
        <p:spPr bwMode="auto">
          <a:xfrm>
            <a:off x="291888" y="466084"/>
            <a:ext cx="515565" cy="517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5CE79DE-545E-9598-D56C-E026DDF99F2F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10044505" y="4815841"/>
            <a:ext cx="62313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E29901A-F747-965E-5FC5-BE08850012C8}"/>
              </a:ext>
            </a:extLst>
          </p:cNvPr>
          <p:cNvGrpSpPr/>
          <p:nvPr/>
        </p:nvGrpSpPr>
        <p:grpSpPr>
          <a:xfrm>
            <a:off x="7865185" y="4541521"/>
            <a:ext cx="2179320" cy="548640"/>
            <a:chOff x="1950720" y="5410200"/>
            <a:chExt cx="2179320" cy="54864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F1F7959-EC82-50EE-832E-07697AB713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8140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P</a:t>
              </a:r>
              <a:r>
                <a:rPr lang="en-US" b="1" baseline="-25000"/>
                <a:t>7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AA11409-23BB-B270-798F-8959D9457B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3276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P</a:t>
              </a:r>
              <a:r>
                <a:rPr lang="en-US" b="1" baseline="-25000"/>
                <a:t>8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E1534C0-C69C-189F-1998-6471FE1550C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9936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…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AB1AFE0-59A4-4F38-C531-13D4C0D43E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5072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baseline="-25000"/>
            </a:p>
          </p:txBody>
        </p:sp>
      </p:grpSp>
      <p:cxnSp>
        <p:nvCxnSpPr>
          <p:cNvPr id="41" name="Shape 33">
            <a:extLst>
              <a:ext uri="{FF2B5EF4-FFF2-40B4-BE49-F238E27FC236}">
                <a16:creationId xmlns:a16="http://schemas.microsoft.com/office/drawing/2014/main" id="{2A072DE8-2FCA-F29D-14E6-AAA45D7D5CC4}"/>
              </a:ext>
            </a:extLst>
          </p:cNvPr>
          <p:cNvCxnSpPr>
            <a:cxnSpLocks/>
            <a:stCxn id="33" idx="3"/>
            <a:endCxn id="25" idx="1"/>
          </p:cNvCxnSpPr>
          <p:nvPr/>
        </p:nvCxnSpPr>
        <p:spPr>
          <a:xfrm flipH="1">
            <a:off x="7865185" y="4815841"/>
            <a:ext cx="2179320" cy="894080"/>
          </a:xfrm>
          <a:prstGeom prst="bentConnector5">
            <a:avLst>
              <a:gd name="adj1" fmla="val -94406"/>
              <a:gd name="adj2" fmla="val 50000"/>
              <a:gd name="adj3" fmla="val 110490"/>
            </a:avLst>
          </a:prstGeom>
          <a:ln>
            <a:prstDash val="dash"/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83A33E2-73C1-8A7A-2DF6-958442AF4DCC}"/>
              </a:ext>
            </a:extLst>
          </p:cNvPr>
          <p:cNvSpPr txBox="1"/>
          <p:nvPr/>
        </p:nvSpPr>
        <p:spPr>
          <a:xfrm>
            <a:off x="10777798" y="1893879"/>
            <a:ext cx="10504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CPUs</a:t>
            </a:r>
            <a:endParaRPr lang="en-AE" sz="2400" dirty="0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9B6526E-87A0-EE50-7B93-26E16378DD3F}"/>
              </a:ext>
            </a:extLst>
          </p:cNvPr>
          <p:cNvGrpSpPr/>
          <p:nvPr/>
        </p:nvGrpSpPr>
        <p:grpSpPr>
          <a:xfrm>
            <a:off x="10698480" y="2301240"/>
            <a:ext cx="1092455" cy="3540361"/>
            <a:chOff x="10698480" y="2301240"/>
            <a:chExt cx="1092455" cy="3540361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791739F-2E54-B99C-ABA1-5415B4CB4820}"/>
                </a:ext>
              </a:extLst>
            </p:cNvPr>
            <p:cNvSpPr/>
            <p:nvPr/>
          </p:nvSpPr>
          <p:spPr>
            <a:xfrm>
              <a:off x="10698480" y="2301240"/>
              <a:ext cx="1092455" cy="3540361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baseline="-25000" dirty="0"/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2B652995-A6FE-F737-313C-53E4338B15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853888" y="2458826"/>
              <a:ext cx="782472" cy="793557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9855FC87-33BA-F19E-3ACD-B00522FCCC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853888" y="3315626"/>
              <a:ext cx="782472" cy="793557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A2E468DD-10A3-00D7-6BEB-CD29CE1400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853888" y="5018589"/>
              <a:ext cx="782472" cy="793557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ABC35C8-5546-DBAB-601B-A1DBFE6C2C25}"/>
                </a:ext>
              </a:extLst>
            </p:cNvPr>
            <p:cNvSpPr txBox="1"/>
            <p:nvPr/>
          </p:nvSpPr>
          <p:spPr>
            <a:xfrm>
              <a:off x="11118639" y="4054879"/>
              <a:ext cx="23275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.</a:t>
              </a:r>
            </a:p>
            <a:p>
              <a:r>
                <a:rPr lang="en-US" dirty="0"/>
                <a:t>.</a:t>
              </a:r>
            </a:p>
            <a:p>
              <a:r>
                <a:rPr lang="en-US" dirty="0"/>
                <a:t>.</a:t>
              </a:r>
              <a:endParaRPr lang="en-AE" dirty="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213A15A-3FDD-134C-3F15-1F63A6E1DA21}"/>
              </a:ext>
            </a:extLst>
          </p:cNvPr>
          <p:cNvGrpSpPr/>
          <p:nvPr/>
        </p:nvGrpSpPr>
        <p:grpSpPr>
          <a:xfrm>
            <a:off x="6796566" y="2059384"/>
            <a:ext cx="1053199" cy="455216"/>
            <a:chOff x="6597571" y="3080463"/>
            <a:chExt cx="1333468" cy="455216"/>
          </a:xfrm>
        </p:grpSpPr>
        <p:sp>
          <p:nvSpPr>
            <p:cNvPr id="57" name="Arrow: Right 56">
              <a:extLst>
                <a:ext uri="{FF2B5EF4-FFF2-40B4-BE49-F238E27FC236}">
                  <a16:creationId xmlns:a16="http://schemas.microsoft.com/office/drawing/2014/main" id="{84C9ADA7-3189-5EEF-0E5C-05DBC7C2F236}"/>
                </a:ext>
              </a:extLst>
            </p:cNvPr>
            <p:cNvSpPr/>
            <p:nvPr/>
          </p:nvSpPr>
          <p:spPr>
            <a:xfrm>
              <a:off x="6597571" y="3363912"/>
              <a:ext cx="1333468" cy="171767"/>
            </a:xfrm>
            <a:prstGeom prst="rightArrow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15808A8-788A-AC5B-89D8-13C4A1D25734}"/>
                </a:ext>
              </a:extLst>
            </p:cNvPr>
            <p:cNvSpPr txBox="1"/>
            <p:nvPr/>
          </p:nvSpPr>
          <p:spPr>
            <a:xfrm>
              <a:off x="6793386" y="3080463"/>
              <a:ext cx="8325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Admit</a:t>
              </a:r>
              <a:endParaRPr lang="en-AE" b="1" dirty="0"/>
            </a:p>
          </p:txBody>
        </p:sp>
      </p:grpSp>
      <p:pic>
        <p:nvPicPr>
          <p:cNvPr id="61" name="Picture 60" descr="Timer time stock illustration. Illustration of isolated - 7534112">
            <a:extLst>
              <a:ext uri="{FF2B5EF4-FFF2-40B4-BE49-F238E27FC236}">
                <a16:creationId xmlns:a16="http://schemas.microsoft.com/office/drawing/2014/main" id="{5F7A231D-DF38-9A29-F9AA-8B490A1F544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555"/>
          <a:stretch>
            <a:fillRect/>
          </a:stretch>
        </p:blipFill>
        <p:spPr>
          <a:xfrm>
            <a:off x="10157932" y="2164346"/>
            <a:ext cx="390515" cy="395706"/>
          </a:xfrm>
          <a:prstGeom prst="rect">
            <a:avLst/>
          </a:prstGeom>
        </p:spPr>
      </p:pic>
      <p:pic>
        <p:nvPicPr>
          <p:cNvPr id="62" name="Picture 61" descr="Timer time stock illustration. Illustration of isolated - 7534112">
            <a:extLst>
              <a:ext uri="{FF2B5EF4-FFF2-40B4-BE49-F238E27FC236}">
                <a16:creationId xmlns:a16="http://schemas.microsoft.com/office/drawing/2014/main" id="{DF9CD06B-AA44-FAEF-1F4F-79F5CDA18EA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555"/>
          <a:stretch>
            <a:fillRect/>
          </a:stretch>
        </p:blipFill>
        <p:spPr>
          <a:xfrm>
            <a:off x="10157932" y="3148361"/>
            <a:ext cx="390515" cy="395706"/>
          </a:xfrm>
          <a:prstGeom prst="rect">
            <a:avLst/>
          </a:prstGeom>
        </p:spPr>
      </p:pic>
      <p:pic>
        <p:nvPicPr>
          <p:cNvPr id="640" name="Picture 639" descr="Timer time stock illustration. Illustration of isolated - 7534112">
            <a:extLst>
              <a:ext uri="{FF2B5EF4-FFF2-40B4-BE49-F238E27FC236}">
                <a16:creationId xmlns:a16="http://schemas.microsoft.com/office/drawing/2014/main" id="{07540BDE-A8BD-D56F-A744-F314AE0F22C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555"/>
          <a:stretch>
            <a:fillRect/>
          </a:stretch>
        </p:blipFill>
        <p:spPr>
          <a:xfrm>
            <a:off x="10157932" y="4392747"/>
            <a:ext cx="390515" cy="395706"/>
          </a:xfrm>
          <a:prstGeom prst="rect">
            <a:avLst/>
          </a:prstGeom>
        </p:spPr>
      </p:pic>
      <p:pic>
        <p:nvPicPr>
          <p:cNvPr id="641" name="Picture 640" descr="Timer time stock illustration. Illustration of isolated - 7534112">
            <a:extLst>
              <a:ext uri="{FF2B5EF4-FFF2-40B4-BE49-F238E27FC236}">
                <a16:creationId xmlns:a16="http://schemas.microsoft.com/office/drawing/2014/main" id="{982EC3B6-29A0-CE49-80C6-554D50708DE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555"/>
          <a:stretch>
            <a:fillRect/>
          </a:stretch>
        </p:blipFill>
        <p:spPr>
          <a:xfrm>
            <a:off x="10157932" y="5286827"/>
            <a:ext cx="390515" cy="395706"/>
          </a:xfrm>
          <a:prstGeom prst="rect">
            <a:avLst/>
          </a:prstGeom>
        </p:spPr>
      </p:pic>
      <p:grpSp>
        <p:nvGrpSpPr>
          <p:cNvPr id="642" name="Group 641">
            <a:extLst>
              <a:ext uri="{FF2B5EF4-FFF2-40B4-BE49-F238E27FC236}">
                <a16:creationId xmlns:a16="http://schemas.microsoft.com/office/drawing/2014/main" id="{EF57B0DD-6727-A1CF-BE4E-BCF50D127327}"/>
              </a:ext>
            </a:extLst>
          </p:cNvPr>
          <p:cNvGrpSpPr/>
          <p:nvPr/>
        </p:nvGrpSpPr>
        <p:grpSpPr>
          <a:xfrm>
            <a:off x="7877847" y="2302271"/>
            <a:ext cx="2179320" cy="548640"/>
            <a:chOff x="1950720" y="5410200"/>
            <a:chExt cx="2179320" cy="548640"/>
          </a:xfrm>
        </p:grpSpPr>
        <p:sp>
          <p:nvSpPr>
            <p:cNvPr id="643" name="Rectangle 642">
              <a:extLst>
                <a:ext uri="{FF2B5EF4-FFF2-40B4-BE49-F238E27FC236}">
                  <a16:creationId xmlns:a16="http://schemas.microsoft.com/office/drawing/2014/main" id="{65FC45F4-1764-AA98-E190-C33F974A9D6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8140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P</a:t>
              </a:r>
              <a:r>
                <a:rPr lang="en-US" b="1" baseline="-25000" dirty="0"/>
                <a:t>4</a:t>
              </a:r>
            </a:p>
          </p:txBody>
        </p:sp>
        <p:sp>
          <p:nvSpPr>
            <p:cNvPr id="644" name="Rectangle 643">
              <a:extLst>
                <a:ext uri="{FF2B5EF4-FFF2-40B4-BE49-F238E27FC236}">
                  <a16:creationId xmlns:a16="http://schemas.microsoft.com/office/drawing/2014/main" id="{26912B06-8ADA-CFCA-8D51-3964C2FB410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3276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…</a:t>
              </a:r>
            </a:p>
          </p:txBody>
        </p:sp>
        <p:sp>
          <p:nvSpPr>
            <p:cNvPr id="645" name="Rectangle 644">
              <a:extLst>
                <a:ext uri="{FF2B5EF4-FFF2-40B4-BE49-F238E27FC236}">
                  <a16:creationId xmlns:a16="http://schemas.microsoft.com/office/drawing/2014/main" id="{B861E58C-43CB-1AD8-5DE4-B2477750D77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9936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646" name="Rectangle 645">
              <a:extLst>
                <a:ext uri="{FF2B5EF4-FFF2-40B4-BE49-F238E27FC236}">
                  <a16:creationId xmlns:a16="http://schemas.microsoft.com/office/drawing/2014/main" id="{3F086599-3F66-41D7-D4E7-33BCC40884C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5072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baseline="-25000"/>
            </a:p>
          </p:txBody>
        </p:sp>
      </p:grpSp>
      <p:sp>
        <p:nvSpPr>
          <p:cNvPr id="648" name="Rectangle 647">
            <a:extLst>
              <a:ext uri="{FF2B5EF4-FFF2-40B4-BE49-F238E27FC236}">
                <a16:creationId xmlns:a16="http://schemas.microsoft.com/office/drawing/2014/main" id="{007FC51A-6378-C1C4-DA90-5FF86A7E210F}"/>
              </a:ext>
            </a:extLst>
          </p:cNvPr>
          <p:cNvSpPr>
            <a:spLocks noChangeAspect="1"/>
          </p:cNvSpPr>
          <p:nvPr/>
        </p:nvSpPr>
        <p:spPr>
          <a:xfrm>
            <a:off x="9509871" y="2302270"/>
            <a:ext cx="548640" cy="5486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P</a:t>
            </a:r>
            <a:r>
              <a:rPr lang="en-US" b="1" baseline="-25000" dirty="0"/>
              <a:t>1</a:t>
            </a:r>
          </a:p>
        </p:txBody>
      </p:sp>
      <p:pic>
        <p:nvPicPr>
          <p:cNvPr id="649" name="Picture 648" descr="Time Out Vector Icon 31458261 Vector Art at Vecteezy">
            <a:extLst>
              <a:ext uri="{FF2B5EF4-FFF2-40B4-BE49-F238E27FC236}">
                <a16:creationId xmlns:a16="http://schemas.microsoft.com/office/drawing/2014/main" id="{D60E5F3D-66B9-A255-FDAA-9110B3A34C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8422" y="2126991"/>
            <a:ext cx="466091" cy="447117"/>
          </a:xfrm>
          <a:prstGeom prst="rect">
            <a:avLst/>
          </a:prstGeom>
        </p:spPr>
      </p:pic>
      <p:sp>
        <p:nvSpPr>
          <p:cNvPr id="650" name="Oval 649">
            <a:extLst>
              <a:ext uri="{FF2B5EF4-FFF2-40B4-BE49-F238E27FC236}">
                <a16:creationId xmlns:a16="http://schemas.microsoft.com/office/drawing/2014/main" id="{10862902-02CE-B24C-3D06-BEC8096FCA2B}"/>
              </a:ext>
            </a:extLst>
          </p:cNvPr>
          <p:cNvSpPr/>
          <p:nvPr/>
        </p:nvSpPr>
        <p:spPr>
          <a:xfrm>
            <a:off x="10910279" y="5080574"/>
            <a:ext cx="649475" cy="631720"/>
          </a:xfrm>
          <a:prstGeom prst="ellipse">
            <a:avLst/>
          </a:prstGeom>
          <a:solidFill>
            <a:srgbClr val="FF0000">
              <a:alpha val="4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59" name="Rectangle 658">
            <a:extLst>
              <a:ext uri="{FF2B5EF4-FFF2-40B4-BE49-F238E27FC236}">
                <a16:creationId xmlns:a16="http://schemas.microsoft.com/office/drawing/2014/main" id="{82F308B4-8D1D-F73F-C384-746A4F953112}"/>
              </a:ext>
            </a:extLst>
          </p:cNvPr>
          <p:cNvSpPr>
            <a:spLocks noChangeAspect="1"/>
          </p:cNvSpPr>
          <p:nvPr/>
        </p:nvSpPr>
        <p:spPr>
          <a:xfrm>
            <a:off x="10960698" y="5130289"/>
            <a:ext cx="548640" cy="5486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P</a:t>
            </a:r>
            <a:r>
              <a:rPr lang="en-US" b="1" baseline="-25000" dirty="0"/>
              <a:t>1</a:t>
            </a:r>
          </a:p>
        </p:txBody>
      </p:sp>
      <p:pic>
        <p:nvPicPr>
          <p:cNvPr id="668" name="Picture 667" descr="Download Free Unlimited use Icons in PNG &amp; SVG | Magnific (formerly Freepik)">
            <a:extLst>
              <a:ext uri="{FF2B5EF4-FFF2-40B4-BE49-F238E27FC236}">
                <a16:creationId xmlns:a16="http://schemas.microsoft.com/office/drawing/2014/main" id="{117687A5-8B2F-595C-FAEF-CCC9FC0046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4924" y="5215344"/>
            <a:ext cx="525319" cy="52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099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4.44444E-6 L 0.11901 0.41227 " pathEditMode="relative" rAng="0" ptsTypes="AA">
                                      <p:cBhvr>
                                        <p:cTn id="54" dur="1500" fill="hold"/>
                                        <p:tgtEl>
                                          <p:spTgt spid="6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59" y="20602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2.96296E-6 L -0.20963 -0.26828 " pathEditMode="relative" rAng="0" ptsTypes="AA">
                                      <p:cBhvr>
                                        <p:cTn id="96" dur="1500" fill="hold"/>
                                        <p:tgtEl>
                                          <p:spTgt spid="6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82" y="-134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6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6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00"/>
                            </p:stCondLst>
                            <p:childTnLst>
                              <p:par>
                                <p:cTn id="1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48" grpId="0" animBg="1"/>
      <p:bldP spid="648" grpId="1" animBg="1"/>
      <p:bldP spid="648" grpId="2" animBg="1"/>
      <p:bldP spid="650" grpId="0" animBg="1"/>
      <p:bldP spid="650" grpId="1" animBg="1"/>
      <p:bldP spid="659" grpId="0" animBg="1"/>
      <p:bldP spid="659" grpId="1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36CFD-6675-D3D9-4981-5B6D37529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hape 33">
            <a:extLst>
              <a:ext uri="{FF2B5EF4-FFF2-40B4-BE49-F238E27FC236}">
                <a16:creationId xmlns:a16="http://schemas.microsoft.com/office/drawing/2014/main" id="{836ED544-7DD1-2D26-2398-ECA2AFB8483B}"/>
              </a:ext>
            </a:extLst>
          </p:cNvPr>
          <p:cNvCxnSpPr>
            <a:cxnSpLocks/>
          </p:cNvCxnSpPr>
          <p:nvPr/>
        </p:nvCxnSpPr>
        <p:spPr>
          <a:xfrm flipH="1">
            <a:off x="7865185" y="5709921"/>
            <a:ext cx="2179320" cy="12700"/>
          </a:xfrm>
          <a:prstGeom prst="bentConnector5">
            <a:avLst>
              <a:gd name="adj1" fmla="val -88345"/>
              <a:gd name="adj2" fmla="val 3960000"/>
              <a:gd name="adj3" fmla="val 110490"/>
            </a:avLst>
          </a:prstGeom>
          <a:ln w="38100">
            <a:prstDash val="dash"/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669" name="Group 668">
            <a:extLst>
              <a:ext uri="{FF2B5EF4-FFF2-40B4-BE49-F238E27FC236}">
                <a16:creationId xmlns:a16="http://schemas.microsoft.com/office/drawing/2014/main" id="{096C5E78-F659-21A1-9D8D-58D5B107E1C9}"/>
              </a:ext>
            </a:extLst>
          </p:cNvPr>
          <p:cNvGrpSpPr/>
          <p:nvPr/>
        </p:nvGrpSpPr>
        <p:grpSpPr>
          <a:xfrm>
            <a:off x="11446595" y="5562927"/>
            <a:ext cx="785833" cy="839115"/>
            <a:chOff x="4161689" y="3230618"/>
            <a:chExt cx="3973785" cy="839115"/>
          </a:xfrm>
        </p:grpSpPr>
        <p:sp>
          <p:nvSpPr>
            <p:cNvPr id="670" name="Arrow: Right 669">
              <a:extLst>
                <a:ext uri="{FF2B5EF4-FFF2-40B4-BE49-F238E27FC236}">
                  <a16:creationId xmlns:a16="http://schemas.microsoft.com/office/drawing/2014/main" id="{9DB1EF17-3ED5-A592-F18A-9D33298CA32B}"/>
                </a:ext>
              </a:extLst>
            </p:cNvPr>
            <p:cNvSpPr/>
            <p:nvPr/>
          </p:nvSpPr>
          <p:spPr>
            <a:xfrm>
              <a:off x="5376252" y="3230618"/>
              <a:ext cx="2554787" cy="243328"/>
            </a:xfrm>
            <a:prstGeom prst="rightArrow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  <p:sp>
          <p:nvSpPr>
            <p:cNvPr id="671" name="TextBox 670">
              <a:extLst>
                <a:ext uri="{FF2B5EF4-FFF2-40B4-BE49-F238E27FC236}">
                  <a16:creationId xmlns:a16="http://schemas.microsoft.com/office/drawing/2014/main" id="{6BD47709-CBDF-82CF-1CFE-C39C4938B3E5}"/>
                </a:ext>
              </a:extLst>
            </p:cNvPr>
            <p:cNvSpPr txBox="1"/>
            <p:nvPr/>
          </p:nvSpPr>
          <p:spPr>
            <a:xfrm>
              <a:off x="4161689" y="3423402"/>
              <a:ext cx="397378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Exit/ Block</a:t>
              </a:r>
              <a:endParaRPr lang="en-AE" b="1" dirty="0"/>
            </a:p>
          </p:txBody>
        </p:sp>
      </p:grpSp>
      <p:sp>
        <p:nvSpPr>
          <p:cNvPr id="651" name="TextShape 2">
            <a:extLst>
              <a:ext uri="{FF2B5EF4-FFF2-40B4-BE49-F238E27FC236}">
                <a16:creationId xmlns:a16="http://schemas.microsoft.com/office/drawing/2014/main" id="{1FF6CB23-E150-F07F-CB44-D9B13CDD246B}"/>
              </a:ext>
            </a:extLst>
          </p:cNvPr>
          <p:cNvSpPr txBox="1"/>
          <p:nvPr/>
        </p:nvSpPr>
        <p:spPr>
          <a:xfrm>
            <a:off x="1" y="1779103"/>
            <a:ext cx="6895529" cy="44408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noAutofit/>
          </a:bodyPr>
          <a:lstStyle/>
          <a:p>
            <a:pPr marL="343080" indent="-342720">
              <a:lnSpc>
                <a:spcPct val="15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spc="-1" dirty="0">
                <a:solidFill>
                  <a:srgbClr val="00B050"/>
                </a:solidFill>
                <a:latin typeface="+mj-lt"/>
              </a:rPr>
              <a:t>Pros</a:t>
            </a:r>
            <a:endParaRPr lang="en-US" sz="2400" spc="-1" dirty="0">
              <a:solidFill>
                <a:srgbClr val="00B050"/>
              </a:solidFill>
              <a:latin typeface="+mj-lt"/>
            </a:endParaRPr>
          </a:p>
          <a:p>
            <a:pPr marL="743040" lvl="1" indent="-285480">
              <a:lnSpc>
                <a:spcPct val="15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1" spc="-1" dirty="0">
                <a:solidFill>
                  <a:srgbClr val="000000"/>
                </a:solidFill>
              </a:rPr>
              <a:t>Shorter</a:t>
            </a:r>
            <a:r>
              <a:rPr lang="en-US" sz="2000" spc="-1" dirty="0">
                <a:solidFill>
                  <a:srgbClr val="000000"/>
                </a:solidFill>
              </a:rPr>
              <a:t> processes are </a:t>
            </a:r>
            <a:r>
              <a:rPr lang="en-US" sz="2000" b="1" spc="-1" dirty="0">
                <a:solidFill>
                  <a:srgbClr val="000000"/>
                </a:solidFill>
              </a:rPr>
              <a:t>favored</a:t>
            </a:r>
            <a:r>
              <a:rPr lang="en-US" sz="2000" spc="-1" dirty="0">
                <a:solidFill>
                  <a:srgbClr val="000000"/>
                </a:solidFill>
              </a:rPr>
              <a:t> over </a:t>
            </a:r>
            <a:r>
              <a:rPr lang="en-US" sz="2000" b="1" spc="-1" dirty="0">
                <a:solidFill>
                  <a:srgbClr val="000000"/>
                </a:solidFill>
              </a:rPr>
              <a:t>longer</a:t>
            </a:r>
            <a:r>
              <a:rPr lang="en-US" sz="2000" spc="-1" dirty="0">
                <a:solidFill>
                  <a:srgbClr val="000000"/>
                </a:solidFill>
              </a:rPr>
              <a:t> processes.</a:t>
            </a:r>
          </a:p>
          <a:p>
            <a:pPr marL="1200240" lvl="2" indent="-285480">
              <a:lnSpc>
                <a:spcPct val="15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pc="-1" dirty="0">
                <a:solidFill>
                  <a:srgbClr val="000000"/>
                </a:solidFill>
                <a:latin typeface="+mj-lt"/>
              </a:rPr>
              <a:t>A short process will complete quickly, without migrating very far down the hierarchy of ready queues. </a:t>
            </a:r>
          </a:p>
          <a:p>
            <a:pPr marL="1200240" lvl="2" indent="-285480">
              <a:lnSpc>
                <a:spcPct val="15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pc="-1" dirty="0">
                <a:solidFill>
                  <a:srgbClr val="000000"/>
                </a:solidFill>
                <a:latin typeface="+mj-lt"/>
              </a:rPr>
              <a:t>A longer process will gradually drift downward.</a:t>
            </a:r>
          </a:p>
          <a:p>
            <a:pPr marL="743040" lvl="1" indent="-285480">
              <a:lnSpc>
                <a:spcPct val="15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1" dirty="0"/>
              <a:t>Favor</a:t>
            </a:r>
            <a:r>
              <a:rPr lang="en-US" sz="2000" dirty="0"/>
              <a:t> </a:t>
            </a:r>
            <a:r>
              <a:rPr lang="en-NZ" sz="2000" dirty="0"/>
              <a:t>I/O-bound over processor-bound processes</a:t>
            </a:r>
          </a:p>
          <a:p>
            <a:pPr marL="1200240" lvl="2" indent="-285480">
              <a:lnSpc>
                <a:spcPct val="15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NZ" sz="2000" b="1" dirty="0"/>
              <a:t>Efficient</a:t>
            </a:r>
            <a:r>
              <a:rPr lang="en-NZ" sz="2000" dirty="0"/>
              <a:t> use of I/O devices</a:t>
            </a:r>
            <a:endParaRPr lang="en-US" sz="2000" spc="-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652" name="CustomShape 3">
            <a:extLst>
              <a:ext uri="{FF2B5EF4-FFF2-40B4-BE49-F238E27FC236}">
                <a16:creationId xmlns:a16="http://schemas.microsoft.com/office/drawing/2014/main" id="{8A97C991-43FE-2D2F-32AB-7C032E84C29A}"/>
              </a:ext>
            </a:extLst>
          </p:cNvPr>
          <p:cNvSpPr/>
          <p:nvPr/>
        </p:nvSpPr>
        <p:spPr>
          <a:xfrm>
            <a:off x="1524000" y="0"/>
            <a:ext cx="9143640" cy="3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A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D680FF1-9F0E-53C7-CE71-9C04B35FC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MLFQ </a:t>
            </a:r>
            <a:r>
              <a:rPr lang="en-US" sz="4800" dirty="0"/>
              <a:t>Scheduler</a:t>
            </a:r>
            <a:r>
              <a:rPr lang="en-US" sz="4800" dirty="0">
                <a:latin typeface="+mj-lt"/>
              </a:rPr>
              <a:t>: </a:t>
            </a:r>
            <a:r>
              <a:rPr lang="en-US" sz="4800" b="1" dirty="0">
                <a:latin typeface="+mj-lt"/>
              </a:rPr>
              <a:t>Overview</a:t>
            </a:r>
            <a:endParaRPr lang="en-A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3B22FB-6AFE-8E1C-977F-4B5B0A561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55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73AE7A-B959-D780-C98E-CAC1019EE858}"/>
              </a:ext>
            </a:extLst>
          </p:cNvPr>
          <p:cNvSpPr txBox="1"/>
          <p:nvPr/>
        </p:nvSpPr>
        <p:spPr>
          <a:xfrm>
            <a:off x="8316403" y="4114801"/>
            <a:ext cx="1283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…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EC092A4-CCD3-6950-DF61-B8BBCBC5268C}"/>
              </a:ext>
            </a:extLst>
          </p:cNvPr>
          <p:cNvGrpSpPr/>
          <p:nvPr/>
        </p:nvGrpSpPr>
        <p:grpSpPr>
          <a:xfrm>
            <a:off x="7865185" y="3291841"/>
            <a:ext cx="2179320" cy="548640"/>
            <a:chOff x="1950720" y="5410200"/>
            <a:chExt cx="2179320" cy="54864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E780BF0-2D02-8941-6442-29D6112BC92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8140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P</a:t>
              </a:r>
              <a:r>
                <a:rPr lang="en-US" b="1" baseline="-25000"/>
                <a:t>2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674C415-7EE9-CE5C-D837-26B43F2C71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3276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P</a:t>
              </a:r>
              <a:r>
                <a:rPr lang="en-US" b="1" baseline="-25000"/>
                <a:t>6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94A3A4E-3E36-6576-2A45-B3127E98B39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9936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…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DF057-6546-296D-5BBE-3809941A293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5072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baseline="-25000"/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0B94244-38A9-1A70-915A-61C6A13B61B9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10044505" y="2575561"/>
            <a:ext cx="62313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FABDC79-9CEA-7AE9-31BE-76FE57F32872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10044505" y="3566161"/>
            <a:ext cx="63319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0AC6AC1-F700-04E2-A33A-6F4446F04D49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10044505" y="5709921"/>
            <a:ext cx="62313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BA9E91B-2860-BD53-EB9F-3DFCC3651E6D}"/>
              </a:ext>
            </a:extLst>
          </p:cNvPr>
          <p:cNvGrpSpPr/>
          <p:nvPr/>
        </p:nvGrpSpPr>
        <p:grpSpPr>
          <a:xfrm>
            <a:off x="7865185" y="2301241"/>
            <a:ext cx="2179320" cy="548640"/>
            <a:chOff x="1950720" y="5410200"/>
            <a:chExt cx="2179320" cy="54864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3C1732B-496D-6C64-91CC-AE33D11082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8140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P</a:t>
              </a:r>
              <a:r>
                <a:rPr lang="en-US" b="1" baseline="-25000"/>
                <a:t>1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EE22D5B-DAD4-C935-A872-B2670BBEAD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3276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P</a:t>
              </a:r>
              <a:r>
                <a:rPr lang="en-US" b="1" baseline="-25000"/>
                <a:t>4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17A853E-1ACF-C7B1-5228-4F9970AF22A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9936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…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FBD1E87-4DFA-C1B2-1E2A-954BB4097A0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5072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baseline="-2500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503190C-28DD-2B4C-104D-D288FB5B6811}"/>
              </a:ext>
            </a:extLst>
          </p:cNvPr>
          <p:cNvGrpSpPr/>
          <p:nvPr/>
        </p:nvGrpSpPr>
        <p:grpSpPr>
          <a:xfrm>
            <a:off x="7865185" y="5435601"/>
            <a:ext cx="2179320" cy="548640"/>
            <a:chOff x="1950720" y="5410200"/>
            <a:chExt cx="2179320" cy="54864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7D2C909-9329-C967-8D57-C1C28290D0D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8140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P</a:t>
              </a:r>
              <a:r>
                <a:rPr lang="en-US" b="1" baseline="-25000"/>
                <a:t>3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5238BEE-0387-1A2C-53CB-F19B3D1FC86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3276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P</a:t>
              </a:r>
              <a:r>
                <a:rPr lang="en-US" b="1" baseline="-25000"/>
                <a:t>5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BBED8EE-37DA-2D07-4E37-904BEAD4D2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9936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…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1B1D9C7-0D5B-200C-08CB-E62F110F3E3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5072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P</a:t>
              </a:r>
              <a:r>
                <a:rPr lang="en-US" b="1" baseline="-25000"/>
                <a:t>12</a:t>
              </a:r>
            </a:p>
          </p:txBody>
        </p:sp>
      </p:grpSp>
      <p:cxnSp>
        <p:nvCxnSpPr>
          <p:cNvPr id="26" name="Shape 29">
            <a:extLst>
              <a:ext uri="{FF2B5EF4-FFF2-40B4-BE49-F238E27FC236}">
                <a16:creationId xmlns:a16="http://schemas.microsoft.com/office/drawing/2014/main" id="{0AB46428-94BA-6B57-E57A-B13DD34EF978}"/>
              </a:ext>
            </a:extLst>
          </p:cNvPr>
          <p:cNvCxnSpPr>
            <a:cxnSpLocks/>
            <a:endCxn id="12" idx="1"/>
          </p:cNvCxnSpPr>
          <p:nvPr/>
        </p:nvCxnSpPr>
        <p:spPr>
          <a:xfrm flipH="1">
            <a:off x="7865185" y="2576590"/>
            <a:ext cx="2193326" cy="989571"/>
          </a:xfrm>
          <a:prstGeom prst="bentConnector5">
            <a:avLst>
              <a:gd name="adj1" fmla="val -93276"/>
              <a:gd name="adj2" fmla="val 50000"/>
              <a:gd name="adj3" fmla="val 110423"/>
            </a:avLst>
          </a:prstGeom>
          <a:ln>
            <a:prstDash val="dash"/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" name="Shape 30">
            <a:extLst>
              <a:ext uri="{FF2B5EF4-FFF2-40B4-BE49-F238E27FC236}">
                <a16:creationId xmlns:a16="http://schemas.microsoft.com/office/drawing/2014/main" id="{4224EE46-B1EB-AB20-66CA-F1680E277506}"/>
              </a:ext>
            </a:extLst>
          </p:cNvPr>
          <p:cNvCxnSpPr>
            <a:cxnSpLocks/>
            <a:stCxn id="9" idx="3"/>
            <a:endCxn id="36" idx="1"/>
          </p:cNvCxnSpPr>
          <p:nvPr/>
        </p:nvCxnSpPr>
        <p:spPr>
          <a:xfrm flipH="1">
            <a:off x="7865185" y="3566161"/>
            <a:ext cx="2179320" cy="1249680"/>
          </a:xfrm>
          <a:prstGeom prst="bentConnector5">
            <a:avLst>
              <a:gd name="adj1" fmla="val -93875"/>
              <a:gd name="adj2" fmla="val 50000"/>
              <a:gd name="adj3" fmla="val 110490"/>
            </a:avLst>
          </a:prstGeom>
          <a:ln>
            <a:prstDash val="dash"/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46D597C-92CE-F232-0379-948EC629B0BB}"/>
              </a:ext>
            </a:extLst>
          </p:cNvPr>
          <p:cNvGrpSpPr/>
          <p:nvPr/>
        </p:nvGrpSpPr>
        <p:grpSpPr>
          <a:xfrm>
            <a:off x="6929047" y="2514600"/>
            <a:ext cx="446292" cy="3469641"/>
            <a:chOff x="4078005" y="2286000"/>
            <a:chExt cx="369332" cy="3667100"/>
          </a:xfrm>
        </p:grpSpPr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39925181-43D9-1E7F-99FE-DD93DA2D875F}"/>
                </a:ext>
              </a:extLst>
            </p:cNvPr>
            <p:cNvCxnSpPr>
              <a:cxnSpLocks/>
            </p:cNvCxnSpPr>
            <p:nvPr/>
          </p:nvCxnSpPr>
          <p:spPr>
            <a:xfrm>
              <a:off x="4419600" y="2286000"/>
              <a:ext cx="0" cy="366710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2802CD6-63A6-E83D-FBB2-C980864FB9CD}"/>
                </a:ext>
              </a:extLst>
            </p:cNvPr>
            <p:cNvSpPr txBox="1"/>
            <p:nvPr/>
          </p:nvSpPr>
          <p:spPr>
            <a:xfrm rot="16200000">
              <a:off x="3195712" y="4061124"/>
              <a:ext cx="21339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Decreasing Priority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6DBF3E7-564B-03AF-63BC-0A2FD13D143F}"/>
              </a:ext>
            </a:extLst>
          </p:cNvPr>
          <p:cNvSpPr txBox="1"/>
          <p:nvPr/>
        </p:nvSpPr>
        <p:spPr>
          <a:xfrm>
            <a:off x="0" y="0"/>
            <a:ext cx="31484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/>
              <a:t>Refer to </a:t>
            </a:r>
            <a:r>
              <a:rPr lang="en-US" sz="2000" b="1">
                <a:hlinkClick r:id="rId2" action="ppaction://hlinkfile"/>
              </a:rPr>
              <a:t>APPENDICES</a:t>
            </a:r>
            <a:r>
              <a:rPr lang="en-US" sz="2000" b="1"/>
              <a:t> for:</a:t>
            </a:r>
            <a:endParaRPr lang="en-AE" sz="2000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A3E37D-3045-C297-12D0-E692B26DA741}"/>
              </a:ext>
            </a:extLst>
          </p:cNvPr>
          <p:cNvSpPr txBox="1"/>
          <p:nvPr/>
        </p:nvSpPr>
        <p:spPr>
          <a:xfrm>
            <a:off x="739434" y="512973"/>
            <a:ext cx="31544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CPU &amp; Scheduler Functions</a:t>
            </a:r>
            <a:endParaRPr lang="en-AE" sz="2000" dirty="0"/>
          </a:p>
        </p:txBody>
      </p:sp>
      <p:pic>
        <p:nvPicPr>
          <p:cNvPr id="29" name="Picture 2" descr="CPU Icon. Central Processor Unit Vector Sign. Micro Chip Electronics  Illustration. Semiconductor Logo. Microchip and Circuits Board Industry  Symbol. Stock Vector | Adobe Stock">
            <a:extLst>
              <a:ext uri="{FF2B5EF4-FFF2-40B4-BE49-F238E27FC236}">
                <a16:creationId xmlns:a16="http://schemas.microsoft.com/office/drawing/2014/main" id="{0EFF21A6-E565-5515-C501-C32B3E5DF1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51" t="6240" r="12648" b="19574"/>
          <a:stretch/>
        </p:blipFill>
        <p:spPr bwMode="auto">
          <a:xfrm>
            <a:off x="291888" y="466084"/>
            <a:ext cx="515565" cy="517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18B496D-9FCB-3FA1-2CC5-7355855A08E4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10044505" y="4815841"/>
            <a:ext cx="62313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5429B8A-73CF-DEA0-8E62-9649946910DF}"/>
              </a:ext>
            </a:extLst>
          </p:cNvPr>
          <p:cNvGrpSpPr/>
          <p:nvPr/>
        </p:nvGrpSpPr>
        <p:grpSpPr>
          <a:xfrm>
            <a:off x="7865185" y="4541521"/>
            <a:ext cx="2179320" cy="548640"/>
            <a:chOff x="1950720" y="5410200"/>
            <a:chExt cx="2179320" cy="54864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49FEFF8-87C2-0A70-BB8E-03C8EA1AD84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8140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P</a:t>
              </a:r>
              <a:r>
                <a:rPr lang="en-US" b="1" baseline="-25000"/>
                <a:t>7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E2CF085-945E-4CA6-FA81-21881E28E72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3276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P</a:t>
              </a:r>
              <a:r>
                <a:rPr lang="en-US" b="1" baseline="-25000"/>
                <a:t>8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D2E2922-55F2-AB44-507B-6CD1BE0D149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9936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…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2C85FA9-9FC1-1F32-13F6-02C0DBEA6F6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5072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baseline="-25000"/>
            </a:p>
          </p:txBody>
        </p:sp>
      </p:grpSp>
      <p:cxnSp>
        <p:nvCxnSpPr>
          <p:cNvPr id="41" name="Shape 33">
            <a:extLst>
              <a:ext uri="{FF2B5EF4-FFF2-40B4-BE49-F238E27FC236}">
                <a16:creationId xmlns:a16="http://schemas.microsoft.com/office/drawing/2014/main" id="{8BA49977-B7E5-DFD0-6E80-EC5A6F5258D4}"/>
              </a:ext>
            </a:extLst>
          </p:cNvPr>
          <p:cNvCxnSpPr>
            <a:cxnSpLocks/>
            <a:stCxn id="33" idx="3"/>
            <a:endCxn id="25" idx="1"/>
          </p:cNvCxnSpPr>
          <p:nvPr/>
        </p:nvCxnSpPr>
        <p:spPr>
          <a:xfrm flipH="1">
            <a:off x="7865185" y="4815841"/>
            <a:ext cx="2179320" cy="894080"/>
          </a:xfrm>
          <a:prstGeom prst="bentConnector5">
            <a:avLst>
              <a:gd name="adj1" fmla="val -94406"/>
              <a:gd name="adj2" fmla="val 50000"/>
              <a:gd name="adj3" fmla="val 110490"/>
            </a:avLst>
          </a:prstGeom>
          <a:ln>
            <a:prstDash val="dash"/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016603C-410C-BADD-37DF-99D282217284}"/>
              </a:ext>
            </a:extLst>
          </p:cNvPr>
          <p:cNvSpPr txBox="1"/>
          <p:nvPr/>
        </p:nvSpPr>
        <p:spPr>
          <a:xfrm>
            <a:off x="10777798" y="1893879"/>
            <a:ext cx="10504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CPUs</a:t>
            </a:r>
            <a:endParaRPr lang="en-AE" sz="2400" dirty="0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EA0FF74-5687-04F2-31EC-E1735B45C78A}"/>
              </a:ext>
            </a:extLst>
          </p:cNvPr>
          <p:cNvGrpSpPr/>
          <p:nvPr/>
        </p:nvGrpSpPr>
        <p:grpSpPr>
          <a:xfrm>
            <a:off x="10698480" y="2301240"/>
            <a:ext cx="1092455" cy="3540361"/>
            <a:chOff x="10698480" y="2301240"/>
            <a:chExt cx="1092455" cy="3540361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66B0A64F-8ED6-8ED3-F188-D40BC5B69FB8}"/>
                </a:ext>
              </a:extLst>
            </p:cNvPr>
            <p:cNvSpPr/>
            <p:nvPr/>
          </p:nvSpPr>
          <p:spPr>
            <a:xfrm>
              <a:off x="10698480" y="2301240"/>
              <a:ext cx="1092455" cy="3540361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baseline="-25000" dirty="0"/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EF743BCB-6BEB-158F-B59E-DB955030FC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853888" y="2458826"/>
              <a:ext cx="782472" cy="793557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C50E95DF-23EF-3AD0-749E-D0FB1FC9F9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853888" y="3315626"/>
              <a:ext cx="782472" cy="793557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624EE336-A42F-1E93-AF5A-A44FAD300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853888" y="5018589"/>
              <a:ext cx="782472" cy="793557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7AE8B8B-BC9D-568B-80CE-0B3875528B08}"/>
                </a:ext>
              </a:extLst>
            </p:cNvPr>
            <p:cNvSpPr txBox="1"/>
            <p:nvPr/>
          </p:nvSpPr>
          <p:spPr>
            <a:xfrm>
              <a:off x="11118639" y="4054879"/>
              <a:ext cx="23275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.</a:t>
              </a:r>
            </a:p>
            <a:p>
              <a:r>
                <a:rPr lang="en-US" dirty="0"/>
                <a:t>.</a:t>
              </a:r>
            </a:p>
            <a:p>
              <a:r>
                <a:rPr lang="en-US" dirty="0"/>
                <a:t>.</a:t>
              </a:r>
              <a:endParaRPr lang="en-AE" dirty="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8FEDCA0-63E7-9D75-0DE0-F38E5E871FA0}"/>
              </a:ext>
            </a:extLst>
          </p:cNvPr>
          <p:cNvGrpSpPr/>
          <p:nvPr/>
        </p:nvGrpSpPr>
        <p:grpSpPr>
          <a:xfrm>
            <a:off x="6796566" y="2059384"/>
            <a:ext cx="1053199" cy="455216"/>
            <a:chOff x="6597571" y="3080463"/>
            <a:chExt cx="1333468" cy="455216"/>
          </a:xfrm>
        </p:grpSpPr>
        <p:sp>
          <p:nvSpPr>
            <p:cNvPr id="57" name="Arrow: Right 56">
              <a:extLst>
                <a:ext uri="{FF2B5EF4-FFF2-40B4-BE49-F238E27FC236}">
                  <a16:creationId xmlns:a16="http://schemas.microsoft.com/office/drawing/2014/main" id="{A68899D3-6861-E2CD-B00F-1FC0369F1FCF}"/>
                </a:ext>
              </a:extLst>
            </p:cNvPr>
            <p:cNvSpPr/>
            <p:nvPr/>
          </p:nvSpPr>
          <p:spPr>
            <a:xfrm>
              <a:off x="6597571" y="3363912"/>
              <a:ext cx="1333468" cy="171767"/>
            </a:xfrm>
            <a:prstGeom prst="rightArrow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98FFEEC-A3D3-9484-A527-3EC96DF488E9}"/>
                </a:ext>
              </a:extLst>
            </p:cNvPr>
            <p:cNvSpPr txBox="1"/>
            <p:nvPr/>
          </p:nvSpPr>
          <p:spPr>
            <a:xfrm>
              <a:off x="6793386" y="3080463"/>
              <a:ext cx="8325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Admit</a:t>
              </a:r>
              <a:endParaRPr lang="en-AE" b="1" dirty="0"/>
            </a:p>
          </p:txBody>
        </p:sp>
      </p:grpSp>
      <p:pic>
        <p:nvPicPr>
          <p:cNvPr id="61" name="Picture 60" descr="Timer time stock illustration. Illustration of isolated - 7534112">
            <a:extLst>
              <a:ext uri="{FF2B5EF4-FFF2-40B4-BE49-F238E27FC236}">
                <a16:creationId xmlns:a16="http://schemas.microsoft.com/office/drawing/2014/main" id="{130200C2-F814-51BD-C55C-79832FDDB3F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555"/>
          <a:stretch>
            <a:fillRect/>
          </a:stretch>
        </p:blipFill>
        <p:spPr>
          <a:xfrm>
            <a:off x="10157932" y="2164346"/>
            <a:ext cx="390515" cy="395706"/>
          </a:xfrm>
          <a:prstGeom prst="rect">
            <a:avLst/>
          </a:prstGeom>
        </p:spPr>
      </p:pic>
      <p:pic>
        <p:nvPicPr>
          <p:cNvPr id="62" name="Picture 61" descr="Timer time stock illustration. Illustration of isolated - 7534112">
            <a:extLst>
              <a:ext uri="{FF2B5EF4-FFF2-40B4-BE49-F238E27FC236}">
                <a16:creationId xmlns:a16="http://schemas.microsoft.com/office/drawing/2014/main" id="{E3E8E395-3936-6186-39A1-B27EFD42ACA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555"/>
          <a:stretch>
            <a:fillRect/>
          </a:stretch>
        </p:blipFill>
        <p:spPr>
          <a:xfrm>
            <a:off x="10157932" y="3148361"/>
            <a:ext cx="390515" cy="395706"/>
          </a:xfrm>
          <a:prstGeom prst="rect">
            <a:avLst/>
          </a:prstGeom>
        </p:spPr>
      </p:pic>
      <p:pic>
        <p:nvPicPr>
          <p:cNvPr id="640" name="Picture 639" descr="Timer time stock illustration. Illustration of isolated - 7534112">
            <a:extLst>
              <a:ext uri="{FF2B5EF4-FFF2-40B4-BE49-F238E27FC236}">
                <a16:creationId xmlns:a16="http://schemas.microsoft.com/office/drawing/2014/main" id="{0A6D9E62-A71E-AED9-D2F0-6F8CBCFEB83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555"/>
          <a:stretch>
            <a:fillRect/>
          </a:stretch>
        </p:blipFill>
        <p:spPr>
          <a:xfrm>
            <a:off x="10157932" y="4392747"/>
            <a:ext cx="390515" cy="395706"/>
          </a:xfrm>
          <a:prstGeom prst="rect">
            <a:avLst/>
          </a:prstGeom>
        </p:spPr>
      </p:pic>
      <p:pic>
        <p:nvPicPr>
          <p:cNvPr id="641" name="Picture 640" descr="Timer time stock illustration. Illustration of isolated - 7534112">
            <a:extLst>
              <a:ext uri="{FF2B5EF4-FFF2-40B4-BE49-F238E27FC236}">
                <a16:creationId xmlns:a16="http://schemas.microsoft.com/office/drawing/2014/main" id="{7E0FEC6C-8FFB-EC25-BD31-67B75CB0E2C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555"/>
          <a:stretch>
            <a:fillRect/>
          </a:stretch>
        </p:blipFill>
        <p:spPr>
          <a:xfrm>
            <a:off x="10157932" y="5286827"/>
            <a:ext cx="390515" cy="395706"/>
          </a:xfrm>
          <a:prstGeom prst="rect">
            <a:avLst/>
          </a:prstGeom>
        </p:spPr>
      </p:pic>
      <p:grpSp>
        <p:nvGrpSpPr>
          <p:cNvPr id="642" name="Group 641">
            <a:extLst>
              <a:ext uri="{FF2B5EF4-FFF2-40B4-BE49-F238E27FC236}">
                <a16:creationId xmlns:a16="http://schemas.microsoft.com/office/drawing/2014/main" id="{A78CC7D2-AA1C-3005-A26F-D4776DA29BFC}"/>
              </a:ext>
            </a:extLst>
          </p:cNvPr>
          <p:cNvGrpSpPr/>
          <p:nvPr/>
        </p:nvGrpSpPr>
        <p:grpSpPr>
          <a:xfrm>
            <a:off x="7877847" y="2302271"/>
            <a:ext cx="2179320" cy="548640"/>
            <a:chOff x="1950720" y="5410200"/>
            <a:chExt cx="2179320" cy="548640"/>
          </a:xfrm>
        </p:grpSpPr>
        <p:sp>
          <p:nvSpPr>
            <p:cNvPr id="643" name="Rectangle 642">
              <a:extLst>
                <a:ext uri="{FF2B5EF4-FFF2-40B4-BE49-F238E27FC236}">
                  <a16:creationId xmlns:a16="http://schemas.microsoft.com/office/drawing/2014/main" id="{E54630C7-87CE-AD3E-4821-99605B1595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8140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P</a:t>
              </a:r>
              <a:r>
                <a:rPr lang="en-US" b="1" baseline="-25000" dirty="0"/>
                <a:t>4</a:t>
              </a:r>
            </a:p>
          </p:txBody>
        </p:sp>
        <p:sp>
          <p:nvSpPr>
            <p:cNvPr id="644" name="Rectangle 643">
              <a:extLst>
                <a:ext uri="{FF2B5EF4-FFF2-40B4-BE49-F238E27FC236}">
                  <a16:creationId xmlns:a16="http://schemas.microsoft.com/office/drawing/2014/main" id="{DCCA9A03-0719-4B5D-D2FA-E5C4500106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3276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…</a:t>
              </a:r>
            </a:p>
          </p:txBody>
        </p:sp>
        <p:sp>
          <p:nvSpPr>
            <p:cNvPr id="645" name="Rectangle 644">
              <a:extLst>
                <a:ext uri="{FF2B5EF4-FFF2-40B4-BE49-F238E27FC236}">
                  <a16:creationId xmlns:a16="http://schemas.microsoft.com/office/drawing/2014/main" id="{08FB2001-F981-DB96-389C-16C87A9F4F8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9936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646" name="Rectangle 645">
              <a:extLst>
                <a:ext uri="{FF2B5EF4-FFF2-40B4-BE49-F238E27FC236}">
                  <a16:creationId xmlns:a16="http://schemas.microsoft.com/office/drawing/2014/main" id="{2B970DC5-0B2E-BC56-EA9D-AEA09E48A2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5072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baseline="-25000"/>
            </a:p>
          </p:txBody>
        </p:sp>
      </p:grpSp>
      <p:pic>
        <p:nvPicPr>
          <p:cNvPr id="668" name="Picture 667" descr="Download Free Unlimited use Icons in PNG &amp; SVG | Magnific (formerly Freepik)">
            <a:extLst>
              <a:ext uri="{FF2B5EF4-FFF2-40B4-BE49-F238E27FC236}">
                <a16:creationId xmlns:a16="http://schemas.microsoft.com/office/drawing/2014/main" id="{040814CF-C41E-5D4B-23B4-6814FABFE8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4924" y="5215344"/>
            <a:ext cx="525319" cy="52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043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6295B-BD56-7163-EBD2-05D970A12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0" name="Shape 33">
            <a:extLst>
              <a:ext uri="{FF2B5EF4-FFF2-40B4-BE49-F238E27FC236}">
                <a16:creationId xmlns:a16="http://schemas.microsoft.com/office/drawing/2014/main" id="{C81919CC-C7DB-C291-C693-8D8C7BBA31CE}"/>
              </a:ext>
            </a:extLst>
          </p:cNvPr>
          <p:cNvCxnSpPr>
            <a:cxnSpLocks/>
          </p:cNvCxnSpPr>
          <p:nvPr/>
        </p:nvCxnSpPr>
        <p:spPr>
          <a:xfrm flipH="1">
            <a:off x="7865185" y="5709921"/>
            <a:ext cx="2179320" cy="12700"/>
          </a:xfrm>
          <a:prstGeom prst="bentConnector5">
            <a:avLst>
              <a:gd name="adj1" fmla="val -88345"/>
              <a:gd name="adj2" fmla="val 3960000"/>
              <a:gd name="adj3" fmla="val 110490"/>
            </a:avLst>
          </a:prstGeom>
          <a:ln w="38100">
            <a:prstDash val="dash"/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AD046A26-DEAD-1C6C-C39B-D7B284EFFC63}"/>
              </a:ext>
            </a:extLst>
          </p:cNvPr>
          <p:cNvGrpSpPr/>
          <p:nvPr/>
        </p:nvGrpSpPr>
        <p:grpSpPr>
          <a:xfrm>
            <a:off x="11446595" y="5562927"/>
            <a:ext cx="785833" cy="839115"/>
            <a:chOff x="4161689" y="3230618"/>
            <a:chExt cx="3973785" cy="839115"/>
          </a:xfrm>
        </p:grpSpPr>
        <p:sp>
          <p:nvSpPr>
            <p:cNvPr id="26" name="Arrow: Right 25">
              <a:extLst>
                <a:ext uri="{FF2B5EF4-FFF2-40B4-BE49-F238E27FC236}">
                  <a16:creationId xmlns:a16="http://schemas.microsoft.com/office/drawing/2014/main" id="{9FA4034E-4879-29B9-11EB-BD74FFC0135A}"/>
                </a:ext>
              </a:extLst>
            </p:cNvPr>
            <p:cNvSpPr/>
            <p:nvPr/>
          </p:nvSpPr>
          <p:spPr>
            <a:xfrm>
              <a:off x="5376252" y="3230618"/>
              <a:ext cx="2554787" cy="243328"/>
            </a:xfrm>
            <a:prstGeom prst="rightArrow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EC1445A-A34A-773B-80A4-460381E55D41}"/>
                </a:ext>
              </a:extLst>
            </p:cNvPr>
            <p:cNvSpPr txBox="1"/>
            <p:nvPr/>
          </p:nvSpPr>
          <p:spPr>
            <a:xfrm>
              <a:off x="4161689" y="3423402"/>
              <a:ext cx="397378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Exit/ Block</a:t>
              </a:r>
              <a:endParaRPr lang="en-AE" b="1" dirty="0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5CD6C4C9-5458-A4A3-BD64-BCF8D4D2B3C6}"/>
              </a:ext>
            </a:extLst>
          </p:cNvPr>
          <p:cNvSpPr txBox="1"/>
          <p:nvPr/>
        </p:nvSpPr>
        <p:spPr>
          <a:xfrm>
            <a:off x="8316403" y="4114801"/>
            <a:ext cx="1283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…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72DEC56-88F6-6B91-4E70-B9CCDE8BB958}"/>
              </a:ext>
            </a:extLst>
          </p:cNvPr>
          <p:cNvGrpSpPr/>
          <p:nvPr/>
        </p:nvGrpSpPr>
        <p:grpSpPr>
          <a:xfrm>
            <a:off x="7865185" y="3291841"/>
            <a:ext cx="2179320" cy="548640"/>
            <a:chOff x="1950720" y="5410200"/>
            <a:chExt cx="2179320" cy="548640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96C1798-1B17-18A5-F672-CF3D2108DC0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8140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P</a:t>
              </a:r>
              <a:r>
                <a:rPr lang="en-US" b="1" baseline="-25000"/>
                <a:t>2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5B218F9-928E-B407-5112-F5A2440D0B5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3276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P</a:t>
              </a:r>
              <a:r>
                <a:rPr lang="en-US" b="1" baseline="-25000"/>
                <a:t>6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9623F1C0-CD11-396F-F59B-7174B09A669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9936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…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6746D3B-C1D3-4631-9AE8-574646270C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5072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baseline="-25000"/>
            </a:p>
          </p:txBody>
        </p:sp>
      </p:grp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3F363C0-798E-647F-CB66-D06D62936407}"/>
              </a:ext>
            </a:extLst>
          </p:cNvPr>
          <p:cNvCxnSpPr>
            <a:cxnSpLocks/>
            <a:stCxn id="57" idx="3"/>
          </p:cNvCxnSpPr>
          <p:nvPr/>
        </p:nvCxnSpPr>
        <p:spPr>
          <a:xfrm>
            <a:off x="10044505" y="2575561"/>
            <a:ext cx="62313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2824462-0090-EAD2-688A-94CD1759A8A3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10044505" y="3566161"/>
            <a:ext cx="63319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4034483-E0A7-0DA9-07F1-F350DFFAC3B9}"/>
              </a:ext>
            </a:extLst>
          </p:cNvPr>
          <p:cNvCxnSpPr>
            <a:cxnSpLocks/>
            <a:stCxn id="62" idx="3"/>
          </p:cNvCxnSpPr>
          <p:nvPr/>
        </p:nvCxnSpPr>
        <p:spPr>
          <a:xfrm>
            <a:off x="10044505" y="5709921"/>
            <a:ext cx="62313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FCF2683-BCAD-8BBB-C870-690CEE63DC15}"/>
              </a:ext>
            </a:extLst>
          </p:cNvPr>
          <p:cNvGrpSpPr/>
          <p:nvPr/>
        </p:nvGrpSpPr>
        <p:grpSpPr>
          <a:xfrm>
            <a:off x="7865185" y="2301241"/>
            <a:ext cx="2179320" cy="548640"/>
            <a:chOff x="1950720" y="5410200"/>
            <a:chExt cx="2179320" cy="548640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29A0380F-31D4-D133-9661-DA9C111DE9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8140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P</a:t>
              </a:r>
              <a:r>
                <a:rPr lang="en-US" b="1" baseline="-25000"/>
                <a:t>1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F389BDE5-307B-5452-EDE8-9FB03A52521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3276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P</a:t>
              </a:r>
              <a:r>
                <a:rPr lang="en-US" b="1" baseline="-25000"/>
                <a:t>4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3A95DBC4-A6E2-827F-BCEA-B965C9F4F6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9936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…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CDB4B35E-F0CD-24EF-A011-30B662CABDE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5072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baseline="-25000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677F0ABF-8EAE-FF8B-0160-63C4986E63DE}"/>
              </a:ext>
            </a:extLst>
          </p:cNvPr>
          <p:cNvGrpSpPr/>
          <p:nvPr/>
        </p:nvGrpSpPr>
        <p:grpSpPr>
          <a:xfrm>
            <a:off x="7865185" y="5435601"/>
            <a:ext cx="2179320" cy="548640"/>
            <a:chOff x="1950720" y="5410200"/>
            <a:chExt cx="2179320" cy="548640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E3A6B54-8974-DFF8-F433-93A5E1360C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8140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P</a:t>
              </a:r>
              <a:r>
                <a:rPr lang="en-US" b="1" baseline="-25000" dirty="0"/>
                <a:t>3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9DBD395-4D14-D0DA-F68B-ABB0DDE43DC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3276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P</a:t>
              </a:r>
              <a:r>
                <a:rPr lang="en-US" b="1" baseline="-25000"/>
                <a:t>5</a:t>
              </a:r>
            </a:p>
          </p:txBody>
        </p:sp>
        <p:sp>
          <p:nvSpPr>
            <p:cNvPr id="640" name="Rectangle 639">
              <a:extLst>
                <a:ext uri="{FF2B5EF4-FFF2-40B4-BE49-F238E27FC236}">
                  <a16:creationId xmlns:a16="http://schemas.microsoft.com/office/drawing/2014/main" id="{92F0D843-F16F-7AB0-7A88-8C8A90AB2B3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9936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…</a:t>
              </a:r>
            </a:p>
          </p:txBody>
        </p:sp>
        <p:sp>
          <p:nvSpPr>
            <p:cNvPr id="641" name="Rectangle 640">
              <a:extLst>
                <a:ext uri="{FF2B5EF4-FFF2-40B4-BE49-F238E27FC236}">
                  <a16:creationId xmlns:a16="http://schemas.microsoft.com/office/drawing/2014/main" id="{227D2933-BD25-38AA-14A4-9A392CE5845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5072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P</a:t>
              </a:r>
              <a:r>
                <a:rPr lang="en-US" b="1" baseline="-25000"/>
                <a:t>12</a:t>
              </a:r>
            </a:p>
          </p:txBody>
        </p:sp>
      </p:grpSp>
      <p:cxnSp>
        <p:nvCxnSpPr>
          <p:cNvPr id="642" name="Shape 29">
            <a:extLst>
              <a:ext uri="{FF2B5EF4-FFF2-40B4-BE49-F238E27FC236}">
                <a16:creationId xmlns:a16="http://schemas.microsoft.com/office/drawing/2014/main" id="{925C6CA2-BE31-00C8-C586-E1AA346AA6CA}"/>
              </a:ext>
            </a:extLst>
          </p:cNvPr>
          <p:cNvCxnSpPr>
            <a:cxnSpLocks/>
            <a:endCxn id="52" idx="1"/>
          </p:cNvCxnSpPr>
          <p:nvPr/>
        </p:nvCxnSpPr>
        <p:spPr>
          <a:xfrm flipH="1">
            <a:off x="7865185" y="2576590"/>
            <a:ext cx="2193326" cy="989571"/>
          </a:xfrm>
          <a:prstGeom prst="bentConnector5">
            <a:avLst>
              <a:gd name="adj1" fmla="val -93276"/>
              <a:gd name="adj2" fmla="val 50000"/>
              <a:gd name="adj3" fmla="val 110423"/>
            </a:avLst>
          </a:prstGeom>
          <a:ln>
            <a:prstDash val="dash"/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43" name="Shape 30">
            <a:extLst>
              <a:ext uri="{FF2B5EF4-FFF2-40B4-BE49-F238E27FC236}">
                <a16:creationId xmlns:a16="http://schemas.microsoft.com/office/drawing/2014/main" id="{5A401104-1CFF-97BF-A908-A24A64ECD0DC}"/>
              </a:ext>
            </a:extLst>
          </p:cNvPr>
          <p:cNvCxnSpPr>
            <a:cxnSpLocks/>
            <a:stCxn id="41" idx="3"/>
            <a:endCxn id="654" idx="1"/>
          </p:cNvCxnSpPr>
          <p:nvPr/>
        </p:nvCxnSpPr>
        <p:spPr>
          <a:xfrm flipH="1">
            <a:off x="7865185" y="3566161"/>
            <a:ext cx="2179320" cy="1249680"/>
          </a:xfrm>
          <a:prstGeom prst="bentConnector5">
            <a:avLst>
              <a:gd name="adj1" fmla="val -93875"/>
              <a:gd name="adj2" fmla="val 50000"/>
              <a:gd name="adj3" fmla="val 110490"/>
            </a:avLst>
          </a:prstGeom>
          <a:ln>
            <a:prstDash val="dash"/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644" name="Group 643">
            <a:extLst>
              <a:ext uri="{FF2B5EF4-FFF2-40B4-BE49-F238E27FC236}">
                <a16:creationId xmlns:a16="http://schemas.microsoft.com/office/drawing/2014/main" id="{F059783B-712D-6D19-7F59-0BCE878D9634}"/>
              </a:ext>
            </a:extLst>
          </p:cNvPr>
          <p:cNvGrpSpPr/>
          <p:nvPr/>
        </p:nvGrpSpPr>
        <p:grpSpPr>
          <a:xfrm>
            <a:off x="6929047" y="2514600"/>
            <a:ext cx="446292" cy="3469641"/>
            <a:chOff x="4078005" y="2286000"/>
            <a:chExt cx="369332" cy="3667100"/>
          </a:xfrm>
        </p:grpSpPr>
        <p:cxnSp>
          <p:nvCxnSpPr>
            <p:cNvPr id="645" name="Straight Arrow Connector 644">
              <a:extLst>
                <a:ext uri="{FF2B5EF4-FFF2-40B4-BE49-F238E27FC236}">
                  <a16:creationId xmlns:a16="http://schemas.microsoft.com/office/drawing/2014/main" id="{A63BAEA9-37A7-EC99-D5FC-381826C5C693}"/>
                </a:ext>
              </a:extLst>
            </p:cNvPr>
            <p:cNvCxnSpPr>
              <a:cxnSpLocks/>
            </p:cNvCxnSpPr>
            <p:nvPr/>
          </p:nvCxnSpPr>
          <p:spPr>
            <a:xfrm>
              <a:off x="4419600" y="2286000"/>
              <a:ext cx="0" cy="366710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sp>
          <p:nvSpPr>
            <p:cNvPr id="646" name="TextBox 645">
              <a:extLst>
                <a:ext uri="{FF2B5EF4-FFF2-40B4-BE49-F238E27FC236}">
                  <a16:creationId xmlns:a16="http://schemas.microsoft.com/office/drawing/2014/main" id="{96C9735B-BD2C-6BAB-3E78-41742E179088}"/>
                </a:ext>
              </a:extLst>
            </p:cNvPr>
            <p:cNvSpPr txBox="1"/>
            <p:nvPr/>
          </p:nvSpPr>
          <p:spPr>
            <a:xfrm rot="16200000">
              <a:off x="3195712" y="4061124"/>
              <a:ext cx="21339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Decreasing Priority</a:t>
              </a:r>
            </a:p>
          </p:txBody>
        </p:sp>
      </p:grpSp>
      <p:cxnSp>
        <p:nvCxnSpPr>
          <p:cNvPr id="647" name="Straight Arrow Connector 646">
            <a:extLst>
              <a:ext uri="{FF2B5EF4-FFF2-40B4-BE49-F238E27FC236}">
                <a16:creationId xmlns:a16="http://schemas.microsoft.com/office/drawing/2014/main" id="{79990A7E-6D7B-C110-8D03-C4117431BF70}"/>
              </a:ext>
            </a:extLst>
          </p:cNvPr>
          <p:cNvCxnSpPr>
            <a:cxnSpLocks/>
            <a:stCxn id="649" idx="3"/>
          </p:cNvCxnSpPr>
          <p:nvPr/>
        </p:nvCxnSpPr>
        <p:spPr>
          <a:xfrm>
            <a:off x="10044505" y="4815841"/>
            <a:ext cx="62313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648" name="Group 647">
            <a:extLst>
              <a:ext uri="{FF2B5EF4-FFF2-40B4-BE49-F238E27FC236}">
                <a16:creationId xmlns:a16="http://schemas.microsoft.com/office/drawing/2014/main" id="{01727C7E-896E-CA8B-D5BB-31051B2554F2}"/>
              </a:ext>
            </a:extLst>
          </p:cNvPr>
          <p:cNvGrpSpPr/>
          <p:nvPr/>
        </p:nvGrpSpPr>
        <p:grpSpPr>
          <a:xfrm>
            <a:off x="7865185" y="4541521"/>
            <a:ext cx="2179320" cy="548640"/>
            <a:chOff x="1950720" y="5410200"/>
            <a:chExt cx="2179320" cy="548640"/>
          </a:xfrm>
        </p:grpSpPr>
        <p:sp>
          <p:nvSpPr>
            <p:cNvPr id="649" name="Rectangle 648">
              <a:extLst>
                <a:ext uri="{FF2B5EF4-FFF2-40B4-BE49-F238E27FC236}">
                  <a16:creationId xmlns:a16="http://schemas.microsoft.com/office/drawing/2014/main" id="{659EFA50-3DAE-A501-E4C5-D2FA4CC89F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8140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P</a:t>
              </a:r>
              <a:r>
                <a:rPr lang="en-US" b="1" baseline="-25000"/>
                <a:t>7</a:t>
              </a:r>
            </a:p>
          </p:txBody>
        </p:sp>
        <p:sp>
          <p:nvSpPr>
            <p:cNvPr id="650" name="Rectangle 649">
              <a:extLst>
                <a:ext uri="{FF2B5EF4-FFF2-40B4-BE49-F238E27FC236}">
                  <a16:creationId xmlns:a16="http://schemas.microsoft.com/office/drawing/2014/main" id="{08F1BB52-D18A-4DDC-F925-924786AA464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3276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P</a:t>
              </a:r>
              <a:r>
                <a:rPr lang="en-US" b="1" baseline="-25000"/>
                <a:t>8</a:t>
              </a:r>
            </a:p>
          </p:txBody>
        </p:sp>
        <p:sp>
          <p:nvSpPr>
            <p:cNvPr id="653" name="Rectangle 652">
              <a:extLst>
                <a:ext uri="{FF2B5EF4-FFF2-40B4-BE49-F238E27FC236}">
                  <a16:creationId xmlns:a16="http://schemas.microsoft.com/office/drawing/2014/main" id="{36B315C4-F27A-4A96-4EF0-79ACB059D6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9936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…</a:t>
              </a:r>
            </a:p>
          </p:txBody>
        </p:sp>
        <p:sp>
          <p:nvSpPr>
            <p:cNvPr id="654" name="Rectangle 653">
              <a:extLst>
                <a:ext uri="{FF2B5EF4-FFF2-40B4-BE49-F238E27FC236}">
                  <a16:creationId xmlns:a16="http://schemas.microsoft.com/office/drawing/2014/main" id="{2A69465E-4B78-6012-F01A-701F16F840D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5072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baseline="-25000"/>
            </a:p>
          </p:txBody>
        </p:sp>
      </p:grpSp>
      <p:cxnSp>
        <p:nvCxnSpPr>
          <p:cNvPr id="655" name="Shape 33">
            <a:extLst>
              <a:ext uri="{FF2B5EF4-FFF2-40B4-BE49-F238E27FC236}">
                <a16:creationId xmlns:a16="http://schemas.microsoft.com/office/drawing/2014/main" id="{E1DCB02E-C2FB-DABF-ACF9-A5FB64E02736}"/>
              </a:ext>
            </a:extLst>
          </p:cNvPr>
          <p:cNvCxnSpPr>
            <a:cxnSpLocks/>
            <a:stCxn id="649" idx="3"/>
            <a:endCxn id="641" idx="1"/>
          </p:cNvCxnSpPr>
          <p:nvPr/>
        </p:nvCxnSpPr>
        <p:spPr>
          <a:xfrm flipH="1">
            <a:off x="7865185" y="4815841"/>
            <a:ext cx="2179320" cy="894080"/>
          </a:xfrm>
          <a:prstGeom prst="bentConnector5">
            <a:avLst>
              <a:gd name="adj1" fmla="val -94406"/>
              <a:gd name="adj2" fmla="val 50000"/>
              <a:gd name="adj3" fmla="val 110490"/>
            </a:avLst>
          </a:prstGeom>
          <a:ln>
            <a:prstDash val="dash"/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56" name="TextBox 655">
            <a:extLst>
              <a:ext uri="{FF2B5EF4-FFF2-40B4-BE49-F238E27FC236}">
                <a16:creationId xmlns:a16="http://schemas.microsoft.com/office/drawing/2014/main" id="{22E90A8D-4CF8-7099-0334-D4F84F4E3CCD}"/>
              </a:ext>
            </a:extLst>
          </p:cNvPr>
          <p:cNvSpPr txBox="1"/>
          <p:nvPr/>
        </p:nvSpPr>
        <p:spPr>
          <a:xfrm>
            <a:off x="10777798" y="1893879"/>
            <a:ext cx="10504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CPUs</a:t>
            </a:r>
            <a:endParaRPr lang="en-AE" sz="2400" dirty="0"/>
          </a:p>
        </p:txBody>
      </p:sp>
      <p:grpSp>
        <p:nvGrpSpPr>
          <p:cNvPr id="657" name="Group 656">
            <a:extLst>
              <a:ext uri="{FF2B5EF4-FFF2-40B4-BE49-F238E27FC236}">
                <a16:creationId xmlns:a16="http://schemas.microsoft.com/office/drawing/2014/main" id="{9AC48FB5-9A2A-FD17-E133-6BACB865EF10}"/>
              </a:ext>
            </a:extLst>
          </p:cNvPr>
          <p:cNvGrpSpPr/>
          <p:nvPr/>
        </p:nvGrpSpPr>
        <p:grpSpPr>
          <a:xfrm>
            <a:off x="10698480" y="2301240"/>
            <a:ext cx="1092455" cy="3540361"/>
            <a:chOff x="10698480" y="2301240"/>
            <a:chExt cx="1092455" cy="3540361"/>
          </a:xfrm>
        </p:grpSpPr>
        <p:sp>
          <p:nvSpPr>
            <p:cNvPr id="658" name="Rectangle: Rounded Corners 657">
              <a:extLst>
                <a:ext uri="{FF2B5EF4-FFF2-40B4-BE49-F238E27FC236}">
                  <a16:creationId xmlns:a16="http://schemas.microsoft.com/office/drawing/2014/main" id="{6B576A43-CBC1-3CED-5717-88DEF62CBBC0}"/>
                </a:ext>
              </a:extLst>
            </p:cNvPr>
            <p:cNvSpPr/>
            <p:nvPr/>
          </p:nvSpPr>
          <p:spPr>
            <a:xfrm>
              <a:off x="10698480" y="2301240"/>
              <a:ext cx="1092455" cy="3540361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baseline="-25000" dirty="0"/>
            </a:p>
          </p:txBody>
        </p:sp>
        <p:pic>
          <p:nvPicPr>
            <p:cNvPr id="659" name="Picture 658">
              <a:extLst>
                <a:ext uri="{FF2B5EF4-FFF2-40B4-BE49-F238E27FC236}">
                  <a16:creationId xmlns:a16="http://schemas.microsoft.com/office/drawing/2014/main" id="{B5DDE47D-1232-C184-3DDB-63A3F55C9B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53888" y="2458826"/>
              <a:ext cx="782472" cy="793557"/>
            </a:xfrm>
            <a:prstGeom prst="rect">
              <a:avLst/>
            </a:prstGeom>
          </p:spPr>
        </p:pic>
        <p:pic>
          <p:nvPicPr>
            <p:cNvPr id="660" name="Picture 659">
              <a:extLst>
                <a:ext uri="{FF2B5EF4-FFF2-40B4-BE49-F238E27FC236}">
                  <a16:creationId xmlns:a16="http://schemas.microsoft.com/office/drawing/2014/main" id="{72B658F8-EF0C-ACF0-572D-24C1A80532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53888" y="3315626"/>
              <a:ext cx="782472" cy="793557"/>
            </a:xfrm>
            <a:prstGeom prst="rect">
              <a:avLst/>
            </a:prstGeom>
          </p:spPr>
        </p:pic>
        <p:pic>
          <p:nvPicPr>
            <p:cNvPr id="661" name="Picture 660">
              <a:extLst>
                <a:ext uri="{FF2B5EF4-FFF2-40B4-BE49-F238E27FC236}">
                  <a16:creationId xmlns:a16="http://schemas.microsoft.com/office/drawing/2014/main" id="{01E0965A-6562-FBD4-4107-42EB73413A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53888" y="5018589"/>
              <a:ext cx="782472" cy="793557"/>
            </a:xfrm>
            <a:prstGeom prst="rect">
              <a:avLst/>
            </a:prstGeom>
          </p:spPr>
        </p:pic>
        <p:sp>
          <p:nvSpPr>
            <p:cNvPr id="662" name="TextBox 661">
              <a:extLst>
                <a:ext uri="{FF2B5EF4-FFF2-40B4-BE49-F238E27FC236}">
                  <a16:creationId xmlns:a16="http://schemas.microsoft.com/office/drawing/2014/main" id="{00B08618-7E25-BD88-754D-5CDA1485EEEE}"/>
                </a:ext>
              </a:extLst>
            </p:cNvPr>
            <p:cNvSpPr txBox="1"/>
            <p:nvPr/>
          </p:nvSpPr>
          <p:spPr>
            <a:xfrm>
              <a:off x="11118639" y="4054879"/>
              <a:ext cx="23275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.</a:t>
              </a:r>
            </a:p>
            <a:p>
              <a:r>
                <a:rPr lang="en-US" dirty="0"/>
                <a:t>.</a:t>
              </a:r>
            </a:p>
            <a:p>
              <a:r>
                <a:rPr lang="en-US" dirty="0"/>
                <a:t>.</a:t>
              </a:r>
              <a:endParaRPr lang="en-AE" dirty="0"/>
            </a:p>
          </p:txBody>
        </p:sp>
      </p:grpSp>
      <p:grpSp>
        <p:nvGrpSpPr>
          <p:cNvPr id="663" name="Group 662">
            <a:extLst>
              <a:ext uri="{FF2B5EF4-FFF2-40B4-BE49-F238E27FC236}">
                <a16:creationId xmlns:a16="http://schemas.microsoft.com/office/drawing/2014/main" id="{BC12FDCA-09D2-863D-9033-06958F2CA397}"/>
              </a:ext>
            </a:extLst>
          </p:cNvPr>
          <p:cNvGrpSpPr/>
          <p:nvPr/>
        </p:nvGrpSpPr>
        <p:grpSpPr>
          <a:xfrm>
            <a:off x="6796566" y="2059384"/>
            <a:ext cx="1053199" cy="455216"/>
            <a:chOff x="6597571" y="3080463"/>
            <a:chExt cx="1333468" cy="455216"/>
          </a:xfrm>
        </p:grpSpPr>
        <p:sp>
          <p:nvSpPr>
            <p:cNvPr id="664" name="Arrow: Right 663">
              <a:extLst>
                <a:ext uri="{FF2B5EF4-FFF2-40B4-BE49-F238E27FC236}">
                  <a16:creationId xmlns:a16="http://schemas.microsoft.com/office/drawing/2014/main" id="{DB23CD59-A567-75A7-2BC9-4C573DB28991}"/>
                </a:ext>
              </a:extLst>
            </p:cNvPr>
            <p:cNvSpPr/>
            <p:nvPr/>
          </p:nvSpPr>
          <p:spPr>
            <a:xfrm>
              <a:off x="6597571" y="3363912"/>
              <a:ext cx="1333468" cy="171767"/>
            </a:xfrm>
            <a:prstGeom prst="rightArrow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  <p:sp>
          <p:nvSpPr>
            <p:cNvPr id="665" name="TextBox 664">
              <a:extLst>
                <a:ext uri="{FF2B5EF4-FFF2-40B4-BE49-F238E27FC236}">
                  <a16:creationId xmlns:a16="http://schemas.microsoft.com/office/drawing/2014/main" id="{38CD089D-1DAE-FA43-3A03-CDA8BD67EAF2}"/>
                </a:ext>
              </a:extLst>
            </p:cNvPr>
            <p:cNvSpPr txBox="1"/>
            <p:nvPr/>
          </p:nvSpPr>
          <p:spPr>
            <a:xfrm>
              <a:off x="6793386" y="3080463"/>
              <a:ext cx="8325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Admit</a:t>
              </a:r>
              <a:endParaRPr lang="en-AE" b="1" dirty="0"/>
            </a:p>
          </p:txBody>
        </p:sp>
      </p:grpSp>
      <p:pic>
        <p:nvPicPr>
          <p:cNvPr id="666" name="Picture 665" descr="Timer time stock illustration. Illustration of isolated - 7534112">
            <a:extLst>
              <a:ext uri="{FF2B5EF4-FFF2-40B4-BE49-F238E27FC236}">
                <a16:creationId xmlns:a16="http://schemas.microsoft.com/office/drawing/2014/main" id="{44F900EA-62C7-5BAB-A4B1-25C3343348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555"/>
          <a:stretch>
            <a:fillRect/>
          </a:stretch>
        </p:blipFill>
        <p:spPr>
          <a:xfrm>
            <a:off x="10157932" y="2164346"/>
            <a:ext cx="390515" cy="395706"/>
          </a:xfrm>
          <a:prstGeom prst="rect">
            <a:avLst/>
          </a:prstGeom>
        </p:spPr>
      </p:pic>
      <p:pic>
        <p:nvPicPr>
          <p:cNvPr id="667" name="Picture 666" descr="Timer time stock illustration. Illustration of isolated - 7534112">
            <a:extLst>
              <a:ext uri="{FF2B5EF4-FFF2-40B4-BE49-F238E27FC236}">
                <a16:creationId xmlns:a16="http://schemas.microsoft.com/office/drawing/2014/main" id="{73367291-0D99-98D8-A1E0-762EF32595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555"/>
          <a:stretch>
            <a:fillRect/>
          </a:stretch>
        </p:blipFill>
        <p:spPr>
          <a:xfrm>
            <a:off x="10157932" y="3148361"/>
            <a:ext cx="390515" cy="395706"/>
          </a:xfrm>
          <a:prstGeom prst="rect">
            <a:avLst/>
          </a:prstGeom>
        </p:spPr>
      </p:pic>
      <p:pic>
        <p:nvPicPr>
          <p:cNvPr id="668" name="Picture 667" descr="Timer time stock illustration. Illustration of isolated - 7534112">
            <a:extLst>
              <a:ext uri="{FF2B5EF4-FFF2-40B4-BE49-F238E27FC236}">
                <a16:creationId xmlns:a16="http://schemas.microsoft.com/office/drawing/2014/main" id="{1584EEAD-C4C9-2BCB-B85B-6AC05601FD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555"/>
          <a:stretch>
            <a:fillRect/>
          </a:stretch>
        </p:blipFill>
        <p:spPr>
          <a:xfrm>
            <a:off x="10157932" y="4392747"/>
            <a:ext cx="390515" cy="395706"/>
          </a:xfrm>
          <a:prstGeom prst="rect">
            <a:avLst/>
          </a:prstGeom>
        </p:spPr>
      </p:pic>
      <p:pic>
        <p:nvPicPr>
          <p:cNvPr id="669" name="Picture 668" descr="Timer time stock illustration. Illustration of isolated - 7534112">
            <a:extLst>
              <a:ext uri="{FF2B5EF4-FFF2-40B4-BE49-F238E27FC236}">
                <a16:creationId xmlns:a16="http://schemas.microsoft.com/office/drawing/2014/main" id="{D22CF059-77E1-6031-4D77-E7AE06649C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555"/>
          <a:stretch>
            <a:fillRect/>
          </a:stretch>
        </p:blipFill>
        <p:spPr>
          <a:xfrm>
            <a:off x="10157932" y="5286827"/>
            <a:ext cx="390515" cy="395706"/>
          </a:xfrm>
          <a:prstGeom prst="rect">
            <a:avLst/>
          </a:prstGeom>
        </p:spPr>
      </p:pic>
      <p:grpSp>
        <p:nvGrpSpPr>
          <p:cNvPr id="670" name="Group 669">
            <a:extLst>
              <a:ext uri="{FF2B5EF4-FFF2-40B4-BE49-F238E27FC236}">
                <a16:creationId xmlns:a16="http://schemas.microsoft.com/office/drawing/2014/main" id="{3BB3DDC2-23D2-D3D5-91E8-95CF2741ADEC}"/>
              </a:ext>
            </a:extLst>
          </p:cNvPr>
          <p:cNvGrpSpPr/>
          <p:nvPr/>
        </p:nvGrpSpPr>
        <p:grpSpPr>
          <a:xfrm>
            <a:off x="7877847" y="2302271"/>
            <a:ext cx="2179320" cy="548640"/>
            <a:chOff x="1950720" y="5410200"/>
            <a:chExt cx="2179320" cy="548640"/>
          </a:xfrm>
        </p:grpSpPr>
        <p:sp>
          <p:nvSpPr>
            <p:cNvPr id="671" name="Rectangle 670">
              <a:extLst>
                <a:ext uri="{FF2B5EF4-FFF2-40B4-BE49-F238E27FC236}">
                  <a16:creationId xmlns:a16="http://schemas.microsoft.com/office/drawing/2014/main" id="{800ACEB5-965B-7698-B896-2E59B09342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8140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P</a:t>
              </a:r>
              <a:r>
                <a:rPr lang="en-US" b="1" baseline="-25000" dirty="0"/>
                <a:t>4</a:t>
              </a:r>
            </a:p>
          </p:txBody>
        </p:sp>
        <p:sp>
          <p:nvSpPr>
            <p:cNvPr id="672" name="Rectangle 671">
              <a:extLst>
                <a:ext uri="{FF2B5EF4-FFF2-40B4-BE49-F238E27FC236}">
                  <a16:creationId xmlns:a16="http://schemas.microsoft.com/office/drawing/2014/main" id="{F386B4B4-49CF-11E5-F32C-88B5949DA33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3276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…</a:t>
              </a:r>
            </a:p>
          </p:txBody>
        </p:sp>
        <p:sp>
          <p:nvSpPr>
            <p:cNvPr id="673" name="Rectangle 672">
              <a:extLst>
                <a:ext uri="{FF2B5EF4-FFF2-40B4-BE49-F238E27FC236}">
                  <a16:creationId xmlns:a16="http://schemas.microsoft.com/office/drawing/2014/main" id="{C16B4A17-F61D-A0F6-7784-88BEED544B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9936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674" name="Rectangle 673">
              <a:extLst>
                <a:ext uri="{FF2B5EF4-FFF2-40B4-BE49-F238E27FC236}">
                  <a16:creationId xmlns:a16="http://schemas.microsoft.com/office/drawing/2014/main" id="{63FFC29C-3F05-9CA8-E929-CB30BD08D6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5072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baseline="-25000"/>
            </a:p>
          </p:txBody>
        </p:sp>
      </p:grpSp>
      <p:pic>
        <p:nvPicPr>
          <p:cNvPr id="675" name="Picture 674" descr="Download Free Unlimited use Icons in PNG &amp; SVG | Magnific (formerly Freepik)">
            <a:extLst>
              <a:ext uri="{FF2B5EF4-FFF2-40B4-BE49-F238E27FC236}">
                <a16:creationId xmlns:a16="http://schemas.microsoft.com/office/drawing/2014/main" id="{A4CAB3A7-CD98-6D04-0058-1918FD3A83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4924" y="5215344"/>
            <a:ext cx="525319" cy="525319"/>
          </a:xfrm>
          <a:prstGeom prst="rect">
            <a:avLst/>
          </a:prstGeom>
        </p:spPr>
      </p:pic>
      <p:sp>
        <p:nvSpPr>
          <p:cNvPr id="651" name="TextShape 2">
            <a:extLst>
              <a:ext uri="{FF2B5EF4-FFF2-40B4-BE49-F238E27FC236}">
                <a16:creationId xmlns:a16="http://schemas.microsoft.com/office/drawing/2014/main" id="{76CDB41B-76C4-3362-DD30-5F0D5A9BC17D}"/>
              </a:ext>
            </a:extLst>
          </p:cNvPr>
          <p:cNvSpPr txBox="1"/>
          <p:nvPr/>
        </p:nvSpPr>
        <p:spPr>
          <a:xfrm>
            <a:off x="-1" y="1779103"/>
            <a:ext cx="7011733" cy="44845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noAutofit/>
          </a:bodyPr>
          <a:lstStyle/>
          <a:p>
            <a:pPr marL="343080" indent="-342720">
              <a:lnSpc>
                <a:spcPct val="15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spc="-1" dirty="0">
                <a:solidFill>
                  <a:srgbClr val="FF0000"/>
                </a:solidFill>
                <a:latin typeface="+mj-lt"/>
              </a:rPr>
              <a:t>Cons</a:t>
            </a:r>
            <a:endParaRPr lang="en-US" sz="2400" spc="-1" dirty="0">
              <a:solidFill>
                <a:srgbClr val="FF0000"/>
              </a:solidFill>
              <a:latin typeface="+mj-lt"/>
            </a:endParaRPr>
          </a:p>
          <a:p>
            <a:pPr marL="800280" lvl="1" indent="-342720">
              <a:lnSpc>
                <a:spcPct val="15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dirty="0"/>
              <a:t>Longer processes may suffer </a:t>
            </a:r>
            <a:r>
              <a:rPr lang="en-US" sz="2000" b="1" dirty="0"/>
              <a:t>starvation </a:t>
            </a:r>
            <a:r>
              <a:rPr lang="en-US" sz="2000" dirty="0"/>
              <a:t>if there is a </a:t>
            </a:r>
            <a:r>
              <a:rPr lang="en-US" sz="2000" b="1" dirty="0"/>
              <a:t>steady supply </a:t>
            </a:r>
            <a:r>
              <a:rPr lang="en-US" sz="2000" dirty="0"/>
              <a:t>of new processes.</a:t>
            </a:r>
          </a:p>
          <a:p>
            <a:pPr marL="457560" lvl="2">
              <a:lnSpc>
                <a:spcPct val="150000"/>
              </a:lnSpc>
              <a:spcBef>
                <a:spcPts val="641"/>
              </a:spcBef>
              <a:buClr>
                <a:srgbClr val="000000"/>
              </a:buClr>
            </a:pPr>
            <a:r>
              <a:rPr lang="en-US" sz="2400" b="1" spc="-1" dirty="0">
                <a:solidFill>
                  <a:srgbClr val="00B050"/>
                </a:solidFill>
                <a:latin typeface="+mj-lt"/>
              </a:rPr>
              <a:t>Solution</a:t>
            </a:r>
          </a:p>
          <a:p>
            <a:pPr marL="800280" lvl="2" indent="-342720">
              <a:lnSpc>
                <a:spcPct val="15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dirty="0"/>
              <a:t>Allow a process to </a:t>
            </a:r>
            <a:r>
              <a:rPr lang="en-US" sz="2000" b="1" dirty="0"/>
              <a:t>change its priority </a:t>
            </a:r>
            <a:r>
              <a:rPr lang="en-US" sz="2000" dirty="0"/>
              <a:t>based on </a:t>
            </a:r>
            <a:r>
              <a:rPr lang="en-US" sz="2000" b="1" dirty="0"/>
              <a:t>its age </a:t>
            </a:r>
            <a:r>
              <a:rPr lang="en-US" sz="2000" dirty="0"/>
              <a:t>(IF WAITING TIME EXCEEDS CERTAIN THRESHOLD)</a:t>
            </a:r>
          </a:p>
        </p:txBody>
      </p:sp>
      <p:sp>
        <p:nvSpPr>
          <p:cNvPr id="652" name="CustomShape 3">
            <a:extLst>
              <a:ext uri="{FF2B5EF4-FFF2-40B4-BE49-F238E27FC236}">
                <a16:creationId xmlns:a16="http://schemas.microsoft.com/office/drawing/2014/main" id="{D2C90371-BB28-25DE-179F-6E832025645E}"/>
              </a:ext>
            </a:extLst>
          </p:cNvPr>
          <p:cNvSpPr/>
          <p:nvPr/>
        </p:nvSpPr>
        <p:spPr>
          <a:xfrm>
            <a:off x="1524000" y="0"/>
            <a:ext cx="9143640" cy="3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A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48C20E4-9E40-AE5B-AC0F-34295E0E8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MLFQ </a:t>
            </a:r>
            <a:r>
              <a:rPr lang="en-US" sz="4800" dirty="0"/>
              <a:t>Scheduler</a:t>
            </a:r>
            <a:r>
              <a:rPr lang="en-US" sz="4800" dirty="0">
                <a:latin typeface="+mj-lt"/>
              </a:rPr>
              <a:t>: </a:t>
            </a:r>
            <a:r>
              <a:rPr lang="en-US" sz="4800" b="1" dirty="0">
                <a:latin typeface="+mj-lt"/>
              </a:rPr>
              <a:t>Overview</a:t>
            </a:r>
            <a:endParaRPr lang="en-A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C99ABF-7743-9147-3AA4-62B13B0A34EE}"/>
              </a:ext>
            </a:extLst>
          </p:cNvPr>
          <p:cNvSpPr txBox="1"/>
          <p:nvPr/>
        </p:nvSpPr>
        <p:spPr>
          <a:xfrm>
            <a:off x="0" y="0"/>
            <a:ext cx="31484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/>
              <a:t>Refer to </a:t>
            </a:r>
            <a:r>
              <a:rPr lang="en-US" sz="2000" b="1">
                <a:hlinkClick r:id="rId5" action="ppaction://hlinkfile"/>
              </a:rPr>
              <a:t>APPENDICES</a:t>
            </a:r>
            <a:r>
              <a:rPr lang="en-US" sz="2000" b="1"/>
              <a:t> for:</a:t>
            </a:r>
            <a:endParaRPr lang="en-AE" sz="2000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D41293-A229-E349-614C-3E0AC3DA6EF9}"/>
              </a:ext>
            </a:extLst>
          </p:cNvPr>
          <p:cNvSpPr txBox="1"/>
          <p:nvPr/>
        </p:nvSpPr>
        <p:spPr>
          <a:xfrm>
            <a:off x="739434" y="512973"/>
            <a:ext cx="31544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CPU &amp; Scheduler Functions</a:t>
            </a:r>
            <a:endParaRPr lang="en-AE" sz="2000" dirty="0"/>
          </a:p>
        </p:txBody>
      </p:sp>
      <p:pic>
        <p:nvPicPr>
          <p:cNvPr id="29" name="Picture 2" descr="CPU Icon. Central Processor Unit Vector Sign. Micro Chip Electronics  Illustration. Semiconductor Logo. Microchip and Circuits Board Industry  Symbol. Stock Vector | Adobe Stock">
            <a:extLst>
              <a:ext uri="{FF2B5EF4-FFF2-40B4-BE49-F238E27FC236}">
                <a16:creationId xmlns:a16="http://schemas.microsoft.com/office/drawing/2014/main" id="{9BE51CAA-C064-67C7-2C26-56B3A567FF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51" t="6240" r="12648" b="19574"/>
          <a:stretch/>
        </p:blipFill>
        <p:spPr bwMode="auto">
          <a:xfrm>
            <a:off x="291888" y="466084"/>
            <a:ext cx="515565" cy="517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79" name="Rectangle 678">
            <a:extLst>
              <a:ext uri="{FF2B5EF4-FFF2-40B4-BE49-F238E27FC236}">
                <a16:creationId xmlns:a16="http://schemas.microsoft.com/office/drawing/2014/main" id="{7B1D6E55-A6A4-6A6D-A985-C9ED1D031CE9}"/>
              </a:ext>
            </a:extLst>
          </p:cNvPr>
          <p:cNvSpPr>
            <a:spLocks noChangeAspect="1"/>
          </p:cNvSpPr>
          <p:nvPr/>
        </p:nvSpPr>
        <p:spPr>
          <a:xfrm>
            <a:off x="8971930" y="5438625"/>
            <a:ext cx="548640" cy="5486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baseline="-25000"/>
          </a:p>
        </p:txBody>
      </p:sp>
      <p:sp>
        <p:nvSpPr>
          <p:cNvPr id="678" name="Rectangle 677">
            <a:extLst>
              <a:ext uri="{FF2B5EF4-FFF2-40B4-BE49-F238E27FC236}">
                <a16:creationId xmlns:a16="http://schemas.microsoft.com/office/drawing/2014/main" id="{B94ADA05-DAA1-429C-5D9B-E9583DD75455}"/>
              </a:ext>
            </a:extLst>
          </p:cNvPr>
          <p:cNvSpPr>
            <a:spLocks noChangeAspect="1"/>
          </p:cNvSpPr>
          <p:nvPr/>
        </p:nvSpPr>
        <p:spPr>
          <a:xfrm>
            <a:off x="7857437" y="5434470"/>
            <a:ext cx="548640" cy="5486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baseline="-2500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A496AE6-22DD-C207-86BA-5400AC153080}"/>
              </a:ext>
            </a:extLst>
          </p:cNvPr>
          <p:cNvSpPr>
            <a:spLocks noChangeAspect="1"/>
          </p:cNvSpPr>
          <p:nvPr/>
        </p:nvSpPr>
        <p:spPr>
          <a:xfrm>
            <a:off x="7871045" y="5439411"/>
            <a:ext cx="548640" cy="5486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P</a:t>
            </a:r>
            <a:r>
              <a:rPr lang="en-US" b="1" baseline="-25000" dirty="0"/>
              <a:t>12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C74DD438-1317-1EBD-5D7B-6258696F8430}"/>
              </a:ext>
            </a:extLst>
          </p:cNvPr>
          <p:cNvSpPr/>
          <p:nvPr/>
        </p:nvSpPr>
        <p:spPr bwMode="auto">
          <a:xfrm>
            <a:off x="7858585" y="5451357"/>
            <a:ext cx="557598" cy="524748"/>
          </a:xfrm>
          <a:prstGeom prst="roundRect">
            <a:avLst/>
          </a:prstGeom>
          <a:solidFill>
            <a:srgbClr val="FF0000">
              <a:alpha val="40000"/>
            </a:srgb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CF9EB4A-3748-FB47-9D0D-661C80ED0524}"/>
              </a:ext>
            </a:extLst>
          </p:cNvPr>
          <p:cNvSpPr>
            <a:spLocks noChangeAspect="1"/>
          </p:cNvSpPr>
          <p:nvPr/>
        </p:nvSpPr>
        <p:spPr>
          <a:xfrm>
            <a:off x="8977283" y="5431320"/>
            <a:ext cx="548640" cy="5486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P</a:t>
            </a:r>
            <a:r>
              <a:rPr lang="en-US" b="1" baseline="-25000"/>
              <a:t>5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B6048F20-9079-0703-3522-8D8B336CA9F0}"/>
              </a:ext>
            </a:extLst>
          </p:cNvPr>
          <p:cNvSpPr/>
          <p:nvPr/>
        </p:nvSpPr>
        <p:spPr bwMode="auto">
          <a:xfrm>
            <a:off x="8975318" y="5445649"/>
            <a:ext cx="557598" cy="524748"/>
          </a:xfrm>
          <a:prstGeom prst="roundRect">
            <a:avLst/>
          </a:prstGeom>
          <a:solidFill>
            <a:srgbClr val="FF0000">
              <a:alpha val="40000"/>
            </a:srgb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7691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6 0.00672 L 0.0056 0.00695 C 0.00443 0.00209 0.00313 -0.00208 0.00222 -0.00671 C 0.00144 -0.01064 0.00157 -0.01504 0.00053 -0.01851 C -4.16667E-6 -0.0206 -0.00742 -0.03819 -0.0095 -0.03935 C -0.01224 -0.04097 -0.01211 -0.0412 -0.01536 -0.04236 C -0.03958 -0.05185 -0.02643 -0.04675 -0.06862 -0.04838 C -0.09336 -0.05717 -0.07421 -0.05115 -0.12695 -0.05277 C -0.12812 -0.05416 -0.12916 -0.05601 -0.13033 -0.05717 C -0.13112 -0.05787 -0.13203 -0.0581 -0.13281 -0.05856 C -0.13398 -0.05949 -0.13502 -0.06064 -0.13619 -0.06157 C -0.13828 -0.07685 -0.13541 -0.0581 -0.13867 -0.07361 C -0.13906 -0.07546 -0.13919 -0.07754 -0.13945 -0.07939 C -0.13919 -0.08935 -0.13919 -0.0993 -0.13867 -0.10902 C -0.13854 -0.11111 -0.13841 -0.11319 -0.13789 -0.11504 C -0.13724 -0.11689 -0.13606 -0.11782 -0.13528 -0.11944 C -0.13476 -0.12083 -0.13411 -0.12245 -0.13372 -0.12384 C -0.13333 -0.12546 -0.13346 -0.12731 -0.13281 -0.12847 C -0.13229 -0.12939 -0.13112 -0.12939 -0.13033 -0.12986 C -0.11966 -0.14398 -0.12812 -0.13472 -0.09947 -0.13287 C -0.06093 -0.13032 -0.10612 -0.13148 -0.04453 -0.13148 L -0.04609 -0.12986 " pathEditMode="relative" rAng="0" ptsTypes="AAAAAAAAAAAAAAAAAAAAAA">
                                      <p:cBhvr>
                                        <p:cTn id="28" dur="1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53" y="-7222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 0.00023 L -0.003 0.00046 C -0.00716 -0.00092 -0.0112 -0.00231 -0.01524 -0.00278 C -0.028 -0.00393 -0.04089 -0.00139 -0.05352 -0.00416 C -0.05508 -0.00463 -0.05482 -0.00903 -0.05521 -0.01157 C -0.05586 -0.01528 -0.05664 -0.02569 -0.05677 -0.02893 C -0.05651 -0.0419 -0.05638 -0.05509 -0.05599 -0.06805 C -0.05547 -0.08773 -0.05599 -0.08241 -0.05443 -0.09421 C -0.05417 -0.1 -0.05391 -0.10579 -0.05352 -0.11157 C -0.05339 -0.11389 -0.05287 -0.125 -0.05195 -0.12893 C -0.04727 -0.14861 -0.053 -0.11921 -0.04948 -0.1375 C -0.03451 -0.13704 -0.01953 -0.13796 -0.00469 -0.13611 C -0.00117 -0.13565 -0.00143 -0.13333 -0.00143 -0.13032 L -0.00052 -0.13032 " pathEditMode="relative" rAng="0" ptsTypes="AAAAAAAAAAAAAA">
                                      <p:cBhvr>
                                        <p:cTn id="35" dur="1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65" y="-6875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9" grpId="0" animBg="1"/>
      <p:bldP spid="678" grpId="0" animBg="1"/>
      <p:bldP spid="51" grpId="0" animBg="1"/>
      <p:bldP spid="47" grpId="0" animBg="1"/>
      <p:bldP spid="47" grpId="1" animBg="1"/>
      <p:bldP spid="50" grpId="0" animBg="1"/>
      <p:bldP spid="49" grpId="0" animBg="1"/>
      <p:bldP spid="49" grpId="1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C3A37D3-15AE-7702-E2FB-C4F3EBE3DB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842478-FA69-988F-79DD-BFB52AE3A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1" y="1277266"/>
            <a:ext cx="12094509" cy="21948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9E1479-DC84-0AD1-A48B-CB50F79ED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413" y="0"/>
            <a:ext cx="11601813" cy="778631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00B050"/>
                </a:solidFill>
              </a:rPr>
              <a:t>Given</a:t>
            </a:r>
            <a:r>
              <a:rPr lang="en-US" dirty="0"/>
              <a:t> Data Structures &amp; Functions</a:t>
            </a:r>
            <a:endParaRPr lang="en-AE" b="1" dirty="0">
              <a:solidFill>
                <a:srgbClr val="FF0000"/>
              </a:solidFill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FDE0CF6-7E7C-4900-2E9C-9DD38322B518}"/>
              </a:ext>
            </a:extLst>
          </p:cNvPr>
          <p:cNvGrpSpPr/>
          <p:nvPr/>
        </p:nvGrpSpPr>
        <p:grpSpPr>
          <a:xfrm>
            <a:off x="-6673" y="773105"/>
            <a:ext cx="12122473" cy="523220"/>
            <a:chOff x="-6673" y="1059483"/>
            <a:chExt cx="12122473" cy="52322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73BD32B-1A94-1971-568E-7814B854514C}"/>
                </a:ext>
              </a:extLst>
            </p:cNvPr>
            <p:cNvSpPr txBox="1"/>
            <p:nvPr/>
          </p:nvSpPr>
          <p:spPr>
            <a:xfrm>
              <a:off x="-6673" y="1059483"/>
              <a:ext cx="145447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Queues</a:t>
              </a:r>
              <a:endParaRPr kumimoji="0" lang="en-AE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DB5034B-5EA8-2F05-D7F8-A7EBACBA41A0}"/>
                </a:ext>
              </a:extLst>
            </p:cNvPr>
            <p:cNvSpPr txBox="1"/>
            <p:nvPr/>
          </p:nvSpPr>
          <p:spPr>
            <a:xfrm>
              <a:off x="10363199" y="1182672"/>
              <a:ext cx="17526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Gill Sans Light"/>
                  <a:ea typeface="+mn-ea"/>
                  <a:cs typeface="+mn-cs"/>
                </a:rPr>
                <a:t>kern/</a:t>
              </a:r>
              <a:r>
                <a:rPr kumimoji="0" lang="en-US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Gill Sans Light"/>
                  <a:ea typeface="+mn-ea"/>
                  <a:cs typeface="+mn-cs"/>
                </a:rPr>
                <a:t>cpu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Gill Sans Light"/>
                  <a:ea typeface="+mn-ea"/>
                  <a:cs typeface="+mn-cs"/>
                </a:rPr>
                <a:t>/sched.</a:t>
              </a:r>
              <a:r>
                <a:rPr lang="en-US" b="1" dirty="0">
                  <a:solidFill>
                    <a:srgbClr val="FF0000"/>
                  </a:solidFill>
                  <a:latin typeface="Gill Sans Light"/>
                </a:rPr>
                <a:t>h</a:t>
              </a:r>
              <a:endParaRPr kumimoji="0" lang="en-AE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Light"/>
                <a:ea typeface="+mn-ea"/>
                <a:cs typeface="+mn-cs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0F250E2-98BD-02B2-DA8A-9C0CBB53BD00}"/>
              </a:ext>
            </a:extLst>
          </p:cNvPr>
          <p:cNvGrpSpPr/>
          <p:nvPr/>
        </p:nvGrpSpPr>
        <p:grpSpPr>
          <a:xfrm>
            <a:off x="-53776" y="4746437"/>
            <a:ext cx="5513314" cy="523220"/>
            <a:chOff x="-6673" y="1059483"/>
            <a:chExt cx="5513314" cy="52322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7D94751-4E48-0CEA-13FC-E2F634F8A015}"/>
                </a:ext>
              </a:extLst>
            </p:cNvPr>
            <p:cNvSpPr txBox="1"/>
            <p:nvPr/>
          </p:nvSpPr>
          <p:spPr>
            <a:xfrm>
              <a:off x="-6673" y="1059483"/>
              <a:ext cx="300428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Queues Function</a:t>
              </a:r>
              <a:endParaRPr kumimoji="0" lang="en-AE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DA3E8DC-9920-B50B-0D2C-30B4E180D929}"/>
                </a:ext>
              </a:extLst>
            </p:cNvPr>
            <p:cNvSpPr txBox="1"/>
            <p:nvPr/>
          </p:nvSpPr>
          <p:spPr>
            <a:xfrm>
              <a:off x="2984535" y="1174600"/>
              <a:ext cx="25221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Gill Sans Light"/>
                  <a:ea typeface="+mn-ea"/>
                  <a:cs typeface="+mn-cs"/>
                </a:rPr>
                <a:t>kern/</a:t>
              </a:r>
              <a:r>
                <a:rPr kumimoji="0" lang="en-US" sz="1800" b="1" i="0" u="none" strike="noStrike" kern="1200" cap="none" spc="0" normalizeH="0" baseline="0" noProof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Gill Sans Light"/>
                  <a:ea typeface="+mn-ea"/>
                  <a:cs typeface="+mn-cs"/>
                </a:rPr>
                <a:t>cpu</a:t>
              </a: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Gill Sans Light"/>
                  <a:ea typeface="+mn-ea"/>
                  <a:cs typeface="+mn-cs"/>
                </a:rPr>
                <a:t>/</a:t>
              </a:r>
              <a:r>
                <a:rPr kumimoji="0" lang="en-US" sz="1800" b="1" i="0" u="none" strike="noStrike" kern="1200" cap="none" spc="0" normalizeH="0" baseline="0" noProof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Gill Sans Light"/>
                  <a:ea typeface="+mn-ea"/>
                  <a:cs typeface="+mn-cs"/>
                </a:rPr>
                <a:t>sched_helpers.c</a:t>
              </a:r>
              <a:endParaRPr kumimoji="0" lang="en-AE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Light"/>
                <a:ea typeface="+mn-ea"/>
                <a:cs typeface="+mn-cs"/>
              </a:endParaRP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0A3C849F-5699-619E-525E-E626E1B7B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8161" y="4740966"/>
            <a:ext cx="4382457" cy="2117034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9F031F67-6E59-569C-CA4B-B281E7E97557}"/>
              </a:ext>
            </a:extLst>
          </p:cNvPr>
          <p:cNvGrpSpPr/>
          <p:nvPr/>
        </p:nvGrpSpPr>
        <p:grpSpPr>
          <a:xfrm>
            <a:off x="7357600" y="4217746"/>
            <a:ext cx="4861288" cy="523220"/>
            <a:chOff x="145053" y="1059483"/>
            <a:chExt cx="4861288" cy="52322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2F24882-4CED-42CB-DA62-0D7494151313}"/>
                </a:ext>
              </a:extLst>
            </p:cNvPr>
            <p:cNvSpPr txBox="1"/>
            <p:nvPr/>
          </p:nvSpPr>
          <p:spPr>
            <a:xfrm>
              <a:off x="145053" y="1059483"/>
              <a:ext cx="285255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Sched Function</a:t>
              </a:r>
              <a:endParaRPr kumimoji="0" lang="en-AE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009BF48-3B64-3938-0D8A-EB87FF187025}"/>
                </a:ext>
              </a:extLst>
            </p:cNvPr>
            <p:cNvSpPr txBox="1"/>
            <p:nvPr/>
          </p:nvSpPr>
          <p:spPr>
            <a:xfrm>
              <a:off x="2583626" y="1151986"/>
              <a:ext cx="24227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Gill Sans Light"/>
                  <a:ea typeface="+mn-ea"/>
                  <a:cs typeface="+mn-cs"/>
                </a:rPr>
                <a:t>kern/</a:t>
              </a:r>
              <a:r>
                <a:rPr kumimoji="0" lang="en-US" sz="1800" b="1" i="0" u="none" strike="noStrike" kern="1200" cap="none" spc="0" normalizeH="0" baseline="0" noProof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Gill Sans Light"/>
                  <a:ea typeface="+mn-ea"/>
                  <a:cs typeface="+mn-cs"/>
                </a:rPr>
                <a:t>cpu</a:t>
              </a: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Gill Sans Light"/>
                  <a:ea typeface="+mn-ea"/>
                  <a:cs typeface="+mn-cs"/>
                </a:rPr>
                <a:t>/</a:t>
              </a:r>
              <a:r>
                <a:rPr kumimoji="0" lang="en-US" sz="1800" b="1" i="0" u="none" strike="noStrike" kern="1200" cap="none" spc="0" normalizeH="0" baseline="0" noProof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Gill Sans Light"/>
                  <a:ea typeface="+mn-ea"/>
                  <a:cs typeface="+mn-cs"/>
                </a:rPr>
                <a:t>sched_helpers.c</a:t>
              </a:r>
              <a:endParaRPr kumimoji="0" lang="en-AE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Light"/>
                <a:ea typeface="+mn-ea"/>
                <a:cs typeface="+mn-cs"/>
              </a:endParaRPr>
            </a:p>
          </p:txBody>
        </p:sp>
      </p:grp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9BBBD7E-D7F7-54F3-4DE6-E36B99D4FEE8}"/>
              </a:ext>
            </a:extLst>
          </p:cNvPr>
          <p:cNvSpPr/>
          <p:nvPr/>
        </p:nvSpPr>
        <p:spPr bwMode="auto">
          <a:xfrm>
            <a:off x="2950509" y="1893900"/>
            <a:ext cx="1088091" cy="334322"/>
          </a:xfrm>
          <a:prstGeom prst="roundRect">
            <a:avLst/>
          </a:prstGeom>
          <a:solidFill>
            <a:srgbClr val="FF0000">
              <a:alpha val="40000"/>
            </a:srgb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4AC3534-3C5C-17E9-0754-C3C115C1FF20}"/>
              </a:ext>
            </a:extLst>
          </p:cNvPr>
          <p:cNvGrpSpPr/>
          <p:nvPr/>
        </p:nvGrpSpPr>
        <p:grpSpPr>
          <a:xfrm>
            <a:off x="8940801" y="0"/>
            <a:ext cx="3304976" cy="983628"/>
            <a:chOff x="8940801" y="0"/>
            <a:chExt cx="3304976" cy="98362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B877D45-E0C8-25EA-F24A-98EFC792B2FA}"/>
                </a:ext>
              </a:extLst>
            </p:cNvPr>
            <p:cNvSpPr txBox="1"/>
            <p:nvPr/>
          </p:nvSpPr>
          <p:spPr>
            <a:xfrm>
              <a:off x="8940801" y="0"/>
              <a:ext cx="330497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Refer to </a:t>
              </a:r>
              <a:r>
                <a:rPr lang="en-US" sz="2000" b="1" dirty="0">
                  <a:hlinkClick r:id="rId4" action="ppaction://hlinkfile"/>
                </a:rPr>
                <a:t>APPENDICES</a:t>
              </a:r>
              <a:r>
                <a:rPr lang="en-US" sz="2000" b="1" dirty="0"/>
                <a:t> for:</a:t>
              </a:r>
              <a:endParaRPr lang="en-AE" sz="2000" b="1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093F1AD-E2A3-B3F3-C309-C685D9FECF79}"/>
                </a:ext>
              </a:extLst>
            </p:cNvPr>
            <p:cNvSpPr txBox="1"/>
            <p:nvPr/>
          </p:nvSpPr>
          <p:spPr>
            <a:xfrm>
              <a:off x="9528819" y="512973"/>
              <a:ext cx="258698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CPU &amp; Scheduler </a:t>
              </a:r>
              <a:r>
                <a:rPr lang="en-US" sz="2000" dirty="0" err="1"/>
                <a:t>Fns</a:t>
              </a:r>
              <a:endParaRPr lang="en-AE" sz="2000" dirty="0"/>
            </a:p>
          </p:txBody>
        </p:sp>
        <p:pic>
          <p:nvPicPr>
            <p:cNvPr id="13" name="Picture 2" descr="CPU Icon. Central Processor Unit Vector Sign. Micro Chip Electronics  Illustration. Semiconductor Logo. Microchip and Circuits Board Industry  Symbol. Stock Vector | Adobe Stock">
              <a:extLst>
                <a:ext uri="{FF2B5EF4-FFF2-40B4-BE49-F238E27FC236}">
                  <a16:creationId xmlns:a16="http://schemas.microsoft.com/office/drawing/2014/main" id="{E159E8A7-0CEF-A529-942A-0299D37275D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451" t="6240" r="12648" b="19574"/>
            <a:stretch/>
          </p:blipFill>
          <p:spPr bwMode="auto">
            <a:xfrm>
              <a:off x="9013253" y="466084"/>
              <a:ext cx="515565" cy="5175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E21444C3-1911-BE0F-BF27-0CC7B2347CD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3559"/>
          <a:stretch>
            <a:fillRect/>
          </a:stretch>
        </p:blipFill>
        <p:spPr>
          <a:xfrm>
            <a:off x="29854" y="5303381"/>
            <a:ext cx="5239481" cy="1539879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39EF16FD-5B8D-4EE8-6811-B23E9EDB3B1F}"/>
              </a:ext>
            </a:extLst>
          </p:cNvPr>
          <p:cNvGrpSpPr/>
          <p:nvPr/>
        </p:nvGrpSpPr>
        <p:grpSpPr>
          <a:xfrm>
            <a:off x="29854" y="3492350"/>
            <a:ext cx="12162146" cy="582454"/>
            <a:chOff x="29854" y="3492350"/>
            <a:chExt cx="12162146" cy="582454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AACC42C-3321-71C2-8B64-F5B7C02F96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25435" t="33271" r="36418" b="64606"/>
            <a:stretch/>
          </p:blipFill>
          <p:spPr bwMode="auto">
            <a:xfrm>
              <a:off x="3062067" y="3492350"/>
              <a:ext cx="8041158" cy="251715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8A4D5BCD-0995-4670-F924-1B8DF9FAEC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23248" t="47810" r="33916" b="49410"/>
            <a:stretch/>
          </p:blipFill>
          <p:spPr bwMode="auto">
            <a:xfrm>
              <a:off x="3123495" y="3744065"/>
              <a:ext cx="9068505" cy="33073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193E631-720F-7887-281B-456CD1C0821B}"/>
                </a:ext>
              </a:extLst>
            </p:cNvPr>
            <p:cNvSpPr txBox="1"/>
            <p:nvPr/>
          </p:nvSpPr>
          <p:spPr>
            <a:xfrm>
              <a:off x="29854" y="3517216"/>
              <a:ext cx="285255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CPU Scheduler</a:t>
              </a:r>
              <a:endParaRPr kumimoji="0" lang="en-AE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</p:grp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95601AC-E6B6-EC83-04BD-9BF1FDA46319}"/>
              </a:ext>
            </a:extLst>
          </p:cNvPr>
          <p:cNvSpPr/>
          <p:nvPr/>
        </p:nvSpPr>
        <p:spPr bwMode="auto">
          <a:xfrm>
            <a:off x="29854" y="5253917"/>
            <a:ext cx="5239481" cy="334322"/>
          </a:xfrm>
          <a:prstGeom prst="roundRect">
            <a:avLst/>
          </a:prstGeom>
          <a:solidFill>
            <a:srgbClr val="FF0000">
              <a:alpha val="40000"/>
            </a:srgb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40BFFC4-3D0C-48D0-6EF2-90CA8FBE4C37}"/>
              </a:ext>
            </a:extLst>
          </p:cNvPr>
          <p:cNvSpPr/>
          <p:nvPr/>
        </p:nvSpPr>
        <p:spPr>
          <a:xfrm>
            <a:off x="-26888" y="5639978"/>
            <a:ext cx="5296223" cy="81675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Insert process in the correspond. ready queue (based on its priority)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8A7CE49-AE1A-3868-DABB-9C395F788D12}"/>
              </a:ext>
            </a:extLst>
          </p:cNvPr>
          <p:cNvGrpSpPr/>
          <p:nvPr/>
        </p:nvGrpSpPr>
        <p:grpSpPr>
          <a:xfrm>
            <a:off x="0" y="3994969"/>
            <a:ext cx="5513314" cy="840224"/>
            <a:chOff x="0" y="3994969"/>
            <a:chExt cx="5513314" cy="84022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A0E55B7-64E3-7FF5-0250-EBC55CC613DC}"/>
                </a:ext>
              </a:extLst>
            </p:cNvPr>
            <p:cNvGrpSpPr/>
            <p:nvPr/>
          </p:nvGrpSpPr>
          <p:grpSpPr>
            <a:xfrm>
              <a:off x="0" y="3994969"/>
              <a:ext cx="5513314" cy="523220"/>
              <a:chOff x="-6673" y="1059483"/>
              <a:chExt cx="5513314" cy="523220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573A573-579B-782E-08DC-78F192005714}"/>
                  </a:ext>
                </a:extLst>
              </p:cNvPr>
              <p:cNvSpPr txBox="1"/>
              <p:nvPr/>
            </p:nvSpPr>
            <p:spPr>
              <a:xfrm>
                <a:off x="-6673" y="1059483"/>
                <a:ext cx="38100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Get Timestamp Counter </a:t>
                </a:r>
                <a:endParaRPr kumimoji="0" lang="en-AE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C79162A-FC77-F9E5-69E4-42C23D956FC4}"/>
                  </a:ext>
                </a:extLst>
              </p:cNvPr>
              <p:cNvSpPr txBox="1"/>
              <p:nvPr/>
            </p:nvSpPr>
            <p:spPr>
              <a:xfrm>
                <a:off x="4362127" y="1174600"/>
                <a:ext cx="11445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b="1" dirty="0">
                    <a:solidFill>
                      <a:srgbClr val="FF0000"/>
                    </a:solidFill>
                    <a:latin typeface="Gill Sans Light"/>
                  </a:rPr>
                  <a:t>i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Gill Sans Light"/>
                    <a:ea typeface="+mn-ea"/>
                    <a:cs typeface="+mn-cs"/>
                  </a:rPr>
                  <a:t>nc/x86.</a:t>
                </a:r>
                <a:r>
                  <a:rPr lang="en-US" b="1" dirty="0">
                    <a:solidFill>
                      <a:srgbClr val="FF0000"/>
                    </a:solidFill>
                    <a:latin typeface="Gill Sans Light"/>
                  </a:rPr>
                  <a:t>h</a:t>
                </a:r>
                <a:endParaRPr kumimoji="0" lang="en-AE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Gill Sans Light"/>
                  <a:ea typeface="+mn-ea"/>
                  <a:cs typeface="+mn-cs"/>
                </a:endParaRPr>
              </a:p>
            </p:txBody>
          </p:sp>
        </p:grp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6A19AC75-B801-BECF-5A62-66D6D0574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1920" y="4436768"/>
              <a:ext cx="5127095" cy="398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69640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0" grpId="0" animBg="1"/>
      <p:bldP spid="3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66225-58FB-4230-10FF-5314AE275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2CF72FE-9B31-2F47-32A2-F57AC5DB13C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400" b="1" dirty="0">
                <a:latin typeface="Consolas" panose="020B0609020204030204" pitchFamily="49" charset="0"/>
                <a:cs typeface="Courier New" panose="02070309020205020404" pitchFamily="49" charset="0"/>
              </a:rPr>
              <a:t>FOS&gt; </a:t>
            </a:r>
            <a:r>
              <a:rPr 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  <a:t>run  &lt;</a:t>
            </a:r>
            <a:r>
              <a:rPr lang="en-US" sz="2400" u="sng" dirty="0" err="1">
                <a:latin typeface="Consolas" panose="020B0609020204030204" pitchFamily="49" charset="0"/>
                <a:cs typeface="Courier New" panose="02070309020205020404" pitchFamily="49" charset="0"/>
              </a:rPr>
              <a:t>prog_name</a:t>
            </a:r>
            <a:r>
              <a:rPr 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  <a:t>&gt; &lt;</a:t>
            </a:r>
            <a:r>
              <a:rPr lang="en-US" sz="2400" dirty="0" err="1">
                <a:latin typeface="Consolas" panose="020B0609020204030204" pitchFamily="49" charset="0"/>
                <a:cs typeface="Courier New" panose="02070309020205020404" pitchFamily="49" charset="0"/>
              </a:rPr>
              <a:t>page_WS_size</a:t>
            </a:r>
            <a:r>
              <a:rPr 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  <a:t>&gt; [&lt;2</a:t>
            </a:r>
            <a:r>
              <a:rPr lang="en-US" sz="2400" baseline="30000" dirty="0">
                <a:latin typeface="Consolas" panose="020B0609020204030204" pitchFamily="49" charset="0"/>
                <a:cs typeface="Courier New" panose="02070309020205020404" pitchFamily="49" charset="0"/>
              </a:rPr>
              <a:t>nd</a:t>
            </a:r>
            <a:r>
              <a:rPr 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  <a:t>_WS_size&gt;]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400" b="1" dirty="0">
                <a:latin typeface="Consolas" panose="020B0609020204030204" pitchFamily="49" charset="0"/>
                <a:cs typeface="Courier New" panose="02070309020205020404" pitchFamily="49" charset="0"/>
              </a:rPr>
              <a:t>FOS&gt; </a:t>
            </a:r>
            <a:r>
              <a:rPr 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  <a:t>load  &lt;</a:t>
            </a:r>
            <a:r>
              <a:rPr lang="en-US" sz="2400" u="sng" dirty="0" err="1">
                <a:latin typeface="Consolas" panose="020B0609020204030204" pitchFamily="49" charset="0"/>
                <a:cs typeface="Courier New" panose="02070309020205020404" pitchFamily="49" charset="0"/>
              </a:rPr>
              <a:t>prog_name</a:t>
            </a:r>
            <a:r>
              <a:rPr 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  <a:t>&gt; &lt;</a:t>
            </a:r>
            <a:r>
              <a:rPr lang="en-US" sz="2400" dirty="0" err="1">
                <a:latin typeface="Consolas" panose="020B0609020204030204" pitchFamily="49" charset="0"/>
                <a:cs typeface="Courier New" panose="02070309020205020404" pitchFamily="49" charset="0"/>
              </a:rPr>
              <a:t>page_WS_size</a:t>
            </a:r>
            <a:r>
              <a:rPr 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  <a:t>&gt; [&lt;2</a:t>
            </a:r>
            <a:r>
              <a:rPr lang="en-US" sz="2400" baseline="30000" dirty="0">
                <a:latin typeface="Consolas" panose="020B0609020204030204" pitchFamily="49" charset="0"/>
                <a:cs typeface="Courier New" panose="02070309020205020404" pitchFamily="49" charset="0"/>
              </a:rPr>
              <a:t>nd</a:t>
            </a:r>
            <a:r>
              <a:rPr 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  <a:t>_WS_size&gt;]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400" b="1" dirty="0">
                <a:latin typeface="Consolas" panose="020B0609020204030204" pitchFamily="49" charset="0"/>
                <a:cs typeface="Courier New" panose="02070309020205020404" pitchFamily="49" charset="0"/>
              </a:rPr>
              <a:t>FOS&gt; </a:t>
            </a:r>
            <a:r>
              <a:rPr lang="en-US" sz="2400" dirty="0" err="1">
                <a:latin typeface="Consolas" panose="020B0609020204030204" pitchFamily="49" charset="0"/>
                <a:cs typeface="Courier New" panose="02070309020205020404" pitchFamily="49" charset="0"/>
              </a:rPr>
              <a:t>loadN</a:t>
            </a:r>
            <a:r>
              <a:rPr 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  <a:t> &lt;N&gt; &lt;</a:t>
            </a:r>
            <a:r>
              <a:rPr lang="en-US" sz="2400" u="sng" dirty="0" err="1">
                <a:latin typeface="Consolas" panose="020B0609020204030204" pitchFamily="49" charset="0"/>
                <a:cs typeface="Courier New" panose="02070309020205020404" pitchFamily="49" charset="0"/>
              </a:rPr>
              <a:t>prog_name</a:t>
            </a:r>
            <a:r>
              <a:rPr 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  <a:t>&gt; &lt;</a:t>
            </a:r>
            <a:r>
              <a:rPr lang="en-US" sz="2400" dirty="0" err="1">
                <a:latin typeface="Consolas" panose="020B0609020204030204" pitchFamily="49" charset="0"/>
                <a:cs typeface="Courier New" panose="02070309020205020404" pitchFamily="49" charset="0"/>
              </a:rPr>
              <a:t>page_WS_size</a:t>
            </a:r>
            <a:r>
              <a:rPr 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  <a:t>&gt; [&lt;2</a:t>
            </a:r>
            <a:r>
              <a:rPr lang="en-US" sz="2400" baseline="30000" dirty="0">
                <a:latin typeface="Consolas" panose="020B0609020204030204" pitchFamily="49" charset="0"/>
                <a:cs typeface="Courier New" panose="02070309020205020404" pitchFamily="49" charset="0"/>
              </a:rPr>
              <a:t>nd</a:t>
            </a:r>
            <a:r>
              <a:rPr 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  <a:t>_WS_size&gt;]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400" b="1" dirty="0">
                <a:latin typeface="Consolas" panose="020B0609020204030204" pitchFamily="49" charset="0"/>
                <a:cs typeface="Courier New" panose="02070309020205020404" pitchFamily="49" charset="0"/>
              </a:rPr>
              <a:t>FOS&gt; </a:t>
            </a:r>
            <a:r>
              <a:rPr lang="en-US" sz="2400" dirty="0" err="1">
                <a:latin typeface="Consolas" panose="020B0609020204030204" pitchFamily="49" charset="0"/>
                <a:cs typeface="Courier New" panose="02070309020205020404" pitchFamily="49" charset="0"/>
              </a:rPr>
              <a:t>setStarvThr</a:t>
            </a:r>
            <a:r>
              <a:rPr 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  <a:t> &lt;</a:t>
            </a:r>
            <a:r>
              <a:rPr lang="en-US" sz="2400" dirty="0" err="1">
                <a:latin typeface="Consolas" panose="020B0609020204030204" pitchFamily="49" charset="0"/>
                <a:cs typeface="Courier New" panose="02070309020205020404" pitchFamily="49" charset="0"/>
              </a:rPr>
              <a:t>starvationThreshold</a:t>
            </a:r>
            <a:r>
              <a:rPr 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  <a:t>&gt;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400" b="1" dirty="0">
                <a:latin typeface="Consolas" panose="020B0609020204030204" pitchFamily="49" charset="0"/>
                <a:cs typeface="Courier New" panose="02070309020205020404" pitchFamily="49" charset="0"/>
              </a:rPr>
              <a:t>FOS&gt; </a:t>
            </a:r>
            <a:r>
              <a:rPr lang="en-US" sz="2400" dirty="0" err="1">
                <a:latin typeface="Consolas" panose="020B0609020204030204" pitchFamily="49" charset="0"/>
                <a:cs typeface="Courier New" panose="02070309020205020404" pitchFamily="49" charset="0"/>
              </a:rPr>
              <a:t>runall</a:t>
            </a:r>
            <a:endParaRPr lang="en-US" sz="24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400" b="1" dirty="0">
                <a:latin typeface="Consolas" panose="020B0609020204030204" pitchFamily="49" charset="0"/>
                <a:cs typeface="Courier New" panose="02070309020205020404" pitchFamily="49" charset="0"/>
              </a:rPr>
              <a:t>FOS&gt; </a:t>
            </a:r>
            <a:r>
              <a:rPr lang="en-US" sz="2400" dirty="0" err="1">
                <a:latin typeface="Consolas" panose="020B0609020204030204" pitchFamily="49" charset="0"/>
                <a:cs typeface="Courier New" panose="02070309020205020404" pitchFamily="49" charset="0"/>
              </a:rPr>
              <a:t>printall</a:t>
            </a:r>
            <a:endParaRPr lang="en-US" sz="24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400" b="1" dirty="0">
                <a:latin typeface="Consolas" panose="020B0609020204030204" pitchFamily="49" charset="0"/>
                <a:cs typeface="Courier New" panose="02070309020205020404" pitchFamily="49" charset="0"/>
              </a:rPr>
              <a:t>FOS&gt; </a:t>
            </a:r>
            <a:r>
              <a:rPr 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  <a:t>sched?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6DE77C-3AE8-C081-18EB-7797F24C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413" y="0"/>
            <a:ext cx="11601813" cy="778631"/>
          </a:xfrm>
        </p:spPr>
        <p:txBody>
          <a:bodyPr/>
          <a:lstStyle/>
          <a:p>
            <a:pPr algn="l"/>
            <a:r>
              <a:rPr lang="en-US" b="1">
                <a:solidFill>
                  <a:srgbClr val="00B050"/>
                </a:solidFill>
              </a:rPr>
              <a:t>Given</a:t>
            </a:r>
            <a:r>
              <a:rPr lang="en-US"/>
              <a:t> Commands</a:t>
            </a:r>
            <a:endParaRPr lang="en-AE" b="1">
              <a:solidFill>
                <a:srgbClr val="FF0000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AF566F-91C7-2EC0-9641-557F423196E9}"/>
              </a:ext>
            </a:extLst>
          </p:cNvPr>
          <p:cNvGrpSpPr/>
          <p:nvPr/>
        </p:nvGrpSpPr>
        <p:grpSpPr>
          <a:xfrm>
            <a:off x="8859035" y="0"/>
            <a:ext cx="3386741" cy="898894"/>
            <a:chOff x="8859035" y="0"/>
            <a:chExt cx="3386741" cy="89889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A1A016E-F45B-8AE8-C285-5406B33E98C8}"/>
                </a:ext>
              </a:extLst>
            </p:cNvPr>
            <p:cNvSpPr txBox="1"/>
            <p:nvPr/>
          </p:nvSpPr>
          <p:spPr>
            <a:xfrm>
              <a:off x="8859035" y="0"/>
              <a:ext cx="33867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/>
                <a:t>Refer to </a:t>
              </a:r>
              <a:r>
                <a:rPr lang="en-US" sz="2000" b="1">
                  <a:hlinkClick r:id="rId2" action="ppaction://hlinkfile"/>
                </a:rPr>
                <a:t>APPENDICES</a:t>
              </a:r>
              <a:r>
                <a:rPr lang="en-US" sz="2000" b="1"/>
                <a:t> for:</a:t>
              </a:r>
              <a:endParaRPr lang="en-AE" sz="2000" b="1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1B29358-D1C9-3737-9D2A-A4202D39DFCC}"/>
                </a:ext>
              </a:extLst>
            </p:cNvPr>
            <p:cNvSpPr txBox="1"/>
            <p:nvPr/>
          </p:nvSpPr>
          <p:spPr>
            <a:xfrm>
              <a:off x="9363384" y="467380"/>
              <a:ext cx="28823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/>
                <a:t>Ready-Made Commands </a:t>
              </a:r>
              <a:endParaRPr lang="en-AE" sz="2000"/>
            </a:p>
          </p:txBody>
        </p:sp>
        <p:pic>
          <p:nvPicPr>
            <p:cNvPr id="10" name="Picture 2" descr="22 Shell Unix Code Icon Images, Stock Photos, 3D objects ...">
              <a:extLst>
                <a:ext uri="{FF2B5EF4-FFF2-40B4-BE49-F238E27FC236}">
                  <a16:creationId xmlns:a16="http://schemas.microsoft.com/office/drawing/2014/main" id="{7400B6D6-257D-0FCE-B997-9B899D3F2E6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678"/>
            <a:stretch/>
          </p:blipFill>
          <p:spPr bwMode="auto">
            <a:xfrm>
              <a:off x="8859035" y="424403"/>
              <a:ext cx="461459" cy="4744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98416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11ED7BA-4803-BF31-D97B-ABFDB5CE7497}"/>
              </a:ext>
            </a:extLst>
          </p:cNvPr>
          <p:cNvSpPr/>
          <p:nvPr/>
        </p:nvSpPr>
        <p:spPr>
          <a:xfrm>
            <a:off x="79513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5FE696-40A0-E814-D48C-7BCC42259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155680" cy="735971"/>
          </a:xfrm>
        </p:spPr>
        <p:txBody>
          <a:bodyPr>
            <a:normAutofit/>
          </a:bodyPr>
          <a:lstStyle/>
          <a:p>
            <a:r>
              <a:rPr lang="en-US" b="1" dirty="0"/>
              <a:t>#1:</a:t>
            </a:r>
            <a:r>
              <a:rPr lang="en-US" dirty="0"/>
              <a:t> Set Starvation Threshold</a:t>
            </a:r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FCA44-1D06-94C1-44EC-CBFB45FF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59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7C7EE1-44B5-720F-4296-0667534E4D84}"/>
              </a:ext>
            </a:extLst>
          </p:cNvPr>
          <p:cNvSpPr txBox="1"/>
          <p:nvPr/>
        </p:nvSpPr>
        <p:spPr>
          <a:xfrm>
            <a:off x="4787506" y="1239501"/>
            <a:ext cx="2422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Light"/>
                <a:ea typeface="+mn-ea"/>
                <a:cs typeface="+mn-cs"/>
              </a:rPr>
              <a:t>kern/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Light"/>
                <a:ea typeface="+mn-ea"/>
                <a:cs typeface="+mn-cs"/>
              </a:rPr>
              <a:t>cpu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Light"/>
                <a:ea typeface="+mn-ea"/>
                <a:cs typeface="+mn-cs"/>
              </a:rPr>
              <a:t>/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Light"/>
                <a:ea typeface="+mn-ea"/>
                <a:cs typeface="+mn-cs"/>
              </a:rPr>
              <a:t>sched_helpers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Light"/>
                <a:ea typeface="+mn-ea"/>
                <a:cs typeface="+mn-cs"/>
              </a:rPr>
              <a:t>.</a:t>
            </a:r>
            <a:r>
              <a:rPr lang="en-US" b="1" dirty="0">
                <a:solidFill>
                  <a:srgbClr val="FF0000"/>
                </a:solidFill>
                <a:latin typeface="Gill Sans Light"/>
              </a:rPr>
              <a:t>c</a:t>
            </a:r>
            <a:endParaRPr kumimoji="0" lang="en-AE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ill Sans Light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5E6622-337D-5309-ACA6-7B12EE0843CA}"/>
              </a:ext>
            </a:extLst>
          </p:cNvPr>
          <p:cNvSpPr txBox="1"/>
          <p:nvPr/>
        </p:nvSpPr>
        <p:spPr>
          <a:xfrm>
            <a:off x="190917" y="1589853"/>
            <a:ext cx="116158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535353"/>
                </a:solidFill>
                <a:latin typeface="Consolas" panose="020B0609020204030204" pitchFamily="49" charset="0"/>
              </a:rPr>
              <a:t>void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sched_set_starv_thresh</a:t>
            </a:r>
            <a:r>
              <a:rPr lang="en-US" sz="2000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2000" b="1" dirty="0">
                <a:solidFill>
                  <a:srgbClr val="535353"/>
                </a:solidFill>
                <a:latin typeface="Consolas" panose="020B0609020204030204" pitchFamily="49" charset="0"/>
              </a:rPr>
              <a:t>uint32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starvThresh</a:t>
            </a:r>
            <a:r>
              <a:rPr lang="en-US" sz="2000" b="1" dirty="0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83DEBD-D809-E7A9-B29D-6709FD4F6511}"/>
              </a:ext>
            </a:extLst>
          </p:cNvPr>
          <p:cNvSpPr txBox="1"/>
          <p:nvPr/>
        </p:nvSpPr>
        <p:spPr>
          <a:xfrm>
            <a:off x="190918" y="2260281"/>
            <a:ext cx="12100308" cy="891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/>
              <a:t>Description:</a:t>
            </a:r>
          </a:p>
          <a:p>
            <a:pPr marL="384048" lvl="1" indent="-182880" defTabSz="914400">
              <a:lnSpc>
                <a:spcPct val="15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2000" b="1" dirty="0"/>
              <a:t>Set </a:t>
            </a:r>
            <a:r>
              <a:rPr lang="en-US" sz="2000" dirty="0"/>
              <a:t>the starvation threshold by the given value</a:t>
            </a:r>
          </a:p>
        </p:txBody>
      </p:sp>
    </p:spTree>
    <p:extLst>
      <p:ext uri="{BB962C8B-B14F-4D97-AF65-F5344CB8AC3E}">
        <p14:creationId xmlns:p14="http://schemas.microsoft.com/office/powerpoint/2010/main" val="1703421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329EF-9717-B702-93A4-0A8B4BA77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6EC166D-137B-B547-6630-D02D0089E18B}"/>
              </a:ext>
            </a:extLst>
          </p:cNvPr>
          <p:cNvSpPr/>
          <p:nvPr/>
        </p:nvSpPr>
        <p:spPr>
          <a:xfrm>
            <a:off x="79513" y="0"/>
            <a:ext cx="12112487" cy="60890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E6BAC4-FF19-EFF5-500E-3576413A8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155680" cy="735971"/>
          </a:xfrm>
        </p:spPr>
        <p:txBody>
          <a:bodyPr>
            <a:normAutofit/>
          </a:bodyPr>
          <a:lstStyle/>
          <a:p>
            <a:r>
              <a:rPr lang="en-US" b="1" dirty="0"/>
              <a:t>#2:</a:t>
            </a:r>
            <a:r>
              <a:rPr lang="en-US" dirty="0"/>
              <a:t> Initialize MLFQ Scheduler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DBE1C-71EB-6116-E27A-EF89D7408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4080"/>
            <a:ext cx="12192000" cy="3809338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/>
              <a:t>Description:</a:t>
            </a:r>
          </a:p>
          <a:p>
            <a:pPr lvl="1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cs typeface="Courier New" panose="02070309020205020404" pitchFamily="49" charset="0"/>
              </a:rPr>
              <a:t>Initialize </a:t>
            </a:r>
            <a:r>
              <a:rPr lang="en-US" sz="2000" dirty="0">
                <a:solidFill>
                  <a:schemeClr val="tx1"/>
                </a:solidFill>
                <a:cs typeface="Courier New" panose="02070309020205020404" pitchFamily="49" charset="0"/>
              </a:rPr>
              <a:t>the MLFQ scheduler by the given number of levels, CPU quantum of each level (in approx. </a:t>
            </a:r>
            <a:r>
              <a:rPr lang="en-US" sz="2000" dirty="0" err="1">
                <a:solidFill>
                  <a:schemeClr val="tx1"/>
                </a:solidFill>
                <a:cs typeface="Courier New" panose="02070309020205020404" pitchFamily="49" charset="0"/>
              </a:rPr>
              <a:t>ms</a:t>
            </a:r>
            <a:r>
              <a:rPr lang="en-US" sz="2000" dirty="0">
                <a:solidFill>
                  <a:schemeClr val="tx1"/>
                </a:solidFill>
                <a:cs typeface="Courier New" panose="02070309020205020404" pitchFamily="49" charset="0"/>
              </a:rPr>
              <a:t>) and starvation threshold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cs typeface="Courier New" panose="02070309020205020404" pitchFamily="49" charset="0"/>
              </a:rPr>
              <a:t>Do other initializations (if any)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cs typeface="Courier New" panose="02070309020205020404" pitchFamily="49" charset="0"/>
              </a:rPr>
              <a:t>Should </a:t>
            </a:r>
            <a:r>
              <a:rPr lang="en-US" sz="2000" b="1" dirty="0">
                <a:solidFill>
                  <a:schemeClr val="tx1"/>
                </a:solidFill>
                <a:cs typeface="Courier New" panose="02070309020205020404" pitchFamily="49" charset="0"/>
              </a:rPr>
              <a:t>set</a:t>
            </a:r>
            <a:r>
              <a:rPr lang="en-US" sz="2000" dirty="0">
                <a:solidFill>
                  <a:schemeClr val="tx1"/>
                </a:solidFill>
                <a:cs typeface="Courier New" panose="02070309020205020404" pitchFamily="49" charset="0"/>
              </a:rPr>
              <a:t> the following </a:t>
            </a:r>
            <a:r>
              <a:rPr lang="en-US" sz="2000" b="1" dirty="0">
                <a:solidFill>
                  <a:schemeClr val="tx1"/>
                </a:solidFill>
                <a:cs typeface="Courier New" panose="02070309020205020404" pitchFamily="49" charset="0"/>
              </a:rPr>
              <a:t>global variables </a:t>
            </a:r>
            <a:r>
              <a:rPr lang="en-US" sz="2000" dirty="0">
                <a:solidFill>
                  <a:schemeClr val="tx1"/>
                </a:solidFill>
                <a:cs typeface="Courier New" panose="02070309020205020404" pitchFamily="49" charset="0"/>
              </a:rPr>
              <a:t>for initialization (declared in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kern/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cpu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sched.h</a:t>
            </a:r>
            <a:r>
              <a:rPr lang="en-US" sz="2000" dirty="0">
                <a:solidFill>
                  <a:schemeClr val="tx1"/>
                </a:solidFill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2D56F8-CA04-7D0D-80E9-82CAD4621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60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80DB25-9B83-F6CD-F6D4-5F868582FF46}"/>
              </a:ext>
            </a:extLst>
          </p:cNvPr>
          <p:cNvSpPr txBox="1"/>
          <p:nvPr/>
        </p:nvSpPr>
        <p:spPr>
          <a:xfrm>
            <a:off x="0" y="1201858"/>
            <a:ext cx="122457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535353"/>
                </a:solidFill>
                <a:latin typeface="Consolas" panose="020B0609020204030204" pitchFamily="49" charset="0"/>
              </a:rPr>
              <a:t>void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sched_init_MLFQ</a:t>
            </a:r>
            <a:r>
              <a:rPr lang="en-US" sz="2000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2000" b="1" dirty="0">
                <a:solidFill>
                  <a:srgbClr val="535353"/>
                </a:solidFill>
                <a:latin typeface="Consolas" panose="020B0609020204030204" pitchFamily="49" charset="0"/>
              </a:rPr>
              <a:t>uint8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numOfLevels</a:t>
            </a:r>
            <a:r>
              <a:rPr lang="en-US" sz="2000" b="1" dirty="0">
                <a:solidFill>
                  <a:srgbClr val="A36622"/>
                </a:solidFill>
                <a:latin typeface="Consolas" panose="020B0609020204030204" pitchFamily="49" charset="0"/>
              </a:rPr>
              <a:t>,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535353"/>
                </a:solidFill>
                <a:latin typeface="Consolas" panose="020B0609020204030204" pitchFamily="49" charset="0"/>
              </a:rPr>
              <a:t>uint8*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quantumOfEachLevel</a:t>
            </a:r>
            <a:r>
              <a:rPr lang="en-US" sz="2000" b="1" dirty="0">
                <a:solidFill>
                  <a:srgbClr val="A36622"/>
                </a:solidFill>
                <a:latin typeface="Consolas" panose="020B0609020204030204" pitchFamily="49" charset="0"/>
              </a:rPr>
              <a:t>,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535353"/>
                </a:solidFill>
                <a:latin typeface="Consolas" panose="020B0609020204030204" pitchFamily="49" charset="0"/>
              </a:rPr>
              <a:t>uint32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starvThresh</a:t>
            </a:r>
            <a:r>
              <a:rPr lang="en-US" sz="2000" b="1" dirty="0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700B7B-0261-0A23-974C-0E9A2F2F09D7}"/>
              </a:ext>
            </a:extLst>
          </p:cNvPr>
          <p:cNvSpPr txBox="1"/>
          <p:nvPr/>
        </p:nvSpPr>
        <p:spPr>
          <a:xfrm>
            <a:off x="5344291" y="1639028"/>
            <a:ext cx="166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Light"/>
                <a:ea typeface="+mn-ea"/>
                <a:cs typeface="+mn-cs"/>
              </a:rPr>
              <a:t>kern/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Light"/>
                <a:ea typeface="+mn-ea"/>
                <a:cs typeface="+mn-cs"/>
              </a:rPr>
              <a:t>cpu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Light"/>
                <a:ea typeface="+mn-ea"/>
                <a:cs typeface="+mn-cs"/>
              </a:rPr>
              <a:t>/sched.</a:t>
            </a:r>
            <a:r>
              <a:rPr lang="en-US" b="1" dirty="0">
                <a:solidFill>
                  <a:srgbClr val="FF0000"/>
                </a:solidFill>
                <a:latin typeface="Gill Sans Light"/>
              </a:rPr>
              <a:t>c</a:t>
            </a:r>
            <a:endParaRPr kumimoji="0" lang="en-AE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ill Sans Light"/>
              <a:ea typeface="+mn-ea"/>
              <a:cs typeface="+mn-cs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3510501-2264-9A54-44F2-061A86FD8C00}"/>
              </a:ext>
            </a:extLst>
          </p:cNvPr>
          <p:cNvGrpSpPr/>
          <p:nvPr/>
        </p:nvGrpSpPr>
        <p:grpSpPr>
          <a:xfrm>
            <a:off x="205295" y="4711150"/>
            <a:ext cx="9129933" cy="903738"/>
            <a:chOff x="194904" y="5937276"/>
            <a:chExt cx="9129933" cy="90373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F80F56E-E22C-B784-B726-133672B3F9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5435" t="33271" r="36418" b="64606"/>
            <a:stretch/>
          </p:blipFill>
          <p:spPr bwMode="auto">
            <a:xfrm>
              <a:off x="194904" y="6258560"/>
              <a:ext cx="8041158" cy="251715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3156C34-847C-20F3-573E-103C88F826B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3248" t="47810" r="33916" b="49410"/>
            <a:stretch/>
          </p:blipFill>
          <p:spPr bwMode="auto">
            <a:xfrm>
              <a:off x="256332" y="6510275"/>
              <a:ext cx="9068505" cy="33073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5CE0FD6-30E4-4C3B-3C0C-EF238A9FFC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5435" t="30576" r="36418" b="67027"/>
            <a:stretch/>
          </p:blipFill>
          <p:spPr bwMode="auto">
            <a:xfrm>
              <a:off x="194904" y="5937276"/>
              <a:ext cx="8041158" cy="284224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71F0E6B-A1A4-BAB6-B384-DC7913277193}"/>
              </a:ext>
            </a:extLst>
          </p:cNvPr>
          <p:cNvGrpSpPr/>
          <p:nvPr/>
        </p:nvGrpSpPr>
        <p:grpSpPr>
          <a:xfrm>
            <a:off x="8442961" y="0"/>
            <a:ext cx="3802816" cy="962222"/>
            <a:chOff x="9097285" y="0"/>
            <a:chExt cx="3148491" cy="96222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D8058AD-CD08-A6C5-6DF8-F55E62A30BA3}"/>
                </a:ext>
              </a:extLst>
            </p:cNvPr>
            <p:cNvSpPr txBox="1"/>
            <p:nvPr/>
          </p:nvSpPr>
          <p:spPr>
            <a:xfrm>
              <a:off x="9097285" y="0"/>
              <a:ext cx="314849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Refer to </a:t>
              </a:r>
              <a:r>
                <a:rPr lang="en-US" sz="2000" b="1" dirty="0">
                  <a:hlinkClick r:id="rId3" action="ppaction://hlinkfile"/>
                </a:rPr>
                <a:t>APPENDICES</a:t>
              </a:r>
              <a:r>
                <a:rPr lang="en-US" sz="2000" b="1" dirty="0"/>
                <a:t> for:</a:t>
              </a:r>
              <a:endParaRPr lang="en-AE" sz="2000" b="1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9338CF7-BA52-E5CD-8B41-112F0C62E62F}"/>
                </a:ext>
              </a:extLst>
            </p:cNvPr>
            <p:cNvSpPr txBox="1"/>
            <p:nvPr/>
          </p:nvSpPr>
          <p:spPr>
            <a:xfrm>
              <a:off x="9611825" y="503395"/>
              <a:ext cx="26116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CPU &amp; Scheduler Functions</a:t>
              </a:r>
              <a:endParaRPr lang="en-AE" sz="2000" dirty="0"/>
            </a:p>
          </p:txBody>
        </p:sp>
        <p:pic>
          <p:nvPicPr>
            <p:cNvPr id="17" name="Picture 2" descr="CPU Icon. Central Processor Unit Vector Sign. Micro Chip Electronics  Illustration. Semiconductor Logo. Microchip and Circuits Board Industry  Symbol. Stock Vector | Adobe Stock">
              <a:extLst>
                <a:ext uri="{FF2B5EF4-FFF2-40B4-BE49-F238E27FC236}">
                  <a16:creationId xmlns:a16="http://schemas.microsoft.com/office/drawing/2014/main" id="{607E222B-6C58-0F27-3EB1-97DEA04CC40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451" t="6240" r="12648" b="19574"/>
            <a:stretch/>
          </p:blipFill>
          <p:spPr bwMode="auto">
            <a:xfrm>
              <a:off x="9180378" y="444678"/>
              <a:ext cx="431448" cy="5175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037986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FE696-40A0-E814-D48C-7BCC42259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#3:</a:t>
            </a:r>
            <a:r>
              <a:rPr lang="en-US" dirty="0"/>
              <a:t> Schedule Next Process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5B943-A737-2E09-8DF5-AD94F37CD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474721"/>
            <a:ext cx="10568857" cy="4383279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US" sz="2400" b="1" dirty="0"/>
              <a:t>Description:</a:t>
            </a:r>
          </a:p>
          <a:p>
            <a:pPr lvl="1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If there’s 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a current </a:t>
            </a:r>
            <a:r>
              <a:rPr lang="en-US" sz="2000" b="1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process on the current CPU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, place it in the corresponding ready queue (do any required initializations)</a:t>
            </a:r>
          </a:p>
          <a:p>
            <a:pPr lvl="1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Select 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the next environment to be run on the CPU and </a:t>
            </a:r>
            <a:r>
              <a:rPr lang="en-US" sz="2000" b="1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it</a:t>
            </a:r>
          </a:p>
          <a:p>
            <a:pPr lvl="1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REMEMBER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</a:t>
            </a:r>
          </a:p>
          <a:p>
            <a:pPr marL="726948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Set 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the CPU timer by the quantum of the corresponding level</a:t>
            </a:r>
          </a:p>
          <a:p>
            <a:pPr marL="726948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  <a:cs typeface="Courier New" panose="02070309020205020404" pitchFamily="49" charset="0"/>
              </a:rPr>
              <a:t>Last </a:t>
            </a:r>
            <a:r>
              <a:rPr lang="en-US" sz="2000" dirty="0">
                <a:solidFill>
                  <a:schemeClr val="tx1"/>
                </a:solidFill>
                <a:cs typeface="Courier New" panose="02070309020205020404" pitchFamily="49" charset="0"/>
              </a:rPr>
              <a:t>level can either </a:t>
            </a:r>
          </a:p>
          <a:p>
            <a:pPr marL="909828" lvl="3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solidFill>
                  <a:prstClr val="black"/>
                </a:solidFill>
                <a:cs typeface="Courier New" panose="02070309020205020404" pitchFamily="49" charset="0"/>
              </a:rPr>
              <a:t>has a </a:t>
            </a:r>
            <a:r>
              <a:rPr lang="en-US" sz="2100" b="1" dirty="0">
                <a:solidFill>
                  <a:prstClr val="black"/>
                </a:solidFill>
                <a:cs typeface="Courier New" panose="02070309020205020404" pitchFamily="49" charset="0"/>
              </a:rPr>
              <a:t>quantum </a:t>
            </a:r>
            <a:r>
              <a:rPr lang="en-US" sz="2100" dirty="0">
                <a:solidFill>
                  <a:prstClr val="black"/>
                </a:solidFill>
                <a:cs typeface="Courier New" panose="02070309020205020404" pitchFamily="49" charset="0"/>
              </a:rPr>
              <a:t>(i.e. should run in round-robin manner) </a:t>
            </a:r>
          </a:p>
          <a:p>
            <a:pPr marL="909828" lvl="3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cs typeface="Courier New" panose="02070309020205020404" pitchFamily="49" charset="0"/>
              </a:rPr>
              <a:t>has </a:t>
            </a:r>
            <a:r>
              <a:rPr lang="en-US" sz="2000" b="1" dirty="0">
                <a:solidFill>
                  <a:schemeClr val="tx1"/>
                </a:solidFill>
                <a:cs typeface="Courier New" panose="02070309020205020404" pitchFamily="49" charset="0"/>
              </a:rPr>
              <a:t>no quantum </a:t>
            </a:r>
            <a:r>
              <a:rPr lang="en-US" sz="2000" dirty="0">
                <a:solidFill>
                  <a:schemeClr val="tx1"/>
                </a:solidFill>
                <a:cs typeface="Courier New" panose="02070309020205020404" pitchFamily="49" charset="0"/>
              </a:rPr>
              <a:t>(q=0) (i.e. should run until the process is either exited or blocked)</a:t>
            </a:r>
          </a:p>
          <a:p>
            <a:pPr marL="726948" lvl="2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solidFill>
                <a:schemeClr val="tx1"/>
              </a:solidFill>
              <a:latin typeface="+mj-lt"/>
              <a:cs typeface="Courier New" panose="02070309020205020404" pitchFamily="49" charset="0"/>
            </a:endParaRPr>
          </a:p>
          <a:p>
            <a:pPr lvl="1"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FCA44-1D06-94C1-44EC-CBFB45FF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61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3A13C4-D33B-7B08-DF00-FD34BB9EC8F8}"/>
              </a:ext>
            </a:extLst>
          </p:cNvPr>
          <p:cNvSpPr txBox="1"/>
          <p:nvPr/>
        </p:nvSpPr>
        <p:spPr>
          <a:xfrm>
            <a:off x="1097280" y="1875208"/>
            <a:ext cx="101152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Env</a:t>
            </a:r>
            <a:r>
              <a:rPr lang="en-US" sz="2400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fos_scheduler_MLFQ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()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BC64539-E091-22B2-7CCD-8B0DE58E5F62}"/>
              </a:ext>
            </a:extLst>
          </p:cNvPr>
          <p:cNvGrpSpPr/>
          <p:nvPr/>
        </p:nvGrpSpPr>
        <p:grpSpPr>
          <a:xfrm>
            <a:off x="8442961" y="0"/>
            <a:ext cx="3802816" cy="962222"/>
            <a:chOff x="9097285" y="0"/>
            <a:chExt cx="3148491" cy="96222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1028A88-DAD2-A6D8-FC4E-BE474B0CC5CF}"/>
                </a:ext>
              </a:extLst>
            </p:cNvPr>
            <p:cNvSpPr txBox="1"/>
            <p:nvPr/>
          </p:nvSpPr>
          <p:spPr>
            <a:xfrm>
              <a:off x="9097285" y="0"/>
              <a:ext cx="314849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Refer to </a:t>
              </a:r>
              <a:r>
                <a:rPr lang="en-US" sz="2000" b="1" dirty="0">
                  <a:hlinkClick r:id="rId2" action="ppaction://hlinkfile"/>
                </a:rPr>
                <a:t>APPENDICES</a:t>
              </a:r>
              <a:r>
                <a:rPr lang="en-US" sz="2000" b="1" dirty="0"/>
                <a:t> for:</a:t>
              </a:r>
              <a:endParaRPr lang="en-AE" sz="2000" b="1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530A480-D201-02CA-4901-868D00668E0F}"/>
                </a:ext>
              </a:extLst>
            </p:cNvPr>
            <p:cNvSpPr txBox="1"/>
            <p:nvPr/>
          </p:nvSpPr>
          <p:spPr>
            <a:xfrm>
              <a:off x="9611825" y="503395"/>
              <a:ext cx="26116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CPU &amp; Scheduler Functions</a:t>
              </a:r>
              <a:endParaRPr lang="en-AE" sz="2000" dirty="0"/>
            </a:p>
          </p:txBody>
        </p:sp>
        <p:pic>
          <p:nvPicPr>
            <p:cNvPr id="13" name="Picture 2" descr="CPU Icon. Central Processor Unit Vector Sign. Micro Chip Electronics  Illustration. Semiconductor Logo. Microchip and Circuits Board Industry  Symbol. Stock Vector | Adobe Stock">
              <a:extLst>
                <a:ext uri="{FF2B5EF4-FFF2-40B4-BE49-F238E27FC236}">
                  <a16:creationId xmlns:a16="http://schemas.microsoft.com/office/drawing/2014/main" id="{12D2274C-7DB7-F97A-FEF9-15DE1C5795F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451" t="6240" r="12648" b="19574"/>
            <a:stretch/>
          </p:blipFill>
          <p:spPr bwMode="auto">
            <a:xfrm>
              <a:off x="9180378" y="444678"/>
              <a:ext cx="431448" cy="5175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9FF9AA2-A179-5351-C2C0-D0D7EB66E5FD}"/>
              </a:ext>
            </a:extLst>
          </p:cNvPr>
          <p:cNvSpPr txBox="1"/>
          <p:nvPr/>
        </p:nvSpPr>
        <p:spPr>
          <a:xfrm>
            <a:off x="9550040" y="1875208"/>
            <a:ext cx="166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Light"/>
                <a:ea typeface="+mn-ea"/>
                <a:cs typeface="+mn-cs"/>
              </a:rPr>
              <a:t>kern/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Light"/>
                <a:ea typeface="+mn-ea"/>
                <a:cs typeface="+mn-cs"/>
              </a:rPr>
              <a:t>cpu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Light"/>
                <a:ea typeface="+mn-ea"/>
                <a:cs typeface="+mn-cs"/>
              </a:rPr>
              <a:t>/sched.</a:t>
            </a:r>
            <a:r>
              <a:rPr lang="en-US" b="1" dirty="0">
                <a:solidFill>
                  <a:srgbClr val="FF0000"/>
                </a:solidFill>
                <a:latin typeface="Gill Sans Light"/>
              </a:rPr>
              <a:t>c</a:t>
            </a:r>
            <a:endParaRPr kumimoji="0" lang="en-AE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ill Sans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1773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FE696-40A0-E814-D48C-7BCC42259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#4:</a:t>
            </a:r>
            <a:r>
              <a:rPr lang="en-US" dirty="0"/>
              <a:t> Timer Tick Handler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5B943-A737-2E09-8DF5-AD94F37CD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474721"/>
            <a:ext cx="10718801" cy="3840353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/>
              <a:t>Description: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This handler is automatically </a:t>
            </a:r>
            <a:r>
              <a:rPr lang="en-US" sz="2000" b="1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called every “timeout” 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from </a:t>
            </a:r>
            <a:r>
              <a:rPr lang="en-US" sz="2000" b="1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any CPU</a:t>
            </a:r>
            <a:endParaRPr lang="en-US" sz="2000" dirty="0">
              <a:solidFill>
                <a:schemeClr val="tx1"/>
              </a:solidFill>
              <a:latin typeface="+mj-lt"/>
              <a:cs typeface="Courier New" panose="020703090202050204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Should be used to </a:t>
            </a:r>
            <a:r>
              <a:rPr lang="en-US" sz="2000" b="1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promote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ANY process that exceeds the </a:t>
            </a:r>
            <a:r>
              <a:rPr lang="en-US" sz="2000" b="1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starvation threshold</a:t>
            </a:r>
          </a:p>
          <a:p>
            <a:pPr lvl="2">
              <a:lnSpc>
                <a:spcPct val="150000"/>
              </a:lnSpc>
            </a:pPr>
            <a:r>
              <a:rPr lang="en-US" sz="1800" dirty="0"/>
              <a:t>If its </a:t>
            </a:r>
            <a:r>
              <a:rPr lang="en-US" sz="1800" b="1" dirty="0"/>
              <a:t>WAITING TIME </a:t>
            </a:r>
            <a:r>
              <a:rPr lang="en-US" sz="1800" dirty="0"/>
              <a:t>on the current level </a:t>
            </a:r>
            <a:r>
              <a:rPr lang="en-US" sz="1800" b="1" dirty="0"/>
              <a:t>exceeds </a:t>
            </a:r>
            <a:r>
              <a:rPr lang="en-US" sz="1800" dirty="0"/>
              <a:t>the starvation threshold, promote it to the next higher level</a:t>
            </a:r>
          </a:p>
          <a:p>
            <a:pPr lvl="1">
              <a:lnSpc>
                <a:spcPct val="150000"/>
              </a:lnSpc>
            </a:pPr>
            <a:endParaRPr lang="en-US" sz="2000" b="1" dirty="0">
              <a:solidFill>
                <a:schemeClr val="tx1"/>
              </a:solidFill>
              <a:latin typeface="+mj-lt"/>
              <a:cs typeface="Courier New" panose="02070309020205020404" pitchFamily="49" charset="0"/>
            </a:endParaRPr>
          </a:p>
          <a:p>
            <a:pPr lvl="1"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FCA44-1D06-94C1-44EC-CBFB45FF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62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3A13C4-D33B-7B08-DF00-FD34BB9EC8F8}"/>
              </a:ext>
            </a:extLst>
          </p:cNvPr>
          <p:cNvSpPr txBox="1"/>
          <p:nvPr/>
        </p:nvSpPr>
        <p:spPr>
          <a:xfrm>
            <a:off x="1097280" y="1875208"/>
            <a:ext cx="101152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535353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clock_interrupt_handler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()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6047B89-F7D2-55C2-8A96-45F75A54EB3D}"/>
              </a:ext>
            </a:extLst>
          </p:cNvPr>
          <p:cNvGrpSpPr/>
          <p:nvPr/>
        </p:nvGrpSpPr>
        <p:grpSpPr>
          <a:xfrm>
            <a:off x="8442961" y="0"/>
            <a:ext cx="3802816" cy="962222"/>
            <a:chOff x="9097285" y="0"/>
            <a:chExt cx="3148491" cy="96222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8C7F474-A12E-9A7E-9816-01A21396B9E9}"/>
                </a:ext>
              </a:extLst>
            </p:cNvPr>
            <p:cNvSpPr txBox="1"/>
            <p:nvPr/>
          </p:nvSpPr>
          <p:spPr>
            <a:xfrm>
              <a:off x="9097285" y="0"/>
              <a:ext cx="314849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Refer to </a:t>
              </a:r>
              <a:r>
                <a:rPr lang="en-US" sz="2000" b="1" dirty="0">
                  <a:hlinkClick r:id="rId2" action="ppaction://hlinkfile"/>
                </a:rPr>
                <a:t>APPENDICES</a:t>
              </a:r>
              <a:r>
                <a:rPr lang="en-US" sz="2000" b="1" dirty="0"/>
                <a:t> for:</a:t>
              </a:r>
              <a:endParaRPr lang="en-AE" sz="2000" b="1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315B81D-DF28-50D4-298C-B07B0401433C}"/>
                </a:ext>
              </a:extLst>
            </p:cNvPr>
            <p:cNvSpPr txBox="1"/>
            <p:nvPr/>
          </p:nvSpPr>
          <p:spPr>
            <a:xfrm>
              <a:off x="9611825" y="503395"/>
              <a:ext cx="26116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CPU &amp; Scheduler Functions</a:t>
              </a:r>
              <a:endParaRPr lang="en-AE" sz="2000" dirty="0"/>
            </a:p>
          </p:txBody>
        </p:sp>
        <p:pic>
          <p:nvPicPr>
            <p:cNvPr id="9" name="Picture 2" descr="CPU Icon. Central Processor Unit Vector Sign. Micro Chip Electronics  Illustration. Semiconductor Logo. Microchip and Circuits Board Industry  Symbol. Stock Vector | Adobe Stock">
              <a:extLst>
                <a:ext uri="{FF2B5EF4-FFF2-40B4-BE49-F238E27FC236}">
                  <a16:creationId xmlns:a16="http://schemas.microsoft.com/office/drawing/2014/main" id="{112C07E7-64B5-DCC5-EA0D-0B991E717DA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451" t="6240" r="12648" b="19574"/>
            <a:stretch/>
          </p:blipFill>
          <p:spPr bwMode="auto">
            <a:xfrm>
              <a:off x="9180378" y="444678"/>
              <a:ext cx="431448" cy="5175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B885FED-FAE3-4458-B20B-1345A8D9ACE2}"/>
              </a:ext>
            </a:extLst>
          </p:cNvPr>
          <p:cNvSpPr txBox="1"/>
          <p:nvPr/>
        </p:nvSpPr>
        <p:spPr>
          <a:xfrm>
            <a:off x="9550040" y="1921375"/>
            <a:ext cx="166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Light"/>
                <a:ea typeface="+mn-ea"/>
                <a:cs typeface="+mn-cs"/>
              </a:rPr>
              <a:t>kern/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Light"/>
                <a:ea typeface="+mn-ea"/>
                <a:cs typeface="+mn-cs"/>
              </a:rPr>
              <a:t>cpu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Light"/>
                <a:ea typeface="+mn-ea"/>
                <a:cs typeface="+mn-cs"/>
              </a:rPr>
              <a:t>/sched.</a:t>
            </a:r>
            <a:r>
              <a:rPr lang="en-US" b="1" dirty="0">
                <a:solidFill>
                  <a:srgbClr val="FF0000"/>
                </a:solidFill>
                <a:latin typeface="Gill Sans Light"/>
              </a:rPr>
              <a:t>c</a:t>
            </a:r>
            <a:endParaRPr kumimoji="0" lang="en-AE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ill Sans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4275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8E3D7-19F9-D2BD-4D6B-8C71A20B2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1094720" cy="40233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 </a:t>
            </a:r>
            <a:r>
              <a:rPr lang="en-US" sz="2400" dirty="0"/>
              <a:t>To switch the scheduler from the FOS prompt: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FOS&gt;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schedMLFQ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&lt;#levels&gt; &lt;q1&gt; [&lt;q2&gt;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&lt;q3&gt; ... &lt;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qN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&gt;]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starvThresh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pPr marL="384048" lvl="2" indent="0">
              <a:lnSpc>
                <a:spcPct val="150000"/>
              </a:lnSpc>
              <a:buNone/>
            </a:pPr>
            <a:r>
              <a:rPr lang="en-US" sz="1800" dirty="0">
                <a:sym typeface="Wingdings" panose="05000000000000000000" pitchFamily="2" charset="2"/>
              </a:rPr>
              <a:t> switch the scheduler to MLFQ with the given #levels, quantum per level and starvation threshold</a:t>
            </a:r>
            <a:endParaRPr lang="en-US" sz="18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FOS&gt;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schedRR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&lt;quantum&gt;</a:t>
            </a:r>
            <a:endParaRPr lang="en-US" dirty="0"/>
          </a:p>
          <a:p>
            <a:pPr marL="201168" lvl="1" indent="0">
              <a:lnSpc>
                <a:spcPct val="150000"/>
              </a:lnSpc>
              <a:buNone/>
            </a:pPr>
            <a:r>
              <a:rPr lang="en-US" dirty="0">
                <a:sym typeface="Wingdings" panose="05000000000000000000" pitchFamily="2" charset="2"/>
              </a:rPr>
              <a:t>    switch the scheduler to RR with the given quantum</a:t>
            </a: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5EE48-2AEE-BA8A-6CD9-954579573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63</a:t>
            </a:fld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0846E03-0007-D195-F37C-988DBDB96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MLFQ </a:t>
            </a:r>
            <a:r>
              <a:rPr lang="en-US" sz="4800" dirty="0"/>
              <a:t>Scheduler: </a:t>
            </a:r>
            <a:r>
              <a:rPr lang="en-US" sz="4800" b="1" dirty="0"/>
              <a:t>Switching…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74985441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EB0B6-74E9-FF3C-2529-A83E23646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5E1E6D3-3865-86F5-DD91-89B721826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IPC </a:t>
            </a:r>
            <a:r>
              <a:rPr lang="en-US" sz="4400" dirty="0"/>
              <a:t>(inter-process communication)</a:t>
            </a:r>
            <a:endParaRPr lang="en-AE" sz="44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C46E087-8817-D581-BC67-E9B416B62C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PART III: INDIVIDUAL module </a:t>
            </a:r>
            <a:r>
              <a:rPr lang="en-US" b="1" dirty="0">
                <a:solidFill>
                  <a:srgbClr val="FF0000"/>
                </a:solidFill>
              </a:rPr>
              <a:t>#4 </a:t>
            </a:r>
            <a:r>
              <a:rPr lang="en-US" b="1" dirty="0"/>
              <a:t>&amp;</a:t>
            </a:r>
            <a:r>
              <a:rPr lang="en-US" b="1" dirty="0">
                <a:solidFill>
                  <a:srgbClr val="FF0000"/>
                </a:solidFill>
              </a:rPr>
              <a:t> #5</a:t>
            </a:r>
            <a:endParaRPr lang="en-AE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8DE3C8-A113-2B2B-5C84-0F94011FB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64</a:t>
            </a:fld>
            <a:endParaRPr lang="en-US"/>
          </a:p>
        </p:txBody>
      </p:sp>
      <p:pic>
        <p:nvPicPr>
          <p:cNvPr id="8" name="Picture 7" descr="A clock with a number on it&#10;&#10;AI-generated content may be incorrect.">
            <a:extLst>
              <a:ext uri="{FF2B5EF4-FFF2-40B4-BE49-F238E27FC236}">
                <a16:creationId xmlns:a16="http://schemas.microsoft.com/office/drawing/2014/main" id="{A23ED03A-EDD4-B0CC-4C14-3E5AC240D4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1375" y="0"/>
            <a:ext cx="1190625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29730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45D0F-27EC-86F0-DE87-3A233A03B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FC085-0B73-83F8-15CB-73A7A55B2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Overview</a:t>
            </a:r>
            <a:endParaRPr lang="ar-EG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4C9EFC2-3BCC-DF12-4C19-463949585071}"/>
              </a:ext>
            </a:extLst>
          </p:cNvPr>
          <p:cNvSpPr/>
          <p:nvPr/>
        </p:nvSpPr>
        <p:spPr>
          <a:xfrm>
            <a:off x="235394" y="364720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Individual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Module#1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8E37B74-C855-72F8-44E0-2D1FC4AE5922}"/>
              </a:ext>
            </a:extLst>
          </p:cNvPr>
          <p:cNvSpPr/>
          <p:nvPr/>
        </p:nvSpPr>
        <p:spPr>
          <a:xfrm>
            <a:off x="2220990" y="364720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Individual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Module#2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096E55C-2B04-5E43-62D1-11841D525673}"/>
              </a:ext>
            </a:extLst>
          </p:cNvPr>
          <p:cNvSpPr/>
          <p:nvPr/>
        </p:nvSpPr>
        <p:spPr>
          <a:xfrm>
            <a:off x="4206586" y="364720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Individual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Module#3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F620438-616F-7C18-9644-E317699C7C49}"/>
              </a:ext>
            </a:extLst>
          </p:cNvPr>
          <p:cNvSpPr/>
          <p:nvPr/>
        </p:nvSpPr>
        <p:spPr>
          <a:xfrm>
            <a:off x="6192182" y="364720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Individual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Module#4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59DBF4DF-56C9-76BD-AF1B-A06BF501F12C}"/>
              </a:ext>
            </a:extLst>
          </p:cNvPr>
          <p:cNvCxnSpPr>
            <a:cxnSpLocks/>
            <a:stCxn id="13" idx="2"/>
            <a:endCxn id="5" idx="0"/>
          </p:cNvCxnSpPr>
          <p:nvPr/>
        </p:nvCxnSpPr>
        <p:spPr>
          <a:xfrm rot="5400000">
            <a:off x="3215515" y="740890"/>
            <a:ext cx="859648" cy="4952990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051C7A88-C951-D836-A12E-A1D846A90A46}"/>
              </a:ext>
            </a:extLst>
          </p:cNvPr>
          <p:cNvCxnSpPr>
            <a:cxnSpLocks/>
            <a:stCxn id="13" idx="2"/>
            <a:endCxn id="7" idx="0"/>
          </p:cNvCxnSpPr>
          <p:nvPr/>
        </p:nvCxnSpPr>
        <p:spPr>
          <a:xfrm rot="5400000">
            <a:off x="4208313" y="1733688"/>
            <a:ext cx="859648" cy="296739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D1BF00AC-4BF6-0CDB-F706-ED39D71505AD}"/>
              </a:ext>
            </a:extLst>
          </p:cNvPr>
          <p:cNvCxnSpPr>
            <a:cxnSpLocks/>
            <a:stCxn id="13" idx="2"/>
            <a:endCxn id="8" idx="0"/>
          </p:cNvCxnSpPr>
          <p:nvPr/>
        </p:nvCxnSpPr>
        <p:spPr>
          <a:xfrm rot="5400000">
            <a:off x="5201111" y="2726486"/>
            <a:ext cx="859648" cy="98179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CD49B2E2-8266-28CB-C5FA-C64D248BE76F}"/>
              </a:ext>
            </a:extLst>
          </p:cNvPr>
          <p:cNvCxnSpPr>
            <a:cxnSpLocks/>
            <a:stCxn id="13" idx="2"/>
            <a:endCxn id="9" idx="0"/>
          </p:cNvCxnSpPr>
          <p:nvPr/>
        </p:nvCxnSpPr>
        <p:spPr>
          <a:xfrm rot="16200000" flipH="1">
            <a:off x="6193909" y="2715486"/>
            <a:ext cx="859648" cy="100379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C0C21B0C-AE02-FD09-7F73-C5910B20D6D6}"/>
              </a:ext>
            </a:extLst>
          </p:cNvPr>
          <p:cNvCxnSpPr>
            <a:cxnSpLocks/>
            <a:stCxn id="5" idx="2"/>
            <a:endCxn id="23" idx="0"/>
          </p:cNvCxnSpPr>
          <p:nvPr/>
        </p:nvCxnSpPr>
        <p:spPr>
          <a:xfrm rot="16200000" flipH="1">
            <a:off x="3229415" y="2501037"/>
            <a:ext cx="831849" cy="495299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8DE6F916-FFAD-0727-7D75-B26910F10C49}"/>
              </a:ext>
            </a:extLst>
          </p:cNvPr>
          <p:cNvCxnSpPr>
            <a:cxnSpLocks/>
            <a:stCxn id="7" idx="2"/>
            <a:endCxn id="23" idx="0"/>
          </p:cNvCxnSpPr>
          <p:nvPr/>
        </p:nvCxnSpPr>
        <p:spPr>
          <a:xfrm rot="16200000" flipH="1">
            <a:off x="4222213" y="3493835"/>
            <a:ext cx="831849" cy="296739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EF8BFCB3-D2DC-DA23-C3C4-CD91042634D0}"/>
              </a:ext>
            </a:extLst>
          </p:cNvPr>
          <p:cNvCxnSpPr>
            <a:cxnSpLocks/>
            <a:stCxn id="8" idx="2"/>
            <a:endCxn id="23" idx="0"/>
          </p:cNvCxnSpPr>
          <p:nvPr/>
        </p:nvCxnSpPr>
        <p:spPr>
          <a:xfrm rot="16200000" flipH="1">
            <a:off x="5215011" y="4486633"/>
            <a:ext cx="831849" cy="98179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EF4DC6AC-D69C-1730-9507-BA85C54EFDF1}"/>
              </a:ext>
            </a:extLst>
          </p:cNvPr>
          <p:cNvCxnSpPr>
            <a:cxnSpLocks/>
            <a:stCxn id="9" idx="2"/>
            <a:endCxn id="23" idx="0"/>
          </p:cNvCxnSpPr>
          <p:nvPr/>
        </p:nvCxnSpPr>
        <p:spPr>
          <a:xfrm rot="5400000">
            <a:off x="6207810" y="4475635"/>
            <a:ext cx="831849" cy="100379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FFD02A4-D851-147C-CF20-1D53F17F1436}"/>
              </a:ext>
            </a:extLst>
          </p:cNvPr>
          <p:cNvSpPr/>
          <p:nvPr/>
        </p:nvSpPr>
        <p:spPr>
          <a:xfrm>
            <a:off x="2220989" y="1873161"/>
            <a:ext cx="7801689" cy="914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[TW]</a:t>
            </a:r>
            <a:r>
              <a:rPr kumimoji="0" lang="en-US" sz="28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Prerequisite Modules </a:t>
            </a:r>
          </a:p>
          <a:p>
            <a:pPr lvl="0" algn="ctr" defTabSz="914400">
              <a:defRPr/>
            </a:pPr>
            <a:r>
              <a:rPr lang="en-US" sz="2400" b="1" dirty="0">
                <a:solidFill>
                  <a:prstClr val="black"/>
                </a:solidFill>
                <a:latin typeface="Calibri"/>
              </a:rPr>
              <a:t>Dyn. </a:t>
            </a:r>
            <a:r>
              <a:rPr lang="en-US" sz="2400" b="1" dirty="0" err="1">
                <a:solidFill>
                  <a:prstClr val="black"/>
                </a:solidFill>
                <a:latin typeface="Calibri"/>
              </a:rPr>
              <a:t>Alloc</a:t>
            </a:r>
            <a:r>
              <a:rPr lang="en-US" sz="2400" b="1" dirty="0">
                <a:solidFill>
                  <a:prstClr val="black"/>
                </a:solidFill>
                <a:latin typeface="Calibri"/>
              </a:rPr>
              <a:t>, Kern Heap, Fault Handl. 1, Blocking</a:t>
            </a:r>
            <a:endParaRPr lang="en-AE" sz="28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660C7DE-069A-183D-9B90-33F8944B12DF}"/>
              </a:ext>
            </a:extLst>
          </p:cNvPr>
          <p:cNvSpPr/>
          <p:nvPr/>
        </p:nvSpPr>
        <p:spPr>
          <a:xfrm>
            <a:off x="229044" y="3640858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[M#1]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Fault Handl. 2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93F6354-0A19-1A3D-617A-B7328F61B84C}"/>
              </a:ext>
            </a:extLst>
          </p:cNvPr>
          <p:cNvSpPr/>
          <p:nvPr/>
        </p:nvSpPr>
        <p:spPr>
          <a:xfrm>
            <a:off x="2220990" y="364720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[M#2]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User Heap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7194424-7B1F-078A-12BD-0615CC55702A}"/>
              </a:ext>
            </a:extLst>
          </p:cNvPr>
          <p:cNvSpPr/>
          <p:nvPr/>
        </p:nvSpPr>
        <p:spPr>
          <a:xfrm>
            <a:off x="4212936" y="365355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[M#3]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lvl="0" algn="ctr" defTabSz="914400"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CPU Sched.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8B66C71-4052-8495-3835-53436A358851}"/>
              </a:ext>
            </a:extLst>
          </p:cNvPr>
          <p:cNvSpPr/>
          <p:nvPr/>
        </p:nvSpPr>
        <p:spPr>
          <a:xfrm>
            <a:off x="6198532" y="3650583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[M#4]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lvl="0" algn="ctr" defTabSz="914400"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IPC #1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6F41EBFF-AEFC-EE04-9638-2400D88CF380}"/>
              </a:ext>
            </a:extLst>
          </p:cNvPr>
          <p:cNvCxnSpPr>
            <a:cxnSpLocks/>
            <a:stCxn id="13" idx="2"/>
            <a:endCxn id="22" idx="0"/>
          </p:cNvCxnSpPr>
          <p:nvPr/>
        </p:nvCxnSpPr>
        <p:spPr>
          <a:xfrm rot="16200000" flipH="1">
            <a:off x="7178883" y="1730511"/>
            <a:ext cx="853297" cy="296739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FD141505-5061-A159-4F21-0702FEB4304C}"/>
              </a:ext>
            </a:extLst>
          </p:cNvPr>
          <p:cNvCxnSpPr>
            <a:cxnSpLocks/>
            <a:stCxn id="22" idx="2"/>
            <a:endCxn id="23" idx="0"/>
          </p:cNvCxnSpPr>
          <p:nvPr/>
        </p:nvCxnSpPr>
        <p:spPr>
          <a:xfrm rot="5400000">
            <a:off x="7186432" y="3490661"/>
            <a:ext cx="838200" cy="296739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F3CA8A2-2042-549B-F259-71B449565C1F}"/>
              </a:ext>
            </a:extLst>
          </p:cNvPr>
          <p:cNvSpPr/>
          <p:nvPr/>
        </p:nvSpPr>
        <p:spPr>
          <a:xfrm>
            <a:off x="8155779" y="3640858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[M#5]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lvl="0" algn="ctr" defTabSz="914400"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IPC #2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44F8F76-6710-821D-3409-67D88B0D7A95}"/>
              </a:ext>
            </a:extLst>
          </p:cNvPr>
          <p:cNvSpPr/>
          <p:nvPr/>
        </p:nvSpPr>
        <p:spPr>
          <a:xfrm>
            <a:off x="3154440" y="5393458"/>
            <a:ext cx="5934789" cy="9144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[TW]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Integration &amp; Overall Testing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prstClr val="black"/>
                </a:solidFill>
                <a:latin typeface="Calibri"/>
              </a:rPr>
              <a:t>Scenarios &amp; Bonuses</a:t>
            </a:r>
            <a:endParaRPr kumimoji="0" lang="en-AE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A2DD510-04AC-A51C-88B0-2C8B8E308D86}"/>
              </a:ext>
            </a:extLst>
          </p:cNvPr>
          <p:cNvSpPr/>
          <p:nvPr/>
        </p:nvSpPr>
        <p:spPr>
          <a:xfrm>
            <a:off x="10157026" y="364720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lvl="0" algn="ctr" defTabSz="914400">
              <a:defRPr/>
            </a:pPr>
            <a:r>
              <a:rPr lang="en-US" sz="2400" b="1" dirty="0">
                <a:solidFill>
                  <a:prstClr val="black"/>
                </a:solidFill>
                <a:latin typeface="Calibri"/>
              </a:rPr>
              <a:t>[M#6]</a:t>
            </a:r>
            <a:r>
              <a:rPr lang="en-US" sz="2800" dirty="0">
                <a:solidFill>
                  <a:prstClr val="black"/>
                </a:solidFill>
                <a:latin typeface="Calibri"/>
              </a:rPr>
              <a:t> </a:t>
            </a:r>
          </a:p>
          <a:p>
            <a:pPr lvl="0" algn="ctr" defTabSz="914400"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Shared Memory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0FA15F8F-345C-12EF-F2BC-2D19A08F3218}"/>
              </a:ext>
            </a:extLst>
          </p:cNvPr>
          <p:cNvCxnSpPr>
            <a:cxnSpLocks/>
            <a:stCxn id="13" idx="2"/>
            <a:endCxn id="28" idx="0"/>
          </p:cNvCxnSpPr>
          <p:nvPr/>
        </p:nvCxnSpPr>
        <p:spPr>
          <a:xfrm rot="16200000" flipH="1">
            <a:off x="8176331" y="733064"/>
            <a:ext cx="859648" cy="496864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3F3603D2-CF50-37BC-1036-C6FEB1F27FFC}"/>
              </a:ext>
            </a:extLst>
          </p:cNvPr>
          <p:cNvCxnSpPr>
            <a:cxnSpLocks/>
            <a:stCxn id="28" idx="2"/>
            <a:endCxn id="23" idx="0"/>
          </p:cNvCxnSpPr>
          <p:nvPr/>
        </p:nvCxnSpPr>
        <p:spPr>
          <a:xfrm rot="5400000">
            <a:off x="8190232" y="2493213"/>
            <a:ext cx="831849" cy="496864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0243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5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2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32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73AE1-9AEF-998C-FBE7-69E8C50A4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505D5-886F-DB82-D36A-F9750CABE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Objective</a:t>
            </a:r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101239C1-1E87-4DBA-2921-B5AD6A37160D}"/>
              </a:ext>
            </a:extLst>
          </p:cNvPr>
          <p:cNvSpPr/>
          <p:nvPr/>
        </p:nvSpPr>
        <p:spPr>
          <a:xfrm>
            <a:off x="1154084" y="2270926"/>
            <a:ext cx="10058400" cy="2924072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200" dirty="0"/>
              <a:t>Implement </a:t>
            </a:r>
            <a:r>
              <a:rPr lang="en-US" sz="2200" b="1" dirty="0">
                <a:solidFill>
                  <a:srgbClr val="FF0000"/>
                </a:solidFill>
              </a:rPr>
              <a:t>inter-process communication (IPC) </a:t>
            </a:r>
            <a:r>
              <a:rPr lang="en-US" sz="2200" dirty="0"/>
              <a:t>to support the </a:t>
            </a:r>
            <a:r>
              <a:rPr lang="en-US" sz="2200" b="1" dirty="0"/>
              <a:t>communication </a:t>
            </a:r>
            <a:r>
              <a:rPr lang="en-US" sz="2200" dirty="0"/>
              <a:t>between processes via </a:t>
            </a:r>
            <a:r>
              <a:rPr lang="en-US" sz="2200" b="1" dirty="0"/>
              <a:t>messages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66B943-B1C8-1BD6-B052-8A7AF9868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13129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E51E8-88DD-8034-0971-424C841AC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3F61E-7E47-C758-FA47-218A39716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E1D03-78B2-7B8C-2F71-04EF78172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67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44645DD-B40D-C60F-3428-FFBC9C55EF44}"/>
              </a:ext>
            </a:extLst>
          </p:cNvPr>
          <p:cNvSpPr/>
          <p:nvPr/>
        </p:nvSpPr>
        <p:spPr>
          <a:xfrm>
            <a:off x="1097280" y="1931461"/>
            <a:ext cx="10058400" cy="145075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400" b="1" dirty="0">
                <a:solidFill>
                  <a:srgbClr val="FF0000"/>
                </a:solidFill>
              </a:rPr>
              <a:t>DEPENDENCIES: </a:t>
            </a:r>
            <a:r>
              <a:rPr lang="en-US" sz="3600" b="1" dirty="0"/>
              <a:t>Dynamic Allocator + Blocking</a:t>
            </a:r>
            <a:endParaRPr lang="en-US" sz="3200" b="1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FCB2550-2F96-2891-E6DD-2F0A489E7928}"/>
              </a:ext>
            </a:extLst>
          </p:cNvPr>
          <p:cNvSpPr/>
          <p:nvPr/>
        </p:nvSpPr>
        <p:spPr>
          <a:xfrm>
            <a:off x="1097280" y="3458253"/>
            <a:ext cx="10058400" cy="280743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4400" b="1">
                <a:solidFill>
                  <a:srgbClr val="FF0000"/>
                </a:solidFill>
              </a:rPr>
              <a:t>REMEMBER</a:t>
            </a:r>
          </a:p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en-US" sz="3200" b="1"/>
              <a:t>During your solution, any SHARED data need to be PROTECTED by critical section via LOCKS</a:t>
            </a:r>
            <a:endParaRPr lang="en-AE" sz="3200" b="1"/>
          </a:p>
        </p:txBody>
      </p:sp>
    </p:spTree>
    <p:extLst>
      <p:ext uri="{BB962C8B-B14F-4D97-AF65-F5344CB8AC3E}">
        <p14:creationId xmlns:p14="http://schemas.microsoft.com/office/powerpoint/2010/main" val="2666735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812A4-49D7-545D-388E-57EB65D3A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9F631-857E-99F6-0C81-709AAE4BE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8"/>
            <a:ext cx="10058400" cy="856397"/>
          </a:xfrm>
        </p:spPr>
        <p:txBody>
          <a:bodyPr/>
          <a:lstStyle/>
          <a:p>
            <a:r>
              <a:rPr lang="en-US" sz="4800" dirty="0"/>
              <a:t>IPC:</a:t>
            </a:r>
            <a:r>
              <a:rPr lang="en-US" dirty="0"/>
              <a:t> </a:t>
            </a:r>
            <a:r>
              <a:rPr lang="en-US" b="1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66945-C268-C877-B308-076A009E7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65201"/>
            <a:ext cx="11419840" cy="2112276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 Communication is </a:t>
            </a:r>
            <a:r>
              <a:rPr lang="en-US" sz="2400" b="1" dirty="0"/>
              <a:t>harder</a:t>
            </a:r>
            <a:r>
              <a:rPr lang="en-US" sz="2400" dirty="0"/>
              <a:t> between processes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To allow it: </a:t>
            </a:r>
            <a:r>
              <a:rPr lang="en-US" sz="2400" b="1" dirty="0"/>
              <a:t>inter-process communication </a:t>
            </a:r>
            <a:r>
              <a:rPr lang="en-US" sz="2400" dirty="0"/>
              <a:t>is applied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dirty="0"/>
              <a:t> Create a shared mailbox(es) at either the process or the kernel</a:t>
            </a:r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F7878E-1B78-3C5C-5046-285AD9C3A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68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515DC82-2413-6F45-30A9-9E3CF56AC245}"/>
              </a:ext>
            </a:extLst>
          </p:cNvPr>
          <p:cNvGrpSpPr/>
          <p:nvPr/>
        </p:nvGrpSpPr>
        <p:grpSpPr>
          <a:xfrm>
            <a:off x="360150" y="3429000"/>
            <a:ext cx="2673081" cy="3409728"/>
            <a:chOff x="9341159" y="-415895"/>
            <a:chExt cx="2673081" cy="340972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7F418D-97DD-6CB9-EDF6-CD458446A28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2" t="11746" r="58187" b="18264"/>
            <a:stretch/>
          </p:blipFill>
          <p:spPr bwMode="auto">
            <a:xfrm>
              <a:off x="9710490" y="73409"/>
              <a:ext cx="2303750" cy="2920424"/>
            </a:xfrm>
            <a:prstGeom prst="rect">
              <a:avLst/>
            </a:prstGeom>
            <a:noFill/>
            <a:ln w="38100" cmpd="dbl">
              <a:solidFill>
                <a:srgbClr val="CC66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6524CC7-B702-FB16-0761-A54E1526FFA2}"/>
                </a:ext>
              </a:extLst>
            </p:cNvPr>
            <p:cNvSpPr txBox="1"/>
            <p:nvPr/>
          </p:nvSpPr>
          <p:spPr>
            <a:xfrm rot="16200000">
              <a:off x="8131853" y="793411"/>
              <a:ext cx="27879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>
                  <a:latin typeface="Gill Sans Light"/>
                </a:rPr>
                <a:t>Single-Threaded Process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1A77013-AE0A-8134-9DC7-CB55B31E4D75}"/>
              </a:ext>
            </a:extLst>
          </p:cNvPr>
          <p:cNvGrpSpPr/>
          <p:nvPr/>
        </p:nvGrpSpPr>
        <p:grpSpPr>
          <a:xfrm>
            <a:off x="4936096" y="3474183"/>
            <a:ext cx="2673083" cy="3370602"/>
            <a:chOff x="9710490" y="-376769"/>
            <a:chExt cx="2673083" cy="3370602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6324F37-099D-A810-D6E2-2B953F8F512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2" t="11746" r="58187" b="18264"/>
            <a:stretch/>
          </p:blipFill>
          <p:spPr bwMode="auto">
            <a:xfrm>
              <a:off x="9710490" y="73409"/>
              <a:ext cx="2303750" cy="2920424"/>
            </a:xfrm>
            <a:prstGeom prst="rect">
              <a:avLst/>
            </a:prstGeom>
            <a:noFill/>
            <a:ln w="38100" cmpd="dbl">
              <a:solidFill>
                <a:srgbClr val="CC66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04EBC19-3C14-0D72-40F4-6467745A8539}"/>
                </a:ext>
              </a:extLst>
            </p:cNvPr>
            <p:cNvSpPr txBox="1"/>
            <p:nvPr/>
          </p:nvSpPr>
          <p:spPr>
            <a:xfrm rot="16200000">
              <a:off x="10804935" y="832537"/>
              <a:ext cx="27879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>
                  <a:latin typeface="Gill Sans Light"/>
                </a:rPr>
                <a:t>Single-Threaded Process</a:t>
              </a:r>
            </a:p>
          </p:txBody>
        </p:sp>
      </p:grpSp>
      <p:sp>
        <p:nvSpPr>
          <p:cNvPr id="15" name="Arrow: Left-Right 14">
            <a:extLst>
              <a:ext uri="{FF2B5EF4-FFF2-40B4-BE49-F238E27FC236}">
                <a16:creationId xmlns:a16="http://schemas.microsoft.com/office/drawing/2014/main" id="{06D91665-B4F6-9188-D216-9BCE4E145949}"/>
              </a:ext>
            </a:extLst>
          </p:cNvPr>
          <p:cNvSpPr/>
          <p:nvPr/>
        </p:nvSpPr>
        <p:spPr>
          <a:xfrm>
            <a:off x="3053551" y="5136200"/>
            <a:ext cx="1823249" cy="484632"/>
          </a:xfrm>
          <a:prstGeom prst="left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6" name="Cross 15">
            <a:extLst>
              <a:ext uri="{FF2B5EF4-FFF2-40B4-BE49-F238E27FC236}">
                <a16:creationId xmlns:a16="http://schemas.microsoft.com/office/drawing/2014/main" id="{D42E8DE5-512C-1EEC-7EDE-C41F260DE430}"/>
              </a:ext>
            </a:extLst>
          </p:cNvPr>
          <p:cNvSpPr/>
          <p:nvPr/>
        </p:nvSpPr>
        <p:spPr>
          <a:xfrm rot="18918279">
            <a:off x="3532996" y="4913769"/>
            <a:ext cx="914400" cy="914400"/>
          </a:xfrm>
          <a:prstGeom prst="plus">
            <a:avLst>
              <a:gd name="adj" fmla="val 40415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18" name="Picture 17" descr="4,000+ Mailbox Clipart Illustrations - iStock">
            <a:extLst>
              <a:ext uri="{FF2B5EF4-FFF2-40B4-BE49-F238E27FC236}">
                <a16:creationId xmlns:a16="http://schemas.microsoft.com/office/drawing/2014/main" id="{0B5F1BC9-501A-82CB-5D58-5065E0AC9D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418" t="17865" r="20043" b="15142"/>
          <a:stretch>
            <a:fillRect/>
          </a:stretch>
        </p:blipFill>
        <p:spPr>
          <a:xfrm>
            <a:off x="3445255" y="2587638"/>
            <a:ext cx="1003810" cy="995715"/>
          </a:xfrm>
          <a:prstGeom prst="rect">
            <a:avLst/>
          </a:prstGeom>
        </p:spPr>
      </p:pic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F937DA4A-E3F1-DC1D-0770-C8A6686AD989}"/>
              </a:ext>
            </a:extLst>
          </p:cNvPr>
          <p:cNvCxnSpPr>
            <a:cxnSpLocks/>
            <a:stCxn id="10" idx="0"/>
          </p:cNvCxnSpPr>
          <p:nvPr/>
        </p:nvCxnSpPr>
        <p:spPr>
          <a:xfrm rot="5400000" flipH="1" flipV="1">
            <a:off x="2402472" y="2770280"/>
            <a:ext cx="626908" cy="1669141"/>
          </a:xfrm>
          <a:prstGeom prst="bentConnector2">
            <a:avLst/>
          </a:prstGeom>
          <a:ln w="76200" cap="flat" cmpd="sng" algn="ctr">
            <a:solidFill>
              <a:srgbClr val="00B050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DA2913FB-55AE-5224-C77F-F10A85124063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4343823" y="3291396"/>
            <a:ext cx="1744148" cy="632965"/>
          </a:xfrm>
          <a:prstGeom prst="bentConnector2">
            <a:avLst/>
          </a:prstGeom>
          <a:ln w="76200" cap="flat" cmpd="sng" algn="ctr">
            <a:solidFill>
              <a:srgbClr val="00B050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8315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B19B2-6BA4-9D6C-AEAD-821CB88AD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56DD6-BC99-F3F7-156E-701528CB1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8"/>
            <a:ext cx="10058400" cy="856397"/>
          </a:xfrm>
        </p:spPr>
        <p:txBody>
          <a:bodyPr/>
          <a:lstStyle/>
          <a:p>
            <a:r>
              <a:rPr lang="en-US" sz="4800" dirty="0"/>
              <a:t>IPC:</a:t>
            </a:r>
            <a:r>
              <a:rPr lang="en-US" dirty="0"/>
              <a:t> </a:t>
            </a:r>
            <a:r>
              <a:rPr lang="en-US" b="1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39378-A46D-F025-AE8F-D5DC94C17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65200"/>
            <a:ext cx="12192000" cy="5354320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 </a:t>
            </a:r>
            <a:r>
              <a:rPr lang="en-US" sz="2400" b="1" dirty="0"/>
              <a:t>FOUR Primitive Setup:</a:t>
            </a:r>
          </a:p>
          <a:p>
            <a:pPr marL="658368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 err="1"/>
              <a:t>Create_mailbox</a:t>
            </a:r>
            <a:endParaRPr lang="en-US" sz="2200" dirty="0"/>
          </a:p>
          <a:p>
            <a:pPr marL="658368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 err="1"/>
              <a:t>Delete_mailbox</a:t>
            </a:r>
            <a:endParaRPr lang="en-US" sz="2200" dirty="0"/>
          </a:p>
          <a:p>
            <a:pPr marL="658368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/>
              <a:t>Connect</a:t>
            </a:r>
          </a:p>
          <a:p>
            <a:pPr marL="658368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/>
              <a:t>Disconnect 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400" b="1" dirty="0"/>
              <a:t>THREE Primitive Operations:</a:t>
            </a:r>
          </a:p>
          <a:p>
            <a:pPr marL="658368" lvl="1" indent="-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200" dirty="0"/>
              <a:t>send (destination, message)</a:t>
            </a:r>
          </a:p>
          <a:p>
            <a:pPr marL="658368" lvl="1" indent="-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200" dirty="0"/>
              <a:t>receive (source, message)</a:t>
            </a:r>
          </a:p>
          <a:p>
            <a:pPr marL="658368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/>
              <a:t>broadcast (mailbox, message)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83C1D-C627-2E9A-D054-F2FB66EA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409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81256-6C9F-2326-E842-0B102848F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6333F-7A39-70A0-7B28-51C464445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8"/>
            <a:ext cx="10058400" cy="856397"/>
          </a:xfrm>
        </p:spPr>
        <p:txBody>
          <a:bodyPr/>
          <a:lstStyle/>
          <a:p>
            <a:r>
              <a:rPr lang="en-US" sz="4800" dirty="0"/>
              <a:t>IPC:</a:t>
            </a:r>
            <a:r>
              <a:rPr lang="en-US" dirty="0"/>
              <a:t> </a:t>
            </a:r>
            <a:r>
              <a:rPr lang="en-US" b="1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1FA11-8F63-4955-D9BF-DB0755961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65200"/>
            <a:ext cx="12192000" cy="535432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 </a:t>
            </a:r>
            <a:r>
              <a:rPr lang="en-US" sz="2800" b="1" dirty="0"/>
              <a:t>Synchronization: </a:t>
            </a:r>
          </a:p>
          <a:p>
            <a:pPr lvl="1">
              <a:lnSpc>
                <a:spcPct val="100000"/>
              </a:lnSpc>
            </a:pPr>
            <a:r>
              <a:rPr lang="en-US" sz="2400" dirty="0"/>
              <a:t>Communication requires synchronization</a:t>
            </a:r>
          </a:p>
          <a:p>
            <a:pPr lvl="2">
              <a:lnSpc>
                <a:spcPct val="100000"/>
              </a:lnSpc>
            </a:pPr>
            <a:r>
              <a:rPr lang="en-US" sz="2000" dirty="0"/>
              <a:t>Sender must send before receiver can receive</a:t>
            </a:r>
          </a:p>
          <a:p>
            <a:pPr lvl="1">
              <a:lnSpc>
                <a:spcPct val="100000"/>
              </a:lnSpc>
            </a:pPr>
            <a:r>
              <a:rPr lang="en-NZ" sz="2400" dirty="0"/>
              <a:t>What happens to a process after it issues a send/receive primitive?</a:t>
            </a:r>
            <a:endParaRPr lang="en-US" sz="2400" dirty="0"/>
          </a:p>
          <a:p>
            <a:pPr lvl="2">
              <a:lnSpc>
                <a:spcPct val="100000"/>
              </a:lnSpc>
            </a:pPr>
            <a:r>
              <a:rPr lang="en-US" sz="2000" dirty="0"/>
              <a:t>Sender and receiver </a:t>
            </a:r>
            <a:r>
              <a:rPr lang="en-US" sz="2000" b="1" dirty="0"/>
              <a:t>may or may not </a:t>
            </a:r>
            <a:r>
              <a:rPr lang="en-US" sz="2000" dirty="0"/>
              <a:t>be </a:t>
            </a:r>
            <a:r>
              <a:rPr lang="en-US" sz="2000" b="1" dirty="0"/>
              <a:t>blocking</a:t>
            </a:r>
            <a:r>
              <a:rPr lang="en-US" sz="2000" dirty="0"/>
              <a:t> (waiting for message)</a:t>
            </a:r>
          </a:p>
          <a:p>
            <a:pPr lvl="1">
              <a:lnSpc>
                <a:spcPct val="100000"/>
              </a:lnSpc>
            </a:pPr>
            <a:r>
              <a:rPr lang="en-US" sz="2400" b="1" dirty="0"/>
              <a:t>Non-Blocking send, Blocking receive</a:t>
            </a:r>
          </a:p>
          <a:p>
            <a:pPr lvl="2"/>
            <a:r>
              <a:rPr lang="en-US" sz="2000" dirty="0"/>
              <a:t>Sender </a:t>
            </a:r>
            <a:r>
              <a:rPr lang="en-US" sz="2000" b="1" dirty="0"/>
              <a:t>continues</a:t>
            </a:r>
            <a:r>
              <a:rPr lang="en-US" sz="2000" dirty="0"/>
              <a:t> on</a:t>
            </a:r>
          </a:p>
          <a:p>
            <a:pPr lvl="2"/>
            <a:r>
              <a:rPr lang="en-US" sz="2000" dirty="0"/>
              <a:t>Receiver is </a:t>
            </a:r>
            <a:r>
              <a:rPr lang="en-US" sz="2000" b="1" dirty="0"/>
              <a:t>blocked</a:t>
            </a:r>
            <a:r>
              <a:rPr lang="en-US" sz="2000" dirty="0"/>
              <a:t> until the requested message arrives</a:t>
            </a:r>
          </a:p>
          <a:p>
            <a:pPr lvl="2"/>
            <a:r>
              <a:rPr lang="en-NZ" sz="2000" b="1" dirty="0">
                <a:solidFill>
                  <a:srgbClr val="00B050"/>
                </a:solidFill>
              </a:rPr>
              <a:t>(+) </a:t>
            </a:r>
            <a:r>
              <a:rPr lang="en-NZ" sz="2000" dirty="0"/>
              <a:t>Most useful combination.</a:t>
            </a:r>
            <a:endParaRPr lang="en-US" sz="2000" dirty="0"/>
          </a:p>
          <a:p>
            <a:pPr lvl="2"/>
            <a:r>
              <a:rPr lang="en-US" sz="2000" b="1" dirty="0">
                <a:solidFill>
                  <a:srgbClr val="FF0000"/>
                </a:solidFill>
              </a:rPr>
              <a:t>(-)</a:t>
            </a:r>
            <a:r>
              <a:rPr lang="en-US" sz="2000" dirty="0"/>
              <a:t> Programmer is responsible to determine that a message has been received</a:t>
            </a:r>
          </a:p>
          <a:p>
            <a:pPr>
              <a:lnSpc>
                <a:spcPct val="100000"/>
              </a:lnSpc>
            </a:pPr>
            <a:endParaRPr lang="en-US" sz="2600" dirty="0"/>
          </a:p>
          <a:p>
            <a:pPr marL="658368" lvl="1" indent="-457200">
              <a:lnSpc>
                <a:spcPct val="150000"/>
              </a:lnSpc>
              <a:buFont typeface="+mj-lt"/>
              <a:buAutoNum type="arabicPeriod"/>
            </a:pPr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8E716-5E5E-BC41-425A-01443948B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656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2262B-3333-8042-8275-5A3B7BF02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0E618-5D8F-F679-5EBE-569A1D595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8"/>
            <a:ext cx="10058400" cy="856397"/>
          </a:xfrm>
        </p:spPr>
        <p:txBody>
          <a:bodyPr/>
          <a:lstStyle/>
          <a:p>
            <a:r>
              <a:rPr lang="en-US" sz="4800" dirty="0"/>
              <a:t>IPC:</a:t>
            </a:r>
            <a:r>
              <a:rPr lang="en-US" dirty="0"/>
              <a:t> </a:t>
            </a:r>
            <a:r>
              <a:rPr lang="en-US" b="1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D2C23-B8E7-32B0-0D2D-08892B73C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65200"/>
            <a:ext cx="12192000" cy="535432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 </a:t>
            </a:r>
            <a:r>
              <a:rPr lang="en-US" sz="2800" b="1" dirty="0"/>
              <a:t>Addressing: </a:t>
            </a:r>
          </a:p>
          <a:p>
            <a:pPr lvl="1">
              <a:lnSpc>
                <a:spcPct val="100000"/>
              </a:lnSpc>
            </a:pPr>
            <a:r>
              <a:rPr lang="en-US" sz="2400" dirty="0"/>
              <a:t>Sending process need to be able to specify which process should receive the message</a:t>
            </a:r>
          </a:p>
          <a:p>
            <a:pPr marL="896112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400" dirty="0"/>
              <a:t>Direct addressing</a:t>
            </a:r>
          </a:p>
          <a:p>
            <a:pPr lvl="4">
              <a:lnSpc>
                <a:spcPct val="100000"/>
              </a:lnSpc>
            </a:pPr>
            <a:r>
              <a:rPr lang="en-US" sz="2000" dirty="0"/>
              <a:t>Send primitive includes a </a:t>
            </a:r>
            <a:r>
              <a:rPr lang="en-US" sz="2000" b="1" dirty="0"/>
              <a:t>specific identifier </a:t>
            </a:r>
            <a:r>
              <a:rPr lang="en-US" sz="2000" dirty="0"/>
              <a:t>of the </a:t>
            </a:r>
            <a:r>
              <a:rPr lang="en-US" sz="2000" dirty="0" err="1"/>
              <a:t>dest</a:t>
            </a:r>
            <a:r>
              <a:rPr lang="en-US" sz="2000" dirty="0"/>
              <a:t> process</a:t>
            </a:r>
          </a:p>
          <a:p>
            <a:pPr lvl="4">
              <a:lnSpc>
                <a:spcPct val="100000"/>
              </a:lnSpc>
            </a:pPr>
            <a:r>
              <a:rPr lang="en-US" sz="2000" dirty="0"/>
              <a:t>Receive primitive </a:t>
            </a:r>
            <a:r>
              <a:rPr lang="en-US" sz="2000" b="1" dirty="0"/>
              <a:t>know ahead of time </a:t>
            </a:r>
            <a:r>
              <a:rPr lang="en-US" sz="2000" dirty="0"/>
              <a:t>which process a message is expected</a:t>
            </a:r>
            <a:endParaRPr lang="en-US" sz="2200" dirty="0"/>
          </a:p>
          <a:p>
            <a:pPr marL="896112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400" dirty="0"/>
              <a:t>Indirect Addressing</a:t>
            </a:r>
          </a:p>
          <a:p>
            <a:pPr lvl="4">
              <a:lnSpc>
                <a:spcPct val="100000"/>
              </a:lnSpc>
            </a:pPr>
            <a:r>
              <a:rPr lang="en-US" sz="2000" dirty="0"/>
              <a:t>Msg’s are sent to a </a:t>
            </a:r>
            <a:r>
              <a:rPr lang="en-US" sz="2000" b="1" dirty="0"/>
              <a:t>shared data structure </a:t>
            </a:r>
            <a:r>
              <a:rPr lang="en-US" sz="2000" dirty="0"/>
              <a:t>consisting of queue</a:t>
            </a:r>
          </a:p>
          <a:p>
            <a:pPr lvl="4">
              <a:lnSpc>
                <a:spcPct val="100000"/>
              </a:lnSpc>
            </a:pPr>
            <a:r>
              <a:rPr lang="en-US" sz="2000" dirty="0"/>
              <a:t>Queue is called </a:t>
            </a:r>
            <a:r>
              <a:rPr lang="en-US" sz="2000" b="1" i="1" dirty="0"/>
              <a:t>mailbox</a:t>
            </a:r>
          </a:p>
          <a:p>
            <a:pPr lvl="4">
              <a:lnSpc>
                <a:spcPct val="100000"/>
              </a:lnSpc>
            </a:pPr>
            <a:r>
              <a:rPr lang="en-US" sz="2000" dirty="0"/>
              <a:t>One process sends a msg to the mailbox and the other process picks up the msg from the mailbox</a:t>
            </a:r>
          </a:p>
          <a:p>
            <a:pPr marL="658368" lvl="1" indent="-457200">
              <a:lnSpc>
                <a:spcPct val="150000"/>
              </a:lnSpc>
              <a:buFont typeface="+mj-lt"/>
              <a:buAutoNum type="arabicPeriod"/>
            </a:pPr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24D1DE-022A-4DF8-52A4-7E55679CE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71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E0F8C4-CABD-BCF1-EC52-C14ED4701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762" y="4953000"/>
            <a:ext cx="4562475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680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47B50-3F7D-EDF1-655D-E0B544053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90E24-1B36-9AF5-2E9E-F25D09C8A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8"/>
            <a:ext cx="10058400" cy="856397"/>
          </a:xfrm>
        </p:spPr>
        <p:txBody>
          <a:bodyPr/>
          <a:lstStyle/>
          <a:p>
            <a:r>
              <a:rPr lang="en-US" sz="4800" dirty="0"/>
              <a:t>IPC:</a:t>
            </a:r>
            <a:r>
              <a:rPr lang="en-US" dirty="0"/>
              <a:t> </a:t>
            </a:r>
            <a:r>
              <a:rPr lang="en-US" b="1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1171D-9794-D974-425D-0AF0B517F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65200"/>
            <a:ext cx="12192000" cy="535432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 </a:t>
            </a:r>
            <a:r>
              <a:rPr lang="en-US" sz="2800" b="1" dirty="0">
                <a:solidFill>
                  <a:srgbClr val="FF0000"/>
                </a:solidFill>
              </a:rPr>
              <a:t>Indirect</a:t>
            </a:r>
            <a:r>
              <a:rPr lang="en-US" sz="2800" b="1" dirty="0"/>
              <a:t> Addressing: </a:t>
            </a:r>
          </a:p>
          <a:p>
            <a:pPr lvl="1">
              <a:lnSpc>
                <a:spcPct val="100000"/>
              </a:lnSpc>
            </a:pPr>
            <a:r>
              <a:rPr lang="en-US" sz="2400" dirty="0"/>
              <a:t>Communication Type</a:t>
            </a:r>
          </a:p>
          <a:p>
            <a:pPr lvl="2">
              <a:lnSpc>
                <a:spcPct val="100000"/>
              </a:lnSpc>
            </a:pPr>
            <a:r>
              <a:rPr lang="en-US" sz="2200" b="1" dirty="0">
                <a:sym typeface="Wingdings" panose="05000000000000000000" pitchFamily="2" charset="2"/>
              </a:rPr>
              <a:t>IPC#1: </a:t>
            </a:r>
            <a:r>
              <a:rPr lang="en-US" sz="2200" dirty="0">
                <a:sym typeface="Wingdings" panose="05000000000000000000" pitchFamily="2" charset="2"/>
              </a:rPr>
              <a:t>one-to-one </a:t>
            </a:r>
            <a:r>
              <a:rPr lang="en-US" sz="2200" b="1" dirty="0">
                <a:sym typeface="Wingdings" panose="05000000000000000000" pitchFamily="2" charset="2"/>
              </a:rPr>
              <a:t>&amp; </a:t>
            </a:r>
            <a:r>
              <a:rPr lang="en-US" sz="2200" dirty="0"/>
              <a:t>many-to-one</a:t>
            </a:r>
            <a:endParaRPr lang="en-US" sz="2200" dirty="0">
              <a:sym typeface="Wingdings" panose="05000000000000000000" pitchFamily="2" charset="2"/>
            </a:endParaRPr>
          </a:p>
          <a:p>
            <a:pPr lvl="2">
              <a:lnSpc>
                <a:spcPct val="100000"/>
              </a:lnSpc>
            </a:pPr>
            <a:r>
              <a:rPr lang="en-US" sz="2200" b="1" dirty="0">
                <a:sym typeface="Wingdings" panose="05000000000000000000" pitchFamily="2" charset="2"/>
              </a:rPr>
              <a:t>IPC#2: </a:t>
            </a:r>
            <a:r>
              <a:rPr lang="en-US" sz="2200" dirty="0"/>
              <a:t>one-to-many </a:t>
            </a:r>
            <a:r>
              <a:rPr lang="en-US" sz="2200" b="1" dirty="0"/>
              <a:t>&amp; </a:t>
            </a:r>
            <a:r>
              <a:rPr lang="en-US" sz="2200" dirty="0"/>
              <a:t>many-to-many</a:t>
            </a:r>
          </a:p>
          <a:p>
            <a:pPr lvl="1">
              <a:lnSpc>
                <a:spcPct val="100000"/>
              </a:lnSpc>
            </a:pPr>
            <a:r>
              <a:rPr lang="en-US" sz="2400" dirty="0"/>
              <a:t>Mailbox Ownership:</a:t>
            </a:r>
          </a:p>
          <a:p>
            <a:pPr lvl="2">
              <a:lnSpc>
                <a:spcPct val="100000"/>
              </a:lnSpc>
            </a:pPr>
            <a:r>
              <a:rPr lang="en-US" sz="2200" b="1" dirty="0">
                <a:sym typeface="Wingdings" panose="05000000000000000000" pitchFamily="2" charset="2"/>
              </a:rPr>
              <a:t>IPC#1: </a:t>
            </a:r>
            <a:r>
              <a:rPr lang="en-US" sz="2200" dirty="0"/>
              <a:t>By created process (e.g. port) </a:t>
            </a:r>
            <a:endParaRPr lang="en-US" sz="2200" dirty="0">
              <a:sym typeface="Wingdings" panose="05000000000000000000" pitchFamily="2" charset="2"/>
            </a:endParaRPr>
          </a:p>
          <a:p>
            <a:pPr lvl="2">
              <a:lnSpc>
                <a:spcPct val="100000"/>
              </a:lnSpc>
            </a:pPr>
            <a:r>
              <a:rPr lang="en-US" sz="2200" b="1" dirty="0">
                <a:sym typeface="Wingdings" panose="05000000000000000000" pitchFamily="2" charset="2"/>
              </a:rPr>
              <a:t>IPC#2: </a:t>
            </a:r>
            <a:r>
              <a:rPr lang="en-US" sz="2200" dirty="0"/>
              <a:t>By OS </a:t>
            </a:r>
          </a:p>
          <a:p>
            <a:pPr marL="658368" lvl="1" indent="-457200">
              <a:lnSpc>
                <a:spcPct val="150000"/>
              </a:lnSpc>
              <a:buFont typeface="+mj-lt"/>
              <a:buAutoNum type="arabicPeriod"/>
            </a:pPr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16F4C-A972-5780-1BCF-C25D9A348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72</a:t>
            </a:fld>
            <a:endParaRPr lang="en-US"/>
          </a:p>
        </p:txBody>
      </p:sp>
      <p:pic>
        <p:nvPicPr>
          <p:cNvPr id="17" name="Content Placeholder 3" descr="Fig05_18.gif">
            <a:extLst>
              <a:ext uri="{FF2B5EF4-FFF2-40B4-BE49-F238E27FC236}">
                <a16:creationId xmlns:a16="http://schemas.microsoft.com/office/drawing/2014/main" id="{6364DE97-A18E-CDD5-DABF-3393A6F60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6814" y="76200"/>
            <a:ext cx="6722821" cy="5257800"/>
          </a:xfrm>
          <a:prstGeom prst="rect">
            <a:avLst/>
          </a:prstGeom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8A94EFA0-340D-09FC-FA7E-24AA0F7CAF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29225" y="1"/>
            <a:ext cx="3440113" cy="233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" name="Picture 3">
            <a:extLst>
              <a:ext uri="{FF2B5EF4-FFF2-40B4-BE49-F238E27FC236}">
                <a16:creationId xmlns:a16="http://schemas.microsoft.com/office/drawing/2014/main" id="{DF17DB82-35A5-1DB2-C8FB-726C8CB145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734425" y="0"/>
            <a:ext cx="3419475" cy="233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" name="Picture 4">
            <a:extLst>
              <a:ext uri="{FF2B5EF4-FFF2-40B4-BE49-F238E27FC236}">
                <a16:creationId xmlns:a16="http://schemas.microsoft.com/office/drawing/2014/main" id="{AE33F540-22C7-00EE-3A1F-DD80538EFD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229225" y="2514601"/>
            <a:ext cx="3379787" cy="2589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" name="Picture 5">
            <a:extLst>
              <a:ext uri="{FF2B5EF4-FFF2-40B4-BE49-F238E27FC236}">
                <a16:creationId xmlns:a16="http://schemas.microsoft.com/office/drawing/2014/main" id="{BF0F593D-2372-48F4-80CD-2F1ABCFED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8582025" y="2438401"/>
            <a:ext cx="3609975" cy="254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90C51E3-7A02-01C7-9E8C-8D492F6F8660}"/>
              </a:ext>
            </a:extLst>
          </p:cNvPr>
          <p:cNvSpPr txBox="1"/>
          <p:nvPr/>
        </p:nvSpPr>
        <p:spPr>
          <a:xfrm>
            <a:off x="294602" y="4608148"/>
            <a:ext cx="3048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2400" b="1" dirty="0"/>
              <a:t>1-1: </a:t>
            </a:r>
            <a:r>
              <a:rPr lang="en-NZ" sz="2400" dirty="0"/>
              <a:t>allows a private communications </a:t>
            </a:r>
            <a:endParaRPr lang="en-US" sz="2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F3D6E5-0A03-23B2-1B43-FB039F252DDF}"/>
              </a:ext>
            </a:extLst>
          </p:cNvPr>
          <p:cNvSpPr txBox="1"/>
          <p:nvPr/>
        </p:nvSpPr>
        <p:spPr>
          <a:xfrm>
            <a:off x="294602" y="5482841"/>
            <a:ext cx="3048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2400" b="1" dirty="0"/>
              <a:t>M-1: </a:t>
            </a:r>
            <a:r>
              <a:rPr lang="en-NZ" sz="2400" dirty="0"/>
              <a:t>Useful for client-server interaction</a:t>
            </a:r>
            <a:endParaRPr lang="en-US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B6C72D-C643-A5A7-CCC6-2A5CAF6C02D1}"/>
              </a:ext>
            </a:extLst>
          </p:cNvPr>
          <p:cNvSpPr txBox="1"/>
          <p:nvPr/>
        </p:nvSpPr>
        <p:spPr>
          <a:xfrm>
            <a:off x="3195301" y="4631380"/>
            <a:ext cx="3048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2400" b="1" dirty="0"/>
              <a:t>1-M: </a:t>
            </a:r>
            <a:r>
              <a:rPr lang="en-NZ" sz="2400" dirty="0"/>
              <a:t>Useful for </a:t>
            </a:r>
            <a:r>
              <a:rPr lang="en-NZ" sz="2400" dirty="0" err="1"/>
              <a:t>msg</a:t>
            </a:r>
            <a:r>
              <a:rPr lang="en-NZ" sz="2400" dirty="0"/>
              <a:t>/ info broadcast</a:t>
            </a:r>
            <a:endParaRPr lang="en-US" sz="2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7D4DB53-3D79-853F-0F66-505F96859611}"/>
              </a:ext>
            </a:extLst>
          </p:cNvPr>
          <p:cNvSpPr txBox="1"/>
          <p:nvPr/>
        </p:nvSpPr>
        <p:spPr>
          <a:xfrm>
            <a:off x="3195301" y="5470531"/>
            <a:ext cx="44450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2400" b="1" dirty="0"/>
              <a:t>M-N: </a:t>
            </a:r>
            <a:r>
              <a:rPr lang="en-NZ" sz="2400" dirty="0"/>
              <a:t>Allows services from multi server </a:t>
            </a:r>
            <a:r>
              <a:rPr lang="en-NZ" sz="2400" dirty="0" err="1"/>
              <a:t>proc’s</a:t>
            </a:r>
            <a:r>
              <a:rPr lang="en-NZ" sz="2400" dirty="0"/>
              <a:t> to multi client</a:t>
            </a:r>
            <a:endParaRPr lang="en-US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0FC03B8-7EDB-F6C9-1DD1-B6FCEC3D7504}"/>
              </a:ext>
            </a:extLst>
          </p:cNvPr>
          <p:cNvSpPr txBox="1"/>
          <p:nvPr/>
        </p:nvSpPr>
        <p:spPr>
          <a:xfrm>
            <a:off x="1056640" y="4074696"/>
            <a:ext cx="1259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ym typeface="Wingdings" panose="05000000000000000000" pitchFamily="2" charset="2"/>
              </a:rPr>
              <a:t>IPC#1</a:t>
            </a:r>
            <a:endParaRPr lang="en-AE" sz="2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758F04-F8F5-1224-4AB4-38CD9339E304}"/>
              </a:ext>
            </a:extLst>
          </p:cNvPr>
          <p:cNvSpPr txBox="1"/>
          <p:nvPr/>
        </p:nvSpPr>
        <p:spPr>
          <a:xfrm>
            <a:off x="4036974" y="4074696"/>
            <a:ext cx="1259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ym typeface="Wingdings" panose="05000000000000000000" pitchFamily="2" charset="2"/>
              </a:rPr>
              <a:t>IPC#2</a:t>
            </a:r>
            <a:endParaRPr lang="en-AE" sz="24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CA8CC39-5C5F-A91E-C7CD-7BBC9E32CE85}"/>
              </a:ext>
            </a:extLst>
          </p:cNvPr>
          <p:cNvGrpSpPr/>
          <p:nvPr/>
        </p:nvGrpSpPr>
        <p:grpSpPr>
          <a:xfrm>
            <a:off x="6183752" y="247190"/>
            <a:ext cx="1419043" cy="1114038"/>
            <a:chOff x="6183752" y="247190"/>
            <a:chExt cx="1419043" cy="1114038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37559DB-E1D4-B05A-4A28-D8E274E7FAAC}"/>
                </a:ext>
              </a:extLst>
            </p:cNvPr>
            <p:cNvSpPr/>
            <p:nvPr/>
          </p:nvSpPr>
          <p:spPr>
            <a:xfrm>
              <a:off x="6243301" y="589068"/>
              <a:ext cx="1264939" cy="77216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  <a:alpha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E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D91A2CE-4870-2FEE-1F55-21BF020B6A6E}"/>
                </a:ext>
              </a:extLst>
            </p:cNvPr>
            <p:cNvSpPr txBox="1"/>
            <p:nvPr/>
          </p:nvSpPr>
          <p:spPr>
            <a:xfrm>
              <a:off x="6183752" y="247190"/>
              <a:ext cx="14190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By Dest Env</a:t>
              </a:r>
              <a:endParaRPr lang="en-AE" b="1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A5F8A5C-16EC-4D1A-74B1-5069D41F7974}"/>
              </a:ext>
            </a:extLst>
          </p:cNvPr>
          <p:cNvGrpSpPr/>
          <p:nvPr/>
        </p:nvGrpSpPr>
        <p:grpSpPr>
          <a:xfrm>
            <a:off x="9670239" y="247190"/>
            <a:ext cx="1419043" cy="1114038"/>
            <a:chOff x="6173592" y="247190"/>
            <a:chExt cx="1419043" cy="1114038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5D3DF206-6BA7-DCCA-D57E-7F8CFDFCC399}"/>
                </a:ext>
              </a:extLst>
            </p:cNvPr>
            <p:cNvSpPr/>
            <p:nvPr/>
          </p:nvSpPr>
          <p:spPr>
            <a:xfrm>
              <a:off x="6243301" y="589068"/>
              <a:ext cx="1264939" cy="77216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  <a:alpha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E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53BFCF3-B31B-2290-DF8F-D854554F9A29}"/>
                </a:ext>
              </a:extLst>
            </p:cNvPr>
            <p:cNvSpPr txBox="1"/>
            <p:nvPr/>
          </p:nvSpPr>
          <p:spPr>
            <a:xfrm>
              <a:off x="6173592" y="247190"/>
              <a:ext cx="14190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By Dest Env</a:t>
              </a:r>
              <a:endParaRPr lang="en-AE" b="1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CB42FD0-BA7B-929F-C922-18210965537C}"/>
              </a:ext>
            </a:extLst>
          </p:cNvPr>
          <p:cNvGrpSpPr/>
          <p:nvPr/>
        </p:nvGrpSpPr>
        <p:grpSpPr>
          <a:xfrm>
            <a:off x="6286648" y="2929804"/>
            <a:ext cx="1264939" cy="1144892"/>
            <a:chOff x="6243301" y="216336"/>
            <a:chExt cx="1264939" cy="1144892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192D874-2556-18BD-B111-4EDA8CD6BB65}"/>
                </a:ext>
              </a:extLst>
            </p:cNvPr>
            <p:cNvSpPr/>
            <p:nvPr/>
          </p:nvSpPr>
          <p:spPr>
            <a:xfrm>
              <a:off x="6243301" y="589068"/>
              <a:ext cx="1264939" cy="77216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261E618-AC03-CBDE-D600-6D78948E4F49}"/>
                </a:ext>
              </a:extLst>
            </p:cNvPr>
            <p:cNvSpPr txBox="1"/>
            <p:nvPr/>
          </p:nvSpPr>
          <p:spPr>
            <a:xfrm>
              <a:off x="6439847" y="216336"/>
              <a:ext cx="7851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By OS</a:t>
              </a:r>
              <a:endParaRPr lang="en-AE" b="1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3400FC1-AED1-C0B9-9820-491A4E29D6BD}"/>
              </a:ext>
            </a:extLst>
          </p:cNvPr>
          <p:cNvGrpSpPr/>
          <p:nvPr/>
        </p:nvGrpSpPr>
        <p:grpSpPr>
          <a:xfrm>
            <a:off x="9754542" y="2929804"/>
            <a:ext cx="1264939" cy="1144892"/>
            <a:chOff x="6243301" y="216336"/>
            <a:chExt cx="1264939" cy="1144892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6177354A-8520-A926-4827-D09EE0654324}"/>
                </a:ext>
              </a:extLst>
            </p:cNvPr>
            <p:cNvSpPr/>
            <p:nvPr/>
          </p:nvSpPr>
          <p:spPr>
            <a:xfrm>
              <a:off x="6243301" y="589068"/>
              <a:ext cx="1264939" cy="77216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378ADCF-34AD-17E1-32D2-2BD7B4AD1639}"/>
                </a:ext>
              </a:extLst>
            </p:cNvPr>
            <p:cNvSpPr txBox="1"/>
            <p:nvPr/>
          </p:nvSpPr>
          <p:spPr>
            <a:xfrm>
              <a:off x="6439847" y="216336"/>
              <a:ext cx="7851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By OS</a:t>
              </a:r>
              <a:endParaRPr lang="en-AE" b="1" dirty="0"/>
            </a:p>
          </p:txBody>
        </p:sp>
      </p:grpSp>
      <p:cxnSp>
        <p:nvCxnSpPr>
          <p:cNvPr id="46" name="Connector: Curved 45">
            <a:extLst>
              <a:ext uri="{FF2B5EF4-FFF2-40B4-BE49-F238E27FC236}">
                <a16:creationId xmlns:a16="http://schemas.microsoft.com/office/drawing/2014/main" id="{E03CD101-93A0-B0BF-6E4B-E1329FED4CE7}"/>
              </a:ext>
            </a:extLst>
          </p:cNvPr>
          <p:cNvCxnSpPr>
            <a:cxnSpLocks/>
            <a:stCxn id="31" idx="0"/>
          </p:cNvCxnSpPr>
          <p:nvPr/>
        </p:nvCxnSpPr>
        <p:spPr>
          <a:xfrm rot="16200000" flipH="1">
            <a:off x="7263254" y="-122791"/>
            <a:ext cx="577745" cy="1317707"/>
          </a:xfrm>
          <a:prstGeom prst="curvedConnector4">
            <a:avLst>
              <a:gd name="adj1" fmla="val -39568"/>
              <a:gd name="adj2" fmla="val 76923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0" name="Connector: Curved 49">
            <a:extLst>
              <a:ext uri="{FF2B5EF4-FFF2-40B4-BE49-F238E27FC236}">
                <a16:creationId xmlns:a16="http://schemas.microsoft.com/office/drawing/2014/main" id="{6C0B1951-BBDC-D0B8-F55E-7F0F53C35DC6}"/>
              </a:ext>
            </a:extLst>
          </p:cNvPr>
          <p:cNvCxnSpPr>
            <a:cxnSpLocks/>
            <a:stCxn id="38" idx="0"/>
          </p:cNvCxnSpPr>
          <p:nvPr/>
        </p:nvCxnSpPr>
        <p:spPr>
          <a:xfrm rot="16200000" flipH="1">
            <a:off x="10727986" y="-101035"/>
            <a:ext cx="602122" cy="1298572"/>
          </a:xfrm>
          <a:prstGeom prst="curvedConnector4">
            <a:avLst>
              <a:gd name="adj1" fmla="val -37966"/>
              <a:gd name="adj2" fmla="val 77319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3563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" dur="2000" fill="hold"/>
                                        <p:tgtEl>
                                          <p:spTgt spid="1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1.85185E-6 L 0.14649 0.21459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318" y="107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9" dur="2000" fill="hold"/>
                                        <p:tgtEl>
                                          <p:spTgt spid="1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2.59259E-6 L -0.14023 0.21828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018" y="109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7" dur="2000" fill="hold"/>
                                        <p:tgtEl>
                                          <p:spTgt spid="2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4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4.07407E-6 L 0.14896 -0.16713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48" y="-83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2000" fill="hold"/>
                                        <p:tgtEl>
                                          <p:spTgt spid="2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4.81481E-6 L -0.13554 -0.15325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784" y="-76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5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44C61-8119-B95B-36EC-49B6B6013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5E46F-E40F-7E61-8CD3-4E170837F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8"/>
            <a:ext cx="10058400" cy="856397"/>
          </a:xfrm>
        </p:spPr>
        <p:txBody>
          <a:bodyPr/>
          <a:lstStyle/>
          <a:p>
            <a:r>
              <a:rPr lang="en-US" sz="4800" dirty="0"/>
              <a:t>IPC:</a:t>
            </a:r>
            <a:r>
              <a:rPr lang="en-US" dirty="0"/>
              <a:t> </a:t>
            </a:r>
            <a:r>
              <a:rPr lang="en-US" b="1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58D7E-08E4-CB80-E7CD-2F30C0D51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65200"/>
            <a:ext cx="12192000" cy="535432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800" b="1" dirty="0"/>
              <a:t>Message Format:</a:t>
            </a:r>
          </a:p>
          <a:p>
            <a:pPr marL="678942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400" dirty="0"/>
              <a:t>Header</a:t>
            </a:r>
          </a:p>
          <a:p>
            <a:pPr lvl="3">
              <a:lnSpc>
                <a:spcPct val="100000"/>
              </a:lnSpc>
            </a:pPr>
            <a:r>
              <a:rPr lang="en-US" sz="2000" dirty="0"/>
              <a:t>Control Info: </a:t>
            </a:r>
            <a:r>
              <a:rPr lang="en-US" sz="2000" dirty="0" err="1"/>
              <a:t>senderID</a:t>
            </a:r>
            <a:r>
              <a:rPr lang="en-US" sz="2000" dirty="0"/>
              <a:t>, </a:t>
            </a:r>
            <a:r>
              <a:rPr lang="en-US" sz="2000" dirty="0" err="1"/>
              <a:t>receiverID</a:t>
            </a:r>
            <a:r>
              <a:rPr lang="en-US" sz="2000" dirty="0"/>
              <a:t>, type</a:t>
            </a:r>
          </a:p>
          <a:p>
            <a:pPr marL="678942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400" dirty="0"/>
              <a:t>Body</a:t>
            </a:r>
          </a:p>
          <a:p>
            <a:pPr lvl="3">
              <a:lnSpc>
                <a:spcPct val="100000"/>
              </a:lnSpc>
            </a:pPr>
            <a:r>
              <a:rPr lang="en-US" sz="2000" dirty="0"/>
              <a:t>Data: as stream of bytes</a:t>
            </a:r>
          </a:p>
          <a:p>
            <a:pPr lvl="3">
              <a:lnSpc>
                <a:spcPct val="100000"/>
              </a:lnSpc>
            </a:pPr>
            <a:r>
              <a:rPr lang="en-US" sz="2000" dirty="0"/>
              <a:t>Length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endParaRPr lang="en-US" sz="2200" dirty="0"/>
          </a:p>
          <a:p>
            <a:pPr marL="658368" lvl="1" indent="-457200">
              <a:lnSpc>
                <a:spcPct val="150000"/>
              </a:lnSpc>
              <a:buFont typeface="+mj-lt"/>
              <a:buAutoNum type="arabicPeriod"/>
            </a:pPr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B8C6C7-5E60-16B8-B365-22C4E6ECA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88889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33174-6E51-A1FD-BB45-BF5CCDB4A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95CA4A2-6144-54B7-ADE3-1A3768C32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IPC#1 </a:t>
            </a:r>
            <a:r>
              <a:rPr lang="en-US" sz="4400" dirty="0"/>
              <a:t>(private mailbox)</a:t>
            </a:r>
            <a:endParaRPr lang="en-AE" sz="44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9BB02A-C51E-D876-0FEF-13E4A74C8B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PART III: INDIVIDUAL module </a:t>
            </a:r>
            <a:r>
              <a:rPr lang="en-US" b="1" dirty="0">
                <a:solidFill>
                  <a:srgbClr val="FF0000"/>
                </a:solidFill>
              </a:rPr>
              <a:t>#4</a:t>
            </a:r>
            <a:endParaRPr lang="en-AE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FEF95-B9EA-E122-EB1F-6FD2A50ED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74</a:t>
            </a:fld>
            <a:endParaRPr lang="en-US"/>
          </a:p>
        </p:txBody>
      </p:sp>
      <p:pic>
        <p:nvPicPr>
          <p:cNvPr id="8" name="Picture 7" descr="A clock with a number on it&#10;&#10;AI-generated content may be incorrect.">
            <a:extLst>
              <a:ext uri="{FF2B5EF4-FFF2-40B4-BE49-F238E27FC236}">
                <a16:creationId xmlns:a16="http://schemas.microsoft.com/office/drawing/2014/main" id="{5DD24CD5-113D-477E-70FD-4BCA84D934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1375" y="0"/>
            <a:ext cx="1190625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14350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IPC#1</a:t>
            </a:r>
            <a:endParaRPr lang="ar-EG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7B5382E-0DB0-6D6E-5A13-B710E2B73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953" y="1845734"/>
            <a:ext cx="10873427" cy="4023360"/>
          </a:xfrm>
        </p:spPr>
        <p:txBody>
          <a:bodyPr/>
          <a:lstStyle/>
          <a:p>
            <a:r>
              <a:rPr lang="en-US" dirty="0"/>
              <a:t>The main functions required to implement </a:t>
            </a:r>
            <a:r>
              <a:rPr lang="en-US" b="1" dirty="0"/>
              <a:t>IPC#1 </a:t>
            </a:r>
            <a:r>
              <a:rPr lang="en-US" dirty="0"/>
              <a:t>are: 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96623C65-4326-CE9D-BDF9-59E130C08BD9}"/>
              </a:ext>
            </a:extLst>
          </p:cNvPr>
          <p:cNvGraphicFramePr>
            <a:graphicFrameLocks noGrp="1"/>
          </p:cNvGraphicFramePr>
          <p:nvPr/>
        </p:nvGraphicFramePr>
        <p:xfrm>
          <a:off x="813136" y="2508076"/>
          <a:ext cx="10565727" cy="30279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3420">
                  <a:extLst>
                    <a:ext uri="{9D8B030D-6E8A-4147-A177-3AD203B41FA5}">
                      <a16:colId xmlns:a16="http://schemas.microsoft.com/office/drawing/2014/main" val="422314023"/>
                    </a:ext>
                  </a:extLst>
                </a:gridCol>
                <a:gridCol w="4038325">
                  <a:extLst>
                    <a:ext uri="{9D8B030D-6E8A-4147-A177-3AD203B41FA5}">
                      <a16:colId xmlns:a16="http://schemas.microsoft.com/office/drawing/2014/main" val="1877600023"/>
                    </a:ext>
                  </a:extLst>
                </a:gridCol>
                <a:gridCol w="4983982">
                  <a:extLst>
                    <a:ext uri="{9D8B030D-6E8A-4147-A177-3AD203B41FA5}">
                      <a16:colId xmlns:a16="http://schemas.microsoft.com/office/drawing/2014/main" val="2719033330"/>
                    </a:ext>
                  </a:extLst>
                </a:gridCol>
              </a:tblGrid>
              <a:tr h="46764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424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ipc_create_data_message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u="none" dirty="0"/>
                        <a:t>[</a:t>
                      </a:r>
                      <a:r>
                        <a:rPr lang="en-US" b="1" u="none" dirty="0"/>
                        <a:t>USER SIDE]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u="none" dirty="0"/>
                        <a:t>Declarations:  </a:t>
                      </a:r>
                      <a:r>
                        <a:rPr lang="en-US" b="1" u="none" dirty="0" err="1"/>
                        <a:t>inc</a:t>
                      </a:r>
                      <a:r>
                        <a:rPr lang="en-US" b="1" u="none" dirty="0"/>
                        <a:t>/</a:t>
                      </a:r>
                      <a:r>
                        <a:rPr lang="en-US" b="1" u="none" dirty="0" err="1"/>
                        <a:t>ipc.h</a:t>
                      </a:r>
                      <a:endParaRPr lang="en-US" b="1" u="none" dirty="0">
                        <a:solidFill>
                          <a:srgbClr val="C00000"/>
                        </a:solidFill>
                      </a:endParaRPr>
                    </a:p>
                    <a:p>
                      <a:pPr algn="ctr"/>
                      <a:r>
                        <a:rPr lang="en-US" b="1" u="none" dirty="0">
                          <a:solidFill>
                            <a:srgbClr val="C00000"/>
                          </a:solidFill>
                        </a:rPr>
                        <a:t>definitions </a:t>
                      </a:r>
                      <a:r>
                        <a:rPr lang="en-US" b="1" u="sng" dirty="0">
                          <a:solidFill>
                            <a:srgbClr val="C00000"/>
                          </a:solidFill>
                        </a:rPr>
                        <a:t>TO DO</a:t>
                      </a:r>
                      <a:r>
                        <a:rPr lang="en-US" b="1" u="none" dirty="0">
                          <a:solidFill>
                            <a:srgbClr val="C00000"/>
                          </a:solidFill>
                        </a:rPr>
                        <a:t>: lib/</a:t>
                      </a:r>
                      <a:r>
                        <a:rPr lang="en-US" b="1" u="none" dirty="0" err="1">
                          <a:solidFill>
                            <a:srgbClr val="C00000"/>
                          </a:solidFill>
                        </a:rPr>
                        <a:t>ipc.c</a:t>
                      </a:r>
                      <a:endParaRPr lang="en-US" b="1" u="none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7880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ipc_send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616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ipc_receive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u="none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896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ipc_create_env_mailbox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u="none" dirty="0"/>
                        <a:t>[</a:t>
                      </a:r>
                      <a:r>
                        <a:rPr lang="en-US" b="1" u="none" dirty="0"/>
                        <a:t>KERNEL SIDE]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u="none" dirty="0"/>
                        <a:t>Declarations:  </a:t>
                      </a:r>
                      <a:r>
                        <a:rPr lang="en-US" b="1" u="none" dirty="0"/>
                        <a:t>kern/</a:t>
                      </a:r>
                      <a:r>
                        <a:rPr lang="en-US" b="1" u="none" dirty="0" err="1"/>
                        <a:t>ipc</a:t>
                      </a:r>
                      <a:r>
                        <a:rPr lang="en-US" b="1" u="none" dirty="0"/>
                        <a:t>/</a:t>
                      </a:r>
                      <a:r>
                        <a:rPr lang="en-US" b="1" u="none" dirty="0" err="1"/>
                        <a:t>ipc.h</a:t>
                      </a:r>
                      <a:endParaRPr lang="en-US" b="1" u="none" dirty="0">
                        <a:solidFill>
                          <a:srgbClr val="C00000"/>
                        </a:solidFill>
                      </a:endParaRPr>
                    </a:p>
                    <a:p>
                      <a:pPr algn="ctr"/>
                      <a:r>
                        <a:rPr lang="en-US" b="1" u="none" dirty="0">
                          <a:solidFill>
                            <a:srgbClr val="C00000"/>
                          </a:solidFill>
                        </a:rPr>
                        <a:t>definitions </a:t>
                      </a:r>
                      <a:r>
                        <a:rPr lang="en-US" b="1" u="sng" dirty="0">
                          <a:solidFill>
                            <a:srgbClr val="C00000"/>
                          </a:solidFill>
                        </a:rPr>
                        <a:t>TO DO</a:t>
                      </a:r>
                      <a:r>
                        <a:rPr lang="en-US" b="1" u="none" dirty="0">
                          <a:solidFill>
                            <a:srgbClr val="C00000"/>
                          </a:solidFill>
                        </a:rPr>
                        <a:t>: kern/</a:t>
                      </a:r>
                      <a:r>
                        <a:rPr lang="en-US" b="1" u="none" dirty="0" err="1">
                          <a:solidFill>
                            <a:srgbClr val="C00000"/>
                          </a:solidFill>
                        </a:rPr>
                        <a:t>ipc</a:t>
                      </a:r>
                      <a:r>
                        <a:rPr lang="en-US" b="1" u="none" dirty="0">
                          <a:solidFill>
                            <a:srgbClr val="C00000"/>
                          </a:solidFill>
                        </a:rPr>
                        <a:t>/</a:t>
                      </a:r>
                      <a:r>
                        <a:rPr lang="en-US" b="1" u="none" dirty="0" err="1">
                          <a:solidFill>
                            <a:srgbClr val="C00000"/>
                          </a:solidFill>
                        </a:rPr>
                        <a:t>ipc.c</a:t>
                      </a:r>
                      <a:endParaRPr lang="en-US" b="1" u="none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72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ipc_delete_env_mailbox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u="none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23429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sys_ipc_send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u="none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4619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sys_ipc_receive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u="none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210587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7051648-2193-E76A-72DF-47B5E512C6CC}"/>
              </a:ext>
            </a:extLst>
          </p:cNvPr>
          <p:cNvSpPr txBox="1"/>
          <p:nvPr/>
        </p:nvSpPr>
        <p:spPr>
          <a:xfrm>
            <a:off x="813136" y="5724559"/>
            <a:ext cx="10565727" cy="4616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NOTE</a:t>
            </a:r>
            <a:r>
              <a:rPr lang="en-US" sz="2400" b="1" dirty="0"/>
              <a:t>:</a:t>
            </a:r>
            <a:r>
              <a:rPr lang="en-US" sz="2400" dirty="0"/>
              <a:t> </a:t>
            </a:r>
            <a:r>
              <a:rPr lang="en-US" sz="2400" b="1" dirty="0"/>
              <a:t>MOST of them are direct/small functions </a:t>
            </a:r>
            <a:endParaRPr lang="en-AE" sz="2400" b="1" dirty="0"/>
          </a:p>
        </p:txBody>
      </p:sp>
    </p:spTree>
    <p:extLst>
      <p:ext uri="{BB962C8B-B14F-4D97-AF65-F5344CB8AC3E}">
        <p14:creationId xmlns:p14="http://schemas.microsoft.com/office/powerpoint/2010/main" val="404955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064CA-FBD3-B4E2-B90F-01BAE183D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BC236-C3EA-2A9B-CEE9-A6A403422C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13791"/>
            <a:ext cx="12192000" cy="5844209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>
                <a:latin typeface="+mj-lt"/>
              </a:rPr>
              <a:t>Struct declaration of the </a:t>
            </a:r>
            <a:r>
              <a:rPr lang="en-AE" b="1" dirty="0">
                <a:latin typeface="Courier New" panose="02070309020205020404" pitchFamily="49" charset="0"/>
                <a:cs typeface="Courier New" panose="02070309020205020404" pitchFamily="49" charset="0"/>
              </a:rPr>
              <a:t>Message </a:t>
            </a:r>
            <a:r>
              <a:rPr lang="en-US" sz="1800" dirty="0">
                <a:solidFill>
                  <a:srgbClr val="5C5962"/>
                </a:solidFill>
              </a:rPr>
              <a:t>(</a:t>
            </a:r>
            <a:r>
              <a:rPr lang="en-US" sz="1800" dirty="0" err="1">
                <a:solidFill>
                  <a:srgbClr val="FF0000"/>
                </a:solidFill>
              </a:rPr>
              <a:t>inc</a:t>
            </a:r>
            <a:r>
              <a:rPr lang="en-US" sz="1800" dirty="0">
                <a:solidFill>
                  <a:srgbClr val="FF0000"/>
                </a:solidFill>
              </a:rPr>
              <a:t>/</a:t>
            </a:r>
            <a:r>
              <a:rPr lang="en-US" sz="1800" dirty="0" err="1">
                <a:solidFill>
                  <a:srgbClr val="FF0000"/>
                </a:solidFill>
              </a:rPr>
              <a:t>ipc.h</a:t>
            </a:r>
            <a:r>
              <a:rPr lang="en-US" sz="1800" dirty="0">
                <a:solidFill>
                  <a:srgbClr val="5C5962"/>
                </a:solidFill>
              </a:rPr>
              <a:t>)</a:t>
            </a:r>
            <a:endParaRPr lang="en-US" dirty="0">
              <a:solidFill>
                <a:srgbClr val="5C5962"/>
              </a:solidFill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sz="11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sz="8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Struct declaration of the </a:t>
            </a:r>
            <a:r>
              <a:rPr lang="en-A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MessageList</a:t>
            </a:r>
            <a:r>
              <a:rPr lang="en-A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5C5962"/>
                </a:solidFill>
              </a:rPr>
              <a:t>(</a:t>
            </a:r>
            <a:r>
              <a:rPr lang="en-US" sz="1800" dirty="0" err="1">
                <a:solidFill>
                  <a:srgbClr val="FF0000"/>
                </a:solidFill>
              </a:rPr>
              <a:t>inc</a:t>
            </a:r>
            <a:r>
              <a:rPr lang="en-US" sz="1800" dirty="0">
                <a:solidFill>
                  <a:srgbClr val="FF0000"/>
                </a:solidFill>
              </a:rPr>
              <a:t>/</a:t>
            </a:r>
            <a:r>
              <a:rPr lang="en-US" sz="1800" dirty="0" err="1">
                <a:solidFill>
                  <a:srgbClr val="FF0000"/>
                </a:solidFill>
              </a:rPr>
              <a:t>ipc.h</a:t>
            </a:r>
            <a:r>
              <a:rPr lang="en-US" sz="1800" dirty="0">
                <a:solidFill>
                  <a:srgbClr val="5C5962"/>
                </a:solidFill>
              </a:rPr>
              <a:t>)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sz="1800" dirty="0">
              <a:solidFill>
                <a:srgbClr val="5C5962"/>
              </a:solidFill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>
                <a:solidFill>
                  <a:srgbClr val="5C5962"/>
                </a:solidFill>
              </a:rPr>
              <a:t>Message types</a:t>
            </a:r>
            <a:endParaRPr lang="en-US" sz="2400" dirty="0">
              <a:solidFill>
                <a:srgbClr val="5C5962"/>
              </a:solidFill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AE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503B35-F1E4-9EE0-4AC1-6A8323D28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76</a:t>
            </a:fld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6EFA725-C739-3B9E-EC27-4AEA434181BA}"/>
              </a:ext>
            </a:extLst>
          </p:cNvPr>
          <p:cNvSpPr txBox="1">
            <a:spLocks noChangeArrowheads="1"/>
          </p:cNvSpPr>
          <p:nvPr/>
        </p:nvSpPr>
        <p:spPr>
          <a:xfrm>
            <a:off x="41956" y="10773"/>
            <a:ext cx="12131381" cy="9670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IPC#1: </a:t>
            </a:r>
            <a:r>
              <a:rPr lang="en-US" b="1" dirty="0">
                <a:solidFill>
                  <a:srgbClr val="00B050"/>
                </a:solidFill>
              </a:rPr>
              <a:t>Given</a:t>
            </a:r>
            <a:r>
              <a:rPr lang="en-US" b="1" dirty="0"/>
              <a:t> Data Structures</a:t>
            </a:r>
            <a:endParaRPr lang="en-US" altLang="ko-KR" dirty="0">
              <a:ea typeface="굴림" panose="020B0600000101010101" pitchFamily="34" charset="-12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85F1E5-E94D-AE99-D81B-8607B837C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730" y="1351996"/>
            <a:ext cx="8878539" cy="31722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D8D95EF-C1A5-D7F4-CE9B-6D0F3F815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7564" y="4955923"/>
            <a:ext cx="4220164" cy="39058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3397E91-B37C-50B1-9D75-83AF123BCA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760" y="5532594"/>
            <a:ext cx="3248478" cy="131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053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94E4B-BFCE-5DB0-C9A6-D4160E71F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23BC3-F6D7-C17B-54BE-1685A4424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13791"/>
            <a:ext cx="12192000" cy="5844209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r>
              <a:rPr lang="en-US" dirty="0">
                <a:latin typeface="+mj-lt"/>
              </a:rPr>
              <a:t>Struct declaration of the </a:t>
            </a:r>
            <a:r>
              <a:rPr lang="en-AE" b="1" dirty="0">
                <a:latin typeface="Courier New" panose="02070309020205020404" pitchFamily="49" charset="0"/>
                <a:cs typeface="Courier New" panose="02070309020205020404" pitchFamily="49" charset="0"/>
              </a:rPr>
              <a:t>Mailbox </a:t>
            </a:r>
            <a:r>
              <a:rPr lang="en-US" sz="1800" dirty="0">
                <a:solidFill>
                  <a:srgbClr val="5C5962"/>
                </a:solidFill>
              </a:rPr>
              <a:t>(</a:t>
            </a:r>
            <a:r>
              <a:rPr lang="en-US" sz="1800" dirty="0">
                <a:solidFill>
                  <a:srgbClr val="FF0000"/>
                </a:solidFill>
              </a:rPr>
              <a:t>kern/</a:t>
            </a:r>
            <a:r>
              <a:rPr lang="en-US" sz="1800" dirty="0" err="1">
                <a:solidFill>
                  <a:srgbClr val="FF0000"/>
                </a:solidFill>
              </a:rPr>
              <a:t>ipc</a:t>
            </a:r>
            <a:r>
              <a:rPr lang="en-US" sz="1800" dirty="0">
                <a:solidFill>
                  <a:srgbClr val="FF0000"/>
                </a:solidFill>
              </a:rPr>
              <a:t>/</a:t>
            </a:r>
            <a:r>
              <a:rPr lang="en-US" sz="1800" dirty="0" err="1">
                <a:solidFill>
                  <a:srgbClr val="FF0000"/>
                </a:solidFill>
              </a:rPr>
              <a:t>ipc.h</a:t>
            </a:r>
            <a:r>
              <a:rPr lang="en-US" sz="1800" dirty="0">
                <a:solidFill>
                  <a:srgbClr val="5C5962"/>
                </a:solidFill>
              </a:rPr>
              <a:t>)</a:t>
            </a:r>
            <a:endParaRPr lang="en-US" dirty="0">
              <a:solidFill>
                <a:srgbClr val="5C5962"/>
              </a:solidFill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endParaRPr lang="en-US" sz="11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endParaRPr lang="en-US" sz="100" dirty="0"/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 startAt="4"/>
            </a:pPr>
            <a:endParaRPr lang="en-US" sz="1100" dirty="0"/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 startAt="4"/>
            </a:pPr>
            <a:r>
              <a:rPr lang="en-US" dirty="0"/>
              <a:t>Local (private) mailbox of the environment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5C5962"/>
                </a:solidFill>
              </a:rPr>
              <a:t>	(</a:t>
            </a:r>
            <a:r>
              <a:rPr lang="en-US" sz="1800" dirty="0" err="1">
                <a:solidFill>
                  <a:srgbClr val="FF0000"/>
                </a:solidFill>
              </a:rPr>
              <a:t>inc</a:t>
            </a:r>
            <a:r>
              <a:rPr lang="en-US" sz="1800" dirty="0">
                <a:solidFill>
                  <a:srgbClr val="FF0000"/>
                </a:solidFill>
              </a:rPr>
              <a:t>/</a:t>
            </a:r>
            <a:r>
              <a:rPr lang="en-US" sz="1800" dirty="0" err="1">
                <a:solidFill>
                  <a:srgbClr val="FF0000"/>
                </a:solidFill>
              </a:rPr>
              <a:t>environment_definitions.h</a:t>
            </a:r>
            <a:r>
              <a:rPr lang="en-US" sz="1800" dirty="0">
                <a:solidFill>
                  <a:srgbClr val="5C5962"/>
                </a:solidFill>
              </a:rPr>
              <a:t>)</a:t>
            </a:r>
            <a:endParaRPr lang="en-US" dirty="0">
              <a:solidFill>
                <a:srgbClr val="5C5962"/>
              </a:solidFill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AE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59A5DA-4EF6-B4AF-59CB-8BAC1FB59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77</a:t>
            </a:fld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ABDE515-2D3E-2D71-B883-D61CCDF65A61}"/>
              </a:ext>
            </a:extLst>
          </p:cNvPr>
          <p:cNvSpPr txBox="1">
            <a:spLocks noChangeArrowheads="1"/>
          </p:cNvSpPr>
          <p:nvPr/>
        </p:nvSpPr>
        <p:spPr>
          <a:xfrm>
            <a:off x="41956" y="10773"/>
            <a:ext cx="12131381" cy="9670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IPC#1: </a:t>
            </a:r>
            <a:r>
              <a:rPr lang="en-US" b="1" dirty="0">
                <a:solidFill>
                  <a:srgbClr val="00B050"/>
                </a:solidFill>
              </a:rPr>
              <a:t>Given</a:t>
            </a:r>
            <a:r>
              <a:rPr lang="en-US" b="1" dirty="0"/>
              <a:t> Data Structures</a:t>
            </a:r>
            <a:endParaRPr lang="en-US" altLang="ko-KR" dirty="0">
              <a:ea typeface="굴림" panose="020B0600000101010101" pitchFamily="34" charset="-12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3B5BA2-3A09-D011-A2EE-8E3245D74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571" y="1499918"/>
            <a:ext cx="10802858" cy="38581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4697EF-9BCB-D283-3D40-0C320441B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6791" y="5529329"/>
            <a:ext cx="4210638" cy="129558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6DD9DDF-2576-0BC4-4C8D-0DF442499636}"/>
              </a:ext>
            </a:extLst>
          </p:cNvPr>
          <p:cNvSpPr/>
          <p:nvPr/>
        </p:nvSpPr>
        <p:spPr>
          <a:xfrm>
            <a:off x="1117600" y="1981200"/>
            <a:ext cx="7701280" cy="13004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7EFDDD-B037-8ACE-FBED-E88C08AC206F}"/>
              </a:ext>
            </a:extLst>
          </p:cNvPr>
          <p:cNvSpPr/>
          <p:nvPr/>
        </p:nvSpPr>
        <p:spPr>
          <a:xfrm>
            <a:off x="1117600" y="3773122"/>
            <a:ext cx="7701280" cy="79887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862236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9A034-8F7D-7FBA-FA22-7C5AD5F5E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B96A7-6E19-0DA4-6066-0B31462AB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13791"/>
            <a:ext cx="12192000" cy="5844209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 startAt="6"/>
            </a:pPr>
            <a:r>
              <a:rPr lang="en-US" dirty="0">
                <a:latin typeface="+mj-lt"/>
              </a:rPr>
              <a:t>Max limits... </a:t>
            </a:r>
            <a:r>
              <a:rPr lang="en-US" sz="1800" dirty="0">
                <a:solidFill>
                  <a:srgbClr val="5C5962"/>
                </a:solidFill>
              </a:rPr>
              <a:t>(</a:t>
            </a:r>
            <a:r>
              <a:rPr lang="en-US" sz="1800" dirty="0" err="1">
                <a:solidFill>
                  <a:srgbClr val="FF0000"/>
                </a:solidFill>
              </a:rPr>
              <a:t>inc</a:t>
            </a:r>
            <a:r>
              <a:rPr lang="en-US" sz="1800" dirty="0">
                <a:solidFill>
                  <a:srgbClr val="FF0000"/>
                </a:solidFill>
              </a:rPr>
              <a:t>/</a:t>
            </a:r>
            <a:r>
              <a:rPr lang="en-US" sz="1800" dirty="0" err="1">
                <a:solidFill>
                  <a:srgbClr val="FF0000"/>
                </a:solidFill>
              </a:rPr>
              <a:t>ipc.h</a:t>
            </a:r>
            <a:r>
              <a:rPr lang="en-US" sz="1800" dirty="0">
                <a:solidFill>
                  <a:srgbClr val="5C5962"/>
                </a:solidFill>
              </a:rPr>
              <a:t>)</a:t>
            </a:r>
            <a:endParaRPr lang="en-US" dirty="0">
              <a:solidFill>
                <a:srgbClr val="5C5962"/>
              </a:solidFill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 startAt="6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 startAt="6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 startAt="6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 startAt="6"/>
            </a:pPr>
            <a:endParaRPr lang="en-US" dirty="0"/>
          </a:p>
          <a:p>
            <a:pPr marL="457200" lvl="0" indent="-457200">
              <a:lnSpc>
                <a:spcPct val="100000"/>
              </a:lnSpc>
              <a:buClr>
                <a:srgbClr val="4F81BD"/>
              </a:buClr>
              <a:buFont typeface="+mj-lt"/>
              <a:buAutoNum type="arabicPeriod" startAt="6"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</a:rPr>
              <a:t>Possible error codes... </a:t>
            </a:r>
            <a:r>
              <a:rPr lang="en-US" sz="1800" dirty="0">
                <a:solidFill>
                  <a:srgbClr val="5C5962"/>
                </a:solidFill>
              </a:rPr>
              <a:t>(</a:t>
            </a:r>
            <a:r>
              <a:rPr lang="en-US" sz="1800" dirty="0" err="1">
                <a:solidFill>
                  <a:srgbClr val="FF0000"/>
                </a:solidFill>
              </a:rPr>
              <a:t>inc</a:t>
            </a:r>
            <a:r>
              <a:rPr lang="en-US" sz="1800" dirty="0">
                <a:solidFill>
                  <a:srgbClr val="FF0000"/>
                </a:solidFill>
              </a:rPr>
              <a:t>/</a:t>
            </a:r>
            <a:r>
              <a:rPr lang="en-US" sz="1800" dirty="0" err="1">
                <a:solidFill>
                  <a:srgbClr val="FF0000"/>
                </a:solidFill>
              </a:rPr>
              <a:t>ipc.h</a:t>
            </a:r>
            <a:r>
              <a:rPr lang="en-US" sz="1800" dirty="0">
                <a:solidFill>
                  <a:srgbClr val="5C5962"/>
                </a:solidFill>
              </a:rPr>
              <a:t>)</a:t>
            </a:r>
            <a:endParaRPr lang="en-US" dirty="0">
              <a:solidFill>
                <a:srgbClr val="5C5962"/>
              </a:solidFill>
            </a:endParaRPr>
          </a:p>
          <a:p>
            <a:pPr marL="457200" lvl="0" indent="-457200">
              <a:lnSpc>
                <a:spcPct val="100000"/>
              </a:lnSpc>
              <a:buClr>
                <a:srgbClr val="4F81BD"/>
              </a:buClr>
              <a:buFont typeface="+mj-lt"/>
              <a:buAutoNum type="arabicPeriod" startAt="6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457200" lvl="0" indent="-457200">
              <a:lnSpc>
                <a:spcPct val="100000"/>
              </a:lnSpc>
              <a:buClr>
                <a:srgbClr val="4F81BD"/>
              </a:buClr>
              <a:buFont typeface="+mj-lt"/>
              <a:buAutoNum type="arabicPeriod" startAt="6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457200" lvl="0" indent="-457200">
              <a:lnSpc>
                <a:spcPct val="100000"/>
              </a:lnSpc>
              <a:buClr>
                <a:srgbClr val="4F81BD"/>
              </a:buClr>
              <a:buFont typeface="+mj-lt"/>
              <a:buAutoNum type="arabicPeriod" startAt="6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457200" lvl="0" indent="-457200">
              <a:lnSpc>
                <a:spcPct val="100000"/>
              </a:lnSpc>
              <a:buClr>
                <a:srgbClr val="4F81BD"/>
              </a:buClr>
              <a:buFont typeface="+mj-lt"/>
              <a:buAutoNum type="arabicPeriod" startAt="6"/>
            </a:pPr>
            <a:endParaRPr lang="en-US" sz="10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457200" lvl="0" indent="-457200">
              <a:lnSpc>
                <a:spcPct val="100000"/>
              </a:lnSpc>
              <a:buClr>
                <a:srgbClr val="4F81BD"/>
              </a:buClr>
              <a:buFont typeface="+mj-lt"/>
              <a:buAutoNum type="arabicPeriod" startAt="6"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</a:rPr>
              <a:t>Connection types... </a:t>
            </a:r>
            <a:r>
              <a:rPr lang="en-US" sz="1800" dirty="0">
                <a:solidFill>
                  <a:srgbClr val="5C5962"/>
                </a:solidFill>
              </a:rPr>
              <a:t>(</a:t>
            </a:r>
            <a:r>
              <a:rPr lang="en-US" sz="1800" dirty="0" err="1">
                <a:solidFill>
                  <a:srgbClr val="FF0000"/>
                </a:solidFill>
              </a:rPr>
              <a:t>inc</a:t>
            </a:r>
            <a:r>
              <a:rPr lang="en-US" sz="1800" dirty="0">
                <a:solidFill>
                  <a:srgbClr val="FF0000"/>
                </a:solidFill>
              </a:rPr>
              <a:t>/</a:t>
            </a:r>
            <a:r>
              <a:rPr lang="en-US" sz="1800" dirty="0" err="1">
                <a:solidFill>
                  <a:srgbClr val="FF0000"/>
                </a:solidFill>
              </a:rPr>
              <a:t>ipc.h</a:t>
            </a:r>
            <a:r>
              <a:rPr lang="en-US" sz="1800" dirty="0">
                <a:solidFill>
                  <a:srgbClr val="5C5962"/>
                </a:solidFill>
              </a:rPr>
              <a:t>)</a:t>
            </a:r>
            <a:endParaRPr lang="en-US" dirty="0">
              <a:solidFill>
                <a:srgbClr val="5C5962"/>
              </a:solidFill>
            </a:endParaRPr>
          </a:p>
          <a:p>
            <a:pPr marL="457200" lvl="0" indent="-457200">
              <a:lnSpc>
                <a:spcPct val="100000"/>
              </a:lnSpc>
              <a:buClr>
                <a:srgbClr val="4F81BD"/>
              </a:buClr>
              <a:buFont typeface="+mj-lt"/>
              <a:buAutoNum type="arabicPeriod" startAt="6"/>
            </a:pPr>
            <a:endParaRPr lang="en-US" sz="11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 startAt="6"/>
            </a:pPr>
            <a:endParaRPr lang="en-US" sz="11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 startAt="6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 startAt="6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 startAt="6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 startAt="6"/>
            </a:pPr>
            <a:endParaRPr lang="en-US" sz="100" dirty="0"/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 startAt="6"/>
            </a:pPr>
            <a:endParaRPr lang="en-US" sz="11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AE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F4B770-ABF2-6435-A183-7F0D0A4EE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78</a:t>
            </a:fld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4C1711C-AA04-D27D-D904-3AFC12FF7E6F}"/>
              </a:ext>
            </a:extLst>
          </p:cNvPr>
          <p:cNvSpPr txBox="1">
            <a:spLocks noChangeArrowheads="1"/>
          </p:cNvSpPr>
          <p:nvPr/>
        </p:nvSpPr>
        <p:spPr>
          <a:xfrm>
            <a:off x="41956" y="10773"/>
            <a:ext cx="12131381" cy="9670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IPC#1: </a:t>
            </a:r>
            <a:r>
              <a:rPr lang="en-US" b="1" dirty="0">
                <a:solidFill>
                  <a:srgbClr val="00B050"/>
                </a:solidFill>
              </a:rPr>
              <a:t>Given</a:t>
            </a:r>
            <a:r>
              <a:rPr lang="en-US" b="1" dirty="0"/>
              <a:t> Data Structures</a:t>
            </a:r>
            <a:endParaRPr lang="en-US" altLang="ko-KR" dirty="0">
              <a:ea typeface="굴림" panose="020B0600000101010101" pitchFamily="34" charset="-12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2B24C8-CC44-4355-EF0E-8FEC1C9F7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244" y="1469266"/>
            <a:ext cx="9516803" cy="181000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D368910-1548-552A-C968-26879EA50F5A}"/>
              </a:ext>
            </a:extLst>
          </p:cNvPr>
          <p:cNvSpPr/>
          <p:nvPr/>
        </p:nvSpPr>
        <p:spPr>
          <a:xfrm>
            <a:off x="1349244" y="1724027"/>
            <a:ext cx="7701280" cy="54165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B3D6B29-4E55-739B-5DE1-1E1985F93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7410" y="3430778"/>
            <a:ext cx="3848637" cy="22958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93A1C50-DD67-7943-600F-EFB7130775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9463" y="5786540"/>
            <a:ext cx="3286584" cy="10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734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DC1CD-C352-06EA-B82D-5FC9BFCEC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090FA-9663-347B-D56A-3E80F59B1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0AD7CF-F0A2-4383-A038-D82EAAF254E2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4813D67-E895-B084-FFF4-0323F75F4CF1}"/>
              </a:ext>
            </a:extLst>
          </p:cNvPr>
          <p:cNvSpPr txBox="1">
            <a:spLocks noChangeArrowheads="1"/>
          </p:cNvSpPr>
          <p:nvPr/>
        </p:nvSpPr>
        <p:spPr>
          <a:xfrm>
            <a:off x="30309" y="610213"/>
            <a:ext cx="12131381" cy="9670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IPC#1: </a:t>
            </a:r>
            <a:r>
              <a:rPr lang="en-US" b="1" dirty="0">
                <a:solidFill>
                  <a:srgbClr val="FF0000"/>
                </a:solidFill>
              </a:rPr>
              <a:t>IMPORTANT</a:t>
            </a:r>
            <a:r>
              <a:rPr lang="en-US" b="1" dirty="0"/>
              <a:t> NOTE</a:t>
            </a:r>
            <a:endParaRPr lang="en-US" altLang="ko-KR" dirty="0">
              <a:ea typeface="굴림" panose="020B0600000101010101" pitchFamily="34" charset="-127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9EE4FE2-F9E3-AEFA-B61D-245FC8093BEA}"/>
              </a:ext>
            </a:extLst>
          </p:cNvPr>
          <p:cNvSpPr/>
          <p:nvPr/>
        </p:nvSpPr>
        <p:spPr>
          <a:xfrm>
            <a:off x="1066799" y="2391453"/>
            <a:ext cx="10058400" cy="280743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4400" b="1">
                <a:solidFill>
                  <a:srgbClr val="FF0000"/>
                </a:solidFill>
              </a:rPr>
              <a:t>REMEMBER</a:t>
            </a:r>
          </a:p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en-US" sz="3200" b="1"/>
              <a:t>During your solution, any SHARED data need to be PROTECTED by critical section via LOCKS</a:t>
            </a:r>
            <a:endParaRPr lang="en-AE" sz="3200" b="1"/>
          </a:p>
        </p:txBody>
      </p:sp>
    </p:spTree>
    <p:extLst>
      <p:ext uri="{BB962C8B-B14F-4D97-AF65-F5344CB8AC3E}">
        <p14:creationId xmlns:p14="http://schemas.microsoft.com/office/powerpoint/2010/main" val="1350416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E1A88-FE58-9DB0-5676-E5012A892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3B9DE-CBB5-EB7F-8031-FD85E90B6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#1:</a:t>
            </a:r>
            <a:r>
              <a:rPr lang="en-US" dirty="0"/>
              <a:t> Create Message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F0CB7-FF07-551E-F8CC-C10A421CF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312850" cy="5012266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535353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ipc_create_data_message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535353"/>
                </a:solidFill>
                <a:latin typeface="Consolas" panose="020B0609020204030204" pitchFamily="49" charset="0"/>
              </a:rPr>
              <a:t>uint8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data</a:t>
            </a:r>
            <a:r>
              <a:rPr lang="en-US" sz="2400" b="1" dirty="0">
                <a:solidFill>
                  <a:srgbClr val="A36622"/>
                </a:solidFill>
                <a:latin typeface="Consolas" panose="020B0609020204030204" pitchFamily="49" charset="0"/>
              </a:rPr>
              <a:t>,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535353"/>
                </a:solidFill>
                <a:latin typeface="Consolas" panose="020B0609020204030204" pitchFamily="49" charset="0"/>
              </a:rPr>
              <a:t>uint16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length</a:t>
            </a:r>
            <a:r>
              <a:rPr lang="en-US" sz="2400" b="1" dirty="0">
                <a:solidFill>
                  <a:srgbClr val="A36622"/>
                </a:solidFill>
                <a:latin typeface="Consolas" panose="020B0609020204030204" pitchFamily="49" charset="0"/>
              </a:rPr>
              <a:t>,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Message</a:t>
            </a:r>
            <a:r>
              <a:rPr lang="en-US" sz="2400" b="1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msg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  <a:endParaRPr lang="en-US" sz="2400" b="1" dirty="0">
              <a:solidFill>
                <a:srgbClr val="A36622"/>
              </a:solidFill>
              <a:latin typeface="Consolas" panose="020B0609020204030204" pitchFamily="49" charset="0"/>
            </a:endParaRPr>
          </a:p>
          <a:p>
            <a:pPr algn="just">
              <a:lnSpc>
                <a:spcPct val="100000"/>
              </a:lnSpc>
            </a:pPr>
            <a:r>
              <a:rPr lang="en-US" sz="2400" b="1" dirty="0"/>
              <a:t>Description: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Set “Data” section of the given 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msg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by the given info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/>
              <a:t>Note: 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msg</a:t>
            </a:r>
            <a:r>
              <a:rPr lang="en-US" sz="2000" dirty="0"/>
              <a:t> is a return param (passed by reference)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/>
              <a:t>if invalid length, return </a:t>
            </a:r>
            <a:r>
              <a:rPr lang="en-US" sz="2000" dirty="0">
                <a:latin typeface="Consolas" panose="020B0609020204030204" pitchFamily="49" charset="0"/>
              </a:rPr>
              <a:t>E_MB_INV_MSG </a:t>
            </a:r>
            <a:r>
              <a:rPr lang="en-US" sz="2000" dirty="0"/>
              <a:t>and set msg to </a:t>
            </a:r>
            <a:r>
              <a:rPr lang="en-US" sz="2000" dirty="0">
                <a:latin typeface="Consolas" panose="020B0609020204030204" pitchFamily="49" charset="0"/>
              </a:rPr>
              <a:t>NULL</a:t>
            </a:r>
          </a:p>
          <a:p>
            <a:pPr marL="201168" lvl="1" indent="0" algn="just">
              <a:lnSpc>
                <a:spcPct val="150000"/>
              </a:lnSpc>
              <a:buNone/>
            </a:pPr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A4FF86-B6AB-7F65-C0BD-698DACC6B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0AD7CF-F0A2-4383-A038-D82EAAF254E2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2D4FD68-EDE9-AF10-EE8B-A98A88AB1F66}"/>
              </a:ext>
            </a:extLst>
          </p:cNvPr>
          <p:cNvSpPr txBox="1">
            <a:spLocks noChangeArrowheads="1"/>
          </p:cNvSpPr>
          <p:nvPr/>
        </p:nvSpPr>
        <p:spPr>
          <a:xfrm>
            <a:off x="41956" y="10773"/>
            <a:ext cx="12131381" cy="9670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IPC#1: </a:t>
            </a:r>
            <a:r>
              <a:rPr lang="en-US" b="1" dirty="0">
                <a:solidFill>
                  <a:srgbClr val="FF0000"/>
                </a:solidFill>
              </a:rPr>
              <a:t>Required</a:t>
            </a:r>
            <a:r>
              <a:rPr lang="en-US" b="1" dirty="0"/>
              <a:t> Functions</a:t>
            </a:r>
            <a:endParaRPr lang="en-US" altLang="ko-KR" dirty="0">
              <a:ea typeface="굴림" panose="020B0600000101010101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E4BD99-EB4B-F443-88EE-5E29A335D6FE}"/>
              </a:ext>
            </a:extLst>
          </p:cNvPr>
          <p:cNvSpPr txBox="1"/>
          <p:nvPr/>
        </p:nvSpPr>
        <p:spPr>
          <a:xfrm>
            <a:off x="10025380" y="1253654"/>
            <a:ext cx="1130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lib/</a:t>
            </a:r>
            <a:r>
              <a:rPr lang="en-US" sz="1800" dirty="0" err="1">
                <a:solidFill>
                  <a:srgbClr val="FF0000"/>
                </a:solidFill>
              </a:rPr>
              <a:t>ipc.c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860468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1B85A-07F2-E5A2-406C-1016FE9B0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6FB22-3379-E4A1-3A37-B9C89871B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#2:</a:t>
            </a:r>
            <a:r>
              <a:rPr lang="en-US" dirty="0"/>
              <a:t> Create Env Mailbox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256E8-E1AB-D4F5-A89F-3ECAC4E81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312850" cy="501226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535353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ipc_create_env_mailbox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Env </a:t>
            </a:r>
            <a:r>
              <a:rPr lang="en-US" sz="2400" b="1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e</a:t>
            </a:r>
            <a:r>
              <a:rPr lang="en-US" sz="2400" b="1" dirty="0">
                <a:solidFill>
                  <a:srgbClr val="A36622"/>
                </a:solidFill>
                <a:latin typeface="Consolas" panose="020B0609020204030204" pitchFamily="49" charset="0"/>
              </a:rPr>
              <a:t>,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535353"/>
                </a:solidFill>
                <a:latin typeface="Consolas" panose="020B0609020204030204" pitchFamily="49" charset="0"/>
              </a:rPr>
              <a:t>uint32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mailboxSize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400" b="1" dirty="0"/>
              <a:t>Description:</a:t>
            </a:r>
          </a:p>
          <a:p>
            <a:pPr marL="658368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Allocate a new mailbox for the given env and set its </a:t>
            </a:r>
            <a:r>
              <a:rPr lang="en-US" sz="2100" dirty="0" err="1">
                <a:solidFill>
                  <a:schemeClr val="tx1"/>
                </a:solidFill>
                <a:latin typeface="Consolas" panose="020B0609020204030204" pitchFamily="49" charset="0"/>
              </a:rPr>
              <a:t>myMailbox</a:t>
            </a:r>
            <a:endParaRPr lang="en-US" sz="21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658368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Initialize its fields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If allocation failed, return E_NO_MEM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Note: this function already called in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initialize_environment</a:t>
            </a:r>
            <a:r>
              <a:rPr lang="en-US" sz="2000" dirty="0">
                <a:solidFill>
                  <a:schemeClr val="tx1"/>
                </a:solidFill>
              </a:rPr>
              <a:t>(...)</a:t>
            </a:r>
          </a:p>
          <a:p>
            <a:pPr marL="201168" lvl="1" indent="0" algn="just">
              <a:lnSpc>
                <a:spcPct val="150000"/>
              </a:lnSpc>
              <a:buNone/>
            </a:pPr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49B400-A64E-03CA-C43A-354D105EE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0AD7CF-F0A2-4383-A038-D82EAAF254E2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E666321-42FD-5E95-3690-36C818AB7215}"/>
              </a:ext>
            </a:extLst>
          </p:cNvPr>
          <p:cNvSpPr txBox="1">
            <a:spLocks noChangeArrowheads="1"/>
          </p:cNvSpPr>
          <p:nvPr/>
        </p:nvSpPr>
        <p:spPr>
          <a:xfrm>
            <a:off x="41956" y="10773"/>
            <a:ext cx="12131381" cy="9670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IPC#1: </a:t>
            </a:r>
            <a:r>
              <a:rPr lang="en-US" b="1" dirty="0">
                <a:solidFill>
                  <a:srgbClr val="FF0000"/>
                </a:solidFill>
              </a:rPr>
              <a:t>Required</a:t>
            </a:r>
            <a:r>
              <a:rPr lang="en-US" b="1" dirty="0"/>
              <a:t> Functions</a:t>
            </a:r>
            <a:endParaRPr lang="en-US" altLang="ko-KR" dirty="0">
              <a:ea typeface="굴림" panose="020B0600000101010101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E715E2-5FA7-FD4C-B3A2-A67971D73B8F}"/>
              </a:ext>
            </a:extLst>
          </p:cNvPr>
          <p:cNvSpPr txBox="1"/>
          <p:nvPr/>
        </p:nvSpPr>
        <p:spPr>
          <a:xfrm>
            <a:off x="9469120" y="1253654"/>
            <a:ext cx="1686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kern/</a:t>
            </a:r>
            <a:r>
              <a:rPr lang="en-US" sz="1800" dirty="0" err="1">
                <a:solidFill>
                  <a:srgbClr val="FF0000"/>
                </a:solidFill>
              </a:rPr>
              <a:t>ipc</a:t>
            </a:r>
            <a:r>
              <a:rPr lang="en-US" sz="1800" dirty="0">
                <a:solidFill>
                  <a:srgbClr val="FF0000"/>
                </a:solidFill>
              </a:rPr>
              <a:t>/</a:t>
            </a:r>
            <a:r>
              <a:rPr lang="en-US" sz="1800" dirty="0" err="1">
                <a:solidFill>
                  <a:srgbClr val="FF0000"/>
                </a:solidFill>
              </a:rPr>
              <a:t>ipc.c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616113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ACB3C-4F58-257C-29CB-E55C73996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23791-E9A5-ECDF-790E-A6F3133D4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#3:</a:t>
            </a:r>
            <a:r>
              <a:rPr lang="en-US" dirty="0"/>
              <a:t> Delete Env Mailbox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37243-C72C-793D-74CF-409D7855A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312850" cy="5012266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rgbClr val="535353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ipc_delete_env_mailbox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Env </a:t>
            </a:r>
            <a:r>
              <a:rPr lang="en-US" sz="2400" b="1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e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400" b="1" dirty="0"/>
              <a:t>Description:</a:t>
            </a:r>
          </a:p>
          <a:p>
            <a:pPr marL="658368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Destroy all messages in the queue</a:t>
            </a:r>
          </a:p>
          <a:p>
            <a:pPr marL="658368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Send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MSG_SEND_INV_MB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to all blocked senders at their local mailboxes</a:t>
            </a:r>
          </a:p>
          <a:p>
            <a:pPr marL="658368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Awaken all blocked senders (if any)</a:t>
            </a:r>
          </a:p>
          <a:p>
            <a:pPr marL="658368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Reset mailbox members (name, </a:t>
            </a:r>
            <a:r>
              <a:rPr lang="en-US" sz="2000" dirty="0" err="1">
                <a:solidFill>
                  <a:schemeClr val="tx1"/>
                </a:solidFill>
                <a:latin typeface="+mj-lt"/>
              </a:rPr>
              <a:t>ownerID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,...)</a:t>
            </a:r>
          </a:p>
          <a:p>
            <a:pPr marL="658368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Delete its object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A4873-0E26-42AE-63C2-F5ACE6B64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0AD7CF-F0A2-4383-A038-D82EAAF254E2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82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13C65EC-1CB5-01EE-32FB-88F0986801D5}"/>
              </a:ext>
            </a:extLst>
          </p:cNvPr>
          <p:cNvSpPr txBox="1">
            <a:spLocks noChangeArrowheads="1"/>
          </p:cNvSpPr>
          <p:nvPr/>
        </p:nvSpPr>
        <p:spPr>
          <a:xfrm>
            <a:off x="41956" y="10773"/>
            <a:ext cx="12131381" cy="9670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IPC#1: </a:t>
            </a:r>
            <a:r>
              <a:rPr lang="en-US" b="1" dirty="0">
                <a:solidFill>
                  <a:srgbClr val="FF0000"/>
                </a:solidFill>
              </a:rPr>
              <a:t>Required</a:t>
            </a:r>
            <a:r>
              <a:rPr lang="en-US" b="1" dirty="0"/>
              <a:t> Functions</a:t>
            </a:r>
            <a:endParaRPr lang="en-US" altLang="ko-KR" dirty="0">
              <a:ea typeface="굴림" panose="020B0600000101010101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A44358-41E3-ECB0-850E-20064B0DE433}"/>
              </a:ext>
            </a:extLst>
          </p:cNvPr>
          <p:cNvSpPr txBox="1"/>
          <p:nvPr/>
        </p:nvSpPr>
        <p:spPr>
          <a:xfrm>
            <a:off x="9469120" y="1253654"/>
            <a:ext cx="1686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kern/</a:t>
            </a:r>
            <a:r>
              <a:rPr lang="en-US" sz="1800" dirty="0" err="1">
                <a:solidFill>
                  <a:srgbClr val="FF0000"/>
                </a:solidFill>
              </a:rPr>
              <a:t>ipc</a:t>
            </a:r>
            <a:r>
              <a:rPr lang="en-US" sz="1800" dirty="0">
                <a:solidFill>
                  <a:srgbClr val="FF0000"/>
                </a:solidFill>
              </a:rPr>
              <a:t>/</a:t>
            </a:r>
            <a:r>
              <a:rPr lang="en-US" sz="1800" dirty="0" err="1">
                <a:solidFill>
                  <a:srgbClr val="FF0000"/>
                </a:solidFill>
              </a:rPr>
              <a:t>ipc.c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280928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06516-8D39-2A4D-BE72-A560A6607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D348A-CC65-5A8D-ABF0-954DFB276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#4:</a:t>
            </a:r>
            <a:r>
              <a:rPr lang="en-US" dirty="0"/>
              <a:t> Send </a:t>
            </a:r>
            <a:r>
              <a:rPr lang="en-US" sz="3600" dirty="0"/>
              <a:t>[USER SIDE]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9D1D1-9AA4-7AC3-21D6-DFD4E191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312850" cy="5012266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535353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ipc_send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535353"/>
                </a:solidFill>
                <a:latin typeface="Consolas" panose="020B0609020204030204" pitchFamily="49" charset="0"/>
              </a:rPr>
              <a:t>uint32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destMailboxHandle</a:t>
            </a:r>
            <a:r>
              <a:rPr lang="en-US" sz="2400" b="1" dirty="0">
                <a:solidFill>
                  <a:srgbClr val="A36622"/>
                </a:solidFill>
                <a:latin typeface="Consolas" panose="020B0609020204030204" pitchFamily="49" charset="0"/>
              </a:rPr>
              <a:t>,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Message </a:t>
            </a:r>
            <a:r>
              <a:rPr lang="en-US" sz="2400" b="1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msg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en-US" sz="2400" b="1" dirty="0"/>
              <a:t>Description: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Validate the message by</a:t>
            </a:r>
          </a:p>
          <a:p>
            <a:pPr lvl="2" algn="just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+mj-lt"/>
              </a:rPr>
              <a:t>Checking its length vs max allowed length</a:t>
            </a:r>
          </a:p>
          <a:p>
            <a:pPr lvl="2" algn="just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+mj-lt"/>
              </a:rPr>
              <a:t>Validate </a:t>
            </a:r>
            <a:r>
              <a:rPr lang="en-US" sz="1800" dirty="0" err="1">
                <a:solidFill>
                  <a:schemeClr val="tx1"/>
                </a:solidFill>
                <a:latin typeface="+mj-lt"/>
              </a:rPr>
              <a:t>senderID</a:t>
            </a:r>
            <a:r>
              <a:rPr lang="en-US" sz="18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sz="1800" dirty="0">
                <a:solidFill>
                  <a:prstClr val="black"/>
                </a:solidFill>
              </a:rPr>
              <a:t>of the 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msg</a:t>
            </a:r>
            <a:r>
              <a:rPr lang="en-US" sz="2400" b="1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+mj-lt"/>
              </a:rPr>
              <a:t>to be set correctly 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If not valid: return 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nsolas" panose="020B0609020204030204" pitchFamily="49" charset="0"/>
              </a:rPr>
              <a:t>E_MB_OPER_FAILED</a:t>
            </a:r>
            <a:endParaRPr lang="en-US" sz="2000" dirty="0">
              <a:solidFill>
                <a:schemeClr val="tx1"/>
              </a:solidFill>
              <a:latin typeface="+mj-lt"/>
            </a:endParaRPr>
          </a:p>
          <a:p>
            <a:pPr lvl="1" algn="just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Call </a:t>
            </a:r>
            <a:r>
              <a:rPr lang="en-US" sz="20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sys_ipc_send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()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/>
              <a:t>Panic if it returns error</a:t>
            </a:r>
            <a:endParaRPr lang="en-US" sz="2000" dirty="0">
              <a:latin typeface="Consolas" panose="020B0609020204030204" pitchFamily="49" charset="0"/>
            </a:endParaRPr>
          </a:p>
          <a:p>
            <a:pPr marL="201168" lvl="1" indent="0" algn="just">
              <a:lnSpc>
                <a:spcPct val="150000"/>
              </a:lnSpc>
              <a:buNone/>
            </a:pPr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F12CE8-F011-478F-552B-EDE773CAA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0AD7CF-F0A2-4383-A038-D82EAAF254E2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B45E3F7-AD58-04D7-B2C7-8F20CEB76BD8}"/>
              </a:ext>
            </a:extLst>
          </p:cNvPr>
          <p:cNvSpPr txBox="1">
            <a:spLocks noChangeArrowheads="1"/>
          </p:cNvSpPr>
          <p:nvPr/>
        </p:nvSpPr>
        <p:spPr>
          <a:xfrm>
            <a:off x="41956" y="10773"/>
            <a:ext cx="12131381" cy="9670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IPC#1: </a:t>
            </a:r>
            <a:r>
              <a:rPr lang="en-US" b="1" dirty="0">
                <a:solidFill>
                  <a:srgbClr val="FF0000"/>
                </a:solidFill>
              </a:rPr>
              <a:t>Required</a:t>
            </a:r>
            <a:r>
              <a:rPr lang="en-US" b="1" dirty="0"/>
              <a:t> Functions</a:t>
            </a:r>
            <a:endParaRPr lang="en-US" altLang="ko-KR" dirty="0">
              <a:ea typeface="굴림" panose="020B0600000101010101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3A2CE7-2597-0560-12E4-2AE68F7E9C2A}"/>
              </a:ext>
            </a:extLst>
          </p:cNvPr>
          <p:cNvSpPr txBox="1"/>
          <p:nvPr/>
        </p:nvSpPr>
        <p:spPr>
          <a:xfrm>
            <a:off x="10025380" y="1253654"/>
            <a:ext cx="1130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lib/</a:t>
            </a:r>
            <a:r>
              <a:rPr lang="en-US" sz="1800" dirty="0" err="1">
                <a:solidFill>
                  <a:srgbClr val="FF0000"/>
                </a:solidFill>
              </a:rPr>
              <a:t>ipc.c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922157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89E44-E58C-990D-7171-6DF30B68D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B3BA8-6276-8347-9E98-DBB7C8B52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#5:</a:t>
            </a:r>
            <a:r>
              <a:rPr lang="en-US" dirty="0"/>
              <a:t> Send </a:t>
            </a:r>
            <a:r>
              <a:rPr lang="en-US" sz="3600" dirty="0"/>
              <a:t>[KERNEL SIDE]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DB0DA-3068-17B7-DBAC-7274C949C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810240" cy="5012266"/>
          </a:xfrm>
          <a:solidFill>
            <a:schemeClr val="bg1"/>
          </a:solidFill>
        </p:spPr>
        <p:txBody>
          <a:bodyPr>
            <a:normAutofit fontScale="92500" lnSpcReduction="20000"/>
          </a:bodyPr>
          <a:lstStyle/>
          <a:p>
            <a:r>
              <a:rPr lang="en-US" sz="2400" dirty="0">
                <a:solidFill>
                  <a:srgbClr val="535353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sys_ipc_send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535353"/>
                </a:solidFill>
                <a:latin typeface="Consolas" panose="020B0609020204030204" pitchFamily="49" charset="0"/>
              </a:rPr>
              <a:t>uint32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destMailboxHandle</a:t>
            </a:r>
            <a:r>
              <a:rPr lang="en-US" sz="2400" b="1" dirty="0">
                <a:solidFill>
                  <a:srgbClr val="A36622"/>
                </a:solidFill>
                <a:latin typeface="Consolas" panose="020B0609020204030204" pitchFamily="49" charset="0"/>
              </a:rPr>
              <a:t>,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Message </a:t>
            </a:r>
            <a:r>
              <a:rPr lang="en-US" sz="2400" b="1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msg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/>
              <a:t>Description:</a:t>
            </a:r>
          </a:p>
          <a:p>
            <a:pPr marL="658368" lvl="1" indent="-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Get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 mailbox as follows:</a:t>
            </a:r>
          </a:p>
          <a:p>
            <a:pPr lvl="2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If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destMailboxHandle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= 0: get local mailbox of the destination env (specified in 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msg</a:t>
            </a:r>
            <a:r>
              <a:rPr lang="en-US" sz="2000" b="1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header)</a:t>
            </a:r>
          </a:p>
          <a:p>
            <a:pPr lvl="3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tx1"/>
                </a:solidFill>
                <a:latin typeface="+mj-lt"/>
              </a:rPr>
              <a:t>Hint: use 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envid2env() </a:t>
            </a:r>
            <a:r>
              <a:rPr lang="en-US" sz="1800" dirty="0">
                <a:solidFill>
                  <a:schemeClr val="tx1"/>
                </a:solidFill>
                <a:latin typeface="+mj-lt"/>
              </a:rPr>
              <a:t>to get the corresponding env from a given </a:t>
            </a:r>
            <a:r>
              <a:rPr lang="en-US" sz="1800" dirty="0" err="1">
                <a:solidFill>
                  <a:schemeClr val="tx1"/>
                </a:solidFill>
                <a:latin typeface="+mj-lt"/>
              </a:rPr>
              <a:t>envID</a:t>
            </a:r>
            <a:endParaRPr lang="en-US" sz="1800" dirty="0">
              <a:solidFill>
                <a:schemeClr val="tx1"/>
              </a:solidFill>
              <a:latin typeface="+mj-lt"/>
            </a:endParaRPr>
          </a:p>
          <a:p>
            <a:pPr lvl="2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Else: call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ipc_get_mailbox</a:t>
            </a:r>
            <a:r>
              <a:rPr lang="en-US" sz="2000" dirty="0">
                <a:solidFill>
                  <a:prstClr val="black"/>
                </a:solidFill>
              </a:rPr>
              <a:t> (it returns mailbox by reference)</a:t>
            </a:r>
            <a:endParaRPr lang="en-US" sz="2000" dirty="0">
              <a:solidFill>
                <a:schemeClr val="tx1"/>
              </a:solidFill>
              <a:latin typeface="+mj-lt"/>
            </a:endParaRPr>
          </a:p>
          <a:p>
            <a:pPr marL="658368" lvl="1" indent="-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b="1" dirty="0"/>
              <a:t>If</a:t>
            </a:r>
            <a:r>
              <a:rPr lang="en-US" sz="2000" dirty="0"/>
              <a:t> mailbox is </a:t>
            </a:r>
            <a:r>
              <a:rPr lang="en-US" sz="2000" b="1" dirty="0"/>
              <a:t>full</a:t>
            </a:r>
            <a:r>
              <a:rPr lang="en-US" sz="2000" dirty="0"/>
              <a:t>, block 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on “</a:t>
            </a:r>
            <a:r>
              <a:rPr lang="en-US" sz="2000" b="1" dirty="0"/>
              <a:t>senders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” channel</a:t>
            </a:r>
            <a:r>
              <a:rPr lang="en-US" sz="2000" dirty="0"/>
              <a:t> </a:t>
            </a:r>
          </a:p>
          <a:p>
            <a:pPr marL="658368" lvl="1" indent="-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b="1" dirty="0"/>
              <a:t>Copy</a:t>
            </a:r>
            <a:r>
              <a:rPr lang="en-US" sz="2000" dirty="0"/>
              <a:t> message data to a </a:t>
            </a:r>
            <a:r>
              <a:rPr lang="en-US" sz="2000" b="1" dirty="0"/>
              <a:t>new</a:t>
            </a:r>
            <a:r>
              <a:rPr lang="en-US" sz="2000" dirty="0"/>
              <a:t> message at kernel </a:t>
            </a:r>
            <a:r>
              <a:rPr lang="en-US" sz="2100" dirty="0">
                <a:solidFill>
                  <a:prstClr val="black">
                    <a:lumMod val="75000"/>
                    <a:lumOff val="25000"/>
                  </a:prstClr>
                </a:solidFill>
              </a:rPr>
              <a:t>(</a:t>
            </a:r>
            <a:r>
              <a:rPr lang="en-US" sz="2100" dirty="0"/>
              <a:t>during copy: </a:t>
            </a:r>
            <a:r>
              <a:rPr lang="en-US" sz="21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take care </a:t>
            </a:r>
            <a:r>
              <a:rPr lang="en-US" sz="2100" dirty="0">
                <a:solidFill>
                  <a:prstClr val="black">
                    <a:lumMod val="75000"/>
                    <a:lumOff val="25000"/>
                  </a:prstClr>
                </a:solidFill>
              </a:rPr>
              <a:t>of the </a:t>
            </a:r>
            <a:r>
              <a:rPr lang="en-US" sz="21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message type</a:t>
            </a:r>
            <a:r>
              <a:rPr lang="en-US" sz="2100" dirty="0">
                <a:solidFill>
                  <a:prstClr val="black">
                    <a:lumMod val="75000"/>
                    <a:lumOff val="25000"/>
                  </a:prstClr>
                </a:solidFill>
              </a:rPr>
              <a:t>)</a:t>
            </a:r>
            <a:endParaRPr lang="en-US" sz="2000" dirty="0"/>
          </a:p>
          <a:p>
            <a:pPr marL="658368" lvl="1" indent="-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b="1" dirty="0"/>
              <a:t>Enqueue</a:t>
            </a:r>
            <a:r>
              <a:rPr lang="en-US" sz="2000" dirty="0"/>
              <a:t> the new message to the mailbox and </a:t>
            </a:r>
            <a:r>
              <a:rPr lang="en-US" sz="2000" b="1" dirty="0"/>
              <a:t>wake-up</a:t>
            </a:r>
            <a:r>
              <a:rPr lang="en-US" sz="2000" dirty="0"/>
              <a:t> a blocked receiver (if any)</a:t>
            </a:r>
          </a:p>
          <a:p>
            <a:pPr marL="201168" lvl="1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sym typeface="Wingdings" panose="05000000000000000000" pitchFamily="2" charset="2"/>
              </a:rPr>
              <a:t>Return: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dirty="0">
                <a:solidFill>
                  <a:prstClr val="black"/>
                </a:solidFill>
              </a:rPr>
              <a:t>0 on success. 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dirty="0">
                <a:solidFill>
                  <a:prstClr val="black">
                    <a:lumMod val="75000"/>
                    <a:lumOff val="25000"/>
                  </a:prstClr>
                </a:solidFill>
                <a:latin typeface="Consolas" panose="020B0609020204030204" pitchFamily="49" charset="0"/>
              </a:rPr>
              <a:t>E_MB_NOT_EXIST </a:t>
            </a:r>
            <a:r>
              <a:rPr lang="en-US" sz="2100" dirty="0">
                <a:solidFill>
                  <a:prstClr val="black">
                    <a:lumMod val="75000"/>
                    <a:lumOff val="25000"/>
                  </a:prstClr>
                </a:solidFill>
              </a:rPr>
              <a:t>if mailbox handle not exist. 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dirty="0">
                <a:solidFill>
                  <a:prstClr val="black">
                    <a:lumMod val="75000"/>
                    <a:lumOff val="25000"/>
                  </a:prstClr>
                </a:solidFill>
                <a:latin typeface="Consolas" panose="020B0609020204030204" pitchFamily="49" charset="0"/>
              </a:rPr>
              <a:t>E_MB_INV_REQUEST</a:t>
            </a:r>
            <a:r>
              <a:rPr lang="en-US" sz="2100" dirty="0">
                <a:solidFill>
                  <a:srgbClr val="000000"/>
                </a:solidFill>
                <a:sym typeface="Wingdings" panose="05000000000000000000" pitchFamily="2" charset="2"/>
              </a:rPr>
              <a:t>: if the env is not registered in the mailbox as a sender</a:t>
            </a:r>
            <a:endParaRPr lang="en-US" sz="2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A7D911-EF09-086A-A16B-114A33A97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0AD7CF-F0A2-4383-A038-D82EAAF254E2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84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AB9DDB6-F167-C959-2B51-739A767FE9DB}"/>
              </a:ext>
            </a:extLst>
          </p:cNvPr>
          <p:cNvSpPr txBox="1">
            <a:spLocks noChangeArrowheads="1"/>
          </p:cNvSpPr>
          <p:nvPr/>
        </p:nvSpPr>
        <p:spPr>
          <a:xfrm>
            <a:off x="41956" y="10773"/>
            <a:ext cx="12131381" cy="9670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IPC#1: </a:t>
            </a:r>
            <a:r>
              <a:rPr lang="en-US" b="1" dirty="0">
                <a:solidFill>
                  <a:srgbClr val="FF0000"/>
                </a:solidFill>
              </a:rPr>
              <a:t>Required</a:t>
            </a:r>
            <a:r>
              <a:rPr lang="en-US" b="1" dirty="0"/>
              <a:t> Functions</a:t>
            </a:r>
            <a:endParaRPr lang="en-US" altLang="ko-KR" dirty="0">
              <a:ea typeface="굴림" panose="020B0600000101010101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E2EF99-9F8D-6A4B-B792-13235386F43C}"/>
              </a:ext>
            </a:extLst>
          </p:cNvPr>
          <p:cNvSpPr txBox="1"/>
          <p:nvPr/>
        </p:nvSpPr>
        <p:spPr>
          <a:xfrm>
            <a:off x="9469120" y="1253654"/>
            <a:ext cx="1686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kern/</a:t>
            </a:r>
            <a:r>
              <a:rPr lang="en-US" sz="1800" dirty="0" err="1">
                <a:solidFill>
                  <a:srgbClr val="FF0000"/>
                </a:solidFill>
              </a:rPr>
              <a:t>ipc</a:t>
            </a:r>
            <a:r>
              <a:rPr lang="en-US" sz="1800" dirty="0">
                <a:solidFill>
                  <a:srgbClr val="FF0000"/>
                </a:solidFill>
              </a:rPr>
              <a:t>/</a:t>
            </a:r>
            <a:r>
              <a:rPr lang="en-US" sz="1800" dirty="0" err="1">
                <a:solidFill>
                  <a:srgbClr val="FF0000"/>
                </a:solidFill>
              </a:rPr>
              <a:t>ipc.c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4055761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65C96-622F-9ECE-9331-45F75AF1D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D9E8F-EF9F-EC94-9CE5-AB5E23E05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#6:</a:t>
            </a:r>
            <a:r>
              <a:rPr lang="en-US" dirty="0"/>
              <a:t> Receive </a:t>
            </a:r>
            <a:r>
              <a:rPr lang="en-US" sz="3600" dirty="0"/>
              <a:t>[USER SIDE]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FCD94-8D77-FFAD-AD8E-A2E213C23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10403841" cy="501226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535353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ipc_receive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535353"/>
                </a:solidFill>
                <a:latin typeface="Consolas" panose="020B0609020204030204" pitchFamily="49" charset="0"/>
              </a:rPr>
              <a:t>uint32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srcMailboxHandle</a:t>
            </a:r>
            <a:r>
              <a:rPr lang="en-US" sz="2400" b="1" dirty="0">
                <a:solidFill>
                  <a:srgbClr val="A36622"/>
                </a:solidFill>
                <a:latin typeface="Consolas" panose="020B0609020204030204" pitchFamily="49" charset="0"/>
              </a:rPr>
              <a:t>,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Message </a:t>
            </a:r>
            <a:r>
              <a:rPr lang="en-US" sz="2400" b="1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msg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</a:p>
          <a:p>
            <a:pPr algn="just">
              <a:lnSpc>
                <a:spcPct val="100000"/>
              </a:lnSpc>
            </a:pPr>
            <a:r>
              <a:rPr lang="en-US" sz="2400" b="1" dirty="0"/>
              <a:t>Description: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Validate the message by</a:t>
            </a:r>
          </a:p>
          <a:p>
            <a:pPr lvl="2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tx1"/>
                </a:solidFill>
                <a:latin typeface="+mj-lt"/>
              </a:rPr>
              <a:t>Checking its length vs max allowed length</a:t>
            </a:r>
          </a:p>
          <a:p>
            <a:pPr lvl="2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tx1"/>
                </a:solidFill>
                <a:latin typeface="+mj-lt"/>
              </a:rPr>
              <a:t>Validate </a:t>
            </a:r>
            <a:r>
              <a:rPr lang="en-US" sz="1800" dirty="0" err="1">
                <a:solidFill>
                  <a:schemeClr val="tx1"/>
                </a:solidFill>
                <a:latin typeface="+mj-lt"/>
              </a:rPr>
              <a:t>receiverID</a:t>
            </a:r>
            <a:r>
              <a:rPr lang="en-US" sz="1800" dirty="0">
                <a:solidFill>
                  <a:schemeClr val="tx1"/>
                </a:solidFill>
                <a:latin typeface="+mj-lt"/>
              </a:rPr>
              <a:t> of the 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msg</a:t>
            </a:r>
            <a:r>
              <a:rPr lang="en-US" sz="2400" b="1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+mj-lt"/>
              </a:rPr>
              <a:t>to be set correctly. Either: = current env OR = </a:t>
            </a:r>
            <a:r>
              <a:rPr lang="en-US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UINT_MAX </a:t>
            </a:r>
            <a:r>
              <a:rPr lang="en-US" sz="1800" dirty="0">
                <a:solidFill>
                  <a:prstClr val="black"/>
                </a:solidFill>
              </a:rPr>
              <a:t>if broadcast</a:t>
            </a:r>
            <a:endParaRPr lang="en-US" sz="1800" dirty="0">
              <a:solidFill>
                <a:schemeClr val="tx1"/>
              </a:solidFill>
              <a:latin typeface="+mj-lt"/>
            </a:endParaRP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If not valid: return 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nsolas" panose="020B0609020204030204" pitchFamily="49" charset="0"/>
              </a:rPr>
              <a:t>E_MB_OPER_FAILED</a:t>
            </a:r>
            <a:endParaRPr lang="en-US" sz="2000" dirty="0">
              <a:solidFill>
                <a:schemeClr val="tx1"/>
              </a:solidFill>
              <a:latin typeface="+mj-lt"/>
            </a:endParaRP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Call </a:t>
            </a:r>
            <a:r>
              <a:rPr lang="en-US" sz="20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sys_ipc_receive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()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/>
              <a:t>Panic if it returns error</a:t>
            </a:r>
            <a:endParaRPr lang="en-US" sz="2000" dirty="0">
              <a:latin typeface="Consolas" panose="020B0609020204030204" pitchFamily="49" charset="0"/>
            </a:endParaRPr>
          </a:p>
          <a:p>
            <a:pPr marL="201168" lvl="1" indent="0" algn="just">
              <a:lnSpc>
                <a:spcPct val="150000"/>
              </a:lnSpc>
              <a:buNone/>
            </a:pPr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83E46-14E5-0065-E746-4B6BFD722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0AD7CF-F0A2-4383-A038-D82EAAF254E2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676A28B-4F98-DBAA-F30C-46C1710ECF50}"/>
              </a:ext>
            </a:extLst>
          </p:cNvPr>
          <p:cNvSpPr txBox="1">
            <a:spLocks noChangeArrowheads="1"/>
          </p:cNvSpPr>
          <p:nvPr/>
        </p:nvSpPr>
        <p:spPr>
          <a:xfrm>
            <a:off x="41956" y="10773"/>
            <a:ext cx="12131381" cy="9670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IPC#1: </a:t>
            </a:r>
            <a:r>
              <a:rPr lang="en-US" b="1" dirty="0">
                <a:solidFill>
                  <a:srgbClr val="FF0000"/>
                </a:solidFill>
              </a:rPr>
              <a:t>Required</a:t>
            </a:r>
            <a:r>
              <a:rPr lang="en-US" b="1" dirty="0"/>
              <a:t> Functions</a:t>
            </a:r>
            <a:endParaRPr lang="en-US" altLang="ko-KR" dirty="0">
              <a:ea typeface="굴림" panose="020B0600000101010101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BFFE5B-7FFA-7A65-5427-2A6994F039D0}"/>
              </a:ext>
            </a:extLst>
          </p:cNvPr>
          <p:cNvSpPr txBox="1"/>
          <p:nvPr/>
        </p:nvSpPr>
        <p:spPr>
          <a:xfrm>
            <a:off x="10025380" y="1253654"/>
            <a:ext cx="1130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lib/</a:t>
            </a:r>
            <a:r>
              <a:rPr lang="en-US" sz="1800" dirty="0" err="1">
                <a:solidFill>
                  <a:srgbClr val="FF0000"/>
                </a:solidFill>
              </a:rPr>
              <a:t>ipc.c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772662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12BB7-DE16-61EE-F1A5-749E337DB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EDEEC-5902-D736-B3A2-9E9AE841A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#7:</a:t>
            </a:r>
            <a:r>
              <a:rPr lang="en-US" dirty="0"/>
              <a:t> Receive </a:t>
            </a:r>
            <a:r>
              <a:rPr lang="en-US" sz="3600" dirty="0"/>
              <a:t>[KERNEL SIDE]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FF890-5E90-26ED-9E42-C17AF1B9D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810240" cy="5012266"/>
          </a:xfrm>
          <a:solidFill>
            <a:schemeClr val="bg1"/>
          </a:solidFill>
        </p:spPr>
        <p:txBody>
          <a:bodyPr>
            <a:normAutofit fontScale="85000" lnSpcReduction="20000"/>
          </a:bodyPr>
          <a:lstStyle/>
          <a:p>
            <a:pPr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 dirty="0">
                <a:solidFill>
                  <a:srgbClr val="535353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sys_ipc_receive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535353"/>
                </a:solidFill>
                <a:latin typeface="Consolas" panose="020B0609020204030204" pitchFamily="49" charset="0"/>
              </a:rPr>
              <a:t>uint32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srcMailboxHandle</a:t>
            </a:r>
            <a:r>
              <a:rPr lang="en-US" sz="2400" b="1" dirty="0">
                <a:solidFill>
                  <a:srgbClr val="A36622"/>
                </a:solidFill>
                <a:latin typeface="Consolas" panose="020B0609020204030204" pitchFamily="49" charset="0"/>
              </a:rPr>
              <a:t>,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Message </a:t>
            </a:r>
            <a:r>
              <a:rPr lang="en-US" sz="2400" b="1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msg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  <a:endParaRPr lang="en-US" sz="2400" b="1" dirty="0">
              <a:solidFill>
                <a:srgbClr val="A36622"/>
              </a:solidFill>
              <a:latin typeface="Consolas" panose="020B0609020204030204" pitchFamily="49" charset="0"/>
            </a:endParaRP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 b="1" dirty="0"/>
              <a:t>Description:</a:t>
            </a:r>
          </a:p>
          <a:p>
            <a:pPr marL="658368" lvl="1" indent="-4572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Get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 mailbox as follows:</a:t>
            </a:r>
          </a:p>
          <a:p>
            <a:pPr lvl="2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If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srcMailboxHandle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= 0: get local mailbox of the source env (specified in 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msg</a:t>
            </a:r>
            <a:r>
              <a:rPr lang="en-US" sz="2000" b="1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header)</a:t>
            </a:r>
          </a:p>
          <a:p>
            <a:pPr lvl="3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dirty="0">
                <a:solidFill>
                  <a:schemeClr val="tx1"/>
                </a:solidFill>
                <a:latin typeface="+mj-lt"/>
              </a:rPr>
              <a:t>Hint: use 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envid2env() </a:t>
            </a:r>
            <a:r>
              <a:rPr lang="en-US" sz="1800" dirty="0">
                <a:solidFill>
                  <a:schemeClr val="tx1"/>
                </a:solidFill>
                <a:latin typeface="+mj-lt"/>
              </a:rPr>
              <a:t>to get the corresponding env from a given </a:t>
            </a:r>
            <a:r>
              <a:rPr lang="en-US" sz="1800" dirty="0" err="1">
                <a:solidFill>
                  <a:schemeClr val="tx1"/>
                </a:solidFill>
                <a:latin typeface="+mj-lt"/>
              </a:rPr>
              <a:t>envID</a:t>
            </a:r>
            <a:endParaRPr lang="en-US" sz="1800" dirty="0">
              <a:solidFill>
                <a:schemeClr val="tx1"/>
              </a:solidFill>
              <a:latin typeface="+mj-lt"/>
            </a:endParaRPr>
          </a:p>
          <a:p>
            <a:pPr lvl="2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Else: call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ipc_get_mailbox</a:t>
            </a:r>
            <a:r>
              <a:rPr lang="en-US" sz="2000" dirty="0">
                <a:solidFill>
                  <a:prstClr val="black"/>
                </a:solidFill>
              </a:rPr>
              <a:t> (it returns mailbox by reference)</a:t>
            </a:r>
            <a:endParaRPr lang="en-US" sz="2000" dirty="0">
              <a:solidFill>
                <a:schemeClr val="tx1"/>
              </a:solidFill>
              <a:latin typeface="+mj-lt"/>
            </a:endParaRPr>
          </a:p>
          <a:p>
            <a:pPr marL="658368" lvl="1" indent="-4572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b="1" dirty="0"/>
              <a:t>If</a:t>
            </a:r>
            <a:r>
              <a:rPr lang="en-US" sz="2000" dirty="0"/>
              <a:t> mailbox is </a:t>
            </a:r>
            <a:r>
              <a:rPr lang="en-US" sz="2000" b="1" dirty="0"/>
              <a:t>empty</a:t>
            </a:r>
            <a:r>
              <a:rPr lang="en-US" sz="2000" dirty="0"/>
              <a:t>, block on “</a:t>
            </a:r>
            <a:r>
              <a:rPr lang="en-US" sz="2000" b="1" dirty="0">
                <a:latin typeface="Consolas" panose="020B0609020204030204" pitchFamily="49" charset="0"/>
              </a:rPr>
              <a:t>receivers</a:t>
            </a:r>
            <a:r>
              <a:rPr lang="en-US" sz="2000" dirty="0"/>
              <a:t>” channel</a:t>
            </a:r>
          </a:p>
          <a:p>
            <a:pPr marL="658368" lvl="1" indent="-4572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b="1" dirty="0"/>
              <a:t>Dequeue</a:t>
            </a:r>
            <a:r>
              <a:rPr lang="en-US" sz="2000" dirty="0"/>
              <a:t> a message from the mailbox and </a:t>
            </a:r>
            <a:r>
              <a:rPr lang="en-US" sz="2000" b="1" dirty="0"/>
              <a:t>wake-up</a:t>
            </a:r>
            <a:r>
              <a:rPr lang="en-US" sz="2000" dirty="0"/>
              <a:t> a blocked sender (if any)</a:t>
            </a:r>
          </a:p>
          <a:p>
            <a:pPr marL="658368" lvl="1" indent="-4572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b="1" dirty="0"/>
              <a:t>If</a:t>
            </a:r>
            <a:r>
              <a:rPr lang="en-US" sz="2000" dirty="0"/>
              <a:t> it’s </a:t>
            </a:r>
            <a:r>
              <a:rPr lang="en-US" sz="2000" b="1" dirty="0"/>
              <a:t>last message</a:t>
            </a:r>
            <a:r>
              <a:rPr lang="en-US" sz="2000" dirty="0"/>
              <a:t>, wake-up ALL blocked senders</a:t>
            </a:r>
          </a:p>
          <a:p>
            <a:pPr marL="658368" lvl="1" indent="-4572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b="1" dirty="0"/>
              <a:t>Copy</a:t>
            </a:r>
            <a:r>
              <a:rPr lang="en-US" sz="2000" dirty="0"/>
              <a:t> the message to the passed 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msg</a:t>
            </a:r>
            <a:r>
              <a:rPr lang="en-US" sz="2000" dirty="0"/>
              <a:t> from user and </a:t>
            </a:r>
            <a:r>
              <a:rPr lang="en-US" sz="2000" b="1" dirty="0"/>
              <a:t>destroy</a:t>
            </a:r>
            <a:r>
              <a:rPr lang="en-US" sz="2000" dirty="0"/>
              <a:t> it (during copy: </a:t>
            </a:r>
            <a:r>
              <a:rPr lang="en-US" sz="2000" b="1" dirty="0"/>
              <a:t>take care </a:t>
            </a:r>
            <a:r>
              <a:rPr lang="en-US" sz="2000" dirty="0"/>
              <a:t>of the </a:t>
            </a:r>
            <a:r>
              <a:rPr lang="en-US" sz="2000" b="1" dirty="0"/>
              <a:t>message type</a:t>
            </a:r>
            <a:r>
              <a:rPr lang="en-US" sz="2000" dirty="0"/>
              <a:t>)</a:t>
            </a:r>
          </a:p>
          <a:p>
            <a:pPr marL="201168" lvl="1" indent="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sym typeface="Wingdings" panose="05000000000000000000" pitchFamily="2" charset="2"/>
              </a:rPr>
              <a:t>Return: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</a:rPr>
              <a:t>0 on success. 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nsolas" panose="020B0609020204030204" pitchFamily="49" charset="0"/>
              </a:rPr>
              <a:t>E_MB_NOT_EXIST 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if mailbox handle not exist. 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nsolas" panose="020B0609020204030204" pitchFamily="49" charset="0"/>
              </a:rPr>
              <a:t>E_MB_INV_REQUEST</a:t>
            </a:r>
            <a:r>
              <a:rPr lang="en-US" sz="2000" dirty="0">
                <a:solidFill>
                  <a:srgbClr val="000000"/>
                </a:solidFill>
                <a:sym typeface="Wingdings" panose="05000000000000000000" pitchFamily="2" charset="2"/>
              </a:rPr>
              <a:t>: if the env is not registered in the mailbox as a receiver</a:t>
            </a: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9E96F-56B4-3AAD-2FA0-6F9A64D11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0AD7CF-F0A2-4383-A038-D82EAAF254E2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86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0ECCBEB-7680-91ED-8A45-A8B5C700DEC4}"/>
              </a:ext>
            </a:extLst>
          </p:cNvPr>
          <p:cNvSpPr txBox="1">
            <a:spLocks noChangeArrowheads="1"/>
          </p:cNvSpPr>
          <p:nvPr/>
        </p:nvSpPr>
        <p:spPr>
          <a:xfrm>
            <a:off x="41956" y="10773"/>
            <a:ext cx="12131381" cy="9670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IPC#1: </a:t>
            </a:r>
            <a:r>
              <a:rPr lang="en-US" b="1" dirty="0">
                <a:solidFill>
                  <a:srgbClr val="FF0000"/>
                </a:solidFill>
              </a:rPr>
              <a:t>Required</a:t>
            </a:r>
            <a:r>
              <a:rPr lang="en-US" b="1" dirty="0"/>
              <a:t> Functions</a:t>
            </a:r>
            <a:endParaRPr lang="en-US" altLang="ko-KR" dirty="0">
              <a:ea typeface="굴림" panose="020B0600000101010101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DCCAE2-52B2-F4CB-FFB1-35C231376C6A}"/>
              </a:ext>
            </a:extLst>
          </p:cNvPr>
          <p:cNvSpPr txBox="1"/>
          <p:nvPr/>
        </p:nvSpPr>
        <p:spPr>
          <a:xfrm>
            <a:off x="9469120" y="1253654"/>
            <a:ext cx="1686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kern/</a:t>
            </a:r>
            <a:r>
              <a:rPr lang="en-US" sz="1800" dirty="0" err="1">
                <a:solidFill>
                  <a:srgbClr val="FF0000"/>
                </a:solidFill>
              </a:rPr>
              <a:t>ipc</a:t>
            </a:r>
            <a:r>
              <a:rPr lang="en-US" sz="1800" dirty="0">
                <a:solidFill>
                  <a:srgbClr val="FF0000"/>
                </a:solidFill>
              </a:rPr>
              <a:t>/</a:t>
            </a:r>
            <a:r>
              <a:rPr lang="en-US" sz="1800" dirty="0" err="1">
                <a:solidFill>
                  <a:srgbClr val="FF0000"/>
                </a:solidFill>
              </a:rPr>
              <a:t>ipc.c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342383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E5CF4-A4F9-8E6C-88C6-3C12C7575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5EE43AF-1605-2FDC-A39B-6EF2C1EBE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IPC#2 </a:t>
            </a:r>
            <a:r>
              <a:rPr lang="en-US" sz="4400" dirty="0"/>
              <a:t>(public mailbox)</a:t>
            </a:r>
            <a:endParaRPr lang="en-AE" sz="44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063443E-0FDE-66FB-88F2-72A6DDD2AB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PART III: INDIVIDUAL module </a:t>
            </a:r>
            <a:r>
              <a:rPr lang="en-US" b="1" dirty="0">
                <a:solidFill>
                  <a:srgbClr val="FF0000"/>
                </a:solidFill>
              </a:rPr>
              <a:t>#5</a:t>
            </a:r>
            <a:endParaRPr lang="en-AE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6BB9DF-D017-10DD-353B-650143473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87</a:t>
            </a:fld>
            <a:endParaRPr lang="en-US"/>
          </a:p>
        </p:txBody>
      </p:sp>
      <p:pic>
        <p:nvPicPr>
          <p:cNvPr id="8" name="Picture 7" descr="A clock with a number on it&#10;&#10;AI-generated content may be incorrect.">
            <a:extLst>
              <a:ext uri="{FF2B5EF4-FFF2-40B4-BE49-F238E27FC236}">
                <a16:creationId xmlns:a16="http://schemas.microsoft.com/office/drawing/2014/main" id="{3B54EDAD-2EF9-4CFD-73A7-126E173400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1375" y="0"/>
            <a:ext cx="1190625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1205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77D01-35E0-A50B-BDB7-9CE391500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44266-FD36-65D3-BD04-FF060DD26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IPC#2</a:t>
            </a:r>
            <a:endParaRPr lang="ar-EG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F77D3A2-DD03-ECB3-FC8A-EDEF1E4A0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953" y="1845734"/>
            <a:ext cx="10873427" cy="4023360"/>
          </a:xfrm>
        </p:spPr>
        <p:txBody>
          <a:bodyPr/>
          <a:lstStyle/>
          <a:p>
            <a:r>
              <a:rPr lang="en-US" dirty="0"/>
              <a:t>The main functions required to implement </a:t>
            </a:r>
            <a:r>
              <a:rPr lang="en-US" b="1" dirty="0"/>
              <a:t>IPC#2 </a:t>
            </a:r>
            <a:r>
              <a:rPr lang="en-US" dirty="0"/>
              <a:t>are: 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0EAF5CE2-B734-B7D6-5D34-D96CF904D334}"/>
              </a:ext>
            </a:extLst>
          </p:cNvPr>
          <p:cNvGraphicFramePr>
            <a:graphicFrameLocks noGrp="1"/>
          </p:cNvGraphicFramePr>
          <p:nvPr/>
        </p:nvGraphicFramePr>
        <p:xfrm>
          <a:off x="813136" y="2508076"/>
          <a:ext cx="10565727" cy="30279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3420">
                  <a:extLst>
                    <a:ext uri="{9D8B030D-6E8A-4147-A177-3AD203B41FA5}">
                      <a16:colId xmlns:a16="http://schemas.microsoft.com/office/drawing/2014/main" val="422314023"/>
                    </a:ext>
                  </a:extLst>
                </a:gridCol>
                <a:gridCol w="4038325">
                  <a:extLst>
                    <a:ext uri="{9D8B030D-6E8A-4147-A177-3AD203B41FA5}">
                      <a16:colId xmlns:a16="http://schemas.microsoft.com/office/drawing/2014/main" val="1877600023"/>
                    </a:ext>
                  </a:extLst>
                </a:gridCol>
                <a:gridCol w="4983982">
                  <a:extLst>
                    <a:ext uri="{9D8B030D-6E8A-4147-A177-3AD203B41FA5}">
                      <a16:colId xmlns:a16="http://schemas.microsoft.com/office/drawing/2014/main" val="2719033330"/>
                    </a:ext>
                  </a:extLst>
                </a:gridCol>
              </a:tblGrid>
              <a:tr h="46764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424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ipc_broadcast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u="none" dirty="0"/>
                        <a:t>[</a:t>
                      </a:r>
                      <a:r>
                        <a:rPr lang="en-US" b="1" u="none" dirty="0"/>
                        <a:t>USER SIDE] </a:t>
                      </a:r>
                      <a:r>
                        <a:rPr lang="en-US" b="1" u="none" dirty="0">
                          <a:solidFill>
                            <a:srgbClr val="C00000"/>
                          </a:solidFill>
                        </a:rPr>
                        <a:t>definitions </a:t>
                      </a:r>
                      <a:r>
                        <a:rPr lang="en-US" b="1" u="sng" dirty="0">
                          <a:solidFill>
                            <a:srgbClr val="C00000"/>
                          </a:solidFill>
                        </a:rPr>
                        <a:t>TO DO</a:t>
                      </a:r>
                      <a:r>
                        <a:rPr lang="en-US" b="1" u="none" dirty="0">
                          <a:solidFill>
                            <a:srgbClr val="C00000"/>
                          </a:solidFill>
                        </a:rPr>
                        <a:t>: lib/</a:t>
                      </a:r>
                      <a:r>
                        <a:rPr lang="en-US" b="1" u="none" dirty="0" err="1">
                          <a:solidFill>
                            <a:srgbClr val="C00000"/>
                          </a:solidFill>
                        </a:rPr>
                        <a:t>ipc.c</a:t>
                      </a:r>
                      <a:endParaRPr lang="en-US" b="1" u="none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788031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ipc_get_mailbox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u="none" dirty="0"/>
                        <a:t>[</a:t>
                      </a:r>
                      <a:r>
                        <a:rPr lang="en-US" b="1" u="none" dirty="0"/>
                        <a:t>KERNEL SIDE]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u="none" dirty="0"/>
                        <a:t>Declarations:  </a:t>
                      </a:r>
                      <a:r>
                        <a:rPr lang="en-US" b="1" u="none" dirty="0"/>
                        <a:t>kern/</a:t>
                      </a:r>
                      <a:r>
                        <a:rPr lang="en-US" b="1" u="none" dirty="0" err="1"/>
                        <a:t>ipc</a:t>
                      </a:r>
                      <a:r>
                        <a:rPr lang="en-US" b="1" u="none" dirty="0"/>
                        <a:t>/</a:t>
                      </a:r>
                      <a:r>
                        <a:rPr lang="en-US" b="1" u="none" dirty="0" err="1"/>
                        <a:t>ipc.h</a:t>
                      </a:r>
                      <a:endParaRPr lang="en-US" b="1" u="none" dirty="0">
                        <a:solidFill>
                          <a:srgbClr val="C00000"/>
                        </a:solidFill>
                      </a:endParaRPr>
                    </a:p>
                    <a:p>
                      <a:pPr algn="ctr"/>
                      <a:r>
                        <a:rPr lang="en-US" b="1" u="none" dirty="0">
                          <a:solidFill>
                            <a:srgbClr val="C00000"/>
                          </a:solidFill>
                        </a:rPr>
                        <a:t>definitions </a:t>
                      </a:r>
                      <a:r>
                        <a:rPr lang="en-US" b="1" u="sng" dirty="0">
                          <a:solidFill>
                            <a:srgbClr val="C00000"/>
                          </a:solidFill>
                        </a:rPr>
                        <a:t>TO DO</a:t>
                      </a:r>
                      <a:r>
                        <a:rPr lang="en-US" b="1" u="none" dirty="0">
                          <a:solidFill>
                            <a:srgbClr val="C00000"/>
                          </a:solidFill>
                        </a:rPr>
                        <a:t>: kern/</a:t>
                      </a:r>
                      <a:r>
                        <a:rPr lang="en-US" b="1" u="none" dirty="0" err="1">
                          <a:solidFill>
                            <a:srgbClr val="C00000"/>
                          </a:solidFill>
                        </a:rPr>
                        <a:t>ipc</a:t>
                      </a:r>
                      <a:r>
                        <a:rPr lang="en-US" b="1" u="none" dirty="0">
                          <a:solidFill>
                            <a:srgbClr val="C00000"/>
                          </a:solidFill>
                        </a:rPr>
                        <a:t>/</a:t>
                      </a:r>
                      <a:r>
                        <a:rPr lang="en-US" b="1" u="none" dirty="0" err="1">
                          <a:solidFill>
                            <a:srgbClr val="C00000"/>
                          </a:solidFill>
                        </a:rPr>
                        <a:t>ipc.c</a:t>
                      </a:r>
                      <a:endParaRPr lang="en-US" b="1" u="none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616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sys_ipc_create_mailbox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u="none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896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sys_ipc_delete_mailbox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72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sys_ipc_connect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u="none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23429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sys_ipc_disconnect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u="none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4619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sys_ipc_broadcast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u="none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210587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0635497-2CB8-22D4-A92C-534A043D4F94}"/>
              </a:ext>
            </a:extLst>
          </p:cNvPr>
          <p:cNvSpPr txBox="1"/>
          <p:nvPr/>
        </p:nvSpPr>
        <p:spPr>
          <a:xfrm>
            <a:off x="813136" y="5724559"/>
            <a:ext cx="10565727" cy="4616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NOTE</a:t>
            </a:r>
            <a:r>
              <a:rPr lang="en-US" sz="2400" b="1" dirty="0"/>
              <a:t>:</a:t>
            </a:r>
            <a:r>
              <a:rPr lang="en-US" sz="2400" dirty="0"/>
              <a:t> </a:t>
            </a:r>
            <a:r>
              <a:rPr lang="en-US" sz="2400" b="1" dirty="0"/>
              <a:t>MOST of them are direct/small functions </a:t>
            </a:r>
            <a:endParaRPr lang="en-AE" sz="2400" b="1" dirty="0"/>
          </a:p>
        </p:txBody>
      </p:sp>
    </p:spTree>
    <p:extLst>
      <p:ext uri="{BB962C8B-B14F-4D97-AF65-F5344CB8AC3E}">
        <p14:creationId xmlns:p14="http://schemas.microsoft.com/office/powerpoint/2010/main" val="424137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CBA32-39BF-5965-3488-B8E2443E1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4D94D-7BE6-8C16-6597-238B40586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13791"/>
            <a:ext cx="12192000" cy="5844209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>
                <a:latin typeface="+mj-lt"/>
              </a:rPr>
              <a:t>Struct declaration of the </a:t>
            </a:r>
            <a:r>
              <a:rPr lang="en-AE" b="1" dirty="0">
                <a:latin typeface="Courier New" panose="02070309020205020404" pitchFamily="49" charset="0"/>
                <a:cs typeface="Courier New" panose="02070309020205020404" pitchFamily="49" charset="0"/>
              </a:rPr>
              <a:t>Message </a:t>
            </a:r>
            <a:r>
              <a:rPr lang="en-US" sz="1800" dirty="0">
                <a:solidFill>
                  <a:srgbClr val="5C5962"/>
                </a:solidFill>
              </a:rPr>
              <a:t>(</a:t>
            </a:r>
            <a:r>
              <a:rPr lang="en-US" sz="1800" dirty="0" err="1">
                <a:solidFill>
                  <a:srgbClr val="FF0000"/>
                </a:solidFill>
              </a:rPr>
              <a:t>inc</a:t>
            </a:r>
            <a:r>
              <a:rPr lang="en-US" sz="1800" dirty="0">
                <a:solidFill>
                  <a:srgbClr val="FF0000"/>
                </a:solidFill>
              </a:rPr>
              <a:t>/</a:t>
            </a:r>
            <a:r>
              <a:rPr lang="en-US" sz="1800" dirty="0" err="1">
                <a:solidFill>
                  <a:srgbClr val="FF0000"/>
                </a:solidFill>
              </a:rPr>
              <a:t>ipc.h</a:t>
            </a:r>
            <a:r>
              <a:rPr lang="en-US" sz="1800" dirty="0">
                <a:solidFill>
                  <a:srgbClr val="5C5962"/>
                </a:solidFill>
              </a:rPr>
              <a:t>)</a:t>
            </a:r>
            <a:endParaRPr lang="en-US" dirty="0">
              <a:solidFill>
                <a:srgbClr val="5C5962"/>
              </a:solidFill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sz="11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sz="8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Struct declaration of the </a:t>
            </a:r>
            <a:r>
              <a:rPr lang="en-A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MessageList</a:t>
            </a:r>
            <a:r>
              <a:rPr lang="en-A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5C5962"/>
                </a:solidFill>
              </a:rPr>
              <a:t>(</a:t>
            </a:r>
            <a:r>
              <a:rPr lang="en-US" sz="1800" dirty="0" err="1">
                <a:solidFill>
                  <a:srgbClr val="FF0000"/>
                </a:solidFill>
              </a:rPr>
              <a:t>inc</a:t>
            </a:r>
            <a:r>
              <a:rPr lang="en-US" sz="1800" dirty="0">
                <a:solidFill>
                  <a:srgbClr val="FF0000"/>
                </a:solidFill>
              </a:rPr>
              <a:t>/</a:t>
            </a:r>
            <a:r>
              <a:rPr lang="en-US" sz="1800" dirty="0" err="1">
                <a:solidFill>
                  <a:srgbClr val="FF0000"/>
                </a:solidFill>
              </a:rPr>
              <a:t>ipc.h</a:t>
            </a:r>
            <a:r>
              <a:rPr lang="en-US" sz="1800" dirty="0">
                <a:solidFill>
                  <a:srgbClr val="5C5962"/>
                </a:solidFill>
              </a:rPr>
              <a:t>)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sz="1800" dirty="0">
              <a:solidFill>
                <a:srgbClr val="5C5962"/>
              </a:solidFill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>
                <a:solidFill>
                  <a:srgbClr val="5C5962"/>
                </a:solidFill>
              </a:rPr>
              <a:t>Message types</a:t>
            </a:r>
            <a:endParaRPr lang="en-US" sz="2400" dirty="0">
              <a:solidFill>
                <a:srgbClr val="5C5962"/>
              </a:solidFill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AE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1C4138-1698-F27E-A804-F0597D0C8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89</a:t>
            </a:fld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2BE38AF-5393-DB53-E346-533646D6C728}"/>
              </a:ext>
            </a:extLst>
          </p:cNvPr>
          <p:cNvSpPr txBox="1">
            <a:spLocks noChangeArrowheads="1"/>
          </p:cNvSpPr>
          <p:nvPr/>
        </p:nvSpPr>
        <p:spPr>
          <a:xfrm>
            <a:off x="41956" y="10773"/>
            <a:ext cx="12131381" cy="9670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IPC#1: </a:t>
            </a:r>
            <a:r>
              <a:rPr lang="en-US" b="1" dirty="0">
                <a:solidFill>
                  <a:srgbClr val="00B050"/>
                </a:solidFill>
              </a:rPr>
              <a:t>Given</a:t>
            </a:r>
            <a:r>
              <a:rPr lang="en-US" b="1" dirty="0"/>
              <a:t> Data Structures</a:t>
            </a:r>
            <a:endParaRPr lang="en-US" altLang="ko-KR" dirty="0">
              <a:ea typeface="굴림" panose="020B0600000101010101" pitchFamily="34" charset="-12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73636AB-2E1F-A3CC-2283-6922CA960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730" y="1351996"/>
            <a:ext cx="8878539" cy="31722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00D2C04-A390-4B60-659D-DE191BA53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7564" y="4955923"/>
            <a:ext cx="4220164" cy="39058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15F6E62-ADE1-0A8B-45C8-7220A02FE0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760" y="5532594"/>
            <a:ext cx="3248478" cy="131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228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27581-C813-248B-4DD5-2C1448EA8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31A0C-3792-3B50-A9A2-0E28C53EF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13791"/>
            <a:ext cx="12192000" cy="5844209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r>
              <a:rPr lang="en-US" dirty="0">
                <a:latin typeface="+mj-lt"/>
              </a:rPr>
              <a:t>Struct declaration of the </a:t>
            </a:r>
            <a:r>
              <a:rPr lang="en-AE" b="1" dirty="0">
                <a:latin typeface="Courier New" panose="02070309020205020404" pitchFamily="49" charset="0"/>
                <a:cs typeface="Courier New" panose="02070309020205020404" pitchFamily="49" charset="0"/>
              </a:rPr>
              <a:t>Mailbox </a:t>
            </a:r>
            <a:r>
              <a:rPr lang="en-US" sz="1800" dirty="0">
                <a:solidFill>
                  <a:srgbClr val="5C5962"/>
                </a:solidFill>
              </a:rPr>
              <a:t>(</a:t>
            </a:r>
            <a:r>
              <a:rPr lang="en-US" sz="1800" dirty="0">
                <a:solidFill>
                  <a:srgbClr val="FF0000"/>
                </a:solidFill>
              </a:rPr>
              <a:t>kern/</a:t>
            </a:r>
            <a:r>
              <a:rPr lang="en-US" sz="1800" dirty="0" err="1">
                <a:solidFill>
                  <a:srgbClr val="FF0000"/>
                </a:solidFill>
              </a:rPr>
              <a:t>ipc</a:t>
            </a:r>
            <a:r>
              <a:rPr lang="en-US" sz="1800" dirty="0">
                <a:solidFill>
                  <a:srgbClr val="FF0000"/>
                </a:solidFill>
              </a:rPr>
              <a:t>/</a:t>
            </a:r>
            <a:r>
              <a:rPr lang="en-US" sz="1800" dirty="0" err="1">
                <a:solidFill>
                  <a:srgbClr val="FF0000"/>
                </a:solidFill>
              </a:rPr>
              <a:t>ipc.h</a:t>
            </a:r>
            <a:r>
              <a:rPr lang="en-US" sz="1800" dirty="0">
                <a:solidFill>
                  <a:srgbClr val="5C5962"/>
                </a:solidFill>
              </a:rPr>
              <a:t>)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endParaRPr lang="en-US" sz="1800" dirty="0">
              <a:solidFill>
                <a:srgbClr val="5C5962"/>
              </a:solidFill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endParaRPr lang="en-US" sz="1800" dirty="0">
              <a:solidFill>
                <a:srgbClr val="5C5962"/>
              </a:solidFill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endParaRPr lang="en-US" sz="1800" dirty="0">
              <a:solidFill>
                <a:srgbClr val="5C5962"/>
              </a:solidFill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endParaRPr lang="en-US" sz="1800" dirty="0">
              <a:solidFill>
                <a:srgbClr val="5C5962"/>
              </a:solidFill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endParaRPr lang="en-US" sz="1800" dirty="0">
              <a:solidFill>
                <a:srgbClr val="5C5962"/>
              </a:solidFill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endParaRPr lang="en-US" sz="1800" dirty="0">
              <a:solidFill>
                <a:srgbClr val="5C5962"/>
              </a:solidFill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endParaRPr lang="en-US" sz="1800" dirty="0">
              <a:solidFill>
                <a:srgbClr val="5C5962"/>
              </a:solidFill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endParaRPr lang="en-US" sz="1800" dirty="0">
              <a:solidFill>
                <a:srgbClr val="5C5962"/>
              </a:solidFill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endParaRPr lang="en-US" sz="1800" dirty="0">
              <a:solidFill>
                <a:srgbClr val="5C5962"/>
              </a:solidFill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r>
              <a:rPr lang="en-US" sz="1800" dirty="0">
                <a:solidFill>
                  <a:srgbClr val="5C5962"/>
                </a:solidFill>
              </a:rPr>
              <a:t>List of ALL created public </a:t>
            </a:r>
            <a:r>
              <a:rPr lang="en-AE" b="1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Mailbox</a:t>
            </a:r>
            <a:r>
              <a:rPr lang="en-US" sz="1800" dirty="0">
                <a:solidFill>
                  <a:srgbClr val="5C5962"/>
                </a:solidFill>
              </a:rPr>
              <a:t>’s in the Kernel (</a:t>
            </a:r>
            <a:r>
              <a:rPr lang="en-US" sz="1800" dirty="0">
                <a:solidFill>
                  <a:srgbClr val="FF0000"/>
                </a:solidFill>
              </a:rPr>
              <a:t>kern/</a:t>
            </a:r>
            <a:r>
              <a:rPr lang="en-US" sz="1800" dirty="0" err="1">
                <a:solidFill>
                  <a:srgbClr val="FF0000"/>
                </a:solidFill>
              </a:rPr>
              <a:t>ipc</a:t>
            </a:r>
            <a:r>
              <a:rPr lang="en-US" sz="1800" dirty="0">
                <a:solidFill>
                  <a:srgbClr val="FF0000"/>
                </a:solidFill>
              </a:rPr>
              <a:t>/</a:t>
            </a:r>
            <a:r>
              <a:rPr lang="en-US" sz="1800" dirty="0" err="1">
                <a:solidFill>
                  <a:srgbClr val="FF0000"/>
                </a:solidFill>
              </a:rPr>
              <a:t>ipc.h</a:t>
            </a:r>
            <a:r>
              <a:rPr lang="en-US" sz="1800" dirty="0">
                <a:solidFill>
                  <a:srgbClr val="5C5962"/>
                </a:solidFill>
              </a:rPr>
              <a:t>)</a:t>
            </a:r>
            <a:endParaRPr lang="en-US" dirty="0">
              <a:solidFill>
                <a:srgbClr val="5C5962"/>
              </a:solidFill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endParaRPr lang="en-US" sz="11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endParaRPr lang="en-US" sz="100" dirty="0"/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 startAt="4"/>
            </a:pP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endParaRPr lang="en-AE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38CC72-EB13-58B1-8F49-5F0D05728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90</a:t>
            </a:fld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35F2EB8-5E3B-F8F3-2C61-B572A2444334}"/>
              </a:ext>
            </a:extLst>
          </p:cNvPr>
          <p:cNvSpPr txBox="1">
            <a:spLocks noChangeArrowheads="1"/>
          </p:cNvSpPr>
          <p:nvPr/>
        </p:nvSpPr>
        <p:spPr>
          <a:xfrm>
            <a:off x="41956" y="10773"/>
            <a:ext cx="12131381" cy="9670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IPC#2: </a:t>
            </a:r>
            <a:r>
              <a:rPr lang="en-US" b="1" dirty="0">
                <a:solidFill>
                  <a:srgbClr val="00B050"/>
                </a:solidFill>
              </a:rPr>
              <a:t>Given</a:t>
            </a:r>
            <a:r>
              <a:rPr lang="en-US" b="1" dirty="0"/>
              <a:t> Data Structures</a:t>
            </a:r>
            <a:endParaRPr lang="en-US" altLang="ko-KR" dirty="0">
              <a:ea typeface="굴림" panose="020B0600000101010101" pitchFamily="34" charset="-12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4F0411-0CEE-B82F-DD48-90CFB8ADD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571" y="1499918"/>
            <a:ext cx="10802858" cy="385816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A11723A-ADAB-D6FD-61B1-F7B07A283A21}"/>
              </a:ext>
            </a:extLst>
          </p:cNvPr>
          <p:cNvSpPr/>
          <p:nvPr/>
        </p:nvSpPr>
        <p:spPr>
          <a:xfrm>
            <a:off x="1117599" y="1981200"/>
            <a:ext cx="10379829" cy="26212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FB08C4-5284-830F-89E1-702DD60B2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5616" y="6017856"/>
            <a:ext cx="4544059" cy="5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496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39D19-EE5D-0909-C42E-84DC88E2A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C4953-D1F4-F2B0-CCEA-888B22CDB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13791"/>
            <a:ext cx="12192000" cy="5844209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 startAt="6"/>
            </a:pPr>
            <a:r>
              <a:rPr lang="en-US" dirty="0">
                <a:latin typeface="+mj-lt"/>
              </a:rPr>
              <a:t>Struct declaration of the </a:t>
            </a:r>
            <a:r>
              <a:rPr lang="en-A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MailboxHandle</a:t>
            </a:r>
            <a:r>
              <a:rPr lang="en-A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5C5962"/>
                </a:solidFill>
              </a:rPr>
              <a:t>(</a:t>
            </a:r>
            <a:r>
              <a:rPr lang="en-US" sz="1800" dirty="0" err="1">
                <a:solidFill>
                  <a:srgbClr val="FF0000"/>
                </a:solidFill>
              </a:rPr>
              <a:t>inc</a:t>
            </a:r>
            <a:r>
              <a:rPr lang="en-US" sz="1800" dirty="0">
                <a:solidFill>
                  <a:srgbClr val="FF0000"/>
                </a:solidFill>
              </a:rPr>
              <a:t>/</a:t>
            </a:r>
            <a:r>
              <a:rPr lang="en-US" sz="1800" dirty="0" err="1">
                <a:solidFill>
                  <a:srgbClr val="FF0000"/>
                </a:solidFill>
              </a:rPr>
              <a:t>environment_definitions.h</a:t>
            </a:r>
            <a:r>
              <a:rPr lang="en-US" sz="1800" dirty="0">
                <a:solidFill>
                  <a:srgbClr val="5C5962"/>
                </a:solidFill>
              </a:rPr>
              <a:t>)</a:t>
            </a:r>
          </a:p>
          <a:p>
            <a:pPr marL="749808" lvl="1" indent="-457200">
              <a:lnSpc>
                <a:spcPct val="100000"/>
              </a:lnSpc>
            </a:pPr>
            <a:r>
              <a:rPr lang="en-US" dirty="0">
                <a:solidFill>
                  <a:srgbClr val="5C5962"/>
                </a:solidFill>
              </a:rPr>
              <a:t>Contains info about connected (or owned) mailbox of the env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 startAt="6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 startAt="6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 startAt="6"/>
            </a:pPr>
            <a:endParaRPr lang="en-US" dirty="0"/>
          </a:p>
          <a:p>
            <a:pPr marL="0" indent="0">
              <a:lnSpc>
                <a:spcPct val="100000"/>
              </a:lnSpc>
              <a:buNone/>
            </a:pPr>
            <a:endParaRPr lang="en-US" sz="10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 startAt="7"/>
            </a:pPr>
            <a:r>
              <a:rPr lang="en-US" dirty="0"/>
              <a:t>List of </a:t>
            </a:r>
            <a:r>
              <a:rPr lang="en-AE" b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MailboxHandle</a:t>
            </a:r>
            <a:r>
              <a:rPr lang="en-AE" dirty="0" err="1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cs typeface="Courier New" panose="02070309020205020404" pitchFamily="49" charset="0"/>
              </a:rPr>
              <a:t>’s</a:t>
            </a:r>
            <a:r>
              <a:rPr lang="en-AE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cs typeface="Courier New" panose="02070309020205020404" pitchFamily="49" charset="0"/>
              </a:rPr>
              <a:t> of all connected (or owned) mailboxes</a:t>
            </a:r>
            <a:r>
              <a:rPr lang="en-AE" b="1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dirty="0"/>
              <a:t>for each env </a:t>
            </a:r>
            <a:r>
              <a:rPr lang="en-US" sz="1800" dirty="0">
                <a:solidFill>
                  <a:srgbClr val="5C5962"/>
                </a:solidFill>
              </a:rPr>
              <a:t>(</a:t>
            </a:r>
            <a:r>
              <a:rPr lang="en-US" sz="1800" dirty="0" err="1">
                <a:solidFill>
                  <a:srgbClr val="FF0000"/>
                </a:solidFill>
              </a:rPr>
              <a:t>inc</a:t>
            </a:r>
            <a:r>
              <a:rPr lang="en-US" sz="1800" dirty="0">
                <a:solidFill>
                  <a:srgbClr val="FF0000"/>
                </a:solidFill>
              </a:rPr>
              <a:t>/</a:t>
            </a:r>
            <a:r>
              <a:rPr lang="en-US" sz="1800" dirty="0" err="1">
                <a:solidFill>
                  <a:srgbClr val="FF0000"/>
                </a:solidFill>
              </a:rPr>
              <a:t>environment_definitions.h</a:t>
            </a:r>
            <a:r>
              <a:rPr lang="en-US" sz="1800" dirty="0">
                <a:solidFill>
                  <a:srgbClr val="5C5962"/>
                </a:solidFill>
              </a:rPr>
              <a:t>)</a:t>
            </a: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 startAt="7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 startAt="7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 startAt="7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AE" dirty="0">
              <a:latin typeface="+mj-lt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A01D04F-043D-0300-FB38-AD7147617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359" y="4027413"/>
            <a:ext cx="9145276" cy="281026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B1A7CB-B224-7AAA-8E53-EA5233ADF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91</a:t>
            </a:fld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D69AF2E-319F-824A-CEA3-0EA5FE368055}"/>
              </a:ext>
            </a:extLst>
          </p:cNvPr>
          <p:cNvSpPr txBox="1">
            <a:spLocks noChangeArrowheads="1"/>
          </p:cNvSpPr>
          <p:nvPr/>
        </p:nvSpPr>
        <p:spPr>
          <a:xfrm>
            <a:off x="41956" y="10773"/>
            <a:ext cx="12131381" cy="9670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IPC#2: </a:t>
            </a:r>
            <a:r>
              <a:rPr lang="en-US" b="1" dirty="0">
                <a:solidFill>
                  <a:srgbClr val="00B050"/>
                </a:solidFill>
              </a:rPr>
              <a:t>Given</a:t>
            </a:r>
            <a:r>
              <a:rPr lang="en-US" b="1" dirty="0"/>
              <a:t> Data Structures</a:t>
            </a:r>
            <a:endParaRPr lang="en-US" altLang="ko-KR" dirty="0">
              <a:ea typeface="굴림" panose="020B0600000101010101" pitchFamily="34" charset="-127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501DA4-BF50-A4F9-099C-7EED2C160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6651" y="1718041"/>
            <a:ext cx="5858693" cy="192431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00DA057-11FE-24B4-56F1-F157046F5CC6}"/>
              </a:ext>
            </a:extLst>
          </p:cNvPr>
          <p:cNvSpPr/>
          <p:nvPr/>
        </p:nvSpPr>
        <p:spPr>
          <a:xfrm flipV="1">
            <a:off x="1971039" y="4216400"/>
            <a:ext cx="7054305" cy="10668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7892AA2-2F33-27A4-22FE-E8BC1076F8B1}"/>
              </a:ext>
            </a:extLst>
          </p:cNvPr>
          <p:cNvSpPr/>
          <p:nvPr/>
        </p:nvSpPr>
        <p:spPr bwMode="auto">
          <a:xfrm>
            <a:off x="2178349" y="6573520"/>
            <a:ext cx="1905971" cy="251390"/>
          </a:xfrm>
          <a:prstGeom prst="roundRect">
            <a:avLst/>
          </a:prstGeom>
          <a:solidFill>
            <a:srgbClr val="FF0000">
              <a:alpha val="40000"/>
            </a:srgb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BBF8229-9CE5-D87C-6625-FD1B1B63EBDF}"/>
              </a:ext>
            </a:extLst>
          </p:cNvPr>
          <p:cNvSpPr/>
          <p:nvPr/>
        </p:nvSpPr>
        <p:spPr bwMode="auto">
          <a:xfrm>
            <a:off x="5714029" y="5814642"/>
            <a:ext cx="2698451" cy="262855"/>
          </a:xfrm>
          <a:prstGeom prst="roundRect">
            <a:avLst/>
          </a:prstGeom>
          <a:solidFill>
            <a:srgbClr val="FF0000">
              <a:alpha val="40000"/>
            </a:srgb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88309C2-2EEE-4B8A-1854-195D3A5EF723}"/>
              </a:ext>
            </a:extLst>
          </p:cNvPr>
          <p:cNvSpPr/>
          <p:nvPr/>
        </p:nvSpPr>
        <p:spPr bwMode="auto">
          <a:xfrm>
            <a:off x="4621112" y="6308690"/>
            <a:ext cx="1580851" cy="262855"/>
          </a:xfrm>
          <a:prstGeom prst="roundRect">
            <a:avLst/>
          </a:prstGeom>
          <a:solidFill>
            <a:srgbClr val="FF0000">
              <a:alpha val="40000"/>
            </a:srgb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B35B03-1472-BB68-8889-F2E1CB85FF48}"/>
              </a:ext>
            </a:extLst>
          </p:cNvPr>
          <p:cNvSpPr txBox="1"/>
          <p:nvPr/>
        </p:nvSpPr>
        <p:spPr>
          <a:xfrm>
            <a:off x="9098827" y="4288135"/>
            <a:ext cx="2915285" cy="92333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91440" indent="-91440"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US" dirty="0"/>
              <a:t>Local storage for available </a:t>
            </a:r>
            <a:r>
              <a:rPr lang="en-A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MailboxHandle</a:t>
            </a:r>
            <a:r>
              <a:rPr lang="en-A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objects for this env </a:t>
            </a:r>
            <a:endParaRPr lang="en-AE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55D515B-F963-2123-3260-88510970AF64}"/>
              </a:ext>
            </a:extLst>
          </p:cNvPr>
          <p:cNvSpPr/>
          <p:nvPr/>
        </p:nvSpPr>
        <p:spPr bwMode="auto">
          <a:xfrm>
            <a:off x="5717293" y="4749800"/>
            <a:ext cx="1811267" cy="304659"/>
          </a:xfrm>
          <a:prstGeom prst="roundRect">
            <a:avLst/>
          </a:prstGeom>
          <a:solidFill>
            <a:srgbClr val="FF0000">
              <a:alpha val="40000"/>
            </a:srgb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742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20" grpId="0" animBg="1"/>
      <p:bldP spid="21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23C0B-EA95-3DA1-C809-9D8FED1B2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1CABC-06E8-8643-6A24-95C9FE23D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13791"/>
            <a:ext cx="12192000" cy="5844209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 startAt="8"/>
            </a:pPr>
            <a:r>
              <a:rPr lang="en-US" dirty="0">
                <a:latin typeface="+mj-lt"/>
              </a:rPr>
              <a:t>Max limits... </a:t>
            </a:r>
            <a:r>
              <a:rPr lang="en-US" sz="1800" dirty="0">
                <a:solidFill>
                  <a:srgbClr val="5C5962"/>
                </a:solidFill>
              </a:rPr>
              <a:t>(</a:t>
            </a:r>
            <a:r>
              <a:rPr lang="en-US" sz="1800" dirty="0" err="1">
                <a:solidFill>
                  <a:srgbClr val="FF0000"/>
                </a:solidFill>
              </a:rPr>
              <a:t>inc</a:t>
            </a:r>
            <a:r>
              <a:rPr lang="en-US" sz="1800" dirty="0">
                <a:solidFill>
                  <a:srgbClr val="FF0000"/>
                </a:solidFill>
              </a:rPr>
              <a:t>/</a:t>
            </a:r>
            <a:r>
              <a:rPr lang="en-US" sz="1800" dirty="0" err="1">
                <a:solidFill>
                  <a:srgbClr val="FF0000"/>
                </a:solidFill>
              </a:rPr>
              <a:t>ipc.h</a:t>
            </a:r>
            <a:r>
              <a:rPr lang="en-US" sz="1800" dirty="0">
                <a:solidFill>
                  <a:srgbClr val="5C5962"/>
                </a:solidFill>
              </a:rPr>
              <a:t>)</a:t>
            </a:r>
            <a:endParaRPr lang="en-US" dirty="0">
              <a:solidFill>
                <a:srgbClr val="5C5962"/>
              </a:solidFill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 startAt="8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 startAt="8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 startAt="8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 startAt="8"/>
            </a:pPr>
            <a:endParaRPr lang="en-US" dirty="0"/>
          </a:p>
          <a:p>
            <a:pPr marL="457200" lvl="0" indent="-457200">
              <a:lnSpc>
                <a:spcPct val="100000"/>
              </a:lnSpc>
              <a:buClr>
                <a:srgbClr val="4F81BD"/>
              </a:buClr>
              <a:buFont typeface="+mj-lt"/>
              <a:buAutoNum type="arabicPeriod" startAt="8"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</a:rPr>
              <a:t>Possible error codes... </a:t>
            </a:r>
            <a:r>
              <a:rPr lang="en-US" sz="1800" dirty="0">
                <a:solidFill>
                  <a:srgbClr val="5C5962"/>
                </a:solidFill>
              </a:rPr>
              <a:t>(</a:t>
            </a:r>
            <a:r>
              <a:rPr lang="en-US" sz="1800" dirty="0" err="1">
                <a:solidFill>
                  <a:srgbClr val="FF0000"/>
                </a:solidFill>
              </a:rPr>
              <a:t>inc</a:t>
            </a:r>
            <a:r>
              <a:rPr lang="en-US" sz="1800" dirty="0">
                <a:solidFill>
                  <a:srgbClr val="FF0000"/>
                </a:solidFill>
              </a:rPr>
              <a:t>/</a:t>
            </a:r>
            <a:r>
              <a:rPr lang="en-US" sz="1800" dirty="0" err="1">
                <a:solidFill>
                  <a:srgbClr val="FF0000"/>
                </a:solidFill>
              </a:rPr>
              <a:t>ipc.h</a:t>
            </a:r>
            <a:r>
              <a:rPr lang="en-US" sz="1800" dirty="0">
                <a:solidFill>
                  <a:srgbClr val="5C5962"/>
                </a:solidFill>
              </a:rPr>
              <a:t>)</a:t>
            </a:r>
            <a:endParaRPr lang="en-US" dirty="0">
              <a:solidFill>
                <a:srgbClr val="5C5962"/>
              </a:solidFill>
            </a:endParaRPr>
          </a:p>
          <a:p>
            <a:pPr marL="457200" lvl="0" indent="-457200">
              <a:lnSpc>
                <a:spcPct val="100000"/>
              </a:lnSpc>
              <a:buClr>
                <a:srgbClr val="4F81BD"/>
              </a:buClr>
              <a:buFont typeface="+mj-lt"/>
              <a:buAutoNum type="arabicPeriod" startAt="8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457200" lvl="0" indent="-457200">
              <a:lnSpc>
                <a:spcPct val="100000"/>
              </a:lnSpc>
              <a:buClr>
                <a:srgbClr val="4F81BD"/>
              </a:buClr>
              <a:buFont typeface="+mj-lt"/>
              <a:buAutoNum type="arabicPeriod" startAt="8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457200" lvl="0" indent="-457200">
              <a:lnSpc>
                <a:spcPct val="100000"/>
              </a:lnSpc>
              <a:buClr>
                <a:srgbClr val="4F81BD"/>
              </a:buClr>
              <a:buFont typeface="+mj-lt"/>
              <a:buAutoNum type="arabicPeriod" startAt="8"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457200" lvl="0" indent="-457200">
              <a:lnSpc>
                <a:spcPct val="100000"/>
              </a:lnSpc>
              <a:buClr>
                <a:srgbClr val="4F81BD"/>
              </a:buClr>
              <a:buFont typeface="+mj-lt"/>
              <a:buAutoNum type="arabicPeriod" startAt="8"/>
            </a:pPr>
            <a:endParaRPr lang="en-US" sz="10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457200" lvl="0" indent="-457200">
              <a:lnSpc>
                <a:spcPct val="100000"/>
              </a:lnSpc>
              <a:buClr>
                <a:srgbClr val="4F81BD"/>
              </a:buClr>
              <a:buFont typeface="+mj-lt"/>
              <a:buAutoNum type="arabicPeriod" startAt="8"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</a:rPr>
              <a:t>Connection types... </a:t>
            </a:r>
            <a:r>
              <a:rPr lang="en-US" sz="1800" dirty="0">
                <a:solidFill>
                  <a:srgbClr val="5C5962"/>
                </a:solidFill>
              </a:rPr>
              <a:t>(</a:t>
            </a:r>
            <a:r>
              <a:rPr lang="en-US" sz="1800" dirty="0" err="1">
                <a:solidFill>
                  <a:srgbClr val="FF0000"/>
                </a:solidFill>
              </a:rPr>
              <a:t>inc</a:t>
            </a:r>
            <a:r>
              <a:rPr lang="en-US" sz="1800" dirty="0">
                <a:solidFill>
                  <a:srgbClr val="FF0000"/>
                </a:solidFill>
              </a:rPr>
              <a:t>/</a:t>
            </a:r>
            <a:r>
              <a:rPr lang="en-US" sz="1800" dirty="0" err="1">
                <a:solidFill>
                  <a:srgbClr val="FF0000"/>
                </a:solidFill>
              </a:rPr>
              <a:t>ipc.h</a:t>
            </a:r>
            <a:r>
              <a:rPr lang="en-US" sz="1800" dirty="0">
                <a:solidFill>
                  <a:srgbClr val="5C5962"/>
                </a:solidFill>
              </a:rPr>
              <a:t>)</a:t>
            </a:r>
            <a:endParaRPr lang="en-US" dirty="0">
              <a:solidFill>
                <a:srgbClr val="5C5962"/>
              </a:solidFill>
            </a:endParaRPr>
          </a:p>
          <a:p>
            <a:pPr marL="457200" lvl="0" indent="-457200">
              <a:lnSpc>
                <a:spcPct val="100000"/>
              </a:lnSpc>
              <a:buClr>
                <a:srgbClr val="4F81BD"/>
              </a:buClr>
              <a:buFont typeface="+mj-lt"/>
              <a:buAutoNum type="arabicPeriod" startAt="8"/>
            </a:pPr>
            <a:endParaRPr lang="en-US" sz="11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 startAt="8"/>
            </a:pPr>
            <a:endParaRPr lang="en-US" sz="11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 startAt="8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 startAt="8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 startAt="8"/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 startAt="8"/>
            </a:pPr>
            <a:endParaRPr lang="en-US" sz="100" dirty="0"/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 startAt="8"/>
            </a:pPr>
            <a:endParaRPr lang="en-US" sz="11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AE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198DF9-E6D6-1F7D-CF56-76C0160A0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92</a:t>
            </a:fld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ED8D02A-768A-A61F-8927-62ED298B1B10}"/>
              </a:ext>
            </a:extLst>
          </p:cNvPr>
          <p:cNvSpPr txBox="1">
            <a:spLocks noChangeArrowheads="1"/>
          </p:cNvSpPr>
          <p:nvPr/>
        </p:nvSpPr>
        <p:spPr>
          <a:xfrm>
            <a:off x="41956" y="10773"/>
            <a:ext cx="12131381" cy="9670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IPC#2: </a:t>
            </a:r>
            <a:r>
              <a:rPr lang="en-US" b="1" dirty="0">
                <a:solidFill>
                  <a:srgbClr val="00B050"/>
                </a:solidFill>
              </a:rPr>
              <a:t>Given</a:t>
            </a:r>
            <a:r>
              <a:rPr lang="en-US" b="1" dirty="0"/>
              <a:t> Data Structures</a:t>
            </a:r>
            <a:endParaRPr lang="en-US" altLang="ko-KR" dirty="0">
              <a:ea typeface="굴림" panose="020B0600000101010101" pitchFamily="34" charset="-12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00132E7-F918-44C4-2E85-B1C1FAD81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244" y="1469266"/>
            <a:ext cx="9516803" cy="181000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D0B93FD-F290-D7A5-D9BA-3C0AF2E57377}"/>
              </a:ext>
            </a:extLst>
          </p:cNvPr>
          <p:cNvSpPr/>
          <p:nvPr/>
        </p:nvSpPr>
        <p:spPr>
          <a:xfrm>
            <a:off x="1349244" y="1724027"/>
            <a:ext cx="9493512" cy="15552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ECD4605-843B-1C4C-6A2D-97271D630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7410" y="3430778"/>
            <a:ext cx="3848637" cy="22958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ECC1499-5CAE-F961-B369-4E61EDA57A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9463" y="5786540"/>
            <a:ext cx="3286584" cy="10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40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2D466-D165-CD0B-B8D8-DD437C06F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4170F-4644-C58A-0699-A80B20382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13791"/>
            <a:ext cx="12192000" cy="5844209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b="1" dirty="0">
                <a:latin typeface="+mj-lt"/>
              </a:rPr>
              <a:t>Allocate</a:t>
            </a:r>
            <a:r>
              <a:rPr lang="en-US" dirty="0">
                <a:latin typeface="+mj-lt"/>
              </a:rPr>
              <a:t> </a:t>
            </a:r>
            <a:r>
              <a:rPr lang="en-AE" b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MailboxHandle</a:t>
            </a:r>
            <a:r>
              <a:rPr lang="en-AE" b="1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dirty="0">
                <a:latin typeface="+mj-lt"/>
              </a:rPr>
              <a:t>object from the env storage </a:t>
            </a:r>
            <a:r>
              <a:rPr lang="en-US" sz="1800" dirty="0">
                <a:solidFill>
                  <a:srgbClr val="5C5962"/>
                </a:solidFill>
              </a:rPr>
              <a:t>(</a:t>
            </a:r>
            <a:r>
              <a:rPr lang="en-US" sz="1800" dirty="0">
                <a:solidFill>
                  <a:srgbClr val="FF0000"/>
                </a:solidFill>
              </a:rPr>
              <a:t>kern/</a:t>
            </a:r>
            <a:r>
              <a:rPr lang="en-US" sz="1800" dirty="0" err="1">
                <a:solidFill>
                  <a:srgbClr val="FF0000"/>
                </a:solidFill>
              </a:rPr>
              <a:t>ipc</a:t>
            </a:r>
            <a:r>
              <a:rPr lang="en-US" sz="1800" dirty="0">
                <a:solidFill>
                  <a:srgbClr val="FF0000"/>
                </a:solidFill>
              </a:rPr>
              <a:t>/</a:t>
            </a:r>
            <a:r>
              <a:rPr lang="en-US" sz="1800" dirty="0" err="1">
                <a:solidFill>
                  <a:srgbClr val="FF0000"/>
                </a:solidFill>
              </a:rPr>
              <a:t>ipc.c</a:t>
            </a:r>
            <a:r>
              <a:rPr lang="en-US" sz="1800" dirty="0">
                <a:solidFill>
                  <a:srgbClr val="5C5962"/>
                </a:solidFill>
              </a:rPr>
              <a:t>)</a:t>
            </a:r>
            <a:endParaRPr lang="en-US" dirty="0">
              <a:solidFill>
                <a:srgbClr val="5C5962"/>
              </a:solidFill>
            </a:endParaRPr>
          </a:p>
          <a:p>
            <a:pPr marL="0" lvl="0" indent="0" algn="ctr" defTabSz="4572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en-US" dirty="0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MailboxHandle</a:t>
            </a:r>
            <a:r>
              <a:rPr lang="en-US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allocate_mailbox_handle</a:t>
            </a:r>
            <a:r>
              <a:rPr lang="en-US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Env</a:t>
            </a:r>
            <a:r>
              <a:rPr lang="en-US" b="1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e</a:t>
            </a:r>
            <a:r>
              <a:rPr lang="en-US" b="1" dirty="0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  <a:endParaRPr lang="en-US" dirty="0"/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 startAt="2"/>
            </a:pPr>
            <a:r>
              <a:rPr lang="en-US" b="1" dirty="0"/>
              <a:t>Free</a:t>
            </a:r>
            <a:r>
              <a:rPr lang="en-US" dirty="0"/>
              <a:t> </a:t>
            </a:r>
            <a:r>
              <a:rPr lang="en-AE" b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MailboxHandle</a:t>
            </a:r>
            <a:r>
              <a:rPr lang="en-AE" b="1" dirty="0">
                <a:solidFill>
                  <a:prstClr val="black">
                    <a:lumMod val="75000"/>
                    <a:lumOff val="25000"/>
                  </a:prstClr>
                </a:solidFill>
                <a:cs typeface="Courier New" panose="02070309020205020404" pitchFamily="49" charset="0"/>
              </a:rPr>
              <a:t> </a:t>
            </a:r>
            <a:r>
              <a:rPr lang="en-US" dirty="0"/>
              <a:t>object by returning it to the env storage </a:t>
            </a:r>
            <a:r>
              <a:rPr lang="en-US" sz="1800" dirty="0">
                <a:solidFill>
                  <a:srgbClr val="5C5962"/>
                </a:solidFill>
              </a:rPr>
              <a:t>(</a:t>
            </a:r>
            <a:r>
              <a:rPr lang="en-US" sz="1800" dirty="0">
                <a:solidFill>
                  <a:srgbClr val="FF0000"/>
                </a:solidFill>
              </a:rPr>
              <a:t>kern/</a:t>
            </a:r>
            <a:r>
              <a:rPr lang="en-US" sz="1800" dirty="0" err="1">
                <a:solidFill>
                  <a:srgbClr val="FF0000"/>
                </a:solidFill>
              </a:rPr>
              <a:t>ipc</a:t>
            </a:r>
            <a:r>
              <a:rPr lang="en-US" sz="1800" dirty="0">
                <a:solidFill>
                  <a:srgbClr val="FF0000"/>
                </a:solidFill>
              </a:rPr>
              <a:t>/</a:t>
            </a:r>
            <a:r>
              <a:rPr lang="en-US" sz="1800" dirty="0" err="1">
                <a:solidFill>
                  <a:srgbClr val="FF0000"/>
                </a:solidFill>
              </a:rPr>
              <a:t>ipc.c</a:t>
            </a:r>
            <a:r>
              <a:rPr lang="en-US" sz="1800" dirty="0">
                <a:solidFill>
                  <a:srgbClr val="5C5962"/>
                </a:solidFill>
              </a:rPr>
              <a:t>)</a:t>
            </a:r>
            <a:endParaRPr lang="en-US" sz="100" dirty="0"/>
          </a:p>
          <a:p>
            <a:pPr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535353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free_mailbox_handle</a:t>
            </a:r>
            <a:r>
              <a:rPr lang="en-US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Env</a:t>
            </a:r>
            <a:r>
              <a:rPr lang="en-US" b="1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e</a:t>
            </a:r>
            <a:r>
              <a:rPr lang="en-US" b="1" dirty="0">
                <a:solidFill>
                  <a:srgbClr val="A36622"/>
                </a:solidFill>
                <a:latin typeface="Consolas" panose="020B0609020204030204" pitchFamily="49" charset="0"/>
              </a:rPr>
              <a:t>,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MailboxHandle</a:t>
            </a:r>
            <a:r>
              <a:rPr lang="en-US" b="1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mailboxHandle</a:t>
            </a:r>
            <a:r>
              <a:rPr lang="en-US" b="1" dirty="0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</a:p>
          <a:p>
            <a:pPr marL="457200" lvl="0" indent="-4572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4F81BD"/>
              </a:buClr>
              <a:buFont typeface="+mj-lt"/>
              <a:buAutoNum type="arabicPeriod" startAt="3"/>
            </a:pPr>
            <a:r>
              <a:rPr lang="en-US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Create/Delete 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</a:rPr>
              <a:t>mailbox </a:t>
            </a:r>
            <a:r>
              <a:rPr lang="en-US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[USER SIDE] </a:t>
            </a:r>
            <a:r>
              <a:rPr lang="en-US" sz="1800" dirty="0">
                <a:solidFill>
                  <a:srgbClr val="5C5962"/>
                </a:solidFill>
              </a:rPr>
              <a:t>(</a:t>
            </a:r>
            <a:r>
              <a:rPr lang="en-US" sz="1800" dirty="0">
                <a:solidFill>
                  <a:srgbClr val="FF0000"/>
                </a:solidFill>
              </a:rPr>
              <a:t>lib/</a:t>
            </a:r>
            <a:r>
              <a:rPr lang="en-US" sz="1800" dirty="0" err="1">
                <a:solidFill>
                  <a:srgbClr val="FF0000"/>
                </a:solidFill>
              </a:rPr>
              <a:t>ipc.c</a:t>
            </a:r>
            <a:r>
              <a:rPr lang="en-US" sz="1800" dirty="0">
                <a:solidFill>
                  <a:srgbClr val="5C5962"/>
                </a:solidFill>
              </a:rPr>
              <a:t>)</a:t>
            </a:r>
            <a:endParaRPr lang="en-US" sz="1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algn="ctr"/>
            <a:r>
              <a:rPr lang="en-US" dirty="0">
                <a:solidFill>
                  <a:srgbClr val="535353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ipc_create_mailbox</a:t>
            </a:r>
            <a:r>
              <a:rPr lang="en-US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535353"/>
                </a:solidFill>
                <a:latin typeface="Consolas" panose="020B0609020204030204" pitchFamily="49" charset="0"/>
              </a:rPr>
              <a:t>char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mailboxName</a:t>
            </a:r>
            <a:r>
              <a:rPr lang="en-US" b="1" dirty="0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</a:p>
          <a:p>
            <a:pPr algn="ctr"/>
            <a:r>
              <a:rPr lang="en-US" dirty="0">
                <a:solidFill>
                  <a:srgbClr val="535353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ipc_delete_mailbox</a:t>
            </a:r>
            <a:r>
              <a:rPr lang="en-US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535353"/>
                </a:solidFill>
                <a:latin typeface="Consolas" panose="020B0609020204030204" pitchFamily="49" charset="0"/>
              </a:rPr>
              <a:t>uint32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mailboxHandle</a:t>
            </a:r>
            <a:r>
              <a:rPr lang="en-US" b="1" dirty="0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</a:p>
          <a:p>
            <a:pPr marL="457200" lvl="0" indent="-4572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4F81BD"/>
              </a:buClr>
              <a:buFont typeface="+mj-lt"/>
              <a:buAutoNum type="arabicPeriod" startAt="4"/>
            </a:pPr>
            <a:r>
              <a:rPr lang="en-US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Connect/Disconnect 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</a:rPr>
              <a:t>to/from mailbox </a:t>
            </a:r>
            <a:r>
              <a:rPr lang="en-US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[USER SIDE] </a:t>
            </a:r>
            <a:r>
              <a:rPr lang="en-US" sz="1800" dirty="0">
                <a:solidFill>
                  <a:srgbClr val="5C5962"/>
                </a:solidFill>
              </a:rPr>
              <a:t>(</a:t>
            </a:r>
            <a:r>
              <a:rPr lang="en-US" sz="1800" dirty="0">
                <a:solidFill>
                  <a:srgbClr val="FF0000"/>
                </a:solidFill>
              </a:rPr>
              <a:t>lib/</a:t>
            </a:r>
            <a:r>
              <a:rPr lang="en-US" sz="1800" dirty="0" err="1">
                <a:solidFill>
                  <a:srgbClr val="FF0000"/>
                </a:solidFill>
              </a:rPr>
              <a:t>ipc.c</a:t>
            </a:r>
            <a:r>
              <a:rPr lang="en-US" sz="1800" dirty="0">
                <a:solidFill>
                  <a:srgbClr val="5C5962"/>
                </a:solidFill>
              </a:rPr>
              <a:t>)</a:t>
            </a:r>
            <a:endParaRPr lang="en-US" sz="1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lvl="0" algn="ctr">
              <a:buClr>
                <a:srgbClr val="4F81BD"/>
              </a:buClr>
            </a:pPr>
            <a:r>
              <a:rPr lang="en-US" dirty="0">
                <a:solidFill>
                  <a:srgbClr val="535353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ipc_connect</a:t>
            </a:r>
            <a:r>
              <a:rPr lang="en-US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535353"/>
                </a:solidFill>
                <a:latin typeface="Consolas" panose="020B0609020204030204" pitchFamily="49" charset="0"/>
              </a:rPr>
              <a:t>uint32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ownerID</a:t>
            </a:r>
            <a:r>
              <a:rPr lang="en-US" b="1" dirty="0">
                <a:solidFill>
                  <a:srgbClr val="A36622"/>
                </a:solidFill>
                <a:latin typeface="Consolas" panose="020B0609020204030204" pitchFamily="49" charset="0"/>
              </a:rPr>
              <a:t>,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535353"/>
                </a:solidFill>
                <a:latin typeface="Consolas" panose="020B0609020204030204" pitchFamily="49" charset="0"/>
              </a:rPr>
              <a:t>char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mailboxName</a:t>
            </a:r>
            <a:r>
              <a:rPr lang="en-US" b="1" dirty="0">
                <a:solidFill>
                  <a:srgbClr val="A36622"/>
                </a:solidFill>
                <a:latin typeface="Consolas" panose="020B0609020204030204" pitchFamily="49" charset="0"/>
              </a:rPr>
              <a:t>,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535353"/>
                </a:solidFill>
                <a:latin typeface="Consolas" panose="020B0609020204030204" pitchFamily="49" charset="0"/>
              </a:rPr>
              <a:t>uint8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connectType</a:t>
            </a:r>
            <a:r>
              <a:rPr lang="en-US" b="1" dirty="0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</a:p>
          <a:p>
            <a:pPr lvl="0" algn="ctr">
              <a:buClr>
                <a:srgbClr val="4F81BD"/>
              </a:buClr>
            </a:pPr>
            <a:r>
              <a:rPr lang="en-US" dirty="0">
                <a:solidFill>
                  <a:srgbClr val="535353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ipc_disconnect</a:t>
            </a:r>
            <a:r>
              <a:rPr lang="en-US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535353"/>
                </a:solidFill>
                <a:latin typeface="Consolas" panose="020B0609020204030204" pitchFamily="49" charset="0"/>
              </a:rPr>
              <a:t>uint32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mailboxHandle</a:t>
            </a:r>
            <a:r>
              <a:rPr lang="en-US" b="1" dirty="0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3BA1B4-3DC5-0165-9362-85A421879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93</a:t>
            </a:fld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0D03197-CCDD-79A2-34F7-A1DD5AA11A71}"/>
              </a:ext>
            </a:extLst>
          </p:cNvPr>
          <p:cNvSpPr txBox="1">
            <a:spLocks noChangeArrowheads="1"/>
          </p:cNvSpPr>
          <p:nvPr/>
        </p:nvSpPr>
        <p:spPr>
          <a:xfrm>
            <a:off x="41956" y="10773"/>
            <a:ext cx="12131381" cy="9670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IPC#2: </a:t>
            </a:r>
            <a:r>
              <a:rPr lang="en-US" b="1" dirty="0">
                <a:solidFill>
                  <a:srgbClr val="00B050"/>
                </a:solidFill>
              </a:rPr>
              <a:t>Given</a:t>
            </a:r>
            <a:r>
              <a:rPr lang="en-US" b="1" dirty="0"/>
              <a:t> Functions</a:t>
            </a:r>
            <a:endParaRPr lang="en-US" altLang="ko-KR" dirty="0">
              <a:ea typeface="굴림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3116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937EC-6CEC-4A6B-9297-A9CB8BDAC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1DB83B-A50B-78B4-4C04-39F40CE19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0AD7CF-F0A2-4383-A038-D82EAAF254E2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94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76C967D-102D-DF57-2BD5-0E5800E80332}"/>
              </a:ext>
            </a:extLst>
          </p:cNvPr>
          <p:cNvSpPr txBox="1">
            <a:spLocks noChangeArrowheads="1"/>
          </p:cNvSpPr>
          <p:nvPr/>
        </p:nvSpPr>
        <p:spPr>
          <a:xfrm>
            <a:off x="30309" y="610213"/>
            <a:ext cx="12131381" cy="9670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IPC#2: </a:t>
            </a:r>
            <a:r>
              <a:rPr lang="en-US" b="1" dirty="0">
                <a:solidFill>
                  <a:srgbClr val="FF0000"/>
                </a:solidFill>
              </a:rPr>
              <a:t>IMPORTANT</a:t>
            </a:r>
            <a:r>
              <a:rPr lang="en-US" b="1" dirty="0"/>
              <a:t> NOTE</a:t>
            </a:r>
            <a:endParaRPr lang="en-US" altLang="ko-KR" dirty="0">
              <a:ea typeface="굴림" panose="020B0600000101010101" pitchFamily="34" charset="-127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A2B7FE6-48B3-C94D-22AB-96301BDB43A6}"/>
              </a:ext>
            </a:extLst>
          </p:cNvPr>
          <p:cNvSpPr/>
          <p:nvPr/>
        </p:nvSpPr>
        <p:spPr>
          <a:xfrm>
            <a:off x="1066799" y="2391453"/>
            <a:ext cx="10058400" cy="280743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4400" b="1">
                <a:solidFill>
                  <a:srgbClr val="FF0000"/>
                </a:solidFill>
              </a:rPr>
              <a:t>REMEMBER</a:t>
            </a:r>
          </a:p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en-US" sz="3200" b="1"/>
              <a:t>During your solution, any SHARED data need to be PROTECTED by critical section via LOCKS</a:t>
            </a:r>
            <a:endParaRPr lang="en-AE" sz="3200" b="1"/>
          </a:p>
        </p:txBody>
      </p:sp>
    </p:spTree>
    <p:extLst>
      <p:ext uri="{BB962C8B-B14F-4D97-AF65-F5344CB8AC3E}">
        <p14:creationId xmlns:p14="http://schemas.microsoft.com/office/powerpoint/2010/main" val="1453381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CB852-528D-350C-630F-338226D59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B9085-BA33-3E81-0A1F-91E1B19C7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#1:</a:t>
            </a:r>
            <a:r>
              <a:rPr lang="en-US" dirty="0"/>
              <a:t> Create Mailbox </a:t>
            </a:r>
            <a:r>
              <a:rPr kumimoji="0" lang="en-US" sz="3600" b="0" i="0" u="none" strike="noStrike" kern="1200" cap="none" spc="-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mbria" panose="02040503050406030204"/>
                <a:ea typeface="+mj-ea"/>
                <a:cs typeface="+mj-cs"/>
              </a:rPr>
              <a:t>[KERNEL SIDE]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B007D-4D35-0EF9-B16D-994F5745A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312850" cy="5012266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 algn="ctr"/>
            <a:r>
              <a:rPr lang="en-US" sz="2400" dirty="0">
                <a:solidFill>
                  <a:srgbClr val="535353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sys_ipc_create_mailbox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535353"/>
                </a:solidFill>
                <a:latin typeface="Consolas" panose="020B0609020204030204" pitchFamily="49" charset="0"/>
              </a:rPr>
              <a:t>char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mailboxName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</a:p>
          <a:p>
            <a:pPr algn="just">
              <a:lnSpc>
                <a:spcPct val="100000"/>
              </a:lnSpc>
            </a:pPr>
            <a:r>
              <a:rPr lang="en-US" sz="2400" b="1" dirty="0"/>
              <a:t>Description:</a:t>
            </a:r>
          </a:p>
          <a:p>
            <a:pPr marL="658368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</a:rPr>
              <a:t>Allocate</a:t>
            </a:r>
            <a:r>
              <a:rPr lang="en-US" sz="2000" dirty="0">
                <a:solidFill>
                  <a:schemeClr val="tx1"/>
                </a:solidFill>
              </a:rPr>
              <a:t> a </a:t>
            </a:r>
            <a:r>
              <a:rPr lang="en-US" sz="2000" b="1" dirty="0">
                <a:solidFill>
                  <a:schemeClr val="tx1"/>
                </a:solidFill>
              </a:rPr>
              <a:t>new 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Mailbox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and a </a:t>
            </a:r>
            <a:r>
              <a:rPr lang="en-US" sz="2000" b="1" dirty="0">
                <a:solidFill>
                  <a:schemeClr val="tx1"/>
                </a:solidFill>
              </a:rPr>
              <a:t>new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MailboxHandle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for the given env</a:t>
            </a:r>
            <a:endParaRPr lang="en-US" sz="21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658368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</a:rPr>
              <a:t>Initialize</a:t>
            </a:r>
            <a:r>
              <a:rPr lang="en-US" sz="2000" dirty="0">
                <a:solidFill>
                  <a:schemeClr val="tx1"/>
                </a:solidFill>
              </a:rPr>
              <a:t> their fields </a:t>
            </a:r>
          </a:p>
          <a:p>
            <a:pPr marL="658368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</a:rPr>
              <a:t>Add</a:t>
            </a:r>
            <a:r>
              <a:rPr lang="en-US" sz="2000" dirty="0">
                <a:solidFill>
                  <a:schemeClr val="tx1"/>
                </a:solidFill>
              </a:rPr>
              <a:t> each one to the corresponding list (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Mailbox </a:t>
            </a:r>
            <a:r>
              <a:rPr lang="en-US" sz="2000" dirty="0">
                <a:solidFill>
                  <a:srgbClr val="000000"/>
                </a:solidFill>
                <a:latin typeface="+mj-lt"/>
                <a:sym typeface="Wingdings" panose="05000000000000000000" pitchFamily="2" charset="2"/>
              </a:rPr>
              <a:t>at Kernel,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MailboxHandle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sym typeface="Wingdings" panose="05000000000000000000" pitchFamily="2" charset="2"/>
              </a:rPr>
              <a:t>at Env)</a:t>
            </a:r>
          </a:p>
          <a:p>
            <a:pPr marL="201168" lvl="1" indent="0" algn="just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sym typeface="Wingdings" panose="05000000000000000000" pitchFamily="2" charset="2"/>
              </a:rPr>
              <a:t>Return: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If success: handle (i.e. </a:t>
            </a:r>
            <a:r>
              <a:rPr lang="en-US" b="1" dirty="0"/>
              <a:t>address </a:t>
            </a:r>
            <a:r>
              <a:rPr lang="en-US" dirty="0"/>
              <a:t>of the allocated handle after </a:t>
            </a:r>
            <a:r>
              <a:rPr lang="en-US" b="1" dirty="0"/>
              <a:t>masking-out </a:t>
            </a:r>
            <a:r>
              <a:rPr lang="en-US" dirty="0"/>
              <a:t>its </a:t>
            </a:r>
            <a:r>
              <a:rPr lang="en-US" b="1" dirty="0" err="1"/>
              <a:t>msb</a:t>
            </a:r>
            <a:r>
              <a:rPr lang="en-US" b="1" dirty="0"/>
              <a:t> </a:t>
            </a:r>
            <a:r>
              <a:rPr lang="en-US" dirty="0"/>
              <a:t>to make it +</a:t>
            </a:r>
            <a:r>
              <a:rPr lang="en-US" dirty="0" err="1"/>
              <a:t>ve</a:t>
            </a:r>
            <a:r>
              <a:rPr lang="en-US" dirty="0"/>
              <a:t>)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Consolas" panose="020B0609020204030204" pitchFamily="49" charset="0"/>
              </a:rPr>
              <a:t>E_MB_EXIST</a:t>
            </a:r>
            <a:r>
              <a:rPr lang="en-US" dirty="0">
                <a:solidFill>
                  <a:srgbClr val="000000"/>
                </a:solidFill>
                <a:sym typeface="Wingdings" panose="05000000000000000000" pitchFamily="2" charset="2"/>
              </a:rPr>
              <a:t>: if mailbox exists in the list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Consolas" panose="020B0609020204030204" pitchFamily="49" charset="0"/>
              </a:rPr>
              <a:t>E_MB_LIST_FULL</a:t>
            </a:r>
            <a:r>
              <a:rPr lang="en-US" dirty="0">
                <a:solidFill>
                  <a:srgbClr val="000000"/>
                </a:solidFill>
                <a:sym typeface="Wingdings" panose="05000000000000000000" pitchFamily="2" charset="2"/>
              </a:rPr>
              <a:t>: if mailbox list is full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Consolas" panose="020B0609020204030204" pitchFamily="49" charset="0"/>
              </a:rPr>
              <a:t>E_MB_HANDLES_FULL</a:t>
            </a:r>
            <a:r>
              <a:rPr lang="en-US" dirty="0">
                <a:solidFill>
                  <a:srgbClr val="000000"/>
                </a:solidFill>
                <a:sym typeface="Wingdings" panose="05000000000000000000" pitchFamily="2" charset="2"/>
              </a:rPr>
              <a:t>: if list of handles for this env is full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Consolas" panose="020B0609020204030204" pitchFamily="49" charset="0"/>
              </a:rPr>
              <a:t>E_NO_MEM</a:t>
            </a:r>
            <a:r>
              <a:rPr lang="en-US" dirty="0">
                <a:solidFill>
                  <a:srgbClr val="000000"/>
                </a:solidFill>
                <a:sym typeface="Wingdings" panose="05000000000000000000" pitchFamily="2" charset="2"/>
              </a:rPr>
              <a:t>: if failed to allocate a new mailbox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7A65DC-4887-6CA1-661D-EB656851F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0AD7CF-F0A2-4383-A038-D82EAAF254E2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95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933DD69-B169-73B6-1EE5-EAEA62D5C4D8}"/>
              </a:ext>
            </a:extLst>
          </p:cNvPr>
          <p:cNvSpPr txBox="1">
            <a:spLocks noChangeArrowheads="1"/>
          </p:cNvSpPr>
          <p:nvPr/>
        </p:nvSpPr>
        <p:spPr>
          <a:xfrm>
            <a:off x="41956" y="10773"/>
            <a:ext cx="12131381" cy="9670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IPC#2: </a:t>
            </a:r>
            <a:r>
              <a:rPr lang="en-US" b="1" dirty="0">
                <a:solidFill>
                  <a:srgbClr val="FF0000"/>
                </a:solidFill>
              </a:rPr>
              <a:t>Required</a:t>
            </a:r>
            <a:r>
              <a:rPr lang="en-US" b="1" dirty="0"/>
              <a:t> Functions</a:t>
            </a:r>
            <a:endParaRPr lang="en-US" altLang="ko-KR" dirty="0">
              <a:ea typeface="굴림" panose="020B0600000101010101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274F52-292F-F3B6-54C4-6BD6FAB0B576}"/>
              </a:ext>
            </a:extLst>
          </p:cNvPr>
          <p:cNvSpPr txBox="1"/>
          <p:nvPr/>
        </p:nvSpPr>
        <p:spPr>
          <a:xfrm>
            <a:off x="9418320" y="1253654"/>
            <a:ext cx="1737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kern/</a:t>
            </a:r>
            <a:r>
              <a:rPr lang="en-US" dirty="0" err="1">
                <a:solidFill>
                  <a:srgbClr val="FF0000"/>
                </a:solidFill>
              </a:rPr>
              <a:t>ipc</a:t>
            </a:r>
            <a:r>
              <a:rPr lang="en-US" dirty="0">
                <a:solidFill>
                  <a:srgbClr val="FF0000"/>
                </a:solidFill>
              </a:rPr>
              <a:t>/</a:t>
            </a:r>
            <a:r>
              <a:rPr lang="en-US" dirty="0" err="1">
                <a:solidFill>
                  <a:srgbClr val="FF0000"/>
                </a:solidFill>
              </a:rPr>
              <a:t>ipc.c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430782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FD24D-B871-5596-F47D-1C4897D84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386DE-53AC-A9A0-0B51-BB224B803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#2:</a:t>
            </a:r>
            <a:r>
              <a:rPr lang="en-US" dirty="0"/>
              <a:t> Delete Mailbox </a:t>
            </a:r>
            <a:r>
              <a:rPr lang="en-US" sz="3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[KERNEL SIDE]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3830A-F150-DABD-9FA2-DE8D7D449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312850" cy="5012266"/>
          </a:xfrm>
          <a:solidFill>
            <a:schemeClr val="bg1"/>
          </a:solidFill>
        </p:spPr>
        <p:txBody>
          <a:bodyPr>
            <a:normAutofit fontScale="92500"/>
          </a:bodyPr>
          <a:lstStyle/>
          <a:p>
            <a:pPr algn="ctr"/>
            <a:r>
              <a:rPr lang="nn-NO" sz="2400" dirty="0">
                <a:solidFill>
                  <a:srgbClr val="535353"/>
                </a:solidFill>
                <a:latin typeface="Consolas" panose="020B0609020204030204" pitchFamily="49" charset="0"/>
              </a:rPr>
              <a:t>int</a:t>
            </a:r>
            <a:r>
              <a:rPr lang="nn-NO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sys_ipc_delete_mailbox</a:t>
            </a:r>
            <a:r>
              <a:rPr lang="nn-NO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nn-NO" sz="2400" b="1" dirty="0">
                <a:solidFill>
                  <a:srgbClr val="535353"/>
                </a:solidFill>
                <a:latin typeface="Consolas" panose="020B0609020204030204" pitchFamily="49" charset="0"/>
              </a:rPr>
              <a:t>uint32</a:t>
            </a:r>
            <a:r>
              <a:rPr lang="nn-NO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mailboxHandle</a:t>
            </a:r>
            <a:r>
              <a:rPr lang="nn-NO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400" b="1" dirty="0"/>
              <a:t>Description:</a:t>
            </a:r>
          </a:p>
          <a:p>
            <a:pPr marL="658368" lvl="1" indent="-457200" algn="just">
              <a:lnSpc>
                <a:spcPct val="12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</a:rPr>
              <a:t>Get</a:t>
            </a:r>
            <a:r>
              <a:rPr lang="en-US" sz="2000" dirty="0">
                <a:solidFill>
                  <a:schemeClr val="tx1"/>
                </a:solidFill>
              </a:rPr>
              <a:t> mailbox object using its handle (use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ipc_get_mailbox</a:t>
            </a:r>
            <a:r>
              <a:rPr lang="en-US" sz="2000" dirty="0">
                <a:solidFill>
                  <a:schemeClr val="tx1"/>
                </a:solidFill>
              </a:rPr>
              <a:t>())</a:t>
            </a:r>
          </a:p>
          <a:p>
            <a:pPr marL="658368" lvl="1" indent="-457200" algn="just">
              <a:lnSpc>
                <a:spcPct val="12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</a:rPr>
              <a:t>Destroy</a:t>
            </a:r>
            <a:r>
              <a:rPr lang="en-US" sz="2000" dirty="0">
                <a:solidFill>
                  <a:schemeClr val="tx1"/>
                </a:solidFill>
              </a:rPr>
              <a:t> all messages in the queue</a:t>
            </a:r>
          </a:p>
          <a:p>
            <a:pPr marL="658368" lvl="1" indent="-457200" algn="just">
              <a:lnSpc>
                <a:spcPct val="12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</a:rPr>
              <a:t>Unregister</a:t>
            </a:r>
            <a:r>
              <a:rPr lang="en-US" sz="2000" dirty="0">
                <a:solidFill>
                  <a:schemeClr val="tx1"/>
                </a:solidFill>
              </a:rPr>
              <a:t> (disconnect) all registered senders &amp; receivers by removing this mailbox from their list of handles (</a:t>
            </a:r>
            <a:r>
              <a:rPr lang="en-US" sz="1900" dirty="0">
                <a:solidFill>
                  <a:schemeClr val="tx1"/>
                </a:solidFill>
              </a:rPr>
              <a:t>Hints: Use </a:t>
            </a: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envid2env</a:t>
            </a:r>
            <a:r>
              <a:rPr lang="en-US" sz="1900" dirty="0">
                <a:solidFill>
                  <a:schemeClr val="tx1"/>
                </a:solidFill>
              </a:rPr>
              <a:t>(). Use </a:t>
            </a:r>
            <a:r>
              <a:rPr lang="en-US" sz="1900" dirty="0" err="1">
                <a:solidFill>
                  <a:schemeClr val="tx1"/>
                </a:solidFill>
                <a:latin typeface="Consolas" panose="020B0609020204030204" pitchFamily="49" charset="0"/>
              </a:rPr>
              <a:t>free_mailbox_handle</a:t>
            </a:r>
            <a:r>
              <a:rPr lang="en-US" sz="1900" dirty="0">
                <a:solidFill>
                  <a:schemeClr val="tx1"/>
                </a:solidFill>
              </a:rPr>
              <a:t>())</a:t>
            </a:r>
          </a:p>
          <a:p>
            <a:pPr marL="658368" lvl="1" indent="-457200" algn="just">
              <a:lnSpc>
                <a:spcPct val="12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</a:rPr>
              <a:t>Send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MSG_SEND_INV_MB </a:t>
            </a:r>
            <a:r>
              <a:rPr lang="en-US" sz="2000" dirty="0">
                <a:solidFill>
                  <a:schemeClr val="tx1"/>
                </a:solidFill>
              </a:rPr>
              <a:t>to all blocked senders at their local mailboxes</a:t>
            </a:r>
          </a:p>
          <a:p>
            <a:pPr marL="658368" lvl="1" indent="-457200" algn="just">
              <a:lnSpc>
                <a:spcPct val="12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</a:rPr>
              <a:t>Send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MSG_RCV_INV_MB </a:t>
            </a:r>
            <a:r>
              <a:rPr lang="en-US" sz="2000" dirty="0">
                <a:solidFill>
                  <a:schemeClr val="tx1"/>
                </a:solidFill>
              </a:rPr>
              <a:t>to all blocked receivers at their local mailboxes</a:t>
            </a:r>
          </a:p>
          <a:p>
            <a:pPr marL="658368" lvl="1" indent="-457200" algn="just">
              <a:lnSpc>
                <a:spcPct val="12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</a:rPr>
              <a:t>Awaken</a:t>
            </a:r>
            <a:r>
              <a:rPr lang="en-US" sz="2000" dirty="0">
                <a:solidFill>
                  <a:schemeClr val="tx1"/>
                </a:solidFill>
              </a:rPr>
              <a:t> all blocked senders and receivers (if any)</a:t>
            </a:r>
          </a:p>
          <a:p>
            <a:pPr marL="658368" lvl="1" indent="-457200" algn="just">
              <a:lnSpc>
                <a:spcPct val="12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</a:rPr>
              <a:t>Remove</a:t>
            </a:r>
            <a:r>
              <a:rPr lang="en-US" sz="2000" dirty="0">
                <a:solidFill>
                  <a:schemeClr val="tx1"/>
                </a:solidFill>
              </a:rPr>
              <a:t> mailbox from the list &amp; </a:t>
            </a:r>
            <a:r>
              <a:rPr lang="en-US" sz="2000" b="1" dirty="0">
                <a:solidFill>
                  <a:schemeClr val="tx1"/>
                </a:solidFill>
              </a:rPr>
              <a:t>Reset </a:t>
            </a:r>
            <a:r>
              <a:rPr lang="en-US" sz="2000" dirty="0">
                <a:solidFill>
                  <a:schemeClr val="tx1"/>
                </a:solidFill>
              </a:rPr>
              <a:t>its members (name, </a:t>
            </a:r>
            <a:r>
              <a:rPr lang="en-US" sz="2000" dirty="0" err="1">
                <a:solidFill>
                  <a:schemeClr val="tx1"/>
                </a:solidFill>
              </a:rPr>
              <a:t>ownerID</a:t>
            </a:r>
            <a:r>
              <a:rPr lang="en-US" sz="2000" dirty="0">
                <a:solidFill>
                  <a:schemeClr val="tx1"/>
                </a:solidFill>
              </a:rPr>
              <a:t>,...)</a:t>
            </a:r>
          </a:p>
          <a:p>
            <a:pPr marL="658368" lvl="1" indent="-457200" algn="just">
              <a:lnSpc>
                <a:spcPct val="12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</a:rPr>
              <a:t>Delete</a:t>
            </a:r>
            <a:r>
              <a:rPr lang="en-US" sz="2000" dirty="0">
                <a:solidFill>
                  <a:schemeClr val="tx1"/>
                </a:solidFill>
              </a:rPr>
              <a:t> its object</a:t>
            </a:r>
            <a:endParaRPr lang="en-US" sz="2400" b="1" dirty="0"/>
          </a:p>
          <a:p>
            <a:pPr marL="201168" lvl="1" indent="0" algn="just">
              <a:lnSpc>
                <a:spcPct val="120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: 0 on success. </a:t>
            </a:r>
            <a:r>
              <a:rPr lang="en-US" dirty="0">
                <a:latin typeface="Consolas" panose="020B0609020204030204" pitchFamily="49" charset="0"/>
              </a:rPr>
              <a:t>E_MB_NOT_EXIST </a:t>
            </a:r>
            <a:r>
              <a:rPr lang="en-US" dirty="0"/>
              <a:t>if mailbox handle not exist. </a:t>
            </a:r>
            <a:r>
              <a:rPr lang="en-US" dirty="0">
                <a:latin typeface="Consolas" panose="020B0609020204030204" pitchFamily="49" charset="0"/>
              </a:rPr>
              <a:t>E_MB_INV_OWNER </a:t>
            </a:r>
            <a:r>
              <a:rPr lang="en-US" dirty="0"/>
              <a:t>if invalid owner</a:t>
            </a:r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971A55-A61A-1736-04FF-6FED0BF68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0AD7CF-F0A2-4383-A038-D82EAAF254E2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96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E714CEC-042D-29B6-9851-34715CF9A7AA}"/>
              </a:ext>
            </a:extLst>
          </p:cNvPr>
          <p:cNvSpPr txBox="1">
            <a:spLocks noChangeArrowheads="1"/>
          </p:cNvSpPr>
          <p:nvPr/>
        </p:nvSpPr>
        <p:spPr>
          <a:xfrm>
            <a:off x="41956" y="10773"/>
            <a:ext cx="12131381" cy="9670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IPC#2: </a:t>
            </a:r>
            <a:r>
              <a:rPr lang="en-US" b="1" dirty="0">
                <a:solidFill>
                  <a:srgbClr val="FF0000"/>
                </a:solidFill>
              </a:rPr>
              <a:t>Required</a:t>
            </a:r>
            <a:r>
              <a:rPr lang="en-US" b="1" dirty="0"/>
              <a:t> Functions</a:t>
            </a:r>
            <a:endParaRPr lang="en-US" altLang="ko-KR" dirty="0">
              <a:ea typeface="굴림" panose="020B0600000101010101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8A3091-43D0-5B0F-B65B-0A467276A3C8}"/>
              </a:ext>
            </a:extLst>
          </p:cNvPr>
          <p:cNvSpPr txBox="1"/>
          <p:nvPr/>
        </p:nvSpPr>
        <p:spPr>
          <a:xfrm>
            <a:off x="9469120" y="1253654"/>
            <a:ext cx="1686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kern/</a:t>
            </a:r>
            <a:r>
              <a:rPr lang="en-US" sz="1800" dirty="0" err="1">
                <a:solidFill>
                  <a:srgbClr val="FF0000"/>
                </a:solidFill>
              </a:rPr>
              <a:t>ipc</a:t>
            </a:r>
            <a:r>
              <a:rPr lang="en-US" sz="1800" dirty="0">
                <a:solidFill>
                  <a:srgbClr val="FF0000"/>
                </a:solidFill>
              </a:rPr>
              <a:t>/</a:t>
            </a:r>
            <a:r>
              <a:rPr lang="en-US" sz="1800" dirty="0" err="1">
                <a:solidFill>
                  <a:srgbClr val="FF0000"/>
                </a:solidFill>
              </a:rPr>
              <a:t>ipc.c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811615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EF667-A8AD-2043-1AD3-4F6CC19F4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9742E-0F96-994C-32FA-F814D9CC3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#3:</a:t>
            </a:r>
            <a:r>
              <a:rPr lang="en-US" dirty="0"/>
              <a:t> Connect Mailbox </a:t>
            </a:r>
            <a:r>
              <a:rPr lang="en-US" sz="3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[KERNEL SIDE]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53962-D3C3-B8CD-070F-4F98D81BE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312850" cy="5012266"/>
          </a:xfrm>
          <a:solidFill>
            <a:schemeClr val="bg1"/>
          </a:solidFill>
        </p:spPr>
        <p:txBody>
          <a:bodyPr>
            <a:normAutofit fontScale="9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535353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sys_ipc_connect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535353"/>
                </a:solidFill>
                <a:latin typeface="Consolas" panose="020B0609020204030204" pitchFamily="49" charset="0"/>
              </a:rPr>
              <a:t>uint32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ownerID</a:t>
            </a:r>
            <a:r>
              <a:rPr lang="en-US" sz="2400" b="1" dirty="0">
                <a:solidFill>
                  <a:srgbClr val="A36622"/>
                </a:solidFill>
                <a:latin typeface="Consolas" panose="020B0609020204030204" pitchFamily="49" charset="0"/>
              </a:rPr>
              <a:t>,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535353"/>
                </a:solidFill>
                <a:latin typeface="Consolas" panose="020B0609020204030204" pitchFamily="49" charset="0"/>
              </a:rPr>
              <a:t>char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mailboxName</a:t>
            </a:r>
            <a:r>
              <a:rPr lang="en-US" sz="2400" b="1" dirty="0">
                <a:solidFill>
                  <a:srgbClr val="A36622"/>
                </a:solidFill>
                <a:latin typeface="Consolas" panose="020B0609020204030204" pitchFamily="49" charset="0"/>
              </a:rPr>
              <a:t>,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535353"/>
                </a:solidFill>
                <a:latin typeface="Consolas" panose="020B0609020204030204" pitchFamily="49" charset="0"/>
              </a:rPr>
              <a:t>uint8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connectType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400" b="1" dirty="0"/>
              <a:t>Description:</a:t>
            </a:r>
          </a:p>
          <a:p>
            <a:pPr marL="658368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Search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 the Mailbox List for the given name &amp; owner</a:t>
            </a:r>
          </a:p>
          <a:p>
            <a:pPr marL="658368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Register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 the env in the corresponding array of mailbox (according to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connectType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)</a:t>
            </a:r>
          </a:p>
          <a:p>
            <a:pPr marL="658368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Register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 the mailbox (its VA) and connection type in the list of handles of the current env</a:t>
            </a:r>
          </a:p>
          <a:p>
            <a:pPr lvl="3" algn="just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+mj-lt"/>
              </a:rPr>
              <a:t>Hint: use 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</a:rPr>
              <a:t>allocate_mailbox_handle</a:t>
            </a:r>
            <a:r>
              <a:rPr lang="en-US" sz="1800" dirty="0">
                <a:solidFill>
                  <a:schemeClr val="tx1"/>
                </a:solidFill>
                <a:latin typeface="+mj-lt"/>
              </a:rPr>
              <a:t>()</a:t>
            </a:r>
          </a:p>
          <a:p>
            <a:pPr marL="201168" lvl="1" indent="0" algn="just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sym typeface="Wingdings" panose="05000000000000000000" pitchFamily="2" charset="2"/>
              </a:rPr>
              <a:t>Return: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If success: handle (i.e. </a:t>
            </a:r>
            <a:r>
              <a:rPr lang="en-US" b="1" dirty="0"/>
              <a:t>address </a:t>
            </a:r>
            <a:r>
              <a:rPr lang="en-US" dirty="0"/>
              <a:t>of the allocated handle after </a:t>
            </a:r>
            <a:r>
              <a:rPr lang="en-US" b="1" dirty="0"/>
              <a:t>masking-out </a:t>
            </a:r>
            <a:r>
              <a:rPr lang="en-US" dirty="0"/>
              <a:t>its </a:t>
            </a:r>
            <a:r>
              <a:rPr lang="en-US" b="1" dirty="0" err="1"/>
              <a:t>msb</a:t>
            </a:r>
            <a:r>
              <a:rPr lang="en-US" b="1" dirty="0"/>
              <a:t> </a:t>
            </a:r>
            <a:r>
              <a:rPr lang="en-US" dirty="0"/>
              <a:t>to make it +</a:t>
            </a:r>
            <a:r>
              <a:rPr lang="en-US" dirty="0" err="1"/>
              <a:t>ve</a:t>
            </a:r>
            <a:r>
              <a:rPr lang="en-US" dirty="0"/>
              <a:t>)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Consolas" panose="020B0609020204030204" pitchFamily="49" charset="0"/>
              </a:rPr>
              <a:t>E_MB_NOT_EXIST</a:t>
            </a:r>
            <a:r>
              <a:rPr lang="en-US" dirty="0">
                <a:solidFill>
                  <a:srgbClr val="000000"/>
                </a:solidFill>
                <a:sym typeface="Wingdings" panose="05000000000000000000" pitchFamily="2" charset="2"/>
              </a:rPr>
              <a:t>: if mailbox not exists in the list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Consolas" panose="020B0609020204030204" pitchFamily="49" charset="0"/>
              </a:rPr>
              <a:t>E_MB_INV_REQUEST</a:t>
            </a:r>
            <a:r>
              <a:rPr lang="en-US" dirty="0">
                <a:solidFill>
                  <a:srgbClr val="000000"/>
                </a:solidFill>
                <a:sym typeface="Wingdings" panose="05000000000000000000" pitchFamily="2" charset="2"/>
              </a:rPr>
              <a:t>: if the env is the owner of the mailbox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Consolas" panose="020B0609020204030204" pitchFamily="49" charset="0"/>
              </a:rPr>
              <a:t>E_MB_HANDLES_FULL</a:t>
            </a:r>
            <a:r>
              <a:rPr lang="en-US" dirty="0">
                <a:solidFill>
                  <a:srgbClr val="000000"/>
                </a:solidFill>
                <a:sym typeface="Wingdings" panose="05000000000000000000" pitchFamily="2" charset="2"/>
              </a:rPr>
              <a:t>: if list of handles for this env is full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F08B6-0853-A539-B8F2-8331AC063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0AD7CF-F0A2-4383-A038-D82EAAF254E2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97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2375345-222E-89F6-09C0-72649B346A48}"/>
              </a:ext>
            </a:extLst>
          </p:cNvPr>
          <p:cNvSpPr txBox="1">
            <a:spLocks noChangeArrowheads="1"/>
          </p:cNvSpPr>
          <p:nvPr/>
        </p:nvSpPr>
        <p:spPr>
          <a:xfrm>
            <a:off x="41956" y="10773"/>
            <a:ext cx="12131381" cy="9670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IPC#2: </a:t>
            </a:r>
            <a:r>
              <a:rPr lang="en-US" b="1" dirty="0">
                <a:solidFill>
                  <a:srgbClr val="FF0000"/>
                </a:solidFill>
              </a:rPr>
              <a:t>Required</a:t>
            </a:r>
            <a:r>
              <a:rPr lang="en-US" b="1" dirty="0"/>
              <a:t> Functions</a:t>
            </a:r>
            <a:endParaRPr lang="en-US" altLang="ko-KR" dirty="0">
              <a:ea typeface="굴림" panose="020B0600000101010101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40008E-7600-8C7E-48C3-2D8FC2A55CC1}"/>
              </a:ext>
            </a:extLst>
          </p:cNvPr>
          <p:cNvSpPr txBox="1"/>
          <p:nvPr/>
        </p:nvSpPr>
        <p:spPr>
          <a:xfrm>
            <a:off x="9469120" y="1253654"/>
            <a:ext cx="1686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kern/</a:t>
            </a:r>
            <a:r>
              <a:rPr lang="en-US" sz="1800" dirty="0" err="1">
                <a:solidFill>
                  <a:srgbClr val="FF0000"/>
                </a:solidFill>
              </a:rPr>
              <a:t>ipc</a:t>
            </a:r>
            <a:r>
              <a:rPr lang="en-US" sz="1800" dirty="0">
                <a:solidFill>
                  <a:srgbClr val="FF0000"/>
                </a:solidFill>
              </a:rPr>
              <a:t>/</a:t>
            </a:r>
            <a:r>
              <a:rPr lang="en-US" sz="1800" dirty="0" err="1">
                <a:solidFill>
                  <a:srgbClr val="FF0000"/>
                </a:solidFill>
              </a:rPr>
              <a:t>ipc.c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93560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A2EE5-BC2B-C082-85E3-4B11F694C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325F7-20E7-0273-4D04-BD45DD5E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#4:</a:t>
            </a:r>
            <a:r>
              <a:rPr lang="en-US" dirty="0"/>
              <a:t> Disconnect Mailbox </a:t>
            </a:r>
            <a:r>
              <a:rPr lang="en-US" sz="3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[KERNEL SIDE]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A64A0-3736-13C9-D6C7-B21F5F367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312850" cy="5012266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rgbClr val="535353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sys_ipc_disconnect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535353"/>
                </a:solidFill>
                <a:latin typeface="Consolas" panose="020B0609020204030204" pitchFamily="49" charset="0"/>
              </a:rPr>
              <a:t>uint32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mailboxHandle</a:t>
            </a:r>
            <a:r>
              <a:rPr lang="en-US" sz="2400" b="1" dirty="0">
                <a:solidFill>
                  <a:srgbClr val="A36622"/>
                </a:solidFill>
                <a:latin typeface="Consolas" panose="020B0609020204030204" pitchFamily="49" charset="0"/>
              </a:rPr>
              <a:t>,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535353"/>
                </a:solidFill>
                <a:latin typeface="Consolas" panose="020B0609020204030204" pitchFamily="49" charset="0"/>
              </a:rPr>
              <a:t>uint8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connectType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</a:p>
          <a:p>
            <a:pPr algn="just">
              <a:lnSpc>
                <a:spcPct val="100000"/>
              </a:lnSpc>
            </a:pPr>
            <a:r>
              <a:rPr lang="en-US" sz="2400" b="1" dirty="0"/>
              <a:t>Description:</a:t>
            </a:r>
          </a:p>
          <a:p>
            <a:pPr marL="658368" lvl="1" indent="-457200" algn="just">
              <a:lnSpc>
                <a:spcPct val="12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</a:rPr>
              <a:t>Get</a:t>
            </a:r>
            <a:r>
              <a:rPr lang="en-US" sz="2000" dirty="0">
                <a:solidFill>
                  <a:schemeClr val="tx1"/>
                </a:solidFill>
              </a:rPr>
              <a:t> mailbox object using its handle (use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ipc_get_mailbox</a:t>
            </a:r>
            <a:r>
              <a:rPr lang="en-US" sz="2000" dirty="0">
                <a:solidFill>
                  <a:schemeClr val="tx1"/>
                </a:solidFill>
              </a:rPr>
              <a:t>())</a:t>
            </a:r>
          </a:p>
          <a:p>
            <a:pPr marL="658368" lvl="1" indent="-457200" algn="just">
              <a:lnSpc>
                <a:spcPct val="12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</a:rPr>
              <a:t>Unregister</a:t>
            </a:r>
            <a:r>
              <a:rPr lang="en-US" sz="2000" dirty="0">
                <a:solidFill>
                  <a:schemeClr val="tx1"/>
                </a:solidFill>
              </a:rPr>
              <a:t> the env from the corresponding array in mailbox (based on </a:t>
            </a:r>
            <a:r>
              <a:rPr lang="en-US" sz="2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connectType</a:t>
            </a:r>
            <a:r>
              <a:rPr lang="en-US" dirty="0">
                <a:solidFill>
                  <a:schemeClr val="tx1"/>
                </a:solidFill>
              </a:rPr>
              <a:t>)</a:t>
            </a:r>
            <a:endParaRPr lang="en-US" sz="2000" dirty="0">
              <a:solidFill>
                <a:schemeClr val="tx1"/>
              </a:solidFill>
            </a:endParaRPr>
          </a:p>
          <a:p>
            <a:pPr marL="658368" lvl="1" indent="-457200" algn="just">
              <a:lnSpc>
                <a:spcPct val="12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</a:rPr>
              <a:t>Remove</a:t>
            </a:r>
            <a:r>
              <a:rPr lang="en-US" sz="2000" dirty="0">
                <a:solidFill>
                  <a:schemeClr val="tx1"/>
                </a:solidFill>
              </a:rPr>
              <a:t> it from the env list of handles (remember to free the handle object)</a:t>
            </a:r>
          </a:p>
          <a:p>
            <a:pPr marL="201168" lvl="1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sym typeface="Wingdings" panose="05000000000000000000" pitchFamily="2" charset="2"/>
              </a:rPr>
              <a:t>Return: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</a:rPr>
              <a:t>0 on success. 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Consolas" panose="020B0609020204030204" pitchFamily="49" charset="0"/>
              </a:rPr>
              <a:t>E_MB_NOT_EXIST 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</a:rPr>
              <a:t>if mailbox handle not exist. 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</a:rPr>
              <a:t>E_MB_INV_REQUEST</a:t>
            </a:r>
            <a:r>
              <a:rPr lang="en-US" dirty="0">
                <a:solidFill>
                  <a:srgbClr val="000000"/>
                </a:solidFill>
                <a:sym typeface="Wingdings" panose="05000000000000000000" pitchFamily="2" charset="2"/>
              </a:rPr>
              <a:t>: if the env is the owner of the mailbox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Consolas" panose="020B0609020204030204" pitchFamily="49" charset="0"/>
              </a:rPr>
              <a:t>E_MB_INV_REQUEST</a:t>
            </a:r>
            <a:r>
              <a:rPr lang="en-US" dirty="0">
                <a:solidFill>
                  <a:srgbClr val="000000"/>
                </a:solidFill>
                <a:sym typeface="Wingdings" panose="05000000000000000000" pitchFamily="2" charset="2"/>
              </a:rPr>
              <a:t>: if the env is not registered in the mailbox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DBB53-9D93-7758-20C7-A260810ED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0AD7CF-F0A2-4383-A038-D82EAAF254E2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98</a:t>
            </a:fld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18F9365-8167-97B1-10B5-B5A565F90AEF}"/>
              </a:ext>
            </a:extLst>
          </p:cNvPr>
          <p:cNvSpPr txBox="1">
            <a:spLocks noChangeArrowheads="1"/>
          </p:cNvSpPr>
          <p:nvPr/>
        </p:nvSpPr>
        <p:spPr>
          <a:xfrm>
            <a:off x="41956" y="10773"/>
            <a:ext cx="12131381" cy="9670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IPC#2: </a:t>
            </a:r>
            <a:r>
              <a:rPr lang="en-US" b="1" dirty="0">
                <a:solidFill>
                  <a:srgbClr val="FF0000"/>
                </a:solidFill>
              </a:rPr>
              <a:t>Required</a:t>
            </a:r>
            <a:r>
              <a:rPr lang="en-US" b="1" dirty="0"/>
              <a:t> Functions</a:t>
            </a:r>
            <a:endParaRPr lang="en-US" altLang="ko-KR" dirty="0">
              <a:ea typeface="굴림" panose="020B0600000101010101" pitchFamily="34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65F224-349F-C6AC-9C40-A257BE5C4373}"/>
              </a:ext>
            </a:extLst>
          </p:cNvPr>
          <p:cNvSpPr txBox="1"/>
          <p:nvPr/>
        </p:nvSpPr>
        <p:spPr>
          <a:xfrm>
            <a:off x="10251440" y="1253654"/>
            <a:ext cx="1686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kern/</a:t>
            </a:r>
            <a:r>
              <a:rPr lang="en-US" sz="1800" dirty="0" err="1">
                <a:solidFill>
                  <a:srgbClr val="FF0000"/>
                </a:solidFill>
              </a:rPr>
              <a:t>ipc</a:t>
            </a:r>
            <a:r>
              <a:rPr lang="en-US" sz="1800" dirty="0">
                <a:solidFill>
                  <a:srgbClr val="FF0000"/>
                </a:solidFill>
              </a:rPr>
              <a:t>/</a:t>
            </a:r>
            <a:r>
              <a:rPr lang="en-US" sz="1800" dirty="0" err="1">
                <a:solidFill>
                  <a:srgbClr val="FF0000"/>
                </a:solidFill>
              </a:rPr>
              <a:t>ipc.c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970253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48250-2217-2EA9-77C9-4D04CB2E2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AF0CF-BAA7-751E-9C3B-A2C1317CD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#5:</a:t>
            </a:r>
            <a:r>
              <a:rPr lang="en-US" dirty="0"/>
              <a:t> Get Mailbox </a:t>
            </a:r>
            <a:r>
              <a:rPr lang="en-US" sz="3600" dirty="0"/>
              <a:t>[KERNEL SIDE]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C7531-1AC0-8A30-5E9E-CA778703D2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444480" cy="5012266"/>
          </a:xfrm>
          <a:solidFill>
            <a:schemeClr val="bg1"/>
          </a:solidFill>
        </p:spPr>
        <p:txBody>
          <a:bodyPr>
            <a:normAutofit fontScale="85000" lnSpcReduction="20000"/>
          </a:bodyPr>
          <a:lstStyle/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535353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ipc_get_mailbox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535353"/>
                </a:solidFill>
                <a:latin typeface="Consolas" panose="020B0609020204030204" pitchFamily="49" charset="0"/>
              </a:rPr>
              <a:t>uint32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mailboxHandle</a:t>
            </a:r>
            <a:r>
              <a:rPr lang="en-US" sz="2400" b="1" dirty="0">
                <a:solidFill>
                  <a:srgbClr val="A36622"/>
                </a:solidFill>
                <a:latin typeface="Consolas" panose="020B0609020204030204" pitchFamily="49" charset="0"/>
              </a:rPr>
              <a:t>,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Mailbox </a:t>
            </a:r>
            <a:r>
              <a:rPr lang="en-US" sz="2400" b="1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mb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en-US" sz="2400" b="1" dirty="0"/>
              <a:t>Description:</a:t>
            </a:r>
          </a:p>
          <a:p>
            <a:pPr marL="201168" lvl="1" indent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100" dirty="0"/>
              <a:t>Get mailbox object using the info from the given handle "</a:t>
            </a:r>
            <a:r>
              <a:rPr lang="en-US" sz="2100" dirty="0">
                <a:latin typeface="Consolas" panose="020B0609020204030204" pitchFamily="49" charset="0"/>
              </a:rPr>
              <a:t>mb</a:t>
            </a:r>
            <a:r>
              <a:rPr lang="en-US" sz="2100" dirty="0"/>
              <a:t>" is a return param (passed by reference)</a:t>
            </a:r>
          </a:p>
          <a:p>
            <a:pPr marL="658368" lvl="1" indent="-4572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100" b="1" dirty="0">
                <a:solidFill>
                  <a:schemeClr val="tx1"/>
                </a:solidFill>
                <a:latin typeface="+mj-lt"/>
              </a:rPr>
              <a:t>Check</a:t>
            </a:r>
            <a:r>
              <a:rPr lang="en-US" sz="2100" dirty="0">
                <a:solidFill>
                  <a:schemeClr val="tx1"/>
                </a:solidFill>
                <a:latin typeface="+mj-lt"/>
              </a:rPr>
              <a:t> the list of handles of the current env for the given handle (after setting its </a:t>
            </a:r>
            <a:r>
              <a:rPr lang="en-US" sz="2100" dirty="0" err="1">
                <a:solidFill>
                  <a:schemeClr val="tx1"/>
                </a:solidFill>
                <a:latin typeface="+mj-lt"/>
              </a:rPr>
              <a:t>msb</a:t>
            </a:r>
            <a:r>
              <a:rPr lang="en-US" sz="2100" dirty="0">
                <a:solidFill>
                  <a:schemeClr val="tx1"/>
                </a:solidFill>
                <a:latin typeface="+mj-lt"/>
              </a:rPr>
              <a:t> to 1) </a:t>
            </a:r>
          </a:p>
          <a:p>
            <a:pPr lvl="3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100" dirty="0">
                <a:solidFill>
                  <a:schemeClr val="tx1"/>
                </a:solidFill>
                <a:latin typeface="+mj-lt"/>
              </a:rPr>
              <a:t>by validating the address of mailbox Handle vs address of each list element</a:t>
            </a:r>
          </a:p>
          <a:p>
            <a:pPr marL="658368" lvl="1" indent="-4572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100" b="1" dirty="0">
                <a:solidFill>
                  <a:schemeClr val="tx1"/>
                </a:solidFill>
                <a:latin typeface="+mj-lt"/>
              </a:rPr>
              <a:t>Get</a:t>
            </a:r>
            <a:r>
              <a:rPr lang="en-US" sz="2100" dirty="0">
                <a:solidFill>
                  <a:schemeClr val="tx1"/>
                </a:solidFill>
                <a:latin typeface="+mj-lt"/>
              </a:rPr>
              <a:t> corresponding mailbox from the handle</a:t>
            </a:r>
          </a:p>
          <a:p>
            <a:pPr marL="658368" lvl="1" indent="-4572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100" b="1" dirty="0">
                <a:solidFill>
                  <a:schemeClr val="tx1"/>
                </a:solidFill>
                <a:latin typeface="+mj-lt"/>
              </a:rPr>
              <a:t>Validate</a:t>
            </a:r>
            <a:r>
              <a:rPr lang="en-US" sz="2100" dirty="0">
                <a:solidFill>
                  <a:schemeClr val="tx1"/>
                </a:solidFill>
                <a:latin typeface="+mj-lt"/>
              </a:rPr>
              <a:t> the connection type by applying the correct check </a:t>
            </a:r>
          </a:p>
          <a:p>
            <a:pPr lvl="3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100" dirty="0">
                <a:solidFill>
                  <a:schemeClr val="tx1"/>
                </a:solidFill>
                <a:latin typeface="+mj-lt"/>
              </a:rPr>
              <a:t>If owner: validate ownership! Else, check the array of registered senders/receivers</a:t>
            </a:r>
          </a:p>
          <a:p>
            <a:pPr marL="201168" lvl="1" indent="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100" b="1" dirty="0">
                <a:solidFill>
                  <a:srgbClr val="000000"/>
                </a:solidFill>
                <a:sym typeface="Wingdings" panose="05000000000000000000" pitchFamily="2" charset="2"/>
              </a:rPr>
              <a:t>Return: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900" dirty="0">
                <a:solidFill>
                  <a:prstClr val="black"/>
                </a:solidFill>
              </a:rPr>
              <a:t>0 on success. 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900" dirty="0">
                <a:solidFill>
                  <a:prstClr val="black">
                    <a:lumMod val="75000"/>
                    <a:lumOff val="25000"/>
                  </a:prstClr>
                </a:solidFill>
                <a:latin typeface="Consolas" panose="020B0609020204030204" pitchFamily="49" charset="0"/>
              </a:rPr>
              <a:t>E_MB_NOT_EXIST </a:t>
            </a:r>
            <a:r>
              <a:rPr lang="en-US" sz="1900" dirty="0">
                <a:solidFill>
                  <a:prstClr val="black">
                    <a:lumMod val="75000"/>
                    <a:lumOff val="25000"/>
                  </a:prstClr>
                </a:solidFill>
              </a:rPr>
              <a:t>if mailbox handle not exist. 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900" dirty="0">
                <a:latin typeface="Consolas" panose="020B0609020204030204" pitchFamily="49" charset="0"/>
              </a:rPr>
              <a:t>E_MB_INV_OWNER </a:t>
            </a:r>
            <a:r>
              <a:rPr lang="en-US" sz="1900" dirty="0">
                <a:solidFill>
                  <a:prstClr val="black">
                    <a:lumMod val="75000"/>
                    <a:lumOff val="25000"/>
                  </a:prstClr>
                </a:solidFill>
              </a:rPr>
              <a:t>if invalid owner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900" dirty="0">
                <a:solidFill>
                  <a:prstClr val="black">
                    <a:lumMod val="75000"/>
                    <a:lumOff val="25000"/>
                  </a:prstClr>
                </a:solidFill>
                <a:latin typeface="Consolas" panose="020B0609020204030204" pitchFamily="49" charset="0"/>
              </a:rPr>
              <a:t>E_MB_INV_REQUEST</a:t>
            </a:r>
            <a:r>
              <a:rPr lang="en-US" sz="1900" dirty="0">
                <a:solidFill>
                  <a:srgbClr val="000000"/>
                </a:solidFill>
                <a:sym typeface="Wingdings" panose="05000000000000000000" pitchFamily="2" charset="2"/>
              </a:rPr>
              <a:t>: if the env is not registered in the mailbox</a:t>
            </a:r>
            <a:endParaRPr lang="en-US" sz="19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51F19-0592-F9F0-AF54-9513AE796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0AD7CF-F0A2-4383-A038-D82EAAF254E2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99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3444883-F387-9EF5-FD93-9FFD5837B081}"/>
              </a:ext>
            </a:extLst>
          </p:cNvPr>
          <p:cNvSpPr txBox="1">
            <a:spLocks noChangeArrowheads="1"/>
          </p:cNvSpPr>
          <p:nvPr/>
        </p:nvSpPr>
        <p:spPr>
          <a:xfrm>
            <a:off x="41956" y="10773"/>
            <a:ext cx="12131381" cy="9670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IPC#2: </a:t>
            </a:r>
            <a:r>
              <a:rPr lang="en-US" b="1" dirty="0">
                <a:solidFill>
                  <a:srgbClr val="FF0000"/>
                </a:solidFill>
              </a:rPr>
              <a:t>Required</a:t>
            </a:r>
            <a:r>
              <a:rPr lang="en-US" b="1" dirty="0"/>
              <a:t> Functions</a:t>
            </a:r>
            <a:endParaRPr lang="en-US" altLang="ko-KR" dirty="0">
              <a:ea typeface="굴림" panose="020B0600000101010101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7EBD8E-AACC-B4EA-5635-AB0BC73F03C7}"/>
              </a:ext>
            </a:extLst>
          </p:cNvPr>
          <p:cNvSpPr txBox="1"/>
          <p:nvPr/>
        </p:nvSpPr>
        <p:spPr>
          <a:xfrm>
            <a:off x="9469120" y="1253654"/>
            <a:ext cx="1686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kern/</a:t>
            </a:r>
            <a:r>
              <a:rPr lang="en-US" sz="1800" dirty="0" err="1">
                <a:solidFill>
                  <a:srgbClr val="FF0000"/>
                </a:solidFill>
              </a:rPr>
              <a:t>ipc</a:t>
            </a:r>
            <a:r>
              <a:rPr lang="en-US" sz="1800" dirty="0">
                <a:solidFill>
                  <a:srgbClr val="FF0000"/>
                </a:solidFill>
              </a:rPr>
              <a:t>/</a:t>
            </a:r>
            <a:r>
              <a:rPr lang="en-US" sz="1800" dirty="0" err="1">
                <a:solidFill>
                  <a:srgbClr val="FF0000"/>
                </a:solidFill>
              </a:rPr>
              <a:t>ipc.c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885453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A6640-D40C-DBA3-6582-5D744E925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3C4F7-D9FC-0347-C68D-D0251C1B8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#6:</a:t>
            </a:r>
            <a:r>
              <a:rPr lang="en-US" dirty="0"/>
              <a:t> Broadcast </a:t>
            </a:r>
            <a:r>
              <a:rPr lang="en-US" sz="3600" dirty="0"/>
              <a:t>[USER SIDE]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18230-5B8B-3E29-C316-6C9CCAB17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11076058" cy="5012266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rgbClr val="535353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ipc_broadcast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535353"/>
                </a:solidFill>
                <a:latin typeface="Consolas" panose="020B0609020204030204" pitchFamily="49" charset="0"/>
              </a:rPr>
              <a:t>uint32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destMailboxHandle</a:t>
            </a:r>
            <a:r>
              <a:rPr lang="en-US" sz="2400" b="1" dirty="0">
                <a:solidFill>
                  <a:srgbClr val="A36622"/>
                </a:solidFill>
                <a:latin typeface="Consolas" panose="020B0609020204030204" pitchFamily="49" charset="0"/>
              </a:rPr>
              <a:t>,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Message </a:t>
            </a:r>
            <a:r>
              <a:rPr lang="en-US" sz="2400" b="1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msg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</a:p>
          <a:p>
            <a:pPr algn="just">
              <a:lnSpc>
                <a:spcPct val="100000"/>
              </a:lnSpc>
            </a:pPr>
            <a:r>
              <a:rPr lang="en-US" sz="2400" b="1" dirty="0"/>
              <a:t>Description: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Validate the message by</a:t>
            </a:r>
          </a:p>
          <a:p>
            <a:pPr lvl="2" algn="just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+mj-lt"/>
              </a:rPr>
              <a:t>Checking its length vs max allowed length</a:t>
            </a:r>
          </a:p>
          <a:p>
            <a:pPr lvl="2" algn="just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+mj-lt"/>
              </a:rPr>
              <a:t>Validate </a:t>
            </a:r>
            <a:r>
              <a:rPr lang="en-US" sz="1800" dirty="0" err="1">
                <a:solidFill>
                  <a:schemeClr val="tx1"/>
                </a:solidFill>
                <a:latin typeface="+mj-lt"/>
              </a:rPr>
              <a:t>senderID</a:t>
            </a:r>
            <a:r>
              <a:rPr lang="en-US" sz="1800" dirty="0">
                <a:solidFill>
                  <a:schemeClr val="tx1"/>
                </a:solidFill>
                <a:latin typeface="+mj-lt"/>
              </a:rPr>
              <a:t> &amp; </a:t>
            </a:r>
            <a:r>
              <a:rPr lang="en-US" sz="1800" dirty="0" err="1">
                <a:solidFill>
                  <a:schemeClr val="tx1"/>
                </a:solidFill>
                <a:latin typeface="+mj-lt"/>
              </a:rPr>
              <a:t>receiverID</a:t>
            </a:r>
            <a:r>
              <a:rPr lang="en-US" sz="1800" dirty="0">
                <a:solidFill>
                  <a:schemeClr val="tx1"/>
                </a:solidFill>
                <a:latin typeface="+mj-lt"/>
              </a:rPr>
              <a:t> of the 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msg</a:t>
            </a:r>
            <a:r>
              <a:rPr lang="en-US" sz="2400" b="1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+mj-lt"/>
              </a:rPr>
              <a:t>to be set correctly (sender = current env, receiver = 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UINT_MAX)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If not valid: return 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nsolas" panose="020B0609020204030204" pitchFamily="49" charset="0"/>
              </a:rPr>
              <a:t>E_MB_OPER_FAILED</a:t>
            </a:r>
            <a:endParaRPr lang="en-US" sz="2000" dirty="0">
              <a:solidFill>
                <a:schemeClr val="tx1"/>
              </a:solidFill>
            </a:endParaRPr>
          </a:p>
          <a:p>
            <a:pPr lvl="1" algn="just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Call </a:t>
            </a:r>
            <a:r>
              <a:rPr lang="en-US" sz="20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sys_ipc_broadcast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()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/>
              <a:t>Panic if it returns error</a:t>
            </a:r>
            <a:endParaRPr lang="en-US" sz="2000" dirty="0"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982AC8-4558-6A49-6F4F-C5949BF49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0AD7CF-F0A2-4383-A038-D82EAAF254E2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100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63EB815-5070-A176-DC87-3B107CFF9486}"/>
              </a:ext>
            </a:extLst>
          </p:cNvPr>
          <p:cNvSpPr txBox="1">
            <a:spLocks noChangeArrowheads="1"/>
          </p:cNvSpPr>
          <p:nvPr/>
        </p:nvSpPr>
        <p:spPr>
          <a:xfrm>
            <a:off x="41956" y="10773"/>
            <a:ext cx="12131381" cy="9670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IPC#2: </a:t>
            </a:r>
            <a:r>
              <a:rPr lang="en-US" b="1" dirty="0">
                <a:solidFill>
                  <a:srgbClr val="FF0000"/>
                </a:solidFill>
              </a:rPr>
              <a:t>Required</a:t>
            </a:r>
            <a:r>
              <a:rPr lang="en-US" b="1" dirty="0"/>
              <a:t> Functions</a:t>
            </a:r>
            <a:endParaRPr lang="en-US" altLang="ko-KR" dirty="0">
              <a:ea typeface="굴림" panose="020B0600000101010101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C71F9F-CFD5-8060-E117-F765F3326647}"/>
              </a:ext>
            </a:extLst>
          </p:cNvPr>
          <p:cNvSpPr txBox="1"/>
          <p:nvPr/>
        </p:nvSpPr>
        <p:spPr>
          <a:xfrm>
            <a:off x="10025380" y="1253654"/>
            <a:ext cx="1130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lib/</a:t>
            </a:r>
            <a:r>
              <a:rPr lang="en-US" sz="1800" dirty="0" err="1">
                <a:solidFill>
                  <a:srgbClr val="FF0000"/>
                </a:solidFill>
              </a:rPr>
              <a:t>ipc.c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4197678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E1B8C-B9E6-7058-8876-E5595B5EC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28716-00E7-7C2C-28A3-46A8197A4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#7:</a:t>
            </a:r>
            <a:r>
              <a:rPr lang="en-US" dirty="0"/>
              <a:t> Broadcast </a:t>
            </a:r>
            <a:r>
              <a:rPr lang="en-US" sz="3600" dirty="0"/>
              <a:t>[KERNEL SIDE]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0A4D1-4F44-6EF4-1321-1DBBC26BB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810240" cy="5012266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 algn="ctr"/>
            <a:r>
              <a:rPr lang="en-US" sz="2400" dirty="0">
                <a:solidFill>
                  <a:srgbClr val="535353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sys_ipc_broadcast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535353"/>
                </a:solidFill>
                <a:latin typeface="Consolas" panose="020B0609020204030204" pitchFamily="49" charset="0"/>
              </a:rPr>
              <a:t>uint32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destMailboxHandle</a:t>
            </a:r>
            <a:r>
              <a:rPr lang="en-US" sz="2400" b="1" dirty="0">
                <a:solidFill>
                  <a:srgbClr val="A36622"/>
                </a:solidFill>
                <a:latin typeface="Consolas" panose="020B0609020204030204" pitchFamily="49" charset="0"/>
              </a:rPr>
              <a:t>,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Message </a:t>
            </a:r>
            <a:r>
              <a:rPr lang="en-US" sz="2400" b="1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msg</a:t>
            </a:r>
            <a:r>
              <a:rPr lang="en-US" sz="2400" b="1" dirty="0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en-US" sz="2400" b="1" dirty="0"/>
              <a:t>Description:</a:t>
            </a:r>
          </a:p>
          <a:p>
            <a:pPr marL="658368" lvl="1" indent="-457200" algn="just">
              <a:lnSpc>
                <a:spcPct val="12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</a:rPr>
              <a:t>Get</a:t>
            </a:r>
            <a:r>
              <a:rPr lang="en-US" sz="2000" dirty="0">
                <a:solidFill>
                  <a:schemeClr val="tx1"/>
                </a:solidFill>
              </a:rPr>
              <a:t> mailbox object using its handle (use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ipc_get_mailbox</a:t>
            </a:r>
            <a:r>
              <a:rPr lang="en-US" sz="2000" dirty="0">
                <a:solidFill>
                  <a:schemeClr val="tx1"/>
                </a:solidFill>
              </a:rPr>
              <a:t>())</a:t>
            </a:r>
          </a:p>
          <a:p>
            <a:pPr marL="658368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/>
              <a:t>For each registered receiver at this mailbox</a:t>
            </a:r>
          </a:p>
          <a:p>
            <a:pPr marL="1024128" lvl="3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1800" b="1" dirty="0"/>
              <a:t>Skip </a:t>
            </a:r>
            <a:r>
              <a:rPr lang="en-US" sz="1800" dirty="0"/>
              <a:t>the env if its local mailbox is full</a:t>
            </a:r>
          </a:p>
          <a:p>
            <a:pPr marL="1024128" lvl="3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1800" b="1" dirty="0"/>
              <a:t>Copy</a:t>
            </a:r>
            <a:r>
              <a:rPr lang="en-US" sz="1800" dirty="0"/>
              <a:t> message data to a </a:t>
            </a:r>
            <a:r>
              <a:rPr lang="en-US" sz="1800" b="1" dirty="0"/>
              <a:t>new</a:t>
            </a:r>
            <a:r>
              <a:rPr lang="en-US" sz="1800" dirty="0"/>
              <a:t> message at kernel </a:t>
            </a:r>
            <a:r>
              <a:rPr lang="en-US" sz="2100" dirty="0">
                <a:solidFill>
                  <a:prstClr val="black">
                    <a:lumMod val="75000"/>
                    <a:lumOff val="25000"/>
                  </a:prstClr>
                </a:solidFill>
              </a:rPr>
              <a:t>(during copy: </a:t>
            </a:r>
            <a:r>
              <a:rPr lang="en-US" sz="21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take care </a:t>
            </a:r>
            <a:r>
              <a:rPr lang="en-US" sz="2100" dirty="0">
                <a:solidFill>
                  <a:prstClr val="black">
                    <a:lumMod val="75000"/>
                    <a:lumOff val="25000"/>
                  </a:prstClr>
                </a:solidFill>
              </a:rPr>
              <a:t>of the </a:t>
            </a:r>
            <a:r>
              <a:rPr lang="en-US" sz="21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message type</a:t>
            </a:r>
            <a:r>
              <a:rPr lang="en-US" sz="2100" dirty="0">
                <a:solidFill>
                  <a:prstClr val="black">
                    <a:lumMod val="75000"/>
                    <a:lumOff val="25000"/>
                  </a:prstClr>
                </a:solidFill>
              </a:rPr>
              <a:t>)</a:t>
            </a:r>
            <a:endParaRPr lang="en-US" sz="1800" dirty="0"/>
          </a:p>
          <a:p>
            <a:pPr marL="1024128" lvl="3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1800" b="1" dirty="0"/>
              <a:t>Enqueue</a:t>
            </a:r>
            <a:r>
              <a:rPr lang="en-US" sz="1800" dirty="0"/>
              <a:t> the new message to the local mailbox of the env and </a:t>
            </a:r>
            <a:r>
              <a:rPr lang="en-US" sz="1800" b="1" dirty="0"/>
              <a:t>wake-up</a:t>
            </a:r>
            <a:r>
              <a:rPr lang="en-US" sz="1800" dirty="0"/>
              <a:t> it (if blocked)</a:t>
            </a:r>
          </a:p>
          <a:p>
            <a:pPr marL="201168" lvl="1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sym typeface="Wingdings" panose="05000000000000000000" pitchFamily="2" charset="2"/>
              </a:rPr>
              <a:t>Return: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dirty="0">
                <a:solidFill>
                  <a:prstClr val="black"/>
                </a:solidFill>
              </a:rPr>
              <a:t>on success: </a:t>
            </a:r>
            <a:r>
              <a:rPr lang="en-US" dirty="0">
                <a:solidFill>
                  <a:prstClr val="black"/>
                </a:solidFill>
              </a:rPr>
              <a:t>number of env that failed to send the message to them. 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Consolas" panose="020B0609020204030204" pitchFamily="49" charset="0"/>
              </a:rPr>
              <a:t>E_MB_NOT_EXIST 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</a:rPr>
              <a:t>if mailbox handle not exist. 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Consolas" panose="020B0609020204030204" pitchFamily="49" charset="0"/>
              </a:rPr>
              <a:t>E_MB_INV_REQUEST</a:t>
            </a:r>
            <a:r>
              <a:rPr lang="en-US" dirty="0">
                <a:solidFill>
                  <a:srgbClr val="000000"/>
                </a:solidFill>
                <a:sym typeface="Wingdings" panose="05000000000000000000" pitchFamily="2" charset="2"/>
              </a:rPr>
              <a:t>: if the env is not registered in the mailbox as a sender</a:t>
            </a:r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C6F3D5-3649-8874-477E-F225911F7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0AD7CF-F0A2-4383-A038-D82EAAF254E2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101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711171E-F9FF-D671-0DD1-9557F7A4874D}"/>
              </a:ext>
            </a:extLst>
          </p:cNvPr>
          <p:cNvSpPr txBox="1">
            <a:spLocks noChangeArrowheads="1"/>
          </p:cNvSpPr>
          <p:nvPr/>
        </p:nvSpPr>
        <p:spPr>
          <a:xfrm>
            <a:off x="41956" y="10773"/>
            <a:ext cx="12131381" cy="9670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IPC#2: </a:t>
            </a:r>
            <a:r>
              <a:rPr lang="en-US" b="1" dirty="0">
                <a:solidFill>
                  <a:srgbClr val="FF0000"/>
                </a:solidFill>
              </a:rPr>
              <a:t>Required</a:t>
            </a:r>
            <a:r>
              <a:rPr lang="en-US" b="1" dirty="0"/>
              <a:t> Functions</a:t>
            </a:r>
            <a:endParaRPr lang="en-US" altLang="ko-KR" dirty="0">
              <a:ea typeface="굴림" panose="020B0600000101010101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0FB46D-8803-5277-C252-C5F711A52725}"/>
              </a:ext>
            </a:extLst>
          </p:cNvPr>
          <p:cNvSpPr txBox="1"/>
          <p:nvPr/>
        </p:nvSpPr>
        <p:spPr>
          <a:xfrm>
            <a:off x="9469120" y="1253654"/>
            <a:ext cx="1686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kern/</a:t>
            </a:r>
            <a:r>
              <a:rPr lang="en-US" sz="1800" dirty="0" err="1">
                <a:solidFill>
                  <a:srgbClr val="FF0000"/>
                </a:solidFill>
              </a:rPr>
              <a:t>ipc</a:t>
            </a:r>
            <a:r>
              <a:rPr lang="en-US" sz="1800" dirty="0">
                <a:solidFill>
                  <a:srgbClr val="FF0000"/>
                </a:solidFill>
              </a:rPr>
              <a:t>/</a:t>
            </a:r>
            <a:r>
              <a:rPr lang="en-US" sz="1800" dirty="0" err="1">
                <a:solidFill>
                  <a:srgbClr val="FF0000"/>
                </a:solidFill>
              </a:rPr>
              <a:t>ipc.c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149038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226E8-DB1F-1673-2A66-14C880E38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FFBC5C3-B7F3-F5CE-7208-A805DA2D4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Memory</a:t>
            </a:r>
            <a:endParaRPr lang="en-A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8671641-BB0D-0F0F-457A-3AFB559374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PART III: INDIVIDUAL module </a:t>
            </a:r>
            <a:r>
              <a:rPr lang="en-US" b="1" dirty="0">
                <a:solidFill>
                  <a:srgbClr val="FF0000"/>
                </a:solidFill>
              </a:rPr>
              <a:t>#6</a:t>
            </a:r>
            <a:endParaRPr lang="en-AE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43B938-4E7F-F2A2-B3B5-E0D84EC60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102</a:t>
            </a:fld>
            <a:endParaRPr lang="en-US"/>
          </a:p>
        </p:txBody>
      </p:sp>
      <p:pic>
        <p:nvPicPr>
          <p:cNvPr id="8" name="Picture 7" descr="A clock with a number on it&#10;&#10;AI-generated content may be incorrect.">
            <a:extLst>
              <a:ext uri="{FF2B5EF4-FFF2-40B4-BE49-F238E27FC236}">
                <a16:creationId xmlns:a16="http://schemas.microsoft.com/office/drawing/2014/main" id="{6A1A015C-472C-F379-4A84-194D731AA4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1375" y="0"/>
            <a:ext cx="1190625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70191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0F6EB-F953-AEB7-2A2C-4B3E69866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35C22-E23B-B21B-C99B-7AFD8F18A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Overview</a:t>
            </a:r>
            <a:endParaRPr lang="ar-EG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89498AF-CE41-0668-71E6-EF9CCC299F65}"/>
              </a:ext>
            </a:extLst>
          </p:cNvPr>
          <p:cNvSpPr/>
          <p:nvPr/>
        </p:nvSpPr>
        <p:spPr>
          <a:xfrm>
            <a:off x="235394" y="364720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Individual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Module#1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0711B7D-73E8-243A-31DA-9384B3799524}"/>
              </a:ext>
            </a:extLst>
          </p:cNvPr>
          <p:cNvSpPr/>
          <p:nvPr/>
        </p:nvSpPr>
        <p:spPr>
          <a:xfrm>
            <a:off x="2220990" y="364720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Individual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Module#2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9A501FE-6541-0E5B-EA7B-CAFADA432564}"/>
              </a:ext>
            </a:extLst>
          </p:cNvPr>
          <p:cNvSpPr/>
          <p:nvPr/>
        </p:nvSpPr>
        <p:spPr>
          <a:xfrm>
            <a:off x="4206586" y="364720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Individual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Module#3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BA2B86E-477E-12A4-28DE-256BD700C394}"/>
              </a:ext>
            </a:extLst>
          </p:cNvPr>
          <p:cNvSpPr/>
          <p:nvPr/>
        </p:nvSpPr>
        <p:spPr>
          <a:xfrm>
            <a:off x="6192182" y="364720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Individual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Module#4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0A070B49-C9A1-3811-5F83-5C28ED908CF2}"/>
              </a:ext>
            </a:extLst>
          </p:cNvPr>
          <p:cNvCxnSpPr>
            <a:cxnSpLocks/>
            <a:stCxn id="13" idx="2"/>
            <a:endCxn id="5" idx="0"/>
          </p:cNvCxnSpPr>
          <p:nvPr/>
        </p:nvCxnSpPr>
        <p:spPr>
          <a:xfrm rot="5400000">
            <a:off x="3215515" y="740890"/>
            <a:ext cx="859648" cy="4952990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0C0881B7-1E26-E07D-3F77-EBF24905F33E}"/>
              </a:ext>
            </a:extLst>
          </p:cNvPr>
          <p:cNvCxnSpPr>
            <a:cxnSpLocks/>
            <a:stCxn id="13" idx="2"/>
            <a:endCxn id="7" idx="0"/>
          </p:cNvCxnSpPr>
          <p:nvPr/>
        </p:nvCxnSpPr>
        <p:spPr>
          <a:xfrm rot="5400000">
            <a:off x="4208313" y="1733688"/>
            <a:ext cx="859648" cy="296739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69D74E62-3919-3F30-A525-448A22615FC2}"/>
              </a:ext>
            </a:extLst>
          </p:cNvPr>
          <p:cNvCxnSpPr>
            <a:cxnSpLocks/>
            <a:stCxn id="13" idx="2"/>
            <a:endCxn id="8" idx="0"/>
          </p:cNvCxnSpPr>
          <p:nvPr/>
        </p:nvCxnSpPr>
        <p:spPr>
          <a:xfrm rot="5400000">
            <a:off x="5201111" y="2726486"/>
            <a:ext cx="859648" cy="98179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F6ED024C-A8B6-E8C1-1993-5F0F06AAB661}"/>
              </a:ext>
            </a:extLst>
          </p:cNvPr>
          <p:cNvCxnSpPr>
            <a:cxnSpLocks/>
            <a:stCxn id="13" idx="2"/>
            <a:endCxn id="9" idx="0"/>
          </p:cNvCxnSpPr>
          <p:nvPr/>
        </p:nvCxnSpPr>
        <p:spPr>
          <a:xfrm rot="16200000" flipH="1">
            <a:off x="6193909" y="2715486"/>
            <a:ext cx="859648" cy="100379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057F3D94-48CD-FBE2-88BF-A64E2F469915}"/>
              </a:ext>
            </a:extLst>
          </p:cNvPr>
          <p:cNvCxnSpPr>
            <a:cxnSpLocks/>
            <a:stCxn id="5" idx="2"/>
            <a:endCxn id="23" idx="0"/>
          </p:cNvCxnSpPr>
          <p:nvPr/>
        </p:nvCxnSpPr>
        <p:spPr>
          <a:xfrm rot="16200000" flipH="1">
            <a:off x="3229415" y="2501037"/>
            <a:ext cx="831849" cy="495299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7E3CAD53-4F81-7FEA-3B39-962E7B966814}"/>
              </a:ext>
            </a:extLst>
          </p:cNvPr>
          <p:cNvCxnSpPr>
            <a:cxnSpLocks/>
            <a:stCxn id="7" idx="2"/>
            <a:endCxn id="23" idx="0"/>
          </p:cNvCxnSpPr>
          <p:nvPr/>
        </p:nvCxnSpPr>
        <p:spPr>
          <a:xfrm rot="16200000" flipH="1">
            <a:off x="4222213" y="3493835"/>
            <a:ext cx="831849" cy="296739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3FD4AE1B-7A40-B951-1272-FF4CF00FD37E}"/>
              </a:ext>
            </a:extLst>
          </p:cNvPr>
          <p:cNvCxnSpPr>
            <a:cxnSpLocks/>
            <a:stCxn id="8" idx="2"/>
            <a:endCxn id="23" idx="0"/>
          </p:cNvCxnSpPr>
          <p:nvPr/>
        </p:nvCxnSpPr>
        <p:spPr>
          <a:xfrm rot="16200000" flipH="1">
            <a:off x="5215011" y="4486633"/>
            <a:ext cx="831849" cy="98179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BC615811-67F2-C39A-92DE-86598CE06D25}"/>
              </a:ext>
            </a:extLst>
          </p:cNvPr>
          <p:cNvCxnSpPr>
            <a:cxnSpLocks/>
            <a:stCxn id="9" idx="2"/>
            <a:endCxn id="23" idx="0"/>
          </p:cNvCxnSpPr>
          <p:nvPr/>
        </p:nvCxnSpPr>
        <p:spPr>
          <a:xfrm rot="5400000">
            <a:off x="6207810" y="4475635"/>
            <a:ext cx="831849" cy="100379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7570B16-13CB-13A5-D062-07A69954A9F2}"/>
              </a:ext>
            </a:extLst>
          </p:cNvPr>
          <p:cNvSpPr/>
          <p:nvPr/>
        </p:nvSpPr>
        <p:spPr>
          <a:xfrm>
            <a:off x="2220989" y="1873161"/>
            <a:ext cx="7801689" cy="914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[TW]</a:t>
            </a:r>
            <a:r>
              <a:rPr kumimoji="0" lang="en-US" sz="28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Prerequisite Modules </a:t>
            </a:r>
          </a:p>
          <a:p>
            <a:pPr lvl="0" algn="ctr" defTabSz="914400">
              <a:defRPr/>
            </a:pPr>
            <a:r>
              <a:rPr lang="en-US" sz="2400" b="1" dirty="0">
                <a:solidFill>
                  <a:prstClr val="black"/>
                </a:solidFill>
                <a:latin typeface="Calibri"/>
              </a:rPr>
              <a:t>Dyn. </a:t>
            </a:r>
            <a:r>
              <a:rPr lang="en-US" sz="2400" b="1" dirty="0" err="1">
                <a:solidFill>
                  <a:prstClr val="black"/>
                </a:solidFill>
                <a:latin typeface="Calibri"/>
              </a:rPr>
              <a:t>Alloc</a:t>
            </a:r>
            <a:r>
              <a:rPr lang="en-US" sz="2400" b="1" dirty="0">
                <a:solidFill>
                  <a:prstClr val="black"/>
                </a:solidFill>
                <a:latin typeface="Calibri"/>
              </a:rPr>
              <a:t>, Kern Heap, Fault Handl. 1, Blocking</a:t>
            </a:r>
            <a:endParaRPr lang="en-AE" sz="28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74D5948-1F01-E24D-6EC3-5A8B35AB2C8B}"/>
              </a:ext>
            </a:extLst>
          </p:cNvPr>
          <p:cNvSpPr/>
          <p:nvPr/>
        </p:nvSpPr>
        <p:spPr>
          <a:xfrm>
            <a:off x="229044" y="3640858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[M#1]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Fault Handl. 2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485C003-E175-FBC1-4372-AF29BE75EA9A}"/>
              </a:ext>
            </a:extLst>
          </p:cNvPr>
          <p:cNvSpPr/>
          <p:nvPr/>
        </p:nvSpPr>
        <p:spPr>
          <a:xfrm>
            <a:off x="2220990" y="364720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[M#2]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User Heap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9BB2234-93BF-CE48-C282-4A6D245BCBE6}"/>
              </a:ext>
            </a:extLst>
          </p:cNvPr>
          <p:cNvSpPr/>
          <p:nvPr/>
        </p:nvSpPr>
        <p:spPr>
          <a:xfrm>
            <a:off x="4212936" y="365355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[M#3]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lvl="0" algn="ctr" defTabSz="914400"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CPU Sched.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BF30DDF-2898-DD09-F6A6-E279EB770583}"/>
              </a:ext>
            </a:extLst>
          </p:cNvPr>
          <p:cNvSpPr/>
          <p:nvPr/>
        </p:nvSpPr>
        <p:spPr>
          <a:xfrm>
            <a:off x="6198532" y="3650583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[M#4]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lvl="0" algn="ctr" defTabSz="914400"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IPC #1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0DB7F7A0-FC9E-3DFD-5F14-3BA80514D089}"/>
              </a:ext>
            </a:extLst>
          </p:cNvPr>
          <p:cNvCxnSpPr>
            <a:cxnSpLocks/>
            <a:stCxn id="13" idx="2"/>
            <a:endCxn id="22" idx="0"/>
          </p:cNvCxnSpPr>
          <p:nvPr/>
        </p:nvCxnSpPr>
        <p:spPr>
          <a:xfrm rot="16200000" flipH="1">
            <a:off x="7178883" y="1730511"/>
            <a:ext cx="853297" cy="296739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80DE23C5-10F0-1F81-CD00-DFB05A2C65E6}"/>
              </a:ext>
            </a:extLst>
          </p:cNvPr>
          <p:cNvCxnSpPr>
            <a:cxnSpLocks/>
            <a:stCxn id="22" idx="2"/>
            <a:endCxn id="23" idx="0"/>
          </p:cNvCxnSpPr>
          <p:nvPr/>
        </p:nvCxnSpPr>
        <p:spPr>
          <a:xfrm rot="5400000">
            <a:off x="7186432" y="3490661"/>
            <a:ext cx="838200" cy="296739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F9C183B-8430-B4CB-7E7D-17864BA9B3AF}"/>
              </a:ext>
            </a:extLst>
          </p:cNvPr>
          <p:cNvSpPr/>
          <p:nvPr/>
        </p:nvSpPr>
        <p:spPr>
          <a:xfrm>
            <a:off x="8155779" y="3640858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[M#5]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lvl="0" algn="ctr" defTabSz="914400"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IPC #2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DDA88ED-2DBD-A70A-46C0-56E6D2C57724}"/>
              </a:ext>
            </a:extLst>
          </p:cNvPr>
          <p:cNvSpPr/>
          <p:nvPr/>
        </p:nvSpPr>
        <p:spPr>
          <a:xfrm>
            <a:off x="3154440" y="5393458"/>
            <a:ext cx="5934789" cy="9144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[TW]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Integration &amp; Overall Testing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prstClr val="black"/>
                </a:solidFill>
                <a:latin typeface="Calibri"/>
              </a:rPr>
              <a:t>Scenarios &amp; Bonuses</a:t>
            </a:r>
            <a:endParaRPr kumimoji="0" lang="en-AE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E962792-C65E-FED7-7247-23C25D8A7C9B}"/>
              </a:ext>
            </a:extLst>
          </p:cNvPr>
          <p:cNvSpPr/>
          <p:nvPr/>
        </p:nvSpPr>
        <p:spPr>
          <a:xfrm>
            <a:off x="10157026" y="364720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lvl="0" algn="ctr" defTabSz="914400">
              <a:defRPr/>
            </a:pPr>
            <a:r>
              <a:rPr lang="en-US" sz="2400" b="1" dirty="0">
                <a:solidFill>
                  <a:prstClr val="black"/>
                </a:solidFill>
                <a:latin typeface="Calibri"/>
              </a:rPr>
              <a:t>[M#6]</a:t>
            </a:r>
            <a:r>
              <a:rPr lang="en-US" sz="2800" dirty="0">
                <a:solidFill>
                  <a:prstClr val="black"/>
                </a:solidFill>
                <a:latin typeface="Calibri"/>
              </a:rPr>
              <a:t> </a:t>
            </a:r>
          </a:p>
          <a:p>
            <a:pPr lvl="0" algn="ctr" defTabSz="914400"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Shared Memory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3E891A64-BC41-7A39-5713-28B80FADE5FB}"/>
              </a:ext>
            </a:extLst>
          </p:cNvPr>
          <p:cNvCxnSpPr>
            <a:cxnSpLocks/>
            <a:stCxn id="13" idx="2"/>
            <a:endCxn id="28" idx="0"/>
          </p:cNvCxnSpPr>
          <p:nvPr/>
        </p:nvCxnSpPr>
        <p:spPr>
          <a:xfrm rot="16200000" flipH="1">
            <a:off x="8176331" y="733064"/>
            <a:ext cx="859648" cy="496864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F3B82689-FDBF-B721-9AC6-E139BA3342B4}"/>
              </a:ext>
            </a:extLst>
          </p:cNvPr>
          <p:cNvCxnSpPr>
            <a:cxnSpLocks/>
            <a:stCxn id="28" idx="2"/>
            <a:endCxn id="23" idx="0"/>
          </p:cNvCxnSpPr>
          <p:nvPr/>
        </p:nvCxnSpPr>
        <p:spPr>
          <a:xfrm rot="5400000">
            <a:off x="8190232" y="2493213"/>
            <a:ext cx="831849" cy="496864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3390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5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38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5A4C8-3176-C064-9684-76D23A56D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41640-373D-C212-8F9A-2DE3B25C8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Objective</a:t>
            </a:r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D6F34192-23A5-A8C5-F334-2C806C25AA02}"/>
              </a:ext>
            </a:extLst>
          </p:cNvPr>
          <p:cNvSpPr/>
          <p:nvPr/>
        </p:nvSpPr>
        <p:spPr>
          <a:xfrm>
            <a:off x="1154084" y="2270926"/>
            <a:ext cx="10058400" cy="2924072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200" dirty="0"/>
              <a:t>Allow the two or more user processes to </a:t>
            </a:r>
            <a:r>
              <a:rPr lang="en-US" sz="2200" b="1" u="sng" dirty="0">
                <a:solidFill>
                  <a:srgbClr val="FF0000"/>
                </a:solidFill>
              </a:rPr>
              <a:t>share</a:t>
            </a:r>
            <a:r>
              <a:rPr lang="en-US" sz="2200" dirty="0"/>
              <a:t> any </a:t>
            </a:r>
            <a:r>
              <a:rPr lang="en-US" sz="2200" b="1" dirty="0"/>
              <a:t>kind of data </a:t>
            </a:r>
            <a:r>
              <a:rPr lang="en-US" sz="2200" dirty="0"/>
              <a:t>among them during the </a:t>
            </a:r>
            <a:r>
              <a:rPr lang="en-US" sz="2200" b="1" dirty="0"/>
              <a:t>run-time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0788C9-33F6-BB21-7DFD-D8DB94815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59353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BC490-43C1-CD59-E2B5-DF51C65E4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EB185-4E40-5C84-F823-6647D5717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Memory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C4FDE2-03AE-4DFD-AE75-A8959A0B2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105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C58EAC5-4EEA-3EC0-2B86-6789B2DA5E00}"/>
              </a:ext>
            </a:extLst>
          </p:cNvPr>
          <p:cNvSpPr/>
          <p:nvPr/>
        </p:nvSpPr>
        <p:spPr>
          <a:xfrm>
            <a:off x="1097280" y="1931461"/>
            <a:ext cx="10058400" cy="145075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400" b="1" dirty="0">
                <a:solidFill>
                  <a:srgbClr val="FF0000"/>
                </a:solidFill>
              </a:rPr>
              <a:t>DEPENDENCIES: </a:t>
            </a:r>
            <a:r>
              <a:rPr lang="en-US" sz="3600" b="1" dirty="0"/>
              <a:t>Dynamic Allocator</a:t>
            </a:r>
            <a:endParaRPr lang="en-US" sz="3200" b="1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A5CF0B0-EFE9-BF1F-CA29-1B9A8FC649D2}"/>
              </a:ext>
            </a:extLst>
          </p:cNvPr>
          <p:cNvSpPr/>
          <p:nvPr/>
        </p:nvSpPr>
        <p:spPr>
          <a:xfrm>
            <a:off x="1097280" y="3458253"/>
            <a:ext cx="10058400" cy="280743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4400" b="1">
                <a:solidFill>
                  <a:srgbClr val="FF0000"/>
                </a:solidFill>
              </a:rPr>
              <a:t>REMEMBER</a:t>
            </a:r>
          </a:p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en-US" sz="3200" b="1"/>
              <a:t>During your solution, any SHARED data need to be PROTECTED by critical section via LOCKS</a:t>
            </a:r>
            <a:endParaRPr lang="en-AE" sz="3200" b="1"/>
          </a:p>
        </p:txBody>
      </p:sp>
    </p:spTree>
    <p:extLst>
      <p:ext uri="{BB962C8B-B14F-4D97-AF65-F5344CB8AC3E}">
        <p14:creationId xmlns:p14="http://schemas.microsoft.com/office/powerpoint/2010/main" val="3287456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AFAFC-F145-AEF6-0CBF-DF9887513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/>
              <a:t>Shared Memory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028EB0-8919-7EF8-2E68-4C0510A3D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106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FC31761-6B3C-A5DB-4C80-48BCF97A2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/>
          <a:lstStyle/>
          <a:p>
            <a:r>
              <a:rPr lang="en-US"/>
              <a:t>The main functions required to handle “</a:t>
            </a:r>
            <a:r>
              <a:rPr lang="en-US" sz="2000" b="1"/>
              <a:t>Shared Memory</a:t>
            </a:r>
            <a:r>
              <a:rPr lang="en-US"/>
              <a:t>” are: </a:t>
            </a:r>
          </a:p>
          <a:p>
            <a:pPr marL="0" indent="0">
              <a:buNone/>
            </a:pPr>
            <a:endParaRPr lang="en-US"/>
          </a:p>
        </p:txBody>
      </p:sp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C2B2BABE-AD34-91A3-4191-D1233C61B4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060991"/>
              </p:ext>
            </p:extLst>
          </p:nvPr>
        </p:nvGraphicFramePr>
        <p:xfrm>
          <a:off x="813136" y="2384920"/>
          <a:ext cx="10565727" cy="276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9937">
                  <a:extLst>
                    <a:ext uri="{9D8B030D-6E8A-4147-A177-3AD203B41FA5}">
                      <a16:colId xmlns:a16="http://schemas.microsoft.com/office/drawing/2014/main" val="422314023"/>
                    </a:ext>
                  </a:extLst>
                </a:gridCol>
                <a:gridCol w="4417247">
                  <a:extLst>
                    <a:ext uri="{9D8B030D-6E8A-4147-A177-3AD203B41FA5}">
                      <a16:colId xmlns:a16="http://schemas.microsoft.com/office/drawing/2014/main" val="1877600023"/>
                    </a:ext>
                  </a:extLst>
                </a:gridCol>
                <a:gridCol w="5008543">
                  <a:extLst>
                    <a:ext uri="{9D8B030D-6E8A-4147-A177-3AD203B41FA5}">
                      <a16:colId xmlns:a16="http://schemas.microsoft.com/office/drawing/2014/main" val="2719033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424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smalloc</a:t>
                      </a:r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b="1" u="none" dirty="0">
                          <a:solidFill>
                            <a:schemeClr val="tx1"/>
                          </a:solidFill>
                        </a:rPr>
                        <a:t>[USER SIDE]</a:t>
                      </a:r>
                    </a:p>
                    <a:p>
                      <a:pPr algn="ctr"/>
                      <a:r>
                        <a:rPr lang="en-US" b="1" u="none" dirty="0">
                          <a:solidFill>
                            <a:srgbClr val="C00000"/>
                          </a:solidFill>
                        </a:rPr>
                        <a:t>Functions definitions </a:t>
                      </a:r>
                      <a:r>
                        <a:rPr lang="en-US" b="1" u="sng" dirty="0">
                          <a:solidFill>
                            <a:srgbClr val="C00000"/>
                          </a:solidFill>
                        </a:rPr>
                        <a:t>TO DO </a:t>
                      </a:r>
                      <a:r>
                        <a:rPr lang="en-US" b="1" u="none" dirty="0">
                          <a:solidFill>
                            <a:srgbClr val="C00000"/>
                          </a:solidFill>
                        </a:rPr>
                        <a:t>in: </a:t>
                      </a:r>
                    </a:p>
                    <a:p>
                      <a:pPr algn="ctr"/>
                      <a:r>
                        <a:rPr lang="en-US" b="1" u="none" dirty="0">
                          <a:solidFill>
                            <a:srgbClr val="C00000"/>
                          </a:solidFill>
                        </a:rPr>
                        <a:t>lib/</a:t>
                      </a:r>
                      <a:r>
                        <a:rPr lang="en-US" b="1" u="none" dirty="0" err="1">
                          <a:solidFill>
                            <a:srgbClr val="C00000"/>
                          </a:solidFill>
                        </a:rPr>
                        <a:t>uheap.c</a:t>
                      </a:r>
                      <a:endParaRPr lang="en-US" b="1" u="none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7880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sget</a:t>
                      </a:r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u="none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896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alloc_share</a:t>
                      </a:r>
                      <a:endParaRPr lang="en-US" b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u="none" dirty="0">
                          <a:solidFill>
                            <a:schemeClr val="tx1"/>
                          </a:solidFill>
                        </a:rPr>
                        <a:t>[KERNEL SIDE]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u="none" dirty="0">
                          <a:solidFill>
                            <a:srgbClr val="C00000"/>
                          </a:solidFill>
                        </a:rPr>
                        <a:t>Functions definitions </a:t>
                      </a:r>
                      <a:r>
                        <a:rPr lang="en-US" b="1" u="sng" dirty="0">
                          <a:solidFill>
                            <a:srgbClr val="C00000"/>
                          </a:solidFill>
                        </a:rPr>
                        <a:t>TO DO </a:t>
                      </a:r>
                      <a:r>
                        <a:rPr lang="en-US" b="1" u="none" dirty="0">
                          <a:solidFill>
                            <a:srgbClr val="C00000"/>
                          </a:solidFill>
                        </a:rPr>
                        <a:t>in: kern/mem/</a:t>
                      </a:r>
                      <a:r>
                        <a:rPr lang="en-US" b="1" u="none" dirty="0" err="1">
                          <a:solidFill>
                            <a:srgbClr val="C00000"/>
                          </a:solidFill>
                        </a:rPr>
                        <a:t>shared_memory_manager.c</a:t>
                      </a:r>
                      <a:endParaRPr lang="en-US" b="1" u="none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2437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get_share_info</a:t>
                      </a:r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u="none">
                        <a:solidFill>
                          <a:srgbClr val="C00000"/>
                        </a:solidFill>
                      </a:endParaRPr>
                    </a:p>
                    <a:p>
                      <a:pPr algn="ctr"/>
                      <a:endParaRPr lang="en-US" b="1" u="none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5229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create_shared_object</a:t>
                      </a:r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u="none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3975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get_shared_object</a:t>
                      </a:r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u="none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17962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962280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D787D-CEF3-767F-2A8C-83C0E7DD8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8"/>
            <a:ext cx="10058400" cy="856397"/>
          </a:xfrm>
        </p:spPr>
        <p:txBody>
          <a:bodyPr/>
          <a:lstStyle/>
          <a:p>
            <a:r>
              <a:rPr lang="en-US" sz="4800"/>
              <a:t>Shared Memory:</a:t>
            </a:r>
            <a:r>
              <a:rPr lang="en-US"/>
              <a:t> </a:t>
            </a:r>
            <a:r>
              <a:rPr lang="en-US" b="1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2F248-AB29-758E-430F-31CA77A90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65201"/>
            <a:ext cx="7894320" cy="2112276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400"/>
              <a:t> Communication is </a:t>
            </a:r>
            <a:r>
              <a:rPr lang="en-US" sz="2400" b="1"/>
              <a:t>harder</a:t>
            </a:r>
            <a:r>
              <a:rPr lang="en-US" sz="2400"/>
              <a:t> between processes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400"/>
              <a:t>To allow it: </a:t>
            </a:r>
            <a:r>
              <a:rPr lang="en-US" sz="2400" b="1"/>
              <a:t>shared memory </a:t>
            </a:r>
            <a:r>
              <a:rPr lang="en-US" sz="2400"/>
              <a:t>is applied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/>
              <a:t> Create and share objects in the </a:t>
            </a:r>
            <a:r>
              <a:rPr lang="en-US" sz="2000" b="1"/>
              <a:t>PAGE ALLOCATOR </a:t>
            </a:r>
            <a:r>
              <a:rPr lang="en-US" sz="2000"/>
              <a:t>of USER HEAP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/>
              <a:t> </a:t>
            </a:r>
            <a:r>
              <a:rPr lang="en-US" sz="2000" b="1"/>
              <a:t>CUSTOM FIT </a:t>
            </a:r>
            <a:r>
              <a:rPr lang="en-US" sz="2000"/>
              <a:t>Strategy</a:t>
            </a:r>
            <a:endParaRPr lang="ar-EG" sz="2000"/>
          </a:p>
          <a:p>
            <a:pPr>
              <a:lnSpc>
                <a:spcPct val="150000"/>
              </a:lnSpc>
            </a:pPr>
            <a:endParaRPr lang="en-US" sz="2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27E5AF-E1A8-40C2-6376-EA74D84C2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107</a:t>
            </a:fld>
            <a:endParaRPr lang="en-US"/>
          </a:p>
        </p:txBody>
      </p:sp>
      <p:grpSp>
        <p:nvGrpSpPr>
          <p:cNvPr id="7" name="Group 12">
            <a:extLst>
              <a:ext uri="{FF2B5EF4-FFF2-40B4-BE49-F238E27FC236}">
                <a16:creationId xmlns:a16="http://schemas.microsoft.com/office/drawing/2014/main" id="{54CDBF2E-71A8-161B-B467-CA9BB9B96F83}"/>
              </a:ext>
            </a:extLst>
          </p:cNvPr>
          <p:cNvGrpSpPr/>
          <p:nvPr/>
        </p:nvGrpSpPr>
        <p:grpSpPr>
          <a:xfrm>
            <a:off x="7791450" y="1104900"/>
            <a:ext cx="4400550" cy="5753100"/>
            <a:chOff x="4743450" y="1104900"/>
            <a:chExt cx="4400550" cy="5753100"/>
          </a:xfrm>
        </p:grpSpPr>
        <p:pic>
          <p:nvPicPr>
            <p:cNvPr id="8" name="Picture 3">
              <a:extLst>
                <a:ext uri="{FF2B5EF4-FFF2-40B4-BE49-F238E27FC236}">
                  <a16:creationId xmlns:a16="http://schemas.microsoft.com/office/drawing/2014/main" id="{DC9D0224-16E7-AC3F-A70E-2CA666B714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/>
            <a:srcRect r="12167"/>
            <a:stretch>
              <a:fillRect/>
            </a:stretch>
          </p:blipFill>
          <p:spPr bwMode="auto">
            <a:xfrm>
              <a:off x="4743450" y="1104900"/>
              <a:ext cx="4400550" cy="5753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3B9E211-49D1-8B30-9D22-72616AF1047C}"/>
                </a:ext>
              </a:extLst>
            </p:cNvPr>
            <p:cNvSpPr/>
            <p:nvPr/>
          </p:nvSpPr>
          <p:spPr>
            <a:xfrm>
              <a:off x="7696200" y="4419600"/>
              <a:ext cx="1447800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DECAEA43-A999-4F1A-1184-5D2D6FDB7B9D}"/>
              </a:ext>
            </a:extLst>
          </p:cNvPr>
          <p:cNvSpPr/>
          <p:nvPr/>
        </p:nvSpPr>
        <p:spPr bwMode="auto">
          <a:xfrm>
            <a:off x="9259277" y="4567963"/>
            <a:ext cx="1236445" cy="600385"/>
          </a:xfrm>
          <a:prstGeom prst="rect">
            <a:avLst/>
          </a:prstGeom>
          <a:solidFill>
            <a:srgbClr val="FF0000">
              <a:alpha val="40000"/>
            </a:srgb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DA6F730-2291-45E4-DE36-A72017EA5531}"/>
              </a:ext>
            </a:extLst>
          </p:cNvPr>
          <p:cNvGrpSpPr/>
          <p:nvPr/>
        </p:nvGrpSpPr>
        <p:grpSpPr>
          <a:xfrm>
            <a:off x="360150" y="3429000"/>
            <a:ext cx="2673081" cy="3409728"/>
            <a:chOff x="9341159" y="-415895"/>
            <a:chExt cx="2673081" cy="340972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4514342-DFED-B54D-684C-DB206B93A06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2" t="11746" r="58187" b="18264"/>
            <a:stretch/>
          </p:blipFill>
          <p:spPr bwMode="auto">
            <a:xfrm>
              <a:off x="9710490" y="73409"/>
              <a:ext cx="2303750" cy="2920424"/>
            </a:xfrm>
            <a:prstGeom prst="rect">
              <a:avLst/>
            </a:prstGeom>
            <a:noFill/>
            <a:ln w="38100" cmpd="dbl">
              <a:solidFill>
                <a:srgbClr val="CC66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FA37CD8-6162-4228-2390-D9B5918B7BBE}"/>
                </a:ext>
              </a:extLst>
            </p:cNvPr>
            <p:cNvSpPr txBox="1"/>
            <p:nvPr/>
          </p:nvSpPr>
          <p:spPr>
            <a:xfrm rot="16200000">
              <a:off x="8131853" y="793411"/>
              <a:ext cx="27879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>
                  <a:latin typeface="Gill Sans Light"/>
                </a:rPr>
                <a:t>Single-Threaded Process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7E54A6E-913D-94A4-3FFB-884A04D0AEE9}"/>
              </a:ext>
            </a:extLst>
          </p:cNvPr>
          <p:cNvGrpSpPr/>
          <p:nvPr/>
        </p:nvGrpSpPr>
        <p:grpSpPr>
          <a:xfrm>
            <a:off x="4936096" y="3474183"/>
            <a:ext cx="2673083" cy="3370602"/>
            <a:chOff x="9710490" y="-376769"/>
            <a:chExt cx="2673083" cy="3370602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D4C7C11-A395-3905-10BA-D0582835EB7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2" t="11746" r="58187" b="18264"/>
            <a:stretch/>
          </p:blipFill>
          <p:spPr bwMode="auto">
            <a:xfrm>
              <a:off x="9710490" y="73409"/>
              <a:ext cx="2303750" cy="2920424"/>
            </a:xfrm>
            <a:prstGeom prst="rect">
              <a:avLst/>
            </a:prstGeom>
            <a:noFill/>
            <a:ln w="38100" cmpd="dbl">
              <a:solidFill>
                <a:srgbClr val="CC66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341E000-51FB-6A6C-16D1-4D95BC8FE8BA}"/>
                </a:ext>
              </a:extLst>
            </p:cNvPr>
            <p:cNvSpPr txBox="1"/>
            <p:nvPr/>
          </p:nvSpPr>
          <p:spPr>
            <a:xfrm rot="16200000">
              <a:off x="10804935" y="832537"/>
              <a:ext cx="27879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>
                  <a:latin typeface="Gill Sans Light"/>
                </a:rPr>
                <a:t>Single-Threaded Process</a:t>
              </a:r>
            </a:p>
          </p:txBody>
        </p:sp>
      </p:grpSp>
      <p:sp>
        <p:nvSpPr>
          <p:cNvPr id="15" name="Arrow: Left-Right 14">
            <a:extLst>
              <a:ext uri="{FF2B5EF4-FFF2-40B4-BE49-F238E27FC236}">
                <a16:creationId xmlns:a16="http://schemas.microsoft.com/office/drawing/2014/main" id="{C5838AE7-2E7E-5FB7-70D8-ED5C6CD09668}"/>
              </a:ext>
            </a:extLst>
          </p:cNvPr>
          <p:cNvSpPr/>
          <p:nvPr/>
        </p:nvSpPr>
        <p:spPr>
          <a:xfrm>
            <a:off x="3053551" y="5136200"/>
            <a:ext cx="1823249" cy="484632"/>
          </a:xfrm>
          <a:prstGeom prst="left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6" name="Cross 15">
            <a:extLst>
              <a:ext uri="{FF2B5EF4-FFF2-40B4-BE49-F238E27FC236}">
                <a16:creationId xmlns:a16="http://schemas.microsoft.com/office/drawing/2014/main" id="{BFC08A9F-92D6-2039-DDE4-5DE02B993BAB}"/>
              </a:ext>
            </a:extLst>
          </p:cNvPr>
          <p:cNvSpPr/>
          <p:nvPr/>
        </p:nvSpPr>
        <p:spPr>
          <a:xfrm rot="18918279">
            <a:off x="3532996" y="4913769"/>
            <a:ext cx="914400" cy="914400"/>
          </a:xfrm>
          <a:prstGeom prst="plus">
            <a:avLst>
              <a:gd name="adj" fmla="val 40415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7" name="Flowchart: Document 16">
            <a:extLst>
              <a:ext uri="{FF2B5EF4-FFF2-40B4-BE49-F238E27FC236}">
                <a16:creationId xmlns:a16="http://schemas.microsoft.com/office/drawing/2014/main" id="{358371D8-26F6-3626-418B-59E84BF5BD5D}"/>
              </a:ext>
            </a:extLst>
          </p:cNvPr>
          <p:cNvSpPr/>
          <p:nvPr/>
        </p:nvSpPr>
        <p:spPr>
          <a:xfrm flipV="1">
            <a:off x="3550497" y="2757903"/>
            <a:ext cx="793326" cy="1066987"/>
          </a:xfrm>
          <a:prstGeom prst="flowChartDocument">
            <a:avLst/>
          </a:prstGeom>
          <a:solidFill>
            <a:srgbClr val="31E923"/>
          </a:solidFill>
          <a:ln>
            <a:solidFill>
              <a:srgbClr val="00B050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vert270" lIns="0" rIns="0" rtlCol="0" anchor="ctr"/>
          <a:lstStyle/>
          <a:p>
            <a:pPr algn="ctr"/>
            <a:r>
              <a:rPr lang="en-US" b="1"/>
              <a:t>Shared</a:t>
            </a:r>
            <a:endParaRPr lang="en-AE" b="1"/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EA27A800-8780-05C8-2924-3A2527F501CB}"/>
              </a:ext>
            </a:extLst>
          </p:cNvPr>
          <p:cNvCxnSpPr>
            <a:stCxn id="10" idx="0"/>
            <a:endCxn id="17" idx="1"/>
          </p:cNvCxnSpPr>
          <p:nvPr/>
        </p:nvCxnSpPr>
        <p:spPr>
          <a:xfrm rot="5400000" flipH="1" flipV="1">
            <a:off x="2402472" y="2770280"/>
            <a:ext cx="626908" cy="1669141"/>
          </a:xfrm>
          <a:prstGeom prst="bentConnector2">
            <a:avLst/>
          </a:prstGeom>
          <a:ln w="76200" cap="flat" cmpd="sng" algn="ctr">
            <a:solidFill>
              <a:srgbClr val="00B050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A6B5AAA4-2CFB-0DC4-78C5-BC721F363831}"/>
              </a:ext>
            </a:extLst>
          </p:cNvPr>
          <p:cNvCxnSpPr>
            <a:cxnSpLocks/>
            <a:stCxn id="17" idx="3"/>
            <a:endCxn id="13" idx="0"/>
          </p:cNvCxnSpPr>
          <p:nvPr/>
        </p:nvCxnSpPr>
        <p:spPr>
          <a:xfrm>
            <a:off x="4343823" y="3291396"/>
            <a:ext cx="1744148" cy="632965"/>
          </a:xfrm>
          <a:prstGeom prst="bentConnector2">
            <a:avLst/>
          </a:prstGeom>
          <a:ln w="76200" cap="flat" cmpd="sng" algn="ctr">
            <a:solidFill>
              <a:srgbClr val="00B050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4123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5" grpId="0" animBg="1"/>
      <p:bldP spid="16" grpId="0" animBg="1"/>
      <p:bldP spid="17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7888" y="972422"/>
            <a:ext cx="10357841" cy="5358804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sz="2800" b="1">
                <a:latin typeface="Consolas" panose="020B0609020204030204" pitchFamily="49" charset="0"/>
                <a:cs typeface="Consolas" panose="020B0609020204030204" pitchFamily="49" charset="0"/>
              </a:rPr>
              <a:t>Creation (Application 1):</a:t>
            </a:r>
          </a:p>
          <a:p>
            <a:pPr lvl="1">
              <a:lnSpc>
                <a:spcPct val="150000"/>
              </a:lnSpc>
              <a:buNone/>
            </a:pPr>
            <a:r>
              <a:rPr lang="en-US" sz="2400" b="1" err="1">
                <a:latin typeface="Consolas"/>
              </a:rPr>
              <a:t>int</a:t>
            </a:r>
            <a:r>
              <a:rPr lang="en-US" sz="2400" b="1">
                <a:latin typeface="Consolas"/>
              </a:rPr>
              <a:t>* </a:t>
            </a:r>
            <a:r>
              <a:rPr lang="en-US" sz="2400" err="1">
                <a:latin typeface="Consolas"/>
              </a:rPr>
              <a:t>ptr_sharedInt</a:t>
            </a:r>
            <a:r>
              <a:rPr lang="en-US" sz="2400">
                <a:latin typeface="Consolas"/>
              </a:rPr>
              <a:t>;</a:t>
            </a:r>
          </a:p>
          <a:p>
            <a:pPr lvl="1">
              <a:lnSpc>
                <a:spcPct val="150000"/>
              </a:lnSpc>
              <a:buNone/>
            </a:pPr>
            <a:r>
              <a:rPr lang="en-US" sz="2400" b="1">
                <a:latin typeface="Consolas"/>
              </a:rPr>
              <a:t>uint8</a:t>
            </a:r>
            <a:r>
              <a:rPr lang="en-US" sz="2400">
                <a:latin typeface="Consolas"/>
              </a:rPr>
              <a:t> </a:t>
            </a:r>
            <a:r>
              <a:rPr lang="en-US" sz="2400" err="1">
                <a:latin typeface="Consolas"/>
              </a:rPr>
              <a:t>isWritable</a:t>
            </a:r>
            <a:r>
              <a:rPr lang="en-US" sz="2400">
                <a:latin typeface="Consolas"/>
              </a:rPr>
              <a:t> = 1;</a:t>
            </a:r>
          </a:p>
          <a:p>
            <a:pPr lvl="1">
              <a:lnSpc>
                <a:spcPct val="150000"/>
              </a:lnSpc>
              <a:buNone/>
            </a:pPr>
            <a:r>
              <a:rPr lang="en-US" sz="2400" err="1">
                <a:latin typeface="Consolas"/>
              </a:rPr>
              <a:t>ptr_sharedInt</a:t>
            </a:r>
            <a:r>
              <a:rPr lang="en-US" sz="2400">
                <a:latin typeface="Consolas"/>
              </a:rPr>
              <a:t> = </a:t>
            </a:r>
            <a:r>
              <a:rPr lang="en-US" sz="2400" b="1" err="1">
                <a:solidFill>
                  <a:srgbClr val="FF0000"/>
                </a:solidFill>
                <a:latin typeface="Consolas"/>
              </a:rPr>
              <a:t>smalloc</a:t>
            </a: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(“mySharedInt”,4</a:t>
            </a:r>
            <a:r>
              <a:rPr lang="en-US" sz="2400">
                <a:latin typeface="Consolas"/>
              </a:rPr>
              <a:t>,isWritable</a:t>
            </a: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lvl="2">
              <a:lnSpc>
                <a:spcPct val="150000"/>
              </a:lnSpc>
            </a:pP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allocate 4 bytes named “</a:t>
            </a:r>
            <a:r>
              <a:rPr lang="en-US" sz="1800" err="1">
                <a:latin typeface="Consolas" panose="020B0609020204030204" pitchFamily="49" charset="0"/>
                <a:cs typeface="Consolas" panose="020B0609020204030204" pitchFamily="49" charset="0"/>
              </a:rPr>
              <a:t>mySharedInt</a:t>
            </a: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” in virtual memory and return the allocated virtual address to “</a:t>
            </a:r>
            <a:r>
              <a:rPr lang="en-US" sz="1800" err="1">
                <a:latin typeface="Consolas" panose="020B0609020204030204" pitchFamily="49" charset="0"/>
                <a:cs typeface="Consolas" panose="020B0609020204030204" pitchFamily="49" charset="0"/>
              </a:rPr>
              <a:t>ptr_sharedInt</a:t>
            </a: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”</a:t>
            </a:r>
          </a:p>
          <a:p>
            <a:pPr lvl="2">
              <a:lnSpc>
                <a:spcPct val="150000"/>
              </a:lnSpc>
            </a:pP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Specify its shared permission to be </a:t>
            </a:r>
            <a:r>
              <a:rPr lang="en-US" sz="1800" b="1">
                <a:latin typeface="Consolas" panose="020B0609020204030204" pitchFamily="49" charset="0"/>
                <a:cs typeface="Consolas" panose="020B0609020204030204" pitchFamily="49" charset="0"/>
              </a:rPr>
              <a:t>writable</a:t>
            </a:r>
          </a:p>
          <a:p>
            <a:pPr lvl="1">
              <a:lnSpc>
                <a:spcPct val="150000"/>
              </a:lnSpc>
              <a:buNone/>
            </a:pPr>
            <a:r>
              <a:rPr lang="en-US" sz="2400" b="1">
                <a:latin typeface="Consolas"/>
              </a:rPr>
              <a:t>*</a:t>
            </a:r>
            <a:r>
              <a:rPr lang="en-US" sz="2400" b="1" err="1">
                <a:latin typeface="Consolas"/>
              </a:rPr>
              <a:t>ptr_sharedInt</a:t>
            </a:r>
            <a:r>
              <a:rPr lang="en-US" sz="2400" b="1">
                <a:latin typeface="Consolas"/>
              </a:rPr>
              <a:t> </a:t>
            </a:r>
            <a:r>
              <a:rPr lang="en-US" sz="2400">
                <a:latin typeface="Consolas"/>
              </a:rPr>
              <a:t>= 70;</a:t>
            </a:r>
          </a:p>
          <a:p>
            <a:pPr lvl="2">
              <a:lnSpc>
                <a:spcPct val="150000"/>
              </a:lnSpc>
            </a:pPr>
            <a:r>
              <a:rPr lang="en-US" sz="180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 the value of the shared </a:t>
            </a:r>
            <a:r>
              <a:rPr lang="en-US" sz="180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80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to 70 </a:t>
            </a:r>
          </a:p>
          <a:p>
            <a:pPr lvl="1">
              <a:lnSpc>
                <a:spcPct val="100000"/>
              </a:lnSpc>
              <a:buNone/>
            </a:pPr>
            <a:endParaRPr lang="en-US" sz="20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108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74600FB-A566-427D-4678-0C0A629F9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8"/>
            <a:ext cx="10058400" cy="856397"/>
          </a:xfrm>
        </p:spPr>
        <p:txBody>
          <a:bodyPr/>
          <a:lstStyle/>
          <a:p>
            <a:r>
              <a:rPr lang="en-US" sz="4800"/>
              <a:t>Shared Memory:</a:t>
            </a:r>
            <a:r>
              <a:rPr lang="en-US"/>
              <a:t> </a:t>
            </a:r>
            <a:r>
              <a:rPr lang="en-US" b="1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829532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8011" y="1286627"/>
            <a:ext cx="9452149" cy="3886199"/>
          </a:xfrm>
        </p:spPr>
        <p:txBody>
          <a:bodyPr>
            <a:noAutofit/>
          </a:bodyPr>
          <a:lstStyle/>
          <a:p>
            <a:r>
              <a:rPr lang="en-US" sz="2800" b="1">
                <a:latin typeface="Consolas" panose="020B0609020204030204" pitchFamily="49" charset="0"/>
                <a:cs typeface="Consolas" panose="020B0609020204030204" pitchFamily="49" charset="0"/>
              </a:rPr>
              <a:t>Access from other app. (Application 2):</a:t>
            </a:r>
          </a:p>
          <a:p>
            <a:pPr lvl="1">
              <a:lnSpc>
                <a:spcPct val="150000"/>
              </a:lnSpc>
              <a:buNone/>
            </a:pPr>
            <a:r>
              <a:rPr lang="en-US" sz="2400" b="1" err="1">
                <a:latin typeface="Consolas"/>
              </a:rPr>
              <a:t>int</a:t>
            </a:r>
            <a:r>
              <a:rPr lang="en-US" sz="2400" b="1">
                <a:latin typeface="Consolas"/>
              </a:rPr>
              <a:t>* </a:t>
            </a:r>
            <a:r>
              <a:rPr lang="en-US" sz="2400" err="1">
                <a:latin typeface="Consolas"/>
              </a:rPr>
              <a:t>ptr_sharedInt</a:t>
            </a:r>
            <a:r>
              <a:rPr lang="en-US" sz="2400">
                <a:latin typeface="Consolas"/>
              </a:rPr>
              <a:t>;</a:t>
            </a:r>
          </a:p>
          <a:p>
            <a:pPr lvl="1">
              <a:lnSpc>
                <a:spcPct val="150000"/>
              </a:lnSpc>
              <a:buNone/>
            </a:pPr>
            <a:r>
              <a:rPr lang="en-US" sz="2400" err="1">
                <a:latin typeface="Consolas"/>
              </a:rPr>
              <a:t>ptr_sharedInt</a:t>
            </a:r>
            <a:r>
              <a:rPr lang="en-US" sz="2400">
                <a:latin typeface="Consolas"/>
              </a:rPr>
              <a:t> = </a:t>
            </a:r>
            <a:r>
              <a:rPr lang="en-US" sz="2400" b="1" err="1">
                <a:solidFill>
                  <a:srgbClr val="FF0000"/>
                </a:solidFill>
                <a:latin typeface="Consolas"/>
              </a:rPr>
              <a:t>sget</a:t>
            </a: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 b="1">
                <a:latin typeface="Consolas" panose="020B0609020204030204" pitchFamily="49" charset="0"/>
                <a:cs typeface="Consolas" panose="020B0609020204030204" pitchFamily="49" charset="0"/>
              </a:rPr>
              <a:t>App1ID</a:t>
            </a: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, “</a:t>
            </a:r>
            <a:r>
              <a:rPr lang="en-US" sz="2400" b="1" err="1">
                <a:latin typeface="Consolas" panose="020B0609020204030204" pitchFamily="49" charset="0"/>
                <a:cs typeface="Consolas" panose="020B0609020204030204" pitchFamily="49" charset="0"/>
              </a:rPr>
              <a:t>mySharedInt</a:t>
            </a: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”); </a:t>
            </a:r>
          </a:p>
          <a:p>
            <a:pPr lvl="2">
              <a:lnSpc>
                <a:spcPct val="150000"/>
              </a:lnSpc>
            </a:pP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Search for the shared object, named “</a:t>
            </a:r>
            <a:r>
              <a:rPr lang="en-US" sz="1800" err="1">
                <a:latin typeface="Consolas" panose="020B0609020204030204" pitchFamily="49" charset="0"/>
                <a:cs typeface="Consolas" panose="020B0609020204030204" pitchFamily="49" charset="0"/>
              </a:rPr>
              <a:t>mySharedInt</a:t>
            </a: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” and belong to App1ID </a:t>
            </a:r>
          </a:p>
          <a:p>
            <a:pPr lvl="2">
              <a:lnSpc>
                <a:spcPct val="150000"/>
              </a:lnSpc>
            </a:pP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share it in app2, and return its virtual address in “</a:t>
            </a:r>
            <a:r>
              <a:rPr lang="en-US" sz="1800" err="1">
                <a:latin typeface="Consolas" panose="020B0609020204030204" pitchFamily="49" charset="0"/>
                <a:cs typeface="Consolas" panose="020B0609020204030204" pitchFamily="49" charset="0"/>
              </a:rPr>
              <a:t>ptr_sharedInt</a:t>
            </a: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”</a:t>
            </a:r>
          </a:p>
          <a:p>
            <a:pPr lvl="1">
              <a:lnSpc>
                <a:spcPct val="150000"/>
              </a:lnSpc>
              <a:buNone/>
            </a:pPr>
            <a:r>
              <a:rPr lang="en-US" sz="2400" b="1" err="1">
                <a:latin typeface="Consolas"/>
              </a:rPr>
              <a:t>int</a:t>
            </a:r>
            <a:r>
              <a:rPr lang="en-US" sz="2400">
                <a:latin typeface="Consolas"/>
              </a:rPr>
              <a:t> </a:t>
            </a:r>
            <a:r>
              <a:rPr lang="en-US" sz="2400" err="1">
                <a:latin typeface="Consolas"/>
              </a:rPr>
              <a:t>sharedInt</a:t>
            </a:r>
            <a:r>
              <a:rPr lang="en-US" sz="2400">
                <a:latin typeface="Consolas"/>
              </a:rPr>
              <a:t> = *</a:t>
            </a:r>
            <a:r>
              <a:rPr lang="en-US" sz="2400" err="1">
                <a:latin typeface="Consolas"/>
              </a:rPr>
              <a:t>ptr_sharedInt</a:t>
            </a:r>
            <a:r>
              <a:rPr lang="en-US" sz="2400">
                <a:latin typeface="Consolas"/>
              </a:rPr>
              <a:t>;</a:t>
            </a:r>
          </a:p>
          <a:p>
            <a:pPr lvl="2">
              <a:lnSpc>
                <a:spcPct val="150000"/>
              </a:lnSpc>
            </a:pPr>
            <a:r>
              <a:rPr lang="en-US" sz="1800">
                <a:latin typeface="Consolas"/>
                <a:cs typeface="Consolas" panose="020B0609020204030204" pitchFamily="49" charset="0"/>
              </a:rPr>
              <a:t>Read its value (it should be 70)</a:t>
            </a:r>
            <a:endParaRPr lang="en-US" sz="18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109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EB19CA3-5E90-A26D-80EA-7BBA12254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8"/>
            <a:ext cx="10058400" cy="856397"/>
          </a:xfrm>
        </p:spPr>
        <p:txBody>
          <a:bodyPr/>
          <a:lstStyle/>
          <a:p>
            <a:r>
              <a:rPr lang="en-US" sz="4800"/>
              <a:t>Shared Memory:</a:t>
            </a:r>
            <a:r>
              <a:rPr lang="en-US"/>
              <a:t> </a:t>
            </a:r>
            <a:r>
              <a:rPr lang="en-US" b="1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3734172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201644"/>
            <a:ext cx="10058400" cy="4023360"/>
          </a:xfrm>
        </p:spPr>
        <p:txBody>
          <a:bodyPr>
            <a:normAutofit/>
          </a:bodyPr>
          <a:lstStyle/>
          <a:p>
            <a:pPr marL="0" indent="0"/>
            <a:r>
              <a:rPr lang="en-US" sz="2800" b="1"/>
              <a:t>Create/Share pages on 4KB granularity</a:t>
            </a:r>
          </a:p>
          <a:p>
            <a:pPr marL="0" indent="0">
              <a:buNone/>
            </a:pPr>
            <a:endParaRPr lang="ar-EG" sz="1800">
              <a:latin typeface="Consolas" panose="020B0609020204030204" pitchFamily="49" charset="0"/>
            </a:endParaRPr>
          </a:p>
        </p:txBody>
      </p:sp>
      <p:grpSp>
        <p:nvGrpSpPr>
          <p:cNvPr id="6" name="Group 16"/>
          <p:cNvGrpSpPr/>
          <p:nvPr/>
        </p:nvGrpSpPr>
        <p:grpSpPr>
          <a:xfrm>
            <a:off x="5168053" y="1897240"/>
            <a:ext cx="4345957" cy="4267200"/>
            <a:chOff x="2588243" y="2286000"/>
            <a:chExt cx="4345957" cy="4267200"/>
          </a:xfrm>
        </p:grpSpPr>
        <p:sp>
          <p:nvSpPr>
            <p:cNvPr id="4" name="Rectangle 3"/>
            <p:cNvSpPr/>
            <p:nvPr/>
          </p:nvSpPr>
          <p:spPr>
            <a:xfrm>
              <a:off x="4953000" y="4876800"/>
              <a:ext cx="1981200" cy="4572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953000" y="2286000"/>
              <a:ext cx="1981200" cy="12192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/>
                <a:t>.</a:t>
              </a:r>
            </a:p>
            <a:p>
              <a:pPr algn="ctr"/>
              <a:r>
                <a:rPr lang="en-US"/>
                <a:t>.</a:t>
              </a:r>
            </a:p>
            <a:p>
              <a:pPr algn="ctr"/>
              <a:r>
                <a:rPr lang="en-US"/>
                <a:t>.</a:t>
              </a:r>
              <a:endParaRPr lang="ar-EG"/>
            </a:p>
          </p:txBody>
        </p:sp>
        <p:cxnSp>
          <p:nvCxnSpPr>
            <p:cNvPr id="8" name="Straight Arrow Connector 7"/>
            <p:cNvCxnSpPr>
              <a:cxnSpLocks/>
            </p:cNvCxnSpPr>
            <p:nvPr/>
          </p:nvCxnSpPr>
          <p:spPr>
            <a:xfrm>
              <a:off x="4437110" y="6044838"/>
              <a:ext cx="51589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2588243" y="5885999"/>
              <a:ext cx="1855893" cy="338554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</a:rPr>
                <a:t>PAGE ALLOCATOR</a:t>
              </a:r>
              <a:endParaRPr lang="ar-EG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953000" y="4419600"/>
              <a:ext cx="1981200" cy="4572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953000" y="3962400"/>
              <a:ext cx="1981200" cy="4572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953000" y="3505200"/>
              <a:ext cx="1981200" cy="4572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953000" y="5334000"/>
              <a:ext cx="1981200" cy="12192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 dirty="0"/>
                <a:t>.</a:t>
              </a:r>
            </a:p>
            <a:p>
              <a:pPr algn="ctr"/>
              <a:r>
                <a:rPr lang="en-US" dirty="0"/>
                <a:t>.</a:t>
              </a:r>
            </a:p>
            <a:p>
              <a:pPr algn="ctr"/>
              <a:r>
                <a:rPr lang="en-US" dirty="0"/>
                <a:t>.</a:t>
              </a:r>
              <a:endParaRPr lang="ar-EG" dirty="0"/>
            </a:p>
          </p:txBody>
        </p:sp>
      </p:grpSp>
      <p:grpSp>
        <p:nvGrpSpPr>
          <p:cNvPr id="9" name="Group 32"/>
          <p:cNvGrpSpPr/>
          <p:nvPr/>
        </p:nvGrpSpPr>
        <p:grpSpPr>
          <a:xfrm>
            <a:off x="3341810" y="4209366"/>
            <a:ext cx="6148063" cy="876606"/>
            <a:chOff x="762000" y="4598126"/>
            <a:chExt cx="6148063" cy="876606"/>
          </a:xfrm>
        </p:grpSpPr>
        <p:cxnSp>
          <p:nvCxnSpPr>
            <p:cNvPr id="7" name="Straight Arrow Connector 6"/>
            <p:cNvCxnSpPr/>
            <p:nvPr/>
          </p:nvCxnSpPr>
          <p:spPr>
            <a:xfrm>
              <a:off x="4343400" y="5334000"/>
              <a:ext cx="6096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16" name="Rectangle 15"/>
            <p:cNvSpPr/>
            <p:nvPr/>
          </p:nvSpPr>
          <p:spPr>
            <a:xfrm>
              <a:off x="4966063" y="4889863"/>
              <a:ext cx="1944000" cy="43200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/>
                <a:t>4 KB</a:t>
              </a:r>
              <a:endParaRPr lang="ar-EG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62000" y="5105400"/>
              <a:ext cx="2992708" cy="369332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1">
              <a:spAutoFit/>
            </a:bodyPr>
            <a:lstStyle/>
            <a:p>
              <a:r>
                <a:rPr lang="en-US" b="1"/>
                <a:t>ptr1</a:t>
              </a:r>
              <a:r>
                <a:rPr lang="en-US"/>
                <a:t> = </a:t>
              </a:r>
              <a:r>
                <a:rPr lang="en-US" b="1" err="1"/>
                <a:t>smalloc</a:t>
              </a:r>
              <a:r>
                <a:rPr lang="en-US"/>
                <a:t>(“x”, 6 KB, 1)</a:t>
              </a:r>
              <a:endParaRPr lang="ar-EG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936579" y="5105400"/>
              <a:ext cx="586122" cy="369332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rtlCol="1">
              <a:spAutoFit/>
            </a:bodyPr>
            <a:lstStyle/>
            <a:p>
              <a:r>
                <a:rPr lang="en-US" b="1"/>
                <a:t>ptr1</a:t>
              </a:r>
              <a:endParaRPr lang="ar-EG" sz="1600" b="1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966063" y="4598126"/>
              <a:ext cx="1944000" cy="252000"/>
            </a:xfrm>
            <a:prstGeom prst="rect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/>
                <a:t>2 KB</a:t>
              </a:r>
              <a:endParaRPr lang="ar-EG"/>
            </a:p>
          </p:txBody>
        </p:sp>
      </p:grpSp>
      <p:grpSp>
        <p:nvGrpSpPr>
          <p:cNvPr id="14" name="Group 31"/>
          <p:cNvGrpSpPr/>
          <p:nvPr/>
        </p:nvGrpSpPr>
        <p:grpSpPr>
          <a:xfrm>
            <a:off x="3341810" y="3776114"/>
            <a:ext cx="6148063" cy="369332"/>
            <a:chOff x="762000" y="4164874"/>
            <a:chExt cx="6148063" cy="369332"/>
          </a:xfrm>
        </p:grpSpPr>
        <p:cxnSp>
          <p:nvCxnSpPr>
            <p:cNvPr id="21" name="Straight Arrow Connector 20"/>
            <p:cNvCxnSpPr/>
            <p:nvPr/>
          </p:nvCxnSpPr>
          <p:spPr>
            <a:xfrm>
              <a:off x="4343400" y="4393474"/>
              <a:ext cx="6096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22" name="Rectangle 21"/>
            <p:cNvSpPr/>
            <p:nvPr/>
          </p:nvSpPr>
          <p:spPr>
            <a:xfrm>
              <a:off x="4966063" y="4204062"/>
              <a:ext cx="1944000" cy="190337"/>
            </a:xfrm>
            <a:prstGeom prst="rect">
              <a:avLst/>
            </a:prstGeom>
            <a:ln>
              <a:prstDash val="dash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/>
                <a:t>1 KB</a:t>
              </a:r>
              <a:endParaRPr lang="ar-EG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62000" y="4164874"/>
              <a:ext cx="2992708" cy="369332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1">
              <a:spAutoFit/>
            </a:bodyPr>
            <a:lstStyle/>
            <a:p>
              <a:r>
                <a:rPr lang="en-US" b="1"/>
                <a:t>ptr2</a:t>
              </a:r>
              <a:r>
                <a:rPr lang="en-US"/>
                <a:t> = </a:t>
              </a:r>
              <a:r>
                <a:rPr lang="en-US" b="1" err="1"/>
                <a:t>smalloc</a:t>
              </a:r>
              <a:r>
                <a:rPr lang="en-US"/>
                <a:t>(“y”, 1 KB, 0)</a:t>
              </a:r>
              <a:endParaRPr lang="ar-EG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936579" y="4164874"/>
              <a:ext cx="586122" cy="369332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rtlCol="1">
              <a:spAutoFit/>
            </a:bodyPr>
            <a:lstStyle/>
            <a:p>
              <a:r>
                <a:rPr lang="en-US" b="1"/>
                <a:t>ptr2</a:t>
              </a:r>
              <a:endParaRPr lang="ar-EG" sz="1600" b="1"/>
            </a:p>
          </p:txBody>
        </p:sp>
      </p:grpSp>
      <p:grpSp>
        <p:nvGrpSpPr>
          <p:cNvPr id="17" name="Group 30"/>
          <p:cNvGrpSpPr/>
          <p:nvPr/>
        </p:nvGrpSpPr>
        <p:grpSpPr>
          <a:xfrm>
            <a:off x="3341810" y="3268838"/>
            <a:ext cx="6148063" cy="421586"/>
            <a:chOff x="762000" y="3644535"/>
            <a:chExt cx="6148063" cy="421586"/>
          </a:xfrm>
        </p:grpSpPr>
        <p:cxnSp>
          <p:nvCxnSpPr>
            <p:cNvPr id="26" name="Straight Arrow Connector 25"/>
            <p:cNvCxnSpPr/>
            <p:nvPr/>
          </p:nvCxnSpPr>
          <p:spPr>
            <a:xfrm>
              <a:off x="4343400" y="3925389"/>
              <a:ext cx="6096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27" name="Rectangle 26"/>
            <p:cNvSpPr/>
            <p:nvPr/>
          </p:nvSpPr>
          <p:spPr>
            <a:xfrm>
              <a:off x="4966063" y="3644535"/>
              <a:ext cx="1944000" cy="288000"/>
            </a:xfrm>
            <a:prstGeom prst="rect">
              <a:avLst/>
            </a:prstGeom>
            <a:ln>
              <a:prstDash val="dash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/>
                <a:t>3 KB</a:t>
              </a:r>
              <a:endParaRPr lang="ar-EG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62000" y="3696789"/>
              <a:ext cx="2992708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1">
              <a:spAutoFit/>
            </a:bodyPr>
            <a:lstStyle/>
            <a:p>
              <a:r>
                <a:rPr lang="en-US" b="1"/>
                <a:t>ptr3</a:t>
              </a:r>
              <a:r>
                <a:rPr lang="en-US"/>
                <a:t> = </a:t>
              </a:r>
              <a:r>
                <a:rPr lang="en-US" b="1" err="1"/>
                <a:t>sget</a:t>
              </a:r>
              <a:r>
                <a:rPr lang="en-US"/>
                <a:t>(</a:t>
              </a:r>
              <a:r>
                <a:rPr lang="en-US" err="1"/>
                <a:t>ownerID</a:t>
              </a:r>
              <a:r>
                <a:rPr lang="en-US"/>
                <a:t>, “z”)</a:t>
              </a:r>
              <a:endParaRPr lang="ar-EG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936579" y="3696789"/>
              <a:ext cx="586122" cy="369332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rtlCol="1">
              <a:spAutoFit/>
            </a:bodyPr>
            <a:lstStyle/>
            <a:p>
              <a:r>
                <a:rPr lang="en-US" b="1"/>
                <a:t>ptr3</a:t>
              </a:r>
              <a:endParaRPr lang="ar-EG" sz="1600" b="1"/>
            </a:p>
          </p:txBody>
        </p:sp>
      </p:grpSp>
      <p:sp>
        <p:nvSpPr>
          <p:cNvPr id="30" name="Slide Number Placeholder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110</a:t>
            </a:fld>
            <a:endParaRPr lang="en-US"/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39BE1EC0-0C62-5025-D9CC-1E6D73E6D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8"/>
            <a:ext cx="10058400" cy="856397"/>
          </a:xfrm>
        </p:spPr>
        <p:txBody>
          <a:bodyPr/>
          <a:lstStyle/>
          <a:p>
            <a:r>
              <a:rPr lang="en-US" sz="4800"/>
              <a:t>Shared Memory:</a:t>
            </a:r>
            <a:r>
              <a:rPr lang="en-US"/>
              <a:t> </a:t>
            </a:r>
            <a:r>
              <a:rPr lang="en-US" b="1"/>
              <a:t>Overview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2CC4663-2E03-39A0-64EF-742D3C257005}"/>
              </a:ext>
            </a:extLst>
          </p:cNvPr>
          <p:cNvCxnSpPr/>
          <p:nvPr/>
        </p:nvCxnSpPr>
        <p:spPr>
          <a:xfrm flipH="1">
            <a:off x="9514010" y="5676490"/>
            <a:ext cx="3810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9474E94-2007-6581-962C-77F96A2B1F69}"/>
              </a:ext>
            </a:extLst>
          </p:cNvPr>
          <p:cNvSpPr txBox="1"/>
          <p:nvPr/>
        </p:nvSpPr>
        <p:spPr>
          <a:xfrm>
            <a:off x="9857999" y="5487079"/>
            <a:ext cx="1817934" cy="33855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600" b="1"/>
              <a:t>USER_HEAP_START</a:t>
            </a:r>
            <a:endParaRPr lang="ar-EG" sz="1600" b="1"/>
          </a:p>
        </p:txBody>
      </p:sp>
    </p:spTree>
    <p:extLst>
      <p:ext uri="{BB962C8B-B14F-4D97-AF65-F5344CB8AC3E}">
        <p14:creationId xmlns:p14="http://schemas.microsoft.com/office/powerpoint/2010/main" val="2722355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E491F-5BFA-7EEF-0A7E-FDF8B8CA5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D7E348-3788-A106-DAE5-1CF3CCE29D97}"/>
              </a:ext>
            </a:extLst>
          </p:cNvPr>
          <p:cNvSpPr txBox="1">
            <a:spLocks/>
          </p:cNvSpPr>
          <p:nvPr/>
        </p:nvSpPr>
        <p:spPr>
          <a:xfrm>
            <a:off x="0" y="880846"/>
            <a:ext cx="5880843" cy="5966993"/>
          </a:xfrm>
          <a:prstGeom prst="rect">
            <a:avLst/>
          </a:prstGeom>
          <a:solidFill>
            <a:schemeClr val="bg1"/>
          </a:solidFill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</a:pPr>
            <a:r>
              <a:rPr lang="en-US" sz="3200" b="1" dirty="0"/>
              <a:t>CUSTOM FIT </a:t>
            </a:r>
            <a:r>
              <a:rPr lang="en-US" sz="3200" dirty="0"/>
              <a:t>Strategy</a:t>
            </a:r>
          </a:p>
          <a:p>
            <a:pPr marL="0" indent="0"/>
            <a:r>
              <a:rPr lang="en-US" sz="2800" b="1" dirty="0"/>
              <a:t>1.</a:t>
            </a:r>
            <a:r>
              <a:rPr lang="en-US" sz="2800" dirty="0"/>
              <a:t> Search for </a:t>
            </a:r>
            <a:r>
              <a:rPr lang="en-US" sz="2800" b="1" dirty="0"/>
              <a:t>EXACT fit</a:t>
            </a:r>
          </a:p>
          <a:p>
            <a:pPr marL="0" indent="0"/>
            <a:r>
              <a:rPr lang="en-US" sz="2800" b="1" dirty="0"/>
              <a:t>2. </a:t>
            </a:r>
            <a:r>
              <a:rPr lang="en-US" sz="2800" dirty="0"/>
              <a:t>if not found,</a:t>
            </a:r>
            <a:r>
              <a:rPr lang="en-US" sz="2800" b="1" dirty="0"/>
              <a:t> </a:t>
            </a:r>
          </a:p>
          <a:p>
            <a:pPr marL="0" indent="0"/>
            <a:r>
              <a:rPr lang="en-US" sz="2800" b="1" dirty="0"/>
              <a:t>    </a:t>
            </a:r>
            <a:r>
              <a:rPr lang="en-US" sz="2800" dirty="0"/>
              <a:t>search for </a:t>
            </a:r>
            <a:r>
              <a:rPr lang="en-US" sz="2800" b="1" dirty="0"/>
              <a:t>WORST fit </a:t>
            </a:r>
            <a:r>
              <a:rPr lang="en-US" sz="2800" dirty="0"/>
              <a:t>till break</a:t>
            </a:r>
          </a:p>
          <a:p>
            <a:pPr marL="0" indent="0"/>
            <a:r>
              <a:rPr lang="en-US" sz="2800" b="1" dirty="0"/>
              <a:t>3. </a:t>
            </a:r>
            <a:r>
              <a:rPr lang="en-US" sz="2800" dirty="0"/>
              <a:t>if not found,</a:t>
            </a:r>
            <a:r>
              <a:rPr lang="en-US" sz="2800" b="1" dirty="0"/>
              <a:t> </a:t>
            </a:r>
          </a:p>
          <a:p>
            <a:pPr marL="0" indent="0"/>
            <a:r>
              <a:rPr lang="en-US" sz="2800" b="1" dirty="0"/>
              <a:t>    </a:t>
            </a:r>
            <a:r>
              <a:rPr lang="en-US" sz="2800" dirty="0"/>
              <a:t>extend </a:t>
            </a:r>
            <a:r>
              <a:rPr lang="en-US" sz="2800" b="1" dirty="0"/>
              <a:t>BREAK </a:t>
            </a:r>
            <a:r>
              <a:rPr lang="en-US" sz="2800" dirty="0"/>
              <a:t>if available</a:t>
            </a:r>
          </a:p>
          <a:p>
            <a:pPr marL="0" indent="0"/>
            <a:r>
              <a:rPr lang="en-US" sz="2800" b="1" dirty="0"/>
              <a:t>4. </a:t>
            </a:r>
            <a:r>
              <a:rPr lang="en-US" sz="2800" dirty="0"/>
              <a:t>if not available,</a:t>
            </a:r>
            <a:r>
              <a:rPr lang="en-US" sz="2800" b="1" dirty="0"/>
              <a:t> </a:t>
            </a:r>
          </a:p>
          <a:p>
            <a:pPr marL="0" indent="0"/>
            <a:r>
              <a:rPr lang="en-US" sz="2800" b="1" dirty="0"/>
              <a:t>    </a:t>
            </a:r>
            <a:r>
              <a:rPr lang="en-US" sz="2800" dirty="0"/>
              <a:t>return </a:t>
            </a:r>
            <a:r>
              <a:rPr lang="en-US" sz="2800" b="1" dirty="0"/>
              <a:t>NULL</a:t>
            </a:r>
          </a:p>
          <a:p>
            <a:pPr marL="0" indent="0"/>
            <a:r>
              <a:rPr lang="en-US" sz="2800" b="1" dirty="0"/>
              <a:t>Required Complexity: </a:t>
            </a:r>
            <a:r>
              <a:rPr lang="en-US" sz="2800" b="1" dirty="0">
                <a:solidFill>
                  <a:srgbClr val="FF0000"/>
                </a:solidFill>
              </a:rPr>
              <a:t>bounded by</a:t>
            </a:r>
            <a:r>
              <a:rPr lang="en-US" sz="2800" b="1" dirty="0"/>
              <a:t> </a:t>
            </a:r>
          </a:p>
          <a:p>
            <a:pPr marL="0" indent="0"/>
            <a:r>
              <a:rPr lang="en-US" sz="2800" b="1" dirty="0">
                <a:solidFill>
                  <a:srgbClr val="FF0000"/>
                </a:solidFill>
              </a:rPr>
              <a:t>O(# FREE areas + # required pages)</a:t>
            </a:r>
          </a:p>
          <a:p>
            <a:pPr marL="0" indent="0"/>
            <a:endParaRPr lang="en-US" sz="2800" b="1" dirty="0"/>
          </a:p>
          <a:p>
            <a:pPr marL="0" indent="0"/>
            <a:endParaRPr lang="en-US" sz="2800" dirty="0"/>
          </a:p>
          <a:p>
            <a:pPr marL="0" indent="0">
              <a:buFont typeface="Calibri" panose="020F0502020204030204" pitchFamily="34" charset="0"/>
              <a:buNone/>
            </a:pPr>
            <a:endParaRPr lang="ar-EG" sz="1800" dirty="0">
              <a:latin typeface="Consolas" panose="020B0609020204030204" pitchFamily="49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7060CEB-8064-C1A4-FB6C-624DEA0E72B9}"/>
              </a:ext>
            </a:extLst>
          </p:cNvPr>
          <p:cNvGrpSpPr/>
          <p:nvPr/>
        </p:nvGrpSpPr>
        <p:grpSpPr>
          <a:xfrm>
            <a:off x="6897894" y="512961"/>
            <a:ext cx="5294106" cy="5218413"/>
            <a:chOff x="2498995" y="818264"/>
            <a:chExt cx="5294106" cy="521841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063BDCC-A20A-CD52-C3B1-72F7C65A64DA}"/>
                </a:ext>
              </a:extLst>
            </p:cNvPr>
            <p:cNvSpPr/>
            <p:nvPr/>
          </p:nvSpPr>
          <p:spPr>
            <a:xfrm>
              <a:off x="4953000" y="5147400"/>
              <a:ext cx="1981200" cy="72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 b="1"/>
                <a:t>4 MB</a:t>
              </a:r>
              <a:endParaRPr lang="ar-EG" b="1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919F52C-6BBE-F787-C1F4-1E753A3DB31B}"/>
                </a:ext>
              </a:extLst>
            </p:cNvPr>
            <p:cNvSpPr/>
            <p:nvPr/>
          </p:nvSpPr>
          <p:spPr>
            <a:xfrm>
              <a:off x="4953000" y="2550027"/>
              <a:ext cx="1981200" cy="3432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 sz="1200" b="1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245B8115-C2E8-4928-0FCF-29E768FD8E98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>
              <a:off x="4624975" y="5867400"/>
              <a:ext cx="32785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396A5E6-AF32-AFD7-9DFE-D99B45CA37A2}"/>
                </a:ext>
              </a:extLst>
            </p:cNvPr>
            <p:cNvSpPr txBox="1"/>
            <p:nvPr/>
          </p:nvSpPr>
          <p:spPr>
            <a:xfrm>
              <a:off x="2498995" y="5698123"/>
              <a:ext cx="2125980" cy="338554"/>
            </a:xfrm>
            <a:prstGeom prst="rect">
              <a:avLst/>
            </a:prstGeom>
            <a:noFill/>
          </p:spPr>
          <p:txBody>
            <a:bodyPr wrap="square" lIns="0" rIns="0" rtlCol="1">
              <a:spAutoFit/>
            </a:bodyPr>
            <a:lstStyle/>
            <a:p>
              <a:pPr algn="ctr"/>
              <a:r>
                <a:rPr lang="en-US" sz="1600" b="1" err="1">
                  <a:solidFill>
                    <a:srgbClr val="FF0000"/>
                  </a:solidFill>
                  <a:latin typeface="Consolas" panose="020B0609020204030204" pitchFamily="49" charset="0"/>
                </a:rPr>
                <a:t>uheapPageAllocStart</a:t>
              </a:r>
              <a:endParaRPr lang="en-AE" sz="1600" b="1">
                <a:solidFill>
                  <a:srgbClr val="FF0000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52A3D33-EB06-24C7-A066-07CD7EBA40E7}"/>
                </a:ext>
              </a:extLst>
            </p:cNvPr>
            <p:cNvSpPr/>
            <p:nvPr/>
          </p:nvSpPr>
          <p:spPr>
            <a:xfrm>
              <a:off x="4953000" y="4641600"/>
              <a:ext cx="1981200" cy="540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356253F-E1C4-710A-0277-72EF5D01CA20}"/>
                </a:ext>
              </a:extLst>
            </p:cNvPr>
            <p:cNvSpPr/>
            <p:nvPr/>
          </p:nvSpPr>
          <p:spPr>
            <a:xfrm>
              <a:off x="4953000" y="3365863"/>
              <a:ext cx="1981200" cy="252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 b="1"/>
                <a:t>1 MB</a:t>
              </a:r>
              <a:endParaRPr lang="ar-EG" b="1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66F737D-49E6-2FB9-C426-65B48B810E94}"/>
                </a:ext>
              </a:extLst>
            </p:cNvPr>
            <p:cNvSpPr/>
            <p:nvPr/>
          </p:nvSpPr>
          <p:spPr>
            <a:xfrm>
              <a:off x="4953000" y="3623400"/>
              <a:ext cx="1981200" cy="720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33691A1-FA8C-9122-ABC2-63FF370C28D9}"/>
                </a:ext>
              </a:extLst>
            </p:cNvPr>
            <p:cNvSpPr/>
            <p:nvPr/>
          </p:nvSpPr>
          <p:spPr>
            <a:xfrm>
              <a:off x="4953000" y="4288200"/>
              <a:ext cx="1981200" cy="36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 b="1"/>
                <a:t>2 MB</a:t>
              </a:r>
              <a:endParaRPr lang="ar-EG" b="1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C8D9269-2075-9DE6-CB9D-9C293909E658}"/>
                </a:ext>
              </a:extLst>
            </p:cNvPr>
            <p:cNvSpPr/>
            <p:nvPr/>
          </p:nvSpPr>
          <p:spPr>
            <a:xfrm>
              <a:off x="4953000" y="975864"/>
              <a:ext cx="1981200" cy="12298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 sz="1200" b="1"/>
                <a:t>.</a:t>
              </a:r>
            </a:p>
            <a:p>
              <a:pPr algn="ctr"/>
              <a:r>
                <a:rPr lang="en-US" sz="1200" b="1"/>
                <a:t>.</a:t>
              </a:r>
            </a:p>
            <a:p>
              <a:pPr algn="ctr"/>
              <a:r>
                <a:rPr lang="en-US" sz="1200" b="1"/>
                <a:t>.</a:t>
              </a:r>
              <a:endParaRPr lang="ar-EG" sz="1200" b="1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813F5F2-2B75-117C-ED68-4D486BD1038A}"/>
                </a:ext>
              </a:extLst>
            </p:cNvPr>
            <p:cNvCxnSpPr>
              <a:cxnSpLocks/>
            </p:cNvCxnSpPr>
            <p:nvPr/>
          </p:nvCxnSpPr>
          <p:spPr>
            <a:xfrm>
              <a:off x="4594322" y="990351"/>
              <a:ext cx="3810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14D40CB-D02F-EC03-2F5D-5E496D838830}"/>
                </a:ext>
              </a:extLst>
            </p:cNvPr>
            <p:cNvSpPr txBox="1"/>
            <p:nvPr/>
          </p:nvSpPr>
          <p:spPr>
            <a:xfrm>
              <a:off x="2797475" y="818264"/>
              <a:ext cx="1792607" cy="338554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1600" b="1"/>
                <a:t>USER_HEAP_MAX</a:t>
              </a:r>
              <a:endParaRPr lang="ar-EG" sz="1600" b="1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668B463-215D-4271-EDC2-F257BDE64D26}"/>
                </a:ext>
              </a:extLst>
            </p:cNvPr>
            <p:cNvSpPr txBox="1"/>
            <p:nvPr/>
          </p:nvSpPr>
          <p:spPr>
            <a:xfrm>
              <a:off x="7149737" y="4753783"/>
              <a:ext cx="630301" cy="338554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1600" b="1"/>
                <a:t>3 MB</a:t>
              </a:r>
              <a:endParaRPr lang="ar-EG" sz="1600" b="1"/>
            </a:p>
          </p:txBody>
        </p:sp>
        <p:sp>
          <p:nvSpPr>
            <p:cNvPr id="28" name="Right Brace 27">
              <a:extLst>
                <a:ext uri="{FF2B5EF4-FFF2-40B4-BE49-F238E27FC236}">
                  <a16:creationId xmlns:a16="http://schemas.microsoft.com/office/drawing/2014/main" id="{8DED6C6E-A767-8437-6DBB-7C91E9C3027C}"/>
                </a:ext>
              </a:extLst>
            </p:cNvPr>
            <p:cNvSpPr/>
            <p:nvPr/>
          </p:nvSpPr>
          <p:spPr>
            <a:xfrm>
              <a:off x="6973389" y="4648200"/>
              <a:ext cx="216000" cy="540000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4219046-AAA4-1982-2AF0-A024C51943D6}"/>
                </a:ext>
              </a:extLst>
            </p:cNvPr>
            <p:cNvSpPr txBox="1"/>
            <p:nvPr/>
          </p:nvSpPr>
          <p:spPr>
            <a:xfrm>
              <a:off x="7162800" y="3782709"/>
              <a:ext cx="630301" cy="338554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1600" b="1"/>
                <a:t>4 MB</a:t>
              </a:r>
              <a:endParaRPr lang="ar-EG" sz="1600" b="1"/>
            </a:p>
          </p:txBody>
        </p:sp>
        <p:sp>
          <p:nvSpPr>
            <p:cNvPr id="30" name="Right Brace 29">
              <a:extLst>
                <a:ext uri="{FF2B5EF4-FFF2-40B4-BE49-F238E27FC236}">
                  <a16:creationId xmlns:a16="http://schemas.microsoft.com/office/drawing/2014/main" id="{22FF12E2-3C7F-A6A7-B4BE-61B762B9BCE3}"/>
                </a:ext>
              </a:extLst>
            </p:cNvPr>
            <p:cNvSpPr/>
            <p:nvPr/>
          </p:nvSpPr>
          <p:spPr>
            <a:xfrm>
              <a:off x="6986452" y="3632263"/>
              <a:ext cx="216000" cy="648000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  <p:sp>
        <p:nvSpPr>
          <p:cNvPr id="41" name="Slide Number Placeholder 40">
            <a:extLst>
              <a:ext uri="{FF2B5EF4-FFF2-40B4-BE49-F238E27FC236}">
                <a16:creationId xmlns:a16="http://schemas.microsoft.com/office/drawing/2014/main" id="{51E8A5B7-CF66-17CB-6AA2-01403A9E7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111</a:t>
            </a:fld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C191FF1-42D0-9F67-71A5-C2B7BDF0EF28}"/>
              </a:ext>
            </a:extLst>
          </p:cNvPr>
          <p:cNvGrpSpPr/>
          <p:nvPr/>
        </p:nvGrpSpPr>
        <p:grpSpPr>
          <a:xfrm>
            <a:off x="5394961" y="3323036"/>
            <a:ext cx="5918401" cy="573987"/>
            <a:chOff x="991662" y="3492134"/>
            <a:chExt cx="5918401" cy="573987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9884D13-015B-B37A-3BAC-8F5095EF5AD7}"/>
                </a:ext>
              </a:extLst>
            </p:cNvPr>
            <p:cNvCxnSpPr/>
            <p:nvPr/>
          </p:nvCxnSpPr>
          <p:spPr>
            <a:xfrm>
              <a:off x="4343400" y="3925389"/>
              <a:ext cx="6096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D713595-E830-5E46-7C12-B5B7AE08F627}"/>
                </a:ext>
              </a:extLst>
            </p:cNvPr>
            <p:cNvSpPr/>
            <p:nvPr/>
          </p:nvSpPr>
          <p:spPr>
            <a:xfrm>
              <a:off x="4966063" y="3492134"/>
              <a:ext cx="1944000" cy="484167"/>
            </a:xfrm>
            <a:prstGeom prst="rect">
              <a:avLst/>
            </a:prstGeom>
            <a:ln>
              <a:prstDash val="dash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/>
                <a:t>3 MB</a:t>
              </a:r>
              <a:endParaRPr lang="ar-EG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54FA51B-1220-E900-8DAB-0ED09598D62B}"/>
                </a:ext>
              </a:extLst>
            </p:cNvPr>
            <p:cNvSpPr txBox="1"/>
            <p:nvPr/>
          </p:nvSpPr>
          <p:spPr>
            <a:xfrm>
              <a:off x="991662" y="3625397"/>
              <a:ext cx="2729028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lIns="0" rIns="0" rtlCol="1">
              <a:spAutoFit/>
            </a:bodyPr>
            <a:lstStyle/>
            <a:p>
              <a:r>
                <a:rPr lang="en-US" b="1" dirty="0"/>
                <a:t>ptr3</a:t>
              </a:r>
              <a:r>
                <a:rPr lang="en-US" dirty="0"/>
                <a:t> = </a:t>
              </a:r>
              <a:r>
                <a:rPr lang="en-US" b="1" dirty="0" err="1"/>
                <a:t>smalloc</a:t>
              </a:r>
              <a:r>
                <a:rPr lang="en-US" dirty="0"/>
                <a:t>(“y”, 3MB, 0)</a:t>
              </a:r>
              <a:endParaRPr lang="ar-EG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49949DC-45E7-4296-B1B3-031C9450BCAA}"/>
                </a:ext>
              </a:extLst>
            </p:cNvPr>
            <p:cNvSpPr txBox="1"/>
            <p:nvPr/>
          </p:nvSpPr>
          <p:spPr>
            <a:xfrm>
              <a:off x="3733800" y="3696789"/>
              <a:ext cx="649537" cy="36933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rtlCol="1">
              <a:spAutoFit/>
            </a:bodyPr>
            <a:lstStyle/>
            <a:p>
              <a:r>
                <a:rPr lang="en-US" b="1"/>
                <a:t>ptr3</a:t>
              </a:r>
              <a:endParaRPr lang="ar-EG" sz="1600" b="1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B36344B-9E66-9F0E-3741-E40A3C87F037}"/>
              </a:ext>
            </a:extLst>
          </p:cNvPr>
          <p:cNvGrpSpPr/>
          <p:nvPr/>
        </p:nvGrpSpPr>
        <p:grpSpPr>
          <a:xfrm>
            <a:off x="5390561" y="3792179"/>
            <a:ext cx="5918401" cy="469626"/>
            <a:chOff x="991662" y="4188743"/>
            <a:chExt cx="5918401" cy="469626"/>
          </a:xfrm>
        </p:grpSpPr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01390EAE-CE2E-1003-E2E6-B30B6011296A}"/>
                </a:ext>
              </a:extLst>
            </p:cNvPr>
            <p:cNvCxnSpPr/>
            <p:nvPr/>
          </p:nvCxnSpPr>
          <p:spPr>
            <a:xfrm>
              <a:off x="4343400" y="4393474"/>
              <a:ext cx="6096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3554EE9-9B5C-28DF-4876-5257E41E6C85}"/>
                </a:ext>
              </a:extLst>
            </p:cNvPr>
            <p:cNvSpPr/>
            <p:nvPr/>
          </p:nvSpPr>
          <p:spPr>
            <a:xfrm>
              <a:off x="4966063" y="4188743"/>
              <a:ext cx="1944000" cy="180000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/>
                <a:t>1 MB</a:t>
              </a:r>
              <a:endParaRPr lang="ar-EG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3FF27C9-5769-2BB8-E54D-8DD8816BE141}"/>
                </a:ext>
              </a:extLst>
            </p:cNvPr>
            <p:cNvSpPr txBox="1"/>
            <p:nvPr/>
          </p:nvSpPr>
          <p:spPr>
            <a:xfrm>
              <a:off x="991662" y="4246333"/>
              <a:ext cx="2729027" cy="369332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lIns="0" rIns="0" rtlCol="1">
              <a:spAutoFit/>
            </a:bodyPr>
            <a:lstStyle/>
            <a:p>
              <a:r>
                <a:rPr lang="en-US" b="1" dirty="0"/>
                <a:t>ptr2</a:t>
              </a:r>
              <a:r>
                <a:rPr lang="en-US" dirty="0"/>
                <a:t> = </a:t>
              </a:r>
              <a:r>
                <a:rPr lang="en-US" b="1" dirty="0" err="1"/>
                <a:t>sget</a:t>
              </a:r>
              <a:r>
                <a:rPr lang="en-US" dirty="0"/>
                <a:t>(ownerID1, “y”)</a:t>
              </a:r>
              <a:endParaRPr lang="ar-EG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55617CE-FFBF-2FE1-436E-28DCEC84EF11}"/>
                </a:ext>
              </a:extLst>
            </p:cNvPr>
            <p:cNvSpPr txBox="1"/>
            <p:nvPr/>
          </p:nvSpPr>
          <p:spPr>
            <a:xfrm>
              <a:off x="3733799" y="4289037"/>
              <a:ext cx="685799" cy="36933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1">
              <a:spAutoFit/>
            </a:bodyPr>
            <a:lstStyle/>
            <a:p>
              <a:r>
                <a:rPr lang="en-US" b="1"/>
                <a:t>ptr2</a:t>
              </a:r>
              <a:endParaRPr lang="ar-EG" sz="1600" b="1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CB5673A-BB8F-6110-A23D-A12092C1AC07}"/>
              </a:ext>
            </a:extLst>
          </p:cNvPr>
          <p:cNvGrpSpPr/>
          <p:nvPr/>
        </p:nvGrpSpPr>
        <p:grpSpPr>
          <a:xfrm>
            <a:off x="5283200" y="4569502"/>
            <a:ext cx="6030693" cy="477230"/>
            <a:chOff x="879370" y="3619021"/>
            <a:chExt cx="6030693" cy="477230"/>
          </a:xfrm>
        </p:grpSpPr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F3AC8F1B-EB0B-5DA0-17F7-6806BE9374A5}"/>
                </a:ext>
              </a:extLst>
            </p:cNvPr>
            <p:cNvCxnSpPr/>
            <p:nvPr/>
          </p:nvCxnSpPr>
          <p:spPr>
            <a:xfrm>
              <a:off x="4343400" y="3925389"/>
              <a:ext cx="6096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EC7C4928-4EB8-0598-B688-4D44EADD2DC9}"/>
                </a:ext>
              </a:extLst>
            </p:cNvPr>
            <p:cNvSpPr/>
            <p:nvPr/>
          </p:nvSpPr>
          <p:spPr>
            <a:xfrm>
              <a:off x="4966063" y="3619021"/>
              <a:ext cx="1944000" cy="294700"/>
            </a:xfrm>
            <a:prstGeom prst="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/>
                <a:t>1.5 MB</a:t>
              </a:r>
              <a:endParaRPr lang="ar-EG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6D71D1E-87FA-3C7A-7F05-295746E23FC4}"/>
                </a:ext>
              </a:extLst>
            </p:cNvPr>
            <p:cNvSpPr txBox="1"/>
            <p:nvPr/>
          </p:nvSpPr>
          <p:spPr>
            <a:xfrm>
              <a:off x="879370" y="3726919"/>
              <a:ext cx="2830293" cy="369332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0" rIns="0" rtlCol="1">
              <a:spAutoFit/>
            </a:bodyPr>
            <a:lstStyle/>
            <a:p>
              <a:r>
                <a:rPr lang="en-US" b="1" dirty="0"/>
                <a:t>ptr4</a:t>
              </a:r>
              <a:r>
                <a:rPr lang="en-US" dirty="0"/>
                <a:t>= </a:t>
              </a:r>
              <a:r>
                <a:rPr lang="en-US" b="1" dirty="0">
                  <a:solidFill>
                    <a:srgbClr val="FF0000"/>
                  </a:solidFill>
                </a:rPr>
                <a:t>malloc</a:t>
              </a:r>
              <a:r>
                <a:rPr lang="en-US" dirty="0"/>
                <a:t>(1.5 MB)</a:t>
              </a:r>
              <a:endParaRPr lang="ar-EG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956F876-7FAD-19CD-62A7-4F58199592B7}"/>
                </a:ext>
              </a:extLst>
            </p:cNvPr>
            <p:cNvSpPr txBox="1"/>
            <p:nvPr/>
          </p:nvSpPr>
          <p:spPr>
            <a:xfrm>
              <a:off x="3733800" y="3696789"/>
              <a:ext cx="586122" cy="36933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rtlCol="1">
              <a:spAutoFit/>
            </a:bodyPr>
            <a:lstStyle/>
            <a:p>
              <a:r>
                <a:rPr lang="en-US" b="1"/>
                <a:t>ptr4</a:t>
              </a:r>
              <a:endParaRPr lang="ar-EG" sz="1600" b="1"/>
            </a:p>
          </p:txBody>
        </p: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75B49EE5-366A-5A74-17E7-5F6BE8FECB61}"/>
              </a:ext>
            </a:extLst>
          </p:cNvPr>
          <p:cNvSpPr/>
          <p:nvPr/>
        </p:nvSpPr>
        <p:spPr>
          <a:xfrm>
            <a:off x="9351898" y="1906422"/>
            <a:ext cx="1981200" cy="33830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/>
              <a:t>2 MB</a:t>
            </a:r>
            <a:endParaRPr lang="ar-EG" b="1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065D59AE-0C9A-17AF-1019-803B638E7DA3}"/>
              </a:ext>
            </a:extLst>
          </p:cNvPr>
          <p:cNvGrpSpPr/>
          <p:nvPr/>
        </p:nvGrpSpPr>
        <p:grpSpPr>
          <a:xfrm>
            <a:off x="6897894" y="1747606"/>
            <a:ext cx="2453832" cy="338554"/>
            <a:chOff x="6897894" y="1747606"/>
            <a:chExt cx="2453832" cy="338554"/>
          </a:xfrm>
        </p:grpSpPr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682E72BF-ACE5-F87B-1EDD-136E54E7F4D9}"/>
                </a:ext>
              </a:extLst>
            </p:cNvPr>
            <p:cNvCxnSpPr>
              <a:cxnSpLocks/>
              <a:stCxn id="57" idx="3"/>
            </p:cNvCxnSpPr>
            <p:nvPr/>
          </p:nvCxnSpPr>
          <p:spPr>
            <a:xfrm>
              <a:off x="9023874" y="1916883"/>
              <a:ext cx="32785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1181979-157C-4D14-DE0D-C3F004833057}"/>
                </a:ext>
              </a:extLst>
            </p:cNvPr>
            <p:cNvSpPr txBox="1"/>
            <p:nvPr/>
          </p:nvSpPr>
          <p:spPr>
            <a:xfrm>
              <a:off x="6897894" y="1747606"/>
              <a:ext cx="2125980" cy="338554"/>
            </a:xfrm>
            <a:prstGeom prst="rect">
              <a:avLst/>
            </a:prstGeom>
            <a:noFill/>
          </p:spPr>
          <p:txBody>
            <a:bodyPr wrap="square" lIns="0" rIns="0" rtlCol="1">
              <a:spAutoFit/>
            </a:bodyPr>
            <a:lstStyle/>
            <a:p>
              <a:pPr algn="ctr"/>
              <a:r>
                <a:rPr lang="en-US" sz="1600" b="1" err="1">
                  <a:solidFill>
                    <a:srgbClr val="FF0000"/>
                  </a:solidFill>
                  <a:latin typeface="Consolas" panose="020B0609020204030204" pitchFamily="49" charset="0"/>
                </a:rPr>
                <a:t>uheapPageAllocBreak</a:t>
              </a:r>
              <a:endParaRPr lang="en-AE" sz="1600" b="1">
                <a:solidFill>
                  <a:srgbClr val="FF0000"/>
                </a:solidFill>
              </a:endParaRPr>
            </a:p>
          </p:txBody>
        </p:sp>
      </p:grpSp>
      <p:sp>
        <p:nvSpPr>
          <p:cNvPr id="59" name="Rectangle 58">
            <a:extLst>
              <a:ext uri="{FF2B5EF4-FFF2-40B4-BE49-F238E27FC236}">
                <a16:creationId xmlns:a16="http://schemas.microsoft.com/office/drawing/2014/main" id="{F701D368-DDAE-4811-4552-D9367F74A930}"/>
              </a:ext>
            </a:extLst>
          </p:cNvPr>
          <p:cNvSpPr/>
          <p:nvPr/>
        </p:nvSpPr>
        <p:spPr>
          <a:xfrm>
            <a:off x="9351898" y="2795498"/>
            <a:ext cx="1981200" cy="252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EG" b="1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34041E8-D0BE-A1E7-3BCF-DA64BB616323}"/>
              </a:ext>
            </a:extLst>
          </p:cNvPr>
          <p:cNvSpPr/>
          <p:nvPr/>
        </p:nvSpPr>
        <p:spPr>
          <a:xfrm>
            <a:off x="9355175" y="2586636"/>
            <a:ext cx="1981200" cy="252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/>
              <a:t>1 MB</a:t>
            </a:r>
            <a:endParaRPr lang="ar-EG" b="1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B90B183-9159-4C7F-7B9A-F466A88D5E58}"/>
              </a:ext>
            </a:extLst>
          </p:cNvPr>
          <p:cNvSpPr txBox="1"/>
          <p:nvPr/>
        </p:nvSpPr>
        <p:spPr>
          <a:xfrm>
            <a:off x="11530493" y="2795498"/>
            <a:ext cx="657552" cy="33855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600" b="1"/>
              <a:t>1 MB</a:t>
            </a:r>
            <a:endParaRPr lang="ar-EG" sz="1600" b="1"/>
          </a:p>
        </p:txBody>
      </p:sp>
      <p:sp>
        <p:nvSpPr>
          <p:cNvPr id="62" name="Right Brace 61">
            <a:extLst>
              <a:ext uri="{FF2B5EF4-FFF2-40B4-BE49-F238E27FC236}">
                <a16:creationId xmlns:a16="http://schemas.microsoft.com/office/drawing/2014/main" id="{0CEB6C03-E1A7-E07D-51A3-17403208D732}"/>
              </a:ext>
            </a:extLst>
          </p:cNvPr>
          <p:cNvSpPr/>
          <p:nvPr/>
        </p:nvSpPr>
        <p:spPr>
          <a:xfrm>
            <a:off x="11333098" y="2858709"/>
            <a:ext cx="165379" cy="186619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4A6C660-7086-3EEE-D24F-C38C087DD4BE}"/>
              </a:ext>
            </a:extLst>
          </p:cNvPr>
          <p:cNvGrpSpPr/>
          <p:nvPr/>
        </p:nvGrpSpPr>
        <p:grpSpPr>
          <a:xfrm>
            <a:off x="5394960" y="2842660"/>
            <a:ext cx="5914002" cy="433080"/>
            <a:chOff x="996061" y="4188743"/>
            <a:chExt cx="5914002" cy="433080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239B3725-CEED-EA52-C798-7ED6419CAC96}"/>
                </a:ext>
              </a:extLst>
            </p:cNvPr>
            <p:cNvCxnSpPr>
              <a:cxnSpLocks/>
            </p:cNvCxnSpPr>
            <p:nvPr/>
          </p:nvCxnSpPr>
          <p:spPr>
            <a:xfrm>
              <a:off x="4343400" y="4393474"/>
              <a:ext cx="6096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20B101A-F21C-38CE-9FCC-C9F1DEFDCBC9}"/>
                </a:ext>
              </a:extLst>
            </p:cNvPr>
            <p:cNvSpPr/>
            <p:nvPr/>
          </p:nvSpPr>
          <p:spPr>
            <a:xfrm>
              <a:off x="4966063" y="4188743"/>
              <a:ext cx="1944000" cy="218916"/>
            </a:xfrm>
            <a:prstGeom prst="rect">
              <a:avLst/>
            </a:prstGeom>
            <a:ln>
              <a:prstDash val="dash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/>
                <a:t>1 MB</a:t>
              </a:r>
              <a:endParaRPr lang="ar-EG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35DAE0A-A6CD-2721-9F0B-FD694F62B3D0}"/>
                </a:ext>
              </a:extLst>
            </p:cNvPr>
            <p:cNvSpPr txBox="1"/>
            <p:nvPr/>
          </p:nvSpPr>
          <p:spPr>
            <a:xfrm>
              <a:off x="996061" y="4252491"/>
              <a:ext cx="2724628" cy="369332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lIns="0" rIns="0" rtlCol="1">
              <a:spAutoFit/>
            </a:bodyPr>
            <a:lstStyle/>
            <a:p>
              <a:r>
                <a:rPr lang="en-US" b="1" dirty="0"/>
                <a:t>ptr1</a:t>
              </a:r>
              <a:r>
                <a:rPr lang="en-US" dirty="0"/>
                <a:t> = </a:t>
              </a:r>
              <a:r>
                <a:rPr lang="en-US" b="1" dirty="0" err="1"/>
                <a:t>smalloc</a:t>
              </a:r>
              <a:r>
                <a:rPr lang="en-US" dirty="0"/>
                <a:t>(“x”, 1MB, 1)</a:t>
              </a:r>
              <a:endParaRPr lang="ar-EG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FC31CA4-2769-F9E8-1821-1FDFCEEE42E6}"/>
                </a:ext>
              </a:extLst>
            </p:cNvPr>
            <p:cNvSpPr txBox="1"/>
            <p:nvPr/>
          </p:nvSpPr>
          <p:spPr>
            <a:xfrm>
              <a:off x="3733800" y="4229406"/>
              <a:ext cx="685798" cy="36933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1">
              <a:spAutoFit/>
            </a:bodyPr>
            <a:lstStyle/>
            <a:p>
              <a:r>
                <a:rPr lang="en-US" b="1"/>
                <a:t>ptr1</a:t>
              </a:r>
              <a:endParaRPr lang="ar-EG" sz="1600" b="1"/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7BCD7D8B-4E9D-44E5-68D5-BE40416A50FD}"/>
              </a:ext>
            </a:extLst>
          </p:cNvPr>
          <p:cNvSpPr txBox="1"/>
          <p:nvPr/>
        </p:nvSpPr>
        <p:spPr>
          <a:xfrm>
            <a:off x="11544118" y="2258284"/>
            <a:ext cx="657552" cy="33855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600" b="1"/>
              <a:t>2 MB</a:t>
            </a:r>
            <a:endParaRPr lang="ar-EG" sz="1600" b="1"/>
          </a:p>
        </p:txBody>
      </p:sp>
      <p:sp>
        <p:nvSpPr>
          <p:cNvPr id="64" name="Right Brace 63">
            <a:extLst>
              <a:ext uri="{FF2B5EF4-FFF2-40B4-BE49-F238E27FC236}">
                <a16:creationId xmlns:a16="http://schemas.microsoft.com/office/drawing/2014/main" id="{A423958C-4706-77CE-EDE8-89DD17443B6B}"/>
              </a:ext>
            </a:extLst>
          </p:cNvPr>
          <p:cNvSpPr/>
          <p:nvPr/>
        </p:nvSpPr>
        <p:spPr>
          <a:xfrm>
            <a:off x="11351851" y="2251260"/>
            <a:ext cx="196785" cy="338555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EBB8A00-0B4C-D0A8-A944-F9A4B021D860}"/>
              </a:ext>
            </a:extLst>
          </p:cNvPr>
          <p:cNvGrpSpPr/>
          <p:nvPr/>
        </p:nvGrpSpPr>
        <p:grpSpPr>
          <a:xfrm>
            <a:off x="2226715" y="2432248"/>
            <a:ext cx="5896608" cy="556379"/>
            <a:chOff x="1013455" y="3592003"/>
            <a:chExt cx="5896608" cy="556379"/>
          </a:xfrm>
        </p:grpSpPr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C3C80AB0-E23A-63E9-376A-3BCB704981C1}"/>
                </a:ext>
              </a:extLst>
            </p:cNvPr>
            <p:cNvCxnSpPr/>
            <p:nvPr/>
          </p:nvCxnSpPr>
          <p:spPr>
            <a:xfrm>
              <a:off x="4343400" y="3925389"/>
              <a:ext cx="6096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0DB4EFB5-DBDF-62D8-C639-68E26171D4D7}"/>
                </a:ext>
              </a:extLst>
            </p:cNvPr>
            <p:cNvSpPr/>
            <p:nvPr/>
          </p:nvSpPr>
          <p:spPr>
            <a:xfrm>
              <a:off x="4966063" y="3592003"/>
              <a:ext cx="1944000" cy="384298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/>
                <a:t>2.5 MB</a:t>
              </a:r>
              <a:endParaRPr lang="ar-EG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FBA5618D-1477-1497-C9ED-11A1024FB57F}"/>
                </a:ext>
              </a:extLst>
            </p:cNvPr>
            <p:cNvSpPr txBox="1"/>
            <p:nvPr/>
          </p:nvSpPr>
          <p:spPr>
            <a:xfrm>
              <a:off x="1013455" y="3779050"/>
              <a:ext cx="2724628" cy="36933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lIns="0" rIns="0" rtlCol="1">
              <a:spAutoFit/>
            </a:bodyPr>
            <a:lstStyle/>
            <a:p>
              <a:r>
                <a:rPr lang="en-US" b="1"/>
                <a:t>ptr5</a:t>
              </a:r>
              <a:r>
                <a:rPr lang="en-US"/>
                <a:t>=</a:t>
              </a:r>
              <a:r>
                <a:rPr lang="en-US" b="1" err="1"/>
                <a:t>sget</a:t>
              </a:r>
              <a:r>
                <a:rPr lang="en-US"/>
                <a:t>(ownerID2, “s”)</a:t>
              </a:r>
              <a:endParaRPr lang="ar-EG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46F981BE-CD3C-A7CB-1D9A-4CAEA4DEF215}"/>
                </a:ext>
              </a:extLst>
            </p:cNvPr>
            <p:cNvSpPr txBox="1"/>
            <p:nvPr/>
          </p:nvSpPr>
          <p:spPr>
            <a:xfrm>
              <a:off x="3733800" y="3696789"/>
              <a:ext cx="649537" cy="36933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rtlCol="1">
              <a:spAutoFit/>
            </a:bodyPr>
            <a:lstStyle/>
            <a:p>
              <a:r>
                <a:rPr lang="en-US" b="1"/>
                <a:t>ptr5</a:t>
              </a:r>
              <a:endParaRPr lang="ar-EG" sz="1600" b="1"/>
            </a:p>
          </p:txBody>
        </p:sp>
      </p:grpSp>
      <p:sp>
        <p:nvSpPr>
          <p:cNvPr id="72" name="Rectangle 71">
            <a:extLst>
              <a:ext uri="{FF2B5EF4-FFF2-40B4-BE49-F238E27FC236}">
                <a16:creationId xmlns:a16="http://schemas.microsoft.com/office/drawing/2014/main" id="{33A398A9-AE41-BC7D-10F4-03CC5C7B5A06}"/>
              </a:ext>
            </a:extLst>
          </p:cNvPr>
          <p:cNvSpPr/>
          <p:nvPr/>
        </p:nvSpPr>
        <p:spPr>
          <a:xfrm>
            <a:off x="9364962" y="687309"/>
            <a:ext cx="1972719" cy="1225620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b="1"/>
              <a:t>UNUSED</a:t>
            </a:r>
            <a:endParaRPr lang="en-AE" b="1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EB30C5C-293D-9A8B-4181-96DC72353EBA}"/>
              </a:ext>
            </a:extLst>
          </p:cNvPr>
          <p:cNvSpPr/>
          <p:nvPr/>
        </p:nvSpPr>
        <p:spPr>
          <a:xfrm>
            <a:off x="9360379" y="687308"/>
            <a:ext cx="1972719" cy="817220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b="1"/>
              <a:t>UNUSED</a:t>
            </a:r>
            <a:endParaRPr lang="en-AE" b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FBCAFD-FFA6-3E78-62E6-6D073477E4AE}"/>
              </a:ext>
            </a:extLst>
          </p:cNvPr>
          <p:cNvSpPr txBox="1">
            <a:spLocks/>
          </p:cNvSpPr>
          <p:nvPr/>
        </p:nvSpPr>
        <p:spPr>
          <a:xfrm>
            <a:off x="0" y="3658"/>
            <a:ext cx="10058400" cy="85639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Shared Memory: </a:t>
            </a:r>
            <a:r>
              <a:rPr lang="en-US" b="1"/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85D565-D4F9-5C8A-6A1F-AE137379A2F0}"/>
              </a:ext>
            </a:extLst>
          </p:cNvPr>
          <p:cNvSpPr txBox="1"/>
          <p:nvPr/>
        </p:nvSpPr>
        <p:spPr>
          <a:xfrm>
            <a:off x="4163790" y="708994"/>
            <a:ext cx="2734104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0" rIns="0" rtlCol="1">
            <a:spAutoFit/>
          </a:bodyPr>
          <a:lstStyle/>
          <a:p>
            <a:r>
              <a:rPr lang="en-US" b="1" dirty="0"/>
              <a:t>ptr1</a:t>
            </a:r>
            <a:r>
              <a:rPr lang="en-US" dirty="0"/>
              <a:t> = </a:t>
            </a:r>
            <a:r>
              <a:rPr lang="en-US" b="1" dirty="0" err="1"/>
              <a:t>smalloc</a:t>
            </a:r>
            <a:r>
              <a:rPr lang="en-US" dirty="0"/>
              <a:t>(“x”, 1MB, 1)</a:t>
            </a:r>
            <a:endParaRPr lang="ar-E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E0D4A5-99E3-81F9-E74E-4ECD14D55A38}"/>
              </a:ext>
            </a:extLst>
          </p:cNvPr>
          <p:cNvSpPr txBox="1"/>
          <p:nvPr/>
        </p:nvSpPr>
        <p:spPr>
          <a:xfrm>
            <a:off x="4163789" y="1109821"/>
            <a:ext cx="2734104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0" rIns="0" rtlCol="1">
            <a:spAutoFit/>
          </a:bodyPr>
          <a:lstStyle/>
          <a:p>
            <a:r>
              <a:rPr lang="en-US" b="1" dirty="0"/>
              <a:t>ptr2</a:t>
            </a:r>
            <a:r>
              <a:rPr lang="en-US" dirty="0"/>
              <a:t> = </a:t>
            </a:r>
            <a:r>
              <a:rPr lang="en-US" b="1" dirty="0" err="1"/>
              <a:t>sget</a:t>
            </a:r>
            <a:r>
              <a:rPr lang="en-US" dirty="0"/>
              <a:t>(ownerID1, “y”)</a:t>
            </a:r>
            <a:endParaRPr lang="ar-EG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E12D96-8D13-D40A-7FD7-4C7D18B21375}"/>
              </a:ext>
            </a:extLst>
          </p:cNvPr>
          <p:cNvSpPr txBox="1"/>
          <p:nvPr/>
        </p:nvSpPr>
        <p:spPr>
          <a:xfrm>
            <a:off x="4163788" y="1511558"/>
            <a:ext cx="2734104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0" rIns="0" rtlCol="1">
            <a:spAutoFit/>
          </a:bodyPr>
          <a:lstStyle/>
          <a:p>
            <a:r>
              <a:rPr lang="en-US" b="1" dirty="0"/>
              <a:t>ptr3</a:t>
            </a:r>
            <a:r>
              <a:rPr lang="en-US" dirty="0"/>
              <a:t> = </a:t>
            </a:r>
            <a:r>
              <a:rPr lang="en-US" b="1" dirty="0" err="1"/>
              <a:t>smalloc</a:t>
            </a:r>
            <a:r>
              <a:rPr lang="en-US" dirty="0"/>
              <a:t>(“y”, 3MB, 0)</a:t>
            </a:r>
            <a:endParaRPr lang="ar-EG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039D64-6B42-5453-57B4-094A2A194DB2}"/>
              </a:ext>
            </a:extLst>
          </p:cNvPr>
          <p:cNvSpPr txBox="1"/>
          <p:nvPr/>
        </p:nvSpPr>
        <p:spPr>
          <a:xfrm>
            <a:off x="4170526" y="1925866"/>
            <a:ext cx="2734105" cy="37389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0" rIns="0" rtlCol="1">
            <a:spAutoFit/>
          </a:bodyPr>
          <a:lstStyle/>
          <a:p>
            <a:r>
              <a:rPr lang="en-US" b="1" dirty="0"/>
              <a:t>ptr4</a:t>
            </a:r>
            <a:r>
              <a:rPr lang="en-US" dirty="0"/>
              <a:t>= </a:t>
            </a:r>
            <a:r>
              <a:rPr lang="en-US" b="1" dirty="0">
                <a:solidFill>
                  <a:srgbClr val="FF0000"/>
                </a:solidFill>
              </a:rPr>
              <a:t>malloc</a:t>
            </a:r>
            <a:r>
              <a:rPr lang="en-US" dirty="0"/>
              <a:t>(1.5 MB)</a:t>
            </a:r>
            <a:endParaRPr lang="ar-EG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B340B1-B0FF-6860-0B5C-371FC0A2B8E2}"/>
              </a:ext>
            </a:extLst>
          </p:cNvPr>
          <p:cNvSpPr txBox="1"/>
          <p:nvPr/>
        </p:nvSpPr>
        <p:spPr>
          <a:xfrm>
            <a:off x="5791980" y="5812732"/>
            <a:ext cx="2125980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en-US" b="1" dirty="0"/>
              <a:t>x</a:t>
            </a:r>
            <a:r>
              <a:rPr lang="en-US" dirty="0"/>
              <a:t> = malloc (12 KB)</a:t>
            </a:r>
            <a:endParaRPr lang="ar-EG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4F4EFE-3D33-6A33-630D-91A24C981C84}"/>
              </a:ext>
            </a:extLst>
          </p:cNvPr>
          <p:cNvSpPr txBox="1"/>
          <p:nvPr/>
        </p:nvSpPr>
        <p:spPr>
          <a:xfrm>
            <a:off x="8158005" y="5728066"/>
            <a:ext cx="30893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O(2 + 12KB/4KB)</a:t>
            </a:r>
            <a:endParaRPr lang="en-AE" sz="2800" b="1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985D901-28DF-DB11-7129-9637D3C25990}"/>
              </a:ext>
            </a:extLst>
          </p:cNvPr>
          <p:cNvSpPr/>
          <p:nvPr/>
        </p:nvSpPr>
        <p:spPr>
          <a:xfrm>
            <a:off x="6965275" y="5808416"/>
            <a:ext cx="766612" cy="369331"/>
          </a:xfrm>
          <a:prstGeom prst="rect">
            <a:avLst/>
          </a:prstGeom>
          <a:solidFill>
            <a:srgbClr val="FF000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97AAB6C-CC15-D3CA-197B-E6CE912F9575}"/>
              </a:ext>
            </a:extLst>
          </p:cNvPr>
          <p:cNvSpPr/>
          <p:nvPr/>
        </p:nvSpPr>
        <p:spPr>
          <a:xfrm>
            <a:off x="9351726" y="2258284"/>
            <a:ext cx="1996849" cy="310607"/>
          </a:xfrm>
          <a:prstGeom prst="rect">
            <a:avLst/>
          </a:prstGeom>
          <a:solidFill>
            <a:srgbClr val="00B05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FREE</a:t>
            </a:r>
            <a:endParaRPr lang="en-AE" b="1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6FB526E-1C7B-7115-CEFD-81D9513C9A97}"/>
              </a:ext>
            </a:extLst>
          </p:cNvPr>
          <p:cNvSpPr/>
          <p:nvPr/>
        </p:nvSpPr>
        <p:spPr>
          <a:xfrm>
            <a:off x="9338537" y="4353615"/>
            <a:ext cx="1996849" cy="219771"/>
          </a:xfrm>
          <a:prstGeom prst="rect">
            <a:avLst/>
          </a:prstGeom>
          <a:solidFill>
            <a:srgbClr val="00B05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FREE</a:t>
            </a:r>
            <a:endParaRPr lang="en-AE" b="1" dirty="0"/>
          </a:p>
        </p:txBody>
      </p:sp>
    </p:spTree>
    <p:extLst>
      <p:ext uri="{BB962C8B-B14F-4D97-AF65-F5344CB8AC3E}">
        <p14:creationId xmlns:p14="http://schemas.microsoft.com/office/powerpoint/2010/main" val="186240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7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1.85185E-6 L -0.00092 -0.05625 " pathEditMode="relative" rAng="0" ptsTypes="AA">
                                      <p:cBhvr>
                                        <p:cTn id="74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28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833 -0.01134 L -0.00833 -0.01111 C -0.00391 -0.01458 0.00078 -0.0169 0.00521 -0.0206 C 0.00768 -0.02245 0.0099 -0.02546 0.01211 -0.02801 C 0.01471 -0.03148 0.0168 -0.03634 0.01966 -0.03866 C 0.02539 -0.04352 0.03164 -0.0456 0.03763 -0.04931 C 0.04075 -0.05116 0.04375 -0.0537 0.047 -0.05533 C 0.05078 -0.05718 0.06068 -0.06273 0.06654 -0.06435 C 0.06888 -0.06505 0.07109 -0.06551 0.07344 -0.06597 C 0.08216 -0.07107 0.07552 -0.06806 0.08789 -0.0706 C 0.11706 -0.07639 0.08073 -0.07107 0.12448 -0.07662 C 0.12734 -0.07755 0.13463 -0.08009 0.13646 -0.08102 C 0.13854 -0.08218 0.14036 -0.08449 0.14245 -0.08565 C 0.14466 -0.08704 0.147 -0.0875 0.14922 -0.08866 C 0.15091 -0.08958 0.1526 -0.09074 0.1543 -0.09167 C 0.15573 -0.09236 0.15729 -0.09236 0.15859 -0.09329 C 0.16003 -0.09398 0.16133 -0.0956 0.16289 -0.0963 C 0.16562 -0.09722 0.16862 -0.09722 0.17135 -0.09769 C 0.17422 -0.09884 0.17708 -0.09931 0.17995 -0.1007 C 0.19062 -0.10625 0.17044 -0.10417 0.19349 -0.10833 L 0.20208 -0.10995 C 0.20325 -0.11042 0.2043 -0.11088 0.20547 -0.11134 C 0.20638 -0.11181 0.20716 -0.1125 0.20807 -0.11296 C 0.21003 -0.11366 0.21198 -0.11389 0.21406 -0.11435 C 0.222 -0.11921 0.21615 -0.1162 0.22344 -0.11898 C 0.22448 -0.11945 0.22565 -0.12014 0.22682 -0.12037 C 0.23307 -0.12222 0.23346 -0.12153 0.23958 -0.12338 C 0.24219 -0.12431 0.24466 -0.1257 0.24726 -0.12662 C 0.25065 -0.12778 0.25404 -0.12847 0.25742 -0.12963 C 0.25885 -0.13148 0.26029 -0.13357 0.26172 -0.13565 C 0.2625 -0.13658 0.26341 -0.13935 0.26432 -0.13866 C 0.26536 -0.13773 0.26575 -0.13426 0.2651 -0.13264 C 0.26458 -0.13125 0.26341 -0.13357 0.26263 -0.13403 L 0.26263 -0.1338 " pathEditMode="relative" rAng="0" ptsTypes="AAAAAAAAAAAAAAAAAAAAAAAAAAAAAAAAAA">
                                      <p:cBhvr>
                                        <p:cTn id="77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685" y="-63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73" grpId="0" animBg="1"/>
      <p:bldP spid="3" grpId="0" animBg="1"/>
      <p:bldP spid="3" grpId="1" animBg="1"/>
      <p:bldP spid="4" grpId="0" animBg="1"/>
      <p:bldP spid="4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6" grpId="0"/>
      <p:bldP spid="37" grpId="0" animBg="1"/>
      <p:bldP spid="38" grpId="0" animBg="1"/>
      <p:bldP spid="39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81"/>
          <p:cNvSpPr txBox="1"/>
          <p:nvPr/>
        </p:nvSpPr>
        <p:spPr>
          <a:xfrm>
            <a:off x="1916083" y="1648438"/>
            <a:ext cx="2751206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en-US" sz="1600" b="1"/>
              <a:t>y = </a:t>
            </a:r>
            <a:r>
              <a:rPr lang="en-US" sz="1600" b="1" err="1">
                <a:solidFill>
                  <a:srgbClr val="FF0000"/>
                </a:solidFill>
              </a:rPr>
              <a:t>smalloc</a:t>
            </a:r>
            <a:r>
              <a:rPr lang="en-US" sz="1600" b="1"/>
              <a:t>(“y”, 2 KB, 1)</a:t>
            </a:r>
            <a:endParaRPr lang="ar-EG" sz="1600" b="1"/>
          </a:p>
        </p:txBody>
      </p:sp>
      <p:grpSp>
        <p:nvGrpSpPr>
          <p:cNvPr id="4" name="Group 85"/>
          <p:cNvGrpSpPr/>
          <p:nvPr/>
        </p:nvGrpSpPr>
        <p:grpSpPr>
          <a:xfrm>
            <a:off x="6030883" y="1964906"/>
            <a:ext cx="1219200" cy="4331732"/>
            <a:chOff x="4419600" y="2450068"/>
            <a:chExt cx="1219200" cy="4331732"/>
          </a:xfrm>
        </p:grpSpPr>
        <p:grpSp>
          <p:nvGrpSpPr>
            <p:cNvPr id="7" name="Group 70"/>
            <p:cNvGrpSpPr/>
            <p:nvPr/>
          </p:nvGrpSpPr>
          <p:grpSpPr>
            <a:xfrm>
              <a:off x="4419600" y="2450068"/>
              <a:ext cx="1219200" cy="4331732"/>
              <a:chOff x="4419600" y="2450068"/>
              <a:chExt cx="1219200" cy="4331732"/>
            </a:xfrm>
          </p:grpSpPr>
          <p:sp>
            <p:nvSpPr>
              <p:cNvPr id="20" name="Rectangle 19"/>
              <p:cNvSpPr/>
              <p:nvPr/>
            </p:nvSpPr>
            <p:spPr>
              <a:xfrm>
                <a:off x="4419600" y="5867400"/>
                <a:ext cx="1219200" cy="45720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/>
                <a:endParaRPr lang="ar-EG"/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4419600" y="2756263"/>
                <a:ext cx="1219200" cy="59653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/>
                <a:r>
                  <a:rPr lang="en-US"/>
                  <a:t>…</a:t>
                </a:r>
                <a:endParaRPr lang="ar-EG"/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4419600" y="4661263"/>
                <a:ext cx="1219200" cy="45720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/>
                <a:endParaRPr lang="ar-EG"/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4419600" y="4204063"/>
                <a:ext cx="1219200" cy="45720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/>
                <a:endParaRPr lang="ar-EG"/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4419600" y="3746863"/>
                <a:ext cx="1219200" cy="45720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/>
                <a:endParaRPr lang="ar-EG"/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4419600" y="6324600"/>
                <a:ext cx="1219200" cy="45720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/>
                <a:r>
                  <a:rPr lang="en-US"/>
                  <a:t>…</a:t>
                </a:r>
                <a:endParaRPr lang="ar-EG"/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4419600" y="5116285"/>
                <a:ext cx="1219200" cy="75600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/>
                <a:r>
                  <a:rPr lang="en-US"/>
                  <a:t>…</a:t>
                </a:r>
                <a:endParaRPr lang="ar-EG"/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4694081" y="2450068"/>
                <a:ext cx="65594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en-US" b="1"/>
                  <a:t>RAM</a:t>
                </a:r>
                <a:endParaRPr lang="ar-EG" b="1"/>
              </a:p>
            </p:txBody>
          </p:sp>
        </p:grpSp>
        <p:sp>
          <p:nvSpPr>
            <p:cNvPr id="85" name="Rectangle 84"/>
            <p:cNvSpPr/>
            <p:nvPr/>
          </p:nvSpPr>
          <p:spPr>
            <a:xfrm>
              <a:off x="4419600" y="3289663"/>
              <a:ext cx="1219200" cy="4572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  <p:sp>
        <p:nvSpPr>
          <p:cNvPr id="54" name="Slide Number Placeholder 5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112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897068"/>
            <a:ext cx="11125200" cy="4305822"/>
          </a:xfrm>
        </p:spPr>
        <p:txBody>
          <a:bodyPr>
            <a:normAutofit/>
          </a:bodyPr>
          <a:lstStyle/>
          <a:p>
            <a:pPr marL="0" indent="0"/>
            <a:r>
              <a:rPr lang="en-US" sz="2800" b="1" err="1">
                <a:solidFill>
                  <a:srgbClr val="FF0000"/>
                </a:solidFill>
              </a:rPr>
              <a:t>smalloc</a:t>
            </a:r>
            <a:r>
              <a:rPr lang="en-US" sz="2800" b="1"/>
              <a:t>(): Store allocated frames for later use</a:t>
            </a:r>
          </a:p>
          <a:p>
            <a:pPr marL="0" indent="0">
              <a:buNone/>
            </a:pPr>
            <a:endParaRPr lang="ar-EG" sz="1800">
              <a:latin typeface="Consolas" panose="020B0609020204030204" pitchFamily="49" charset="0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3440083" y="2258038"/>
            <a:ext cx="1219200" cy="4038600"/>
            <a:chOff x="4953000" y="2514600"/>
            <a:chExt cx="1981200" cy="4038600"/>
          </a:xfrm>
        </p:grpSpPr>
        <p:sp>
          <p:nvSpPr>
            <p:cNvPr id="5" name="Rectangle 4"/>
            <p:cNvSpPr/>
            <p:nvPr/>
          </p:nvSpPr>
          <p:spPr>
            <a:xfrm>
              <a:off x="4953000" y="4876800"/>
              <a:ext cx="1981200" cy="4572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6" name="Rectangle 5"/>
            <p:cNvSpPr/>
            <p:nvPr/>
          </p:nvSpPr>
          <p:spPr>
            <a:xfrm>
              <a:off x="4953000" y="2514600"/>
              <a:ext cx="1981200" cy="990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/>
                <a:t>.</a:t>
              </a:r>
            </a:p>
            <a:p>
              <a:pPr algn="ctr"/>
              <a:r>
                <a:rPr lang="en-US"/>
                <a:t>.</a:t>
              </a:r>
            </a:p>
            <a:p>
              <a:pPr algn="ctr"/>
              <a:r>
                <a:rPr lang="en-US"/>
                <a:t>.</a:t>
              </a:r>
              <a:endParaRPr lang="ar-EG"/>
            </a:p>
          </p:txBody>
        </p:sp>
        <p:sp>
          <p:nvSpPr>
            <p:cNvPr id="9" name="Rectangle 8"/>
            <p:cNvSpPr/>
            <p:nvPr/>
          </p:nvSpPr>
          <p:spPr>
            <a:xfrm>
              <a:off x="4953000" y="4419600"/>
              <a:ext cx="1981200" cy="4572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953000" y="3962400"/>
              <a:ext cx="1981200" cy="4572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/>
                <a:t>4 KB</a:t>
              </a:r>
              <a:endParaRPr lang="ar-EG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953000" y="3505200"/>
              <a:ext cx="1981200" cy="4572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953000" y="5334000"/>
              <a:ext cx="1981200" cy="12192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/>
                <a:t>.</a:t>
              </a:r>
            </a:p>
            <a:p>
              <a:pPr algn="ctr"/>
              <a:r>
                <a:rPr lang="en-US"/>
                <a:t>.</a:t>
              </a:r>
            </a:p>
            <a:p>
              <a:pPr algn="ctr"/>
              <a:r>
                <a:rPr lang="en-US"/>
                <a:t>.</a:t>
              </a:r>
              <a:endParaRPr lang="ar-EG"/>
            </a:p>
          </p:txBody>
        </p:sp>
      </p:grpSp>
      <p:sp>
        <p:nvSpPr>
          <p:cNvPr id="15" name="Rectangle 14"/>
          <p:cNvSpPr/>
          <p:nvPr/>
        </p:nvSpPr>
        <p:spPr>
          <a:xfrm>
            <a:off x="3455019" y="4633301"/>
            <a:ext cx="1188000" cy="432000"/>
          </a:xfrm>
          <a:prstGeom prst="rect">
            <a:avLst/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/>
              <a:t>4 KB</a:t>
            </a:r>
            <a:endParaRPr lang="ar-EG"/>
          </a:p>
        </p:txBody>
      </p:sp>
      <p:sp>
        <p:nvSpPr>
          <p:cNvPr id="16" name="TextBox 15"/>
          <p:cNvSpPr txBox="1"/>
          <p:nvPr/>
        </p:nvSpPr>
        <p:spPr>
          <a:xfrm>
            <a:off x="1916083" y="1648437"/>
            <a:ext cx="2751206" cy="33855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en-US" sz="1600" b="1"/>
              <a:t>x = </a:t>
            </a:r>
            <a:r>
              <a:rPr lang="en-US" sz="1600" b="1" err="1">
                <a:solidFill>
                  <a:srgbClr val="FF0000"/>
                </a:solidFill>
              </a:rPr>
              <a:t>smalloc</a:t>
            </a:r>
            <a:r>
              <a:rPr lang="en-US" sz="1600" b="1"/>
              <a:t>(“x”, 6 KB, 1)</a:t>
            </a:r>
            <a:endParaRPr lang="ar-EG" sz="1600" b="1"/>
          </a:p>
        </p:txBody>
      </p:sp>
      <p:sp>
        <p:nvSpPr>
          <p:cNvPr id="18" name="Rectangle 17"/>
          <p:cNvSpPr/>
          <p:nvPr/>
        </p:nvSpPr>
        <p:spPr>
          <a:xfrm>
            <a:off x="3457008" y="4341564"/>
            <a:ext cx="1188000" cy="252000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/>
              <a:t>2 KB</a:t>
            </a:r>
            <a:endParaRPr lang="ar-EG"/>
          </a:p>
        </p:txBody>
      </p:sp>
      <p:sp>
        <p:nvSpPr>
          <p:cNvPr id="29" name="Rectangle 28"/>
          <p:cNvSpPr/>
          <p:nvPr/>
        </p:nvSpPr>
        <p:spPr>
          <a:xfrm>
            <a:off x="6035957" y="5587438"/>
            <a:ext cx="1188000" cy="252000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/>
              <a:t>2 KB</a:t>
            </a:r>
            <a:endParaRPr lang="ar-EG"/>
          </a:p>
        </p:txBody>
      </p:sp>
      <p:sp>
        <p:nvSpPr>
          <p:cNvPr id="30" name="Rectangle 29"/>
          <p:cNvSpPr/>
          <p:nvPr/>
        </p:nvSpPr>
        <p:spPr>
          <a:xfrm>
            <a:off x="6049020" y="3731964"/>
            <a:ext cx="1188000" cy="432000"/>
          </a:xfrm>
          <a:prstGeom prst="rect">
            <a:avLst/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/>
              <a:t>4 KB</a:t>
            </a:r>
            <a:endParaRPr lang="ar-EG"/>
          </a:p>
        </p:txBody>
      </p:sp>
      <p:sp>
        <p:nvSpPr>
          <p:cNvPr id="31" name="TextBox 30"/>
          <p:cNvSpPr txBox="1"/>
          <p:nvPr/>
        </p:nvSpPr>
        <p:spPr>
          <a:xfrm>
            <a:off x="7186946" y="3768975"/>
            <a:ext cx="740908" cy="33855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600" b="1"/>
              <a:t>F# 100</a:t>
            </a:r>
            <a:endParaRPr lang="en-US" b="1"/>
          </a:p>
        </p:txBody>
      </p:sp>
      <p:sp>
        <p:nvSpPr>
          <p:cNvPr id="32" name="TextBox 31"/>
          <p:cNvSpPr txBox="1"/>
          <p:nvPr/>
        </p:nvSpPr>
        <p:spPr>
          <a:xfrm>
            <a:off x="7186947" y="5458438"/>
            <a:ext cx="636713" cy="33855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600" b="1"/>
              <a:t>F# 30</a:t>
            </a:r>
            <a:endParaRPr lang="en-US" b="1"/>
          </a:p>
        </p:txBody>
      </p:sp>
      <p:cxnSp>
        <p:nvCxnSpPr>
          <p:cNvPr id="34" name="Straight Arrow Connector 33"/>
          <p:cNvCxnSpPr>
            <a:stCxn id="15" idx="3"/>
            <a:endCxn id="30" idx="1"/>
          </p:cNvCxnSpPr>
          <p:nvPr/>
        </p:nvCxnSpPr>
        <p:spPr>
          <a:xfrm flipV="1">
            <a:off x="4643020" y="3947965"/>
            <a:ext cx="1406001" cy="9013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9" idx="3"/>
            <a:endCxn id="20" idx="1"/>
          </p:cNvCxnSpPr>
          <p:nvPr/>
        </p:nvCxnSpPr>
        <p:spPr>
          <a:xfrm>
            <a:off x="4659283" y="4391638"/>
            <a:ext cx="1371600" cy="1219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08"/>
          <p:cNvGrpSpPr/>
          <p:nvPr/>
        </p:nvGrpSpPr>
        <p:grpSpPr>
          <a:xfrm>
            <a:off x="7783483" y="1557780"/>
            <a:ext cx="2895600" cy="1462258"/>
            <a:chOff x="6235337" y="2500142"/>
            <a:chExt cx="2895600" cy="1462258"/>
          </a:xfrm>
        </p:grpSpPr>
        <p:grpSp>
          <p:nvGrpSpPr>
            <p:cNvPr id="17" name="Group 107"/>
            <p:cNvGrpSpPr/>
            <p:nvPr/>
          </p:nvGrpSpPr>
          <p:grpSpPr>
            <a:xfrm>
              <a:off x="6235337" y="2500142"/>
              <a:ext cx="2895600" cy="1462258"/>
              <a:chOff x="6235337" y="2500142"/>
              <a:chExt cx="2895600" cy="1462258"/>
            </a:xfrm>
          </p:grpSpPr>
          <p:sp>
            <p:nvSpPr>
              <p:cNvPr id="39" name="Oval 38"/>
              <p:cNvSpPr/>
              <p:nvPr/>
            </p:nvSpPr>
            <p:spPr>
              <a:xfrm>
                <a:off x="6235337" y="2819400"/>
                <a:ext cx="2895600" cy="1143000"/>
              </a:xfrm>
              <a:prstGeom prst="ellipse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EG"/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6973602" y="2500142"/>
                <a:ext cx="157831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en-US" b="1"/>
                  <a:t>Share Object 1</a:t>
                </a:r>
                <a:endParaRPr lang="ar-EG" b="1"/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6558106" y="2819400"/>
                <a:ext cx="2344231" cy="584775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ctr"/>
                <a:r>
                  <a:rPr lang="en-US" sz="1600" err="1"/>
                  <a:t>OwnerID</a:t>
                </a:r>
                <a:r>
                  <a:rPr lang="en-US" sz="1600"/>
                  <a:t>=</a:t>
                </a:r>
                <a:r>
                  <a:rPr lang="en-US" sz="1600" b="1"/>
                  <a:t>Env1ID</a:t>
                </a:r>
                <a:r>
                  <a:rPr lang="en-US" sz="1600"/>
                  <a:t>, </a:t>
                </a:r>
              </a:p>
              <a:p>
                <a:pPr algn="ctr"/>
                <a:r>
                  <a:rPr lang="en-US" sz="1600"/>
                  <a:t>Name = “</a:t>
                </a:r>
                <a:r>
                  <a:rPr lang="en-US" sz="1600" b="1"/>
                  <a:t>x</a:t>
                </a:r>
                <a:r>
                  <a:rPr lang="en-US" sz="1600"/>
                  <a:t>”, Size = </a:t>
                </a:r>
                <a:r>
                  <a:rPr lang="en-US" sz="1600" b="1"/>
                  <a:t>6 KB</a:t>
                </a:r>
                <a:r>
                  <a:rPr lang="en-US" sz="1600"/>
                  <a:t>, …</a:t>
                </a:r>
              </a:p>
            </p:txBody>
          </p:sp>
          <p:grpSp>
            <p:nvGrpSpPr>
              <p:cNvPr id="19" name="Group 45"/>
              <p:cNvGrpSpPr/>
              <p:nvPr/>
            </p:nvGrpSpPr>
            <p:grpSpPr>
              <a:xfrm>
                <a:off x="6998126" y="3496788"/>
                <a:ext cx="762000" cy="304800"/>
                <a:chOff x="6858000" y="3581400"/>
                <a:chExt cx="762000" cy="304800"/>
              </a:xfrm>
            </p:grpSpPr>
            <p:sp>
              <p:nvSpPr>
                <p:cNvPr id="42" name="Rectangle 41"/>
                <p:cNvSpPr/>
                <p:nvPr/>
              </p:nvSpPr>
              <p:spPr>
                <a:xfrm>
                  <a:off x="6858000" y="3581400"/>
                  <a:ext cx="381000" cy="304800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lIns="0" tIns="36000" rIns="0" bIns="36000" rtlCol="1" anchor="ctr"/>
                <a:lstStyle/>
                <a:p>
                  <a:pPr algn="ctr"/>
                  <a:endParaRPr lang="ar-EG" sz="1400" b="1"/>
                </a:p>
              </p:txBody>
            </p:sp>
            <p:sp>
              <p:nvSpPr>
                <p:cNvPr id="45" name="Rectangle 44"/>
                <p:cNvSpPr/>
                <p:nvPr/>
              </p:nvSpPr>
              <p:spPr>
                <a:xfrm>
                  <a:off x="7239000" y="3581400"/>
                  <a:ext cx="381000" cy="304800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lIns="0" tIns="36000" rIns="0" bIns="36000" rtlCol="1" anchor="ctr"/>
                <a:lstStyle/>
                <a:p>
                  <a:pPr algn="ctr"/>
                  <a:endParaRPr lang="ar-EG" sz="1400" b="1"/>
                </a:p>
              </p:txBody>
            </p:sp>
          </p:grpSp>
          <p:sp>
            <p:nvSpPr>
              <p:cNvPr id="48" name="TextBox 47"/>
              <p:cNvSpPr txBox="1"/>
              <p:nvPr/>
            </p:nvSpPr>
            <p:spPr>
              <a:xfrm>
                <a:off x="7701710" y="3400013"/>
                <a:ext cx="1309076" cy="307777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en-US" sz="1400"/>
                  <a:t>Frames Storage</a:t>
                </a:r>
              </a:p>
            </p:txBody>
          </p:sp>
        </p:grpSp>
        <p:sp>
          <p:nvSpPr>
            <p:cNvPr id="49" name="TextBox 48"/>
            <p:cNvSpPr txBox="1"/>
            <p:nvPr/>
          </p:nvSpPr>
          <p:spPr>
            <a:xfrm>
              <a:off x="7586958" y="3048000"/>
              <a:ext cx="184730" cy="338554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ctr"/>
              <a:endParaRPr lang="en-US" sz="1600"/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8504716" y="2562839"/>
            <a:ext cx="458779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/>
            <a:r>
              <a:rPr lang="en-US" sz="1400" b="1"/>
              <a:t>100</a:t>
            </a:r>
            <a:endParaRPr lang="en-US" sz="1600" b="1"/>
          </a:p>
        </p:txBody>
      </p:sp>
      <p:sp>
        <p:nvSpPr>
          <p:cNvPr id="51" name="TextBox 50"/>
          <p:cNvSpPr txBox="1"/>
          <p:nvPr/>
        </p:nvSpPr>
        <p:spPr>
          <a:xfrm>
            <a:off x="8926483" y="2562839"/>
            <a:ext cx="367408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/>
            <a:r>
              <a:rPr lang="en-US" sz="1400" b="1"/>
              <a:t>30</a:t>
            </a:r>
            <a:endParaRPr lang="en-US" sz="1600" b="1"/>
          </a:p>
        </p:txBody>
      </p:sp>
      <p:grpSp>
        <p:nvGrpSpPr>
          <p:cNvPr id="25" name="Group 61"/>
          <p:cNvGrpSpPr/>
          <p:nvPr/>
        </p:nvGrpSpPr>
        <p:grpSpPr>
          <a:xfrm>
            <a:off x="7905883" y="5153638"/>
            <a:ext cx="2620800" cy="304800"/>
            <a:chOff x="6294600" y="5943600"/>
            <a:chExt cx="2620800" cy="304800"/>
          </a:xfrm>
        </p:grpSpPr>
        <p:sp>
          <p:nvSpPr>
            <p:cNvPr id="53" name="Rectangle 52"/>
            <p:cNvSpPr/>
            <p:nvPr/>
          </p:nvSpPr>
          <p:spPr>
            <a:xfrm>
              <a:off x="6690600" y="5943600"/>
              <a:ext cx="304800" cy="304800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lIns="0" tIns="36000" rIns="0" bIns="36000" rtlCol="1" anchor="ctr"/>
            <a:lstStyle/>
            <a:p>
              <a:pPr algn="ctr"/>
              <a:endParaRPr lang="ar-EG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6995400" y="5943600"/>
              <a:ext cx="304800" cy="304800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lIns="0" tIns="36000" rIns="0" bIns="36000" rtlCol="1" anchor="ctr"/>
            <a:lstStyle/>
            <a:p>
              <a:pPr algn="ctr"/>
              <a:endParaRPr lang="ar-EG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7909800" y="5943600"/>
              <a:ext cx="304800" cy="304800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lIns="0" tIns="36000" rIns="0" bIns="36000" rtlCol="1" anchor="ctr"/>
            <a:lstStyle/>
            <a:p>
              <a:pPr algn="ctr"/>
              <a:endParaRPr lang="ar-EG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8214600" y="5943600"/>
              <a:ext cx="304800" cy="304800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lIns="0" tIns="36000" rIns="0" bIns="36000" rtlCol="1" anchor="ctr"/>
            <a:lstStyle/>
            <a:p>
              <a:pPr algn="ctr"/>
              <a:endParaRPr lang="ar-EG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7300200" y="5943600"/>
              <a:ext cx="612000" cy="304800"/>
            </a:xfrm>
            <a:prstGeom prst="rect">
              <a:avLst/>
            </a:prstGeom>
            <a:ln>
              <a:prstDash val="sysDot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lIns="0" tIns="36000" rIns="0" bIns="36000" rtlCol="1" anchor="ctr"/>
            <a:lstStyle/>
            <a:p>
              <a:pPr algn="ctr"/>
              <a:r>
                <a:rPr lang="en-US"/>
                <a:t>…….</a:t>
              </a:r>
              <a:endParaRPr lang="ar-EG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8519400" y="5943600"/>
              <a:ext cx="396000" cy="304800"/>
            </a:xfrm>
            <a:prstGeom prst="rect">
              <a:avLst/>
            </a:prstGeom>
            <a:ln>
              <a:prstDash val="sysDot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lIns="0" tIns="36000" rIns="0" bIns="36000" rtlCol="1" anchor="ctr"/>
            <a:lstStyle/>
            <a:p>
              <a:pPr algn="ctr"/>
              <a:r>
                <a:rPr lang="en-US"/>
                <a:t>...</a:t>
              </a:r>
              <a:endParaRPr lang="ar-EG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6294600" y="5943600"/>
              <a:ext cx="396000" cy="304800"/>
            </a:xfrm>
            <a:prstGeom prst="rect">
              <a:avLst/>
            </a:prstGeom>
            <a:ln>
              <a:prstDash val="sysDot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lIns="0" tIns="36000" rIns="0" bIns="36000" rtlCol="1" anchor="ctr"/>
            <a:lstStyle/>
            <a:p>
              <a:pPr algn="ctr"/>
              <a:r>
                <a:rPr lang="en-US"/>
                <a:t>...</a:t>
              </a:r>
              <a:endParaRPr lang="ar-EG"/>
            </a:p>
          </p:txBody>
        </p:sp>
      </p:grpSp>
      <p:sp>
        <p:nvSpPr>
          <p:cNvPr id="63" name="TextBox 62"/>
          <p:cNvSpPr txBox="1"/>
          <p:nvPr/>
        </p:nvSpPr>
        <p:spPr>
          <a:xfrm>
            <a:off x="8469283" y="5458438"/>
            <a:ext cx="1421415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err="1"/>
              <a:t>frames_info</a:t>
            </a:r>
            <a:endParaRPr lang="ar-EG" b="1"/>
          </a:p>
        </p:txBody>
      </p:sp>
      <p:sp>
        <p:nvSpPr>
          <p:cNvPr id="64" name="TextBox 63"/>
          <p:cNvSpPr txBox="1"/>
          <p:nvPr/>
        </p:nvSpPr>
        <p:spPr>
          <a:xfrm>
            <a:off x="8254275" y="4899789"/>
            <a:ext cx="367408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/>
            <a:r>
              <a:rPr lang="en-US" sz="1400" b="1"/>
              <a:t>30</a:t>
            </a:r>
            <a:endParaRPr lang="en-US" sz="1600" b="1"/>
          </a:p>
        </p:txBody>
      </p:sp>
      <p:sp>
        <p:nvSpPr>
          <p:cNvPr id="65" name="TextBox 64"/>
          <p:cNvSpPr txBox="1"/>
          <p:nvPr/>
        </p:nvSpPr>
        <p:spPr>
          <a:xfrm>
            <a:off x="9750042" y="4899789"/>
            <a:ext cx="458779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/>
            <a:r>
              <a:rPr lang="en-US" sz="1400" b="1"/>
              <a:t>100</a:t>
            </a:r>
            <a:endParaRPr lang="en-US" sz="1600" b="1"/>
          </a:p>
        </p:txBody>
      </p:sp>
      <p:cxnSp>
        <p:nvCxnSpPr>
          <p:cNvPr id="67" name="Straight Arrow Connector 66"/>
          <p:cNvCxnSpPr>
            <a:stCxn id="73" idx="0"/>
            <a:endCxn id="50" idx="2"/>
          </p:cNvCxnSpPr>
          <p:nvPr/>
        </p:nvCxnSpPr>
        <p:spPr>
          <a:xfrm flipH="1" flipV="1">
            <a:off x="8734105" y="2870615"/>
            <a:ext cx="1243938" cy="23200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72" idx="0"/>
            <a:endCxn id="51" idx="2"/>
          </p:cNvCxnSpPr>
          <p:nvPr/>
        </p:nvCxnSpPr>
        <p:spPr>
          <a:xfrm flipV="1">
            <a:off x="8450133" y="2870615"/>
            <a:ext cx="660055" cy="23061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8236773" y="5176788"/>
            <a:ext cx="426719" cy="276999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/>
            <a:r>
              <a:rPr lang="en-US" sz="1200" b="1"/>
              <a:t>R=1</a:t>
            </a:r>
            <a:endParaRPr lang="en-US" sz="1400" b="1"/>
          </a:p>
        </p:txBody>
      </p:sp>
      <p:sp>
        <p:nvSpPr>
          <p:cNvPr id="73" name="TextBox 72"/>
          <p:cNvSpPr txBox="1"/>
          <p:nvPr/>
        </p:nvSpPr>
        <p:spPr>
          <a:xfrm>
            <a:off x="9764684" y="5190650"/>
            <a:ext cx="426719" cy="276999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/>
            <a:r>
              <a:rPr lang="en-US" sz="1200" b="1"/>
              <a:t>R=1</a:t>
            </a:r>
            <a:endParaRPr lang="en-US" sz="1400" b="1"/>
          </a:p>
        </p:txBody>
      </p:sp>
      <p:sp>
        <p:nvSpPr>
          <p:cNvPr id="77" name="TextBox 76"/>
          <p:cNvSpPr txBox="1"/>
          <p:nvPr/>
        </p:nvSpPr>
        <p:spPr>
          <a:xfrm>
            <a:off x="3529347" y="1953238"/>
            <a:ext cx="1010213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/>
              <a:t>Virtual.1</a:t>
            </a:r>
            <a:endParaRPr lang="ar-EG" b="1"/>
          </a:p>
        </p:txBody>
      </p:sp>
      <p:grpSp>
        <p:nvGrpSpPr>
          <p:cNvPr id="36" name="Group 80"/>
          <p:cNvGrpSpPr/>
          <p:nvPr/>
        </p:nvGrpSpPr>
        <p:grpSpPr>
          <a:xfrm>
            <a:off x="2906683" y="4895936"/>
            <a:ext cx="516148" cy="307777"/>
            <a:chOff x="1327588" y="5775160"/>
            <a:chExt cx="516148" cy="307777"/>
          </a:xfrm>
        </p:grpSpPr>
        <p:cxnSp>
          <p:nvCxnSpPr>
            <p:cNvPr id="78" name="Straight Arrow Connector 77"/>
            <p:cNvCxnSpPr/>
            <p:nvPr/>
          </p:nvCxnSpPr>
          <p:spPr>
            <a:xfrm>
              <a:off x="1600200" y="5943600"/>
              <a:ext cx="24353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80" name="TextBox 79"/>
            <p:cNvSpPr txBox="1"/>
            <p:nvPr/>
          </p:nvSpPr>
          <p:spPr>
            <a:xfrm>
              <a:off x="1327588" y="5775160"/>
              <a:ext cx="266420" cy="307777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1400" b="1"/>
                <a:t>x</a:t>
              </a:r>
              <a:endParaRPr lang="ar-EG" sz="1400" b="1"/>
            </a:p>
          </p:txBody>
        </p:sp>
      </p:grpSp>
      <p:sp>
        <p:nvSpPr>
          <p:cNvPr id="83" name="Rectangle 82"/>
          <p:cNvSpPr/>
          <p:nvPr/>
        </p:nvSpPr>
        <p:spPr>
          <a:xfrm>
            <a:off x="3440083" y="3453290"/>
            <a:ext cx="1188000" cy="252000"/>
          </a:xfrm>
          <a:prstGeom prst="rect">
            <a:avLst/>
          </a:prstGeom>
          <a:ln>
            <a:prstDash val="dash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/>
              <a:t>2 KB</a:t>
            </a:r>
            <a:endParaRPr lang="ar-EG"/>
          </a:p>
        </p:txBody>
      </p:sp>
      <p:sp>
        <p:nvSpPr>
          <p:cNvPr id="84" name="Rectangle 83"/>
          <p:cNvSpPr/>
          <p:nvPr/>
        </p:nvSpPr>
        <p:spPr>
          <a:xfrm>
            <a:off x="6043946" y="4368238"/>
            <a:ext cx="1188000" cy="252000"/>
          </a:xfrm>
          <a:prstGeom prst="rect">
            <a:avLst/>
          </a:prstGeom>
          <a:ln>
            <a:prstDash val="dash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/>
              <a:t>2 KB</a:t>
            </a:r>
            <a:endParaRPr lang="ar-EG"/>
          </a:p>
        </p:txBody>
      </p:sp>
      <p:cxnSp>
        <p:nvCxnSpPr>
          <p:cNvPr id="87" name="Straight Arrow Connector 86"/>
          <p:cNvCxnSpPr>
            <a:stCxn id="10" idx="3"/>
            <a:endCxn id="22" idx="1"/>
          </p:cNvCxnSpPr>
          <p:nvPr/>
        </p:nvCxnSpPr>
        <p:spPr>
          <a:xfrm>
            <a:off x="4659283" y="3934439"/>
            <a:ext cx="1371600" cy="47026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9508345" y="4899789"/>
            <a:ext cx="367408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/>
            <a:r>
              <a:rPr lang="en-US" sz="1400" b="1"/>
              <a:t>99</a:t>
            </a:r>
            <a:endParaRPr lang="en-US" sz="1600" b="1"/>
          </a:p>
        </p:txBody>
      </p:sp>
      <p:sp>
        <p:nvSpPr>
          <p:cNvPr id="92" name="TextBox 91"/>
          <p:cNvSpPr txBox="1"/>
          <p:nvPr/>
        </p:nvSpPr>
        <p:spPr>
          <a:xfrm>
            <a:off x="9477302" y="5190650"/>
            <a:ext cx="426719" cy="276999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/>
            <a:r>
              <a:rPr lang="en-US" sz="1200" b="1"/>
              <a:t>R=1</a:t>
            </a:r>
            <a:endParaRPr lang="en-US" sz="1400" b="1"/>
          </a:p>
        </p:txBody>
      </p:sp>
      <p:grpSp>
        <p:nvGrpSpPr>
          <p:cNvPr id="37" name="Group 111"/>
          <p:cNvGrpSpPr/>
          <p:nvPr/>
        </p:nvGrpSpPr>
        <p:grpSpPr>
          <a:xfrm>
            <a:off x="7783483" y="3005580"/>
            <a:ext cx="2895600" cy="1462258"/>
            <a:chOff x="6235337" y="2500142"/>
            <a:chExt cx="2895600" cy="1462258"/>
          </a:xfrm>
        </p:grpSpPr>
        <p:grpSp>
          <p:nvGrpSpPr>
            <p:cNvPr id="38" name="Group 107"/>
            <p:cNvGrpSpPr/>
            <p:nvPr/>
          </p:nvGrpSpPr>
          <p:grpSpPr>
            <a:xfrm>
              <a:off x="6235337" y="2500142"/>
              <a:ext cx="2895600" cy="1462258"/>
              <a:chOff x="6235337" y="2500142"/>
              <a:chExt cx="2895600" cy="1462258"/>
            </a:xfrm>
          </p:grpSpPr>
          <p:sp>
            <p:nvSpPr>
              <p:cNvPr id="115" name="Oval 114"/>
              <p:cNvSpPr/>
              <p:nvPr/>
            </p:nvSpPr>
            <p:spPr>
              <a:xfrm>
                <a:off x="6235337" y="2819400"/>
                <a:ext cx="2895600" cy="1143000"/>
              </a:xfrm>
              <a:prstGeom prst="ellipse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EG"/>
              </a:p>
            </p:txBody>
          </p:sp>
          <p:sp>
            <p:nvSpPr>
              <p:cNvPr id="116" name="TextBox 115"/>
              <p:cNvSpPr txBox="1"/>
              <p:nvPr/>
            </p:nvSpPr>
            <p:spPr>
              <a:xfrm>
                <a:off x="6973602" y="2500142"/>
                <a:ext cx="157831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en-US" b="1"/>
                  <a:t>Share Object 2</a:t>
                </a:r>
                <a:endParaRPr lang="ar-EG" b="1"/>
              </a:p>
            </p:txBody>
          </p:sp>
          <p:sp>
            <p:nvSpPr>
              <p:cNvPr id="117" name="TextBox 116"/>
              <p:cNvSpPr txBox="1"/>
              <p:nvPr/>
            </p:nvSpPr>
            <p:spPr>
              <a:xfrm>
                <a:off x="6523535" y="2802148"/>
                <a:ext cx="2356351" cy="584775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ctr"/>
                <a:r>
                  <a:rPr lang="en-US" sz="1600" err="1"/>
                  <a:t>OwnerID</a:t>
                </a:r>
                <a:r>
                  <a:rPr lang="en-US" sz="1600"/>
                  <a:t>=</a:t>
                </a:r>
                <a:r>
                  <a:rPr lang="en-US" sz="1600" b="1"/>
                  <a:t>Env1ID</a:t>
                </a:r>
                <a:r>
                  <a:rPr lang="en-US" sz="1600"/>
                  <a:t>, </a:t>
                </a:r>
              </a:p>
              <a:p>
                <a:pPr algn="ctr"/>
                <a:r>
                  <a:rPr lang="en-US" sz="1600"/>
                  <a:t>Name = “</a:t>
                </a:r>
                <a:r>
                  <a:rPr lang="en-US" sz="1600" b="1"/>
                  <a:t>y</a:t>
                </a:r>
                <a:r>
                  <a:rPr lang="en-US" sz="1600"/>
                  <a:t>”, Size = </a:t>
                </a:r>
                <a:r>
                  <a:rPr lang="en-US" sz="1600" b="1"/>
                  <a:t>2 KB</a:t>
                </a:r>
                <a:r>
                  <a:rPr lang="en-US" sz="1600"/>
                  <a:t>, …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6998126" y="3496788"/>
                <a:ext cx="381000" cy="304800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lIns="0" tIns="36000" rIns="0" bIns="36000" rtlCol="1" anchor="ctr"/>
              <a:lstStyle/>
              <a:p>
                <a:pPr algn="ctr"/>
                <a:endParaRPr lang="ar-EG" sz="1400" b="1"/>
              </a:p>
            </p:txBody>
          </p:sp>
          <p:sp>
            <p:nvSpPr>
              <p:cNvPr id="119" name="TextBox 118"/>
              <p:cNvSpPr txBox="1"/>
              <p:nvPr/>
            </p:nvSpPr>
            <p:spPr>
              <a:xfrm>
                <a:off x="7366633" y="3400563"/>
                <a:ext cx="1309076" cy="307777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en-US" sz="1400"/>
                  <a:t>Frames Storage</a:t>
                </a:r>
              </a:p>
            </p:txBody>
          </p:sp>
        </p:grpSp>
        <p:sp>
          <p:nvSpPr>
            <p:cNvPr id="114" name="TextBox 113"/>
            <p:cNvSpPr txBox="1"/>
            <p:nvPr/>
          </p:nvSpPr>
          <p:spPr>
            <a:xfrm>
              <a:off x="7510046" y="3048000"/>
              <a:ext cx="338554" cy="338554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ctr"/>
              <a:r>
                <a:rPr lang="en-US" sz="1600"/>
                <a:t>…</a:t>
              </a:r>
            </a:p>
          </p:txBody>
        </p:sp>
      </p:grpSp>
      <p:cxnSp>
        <p:nvCxnSpPr>
          <p:cNvPr id="124" name="Straight Arrow Connector 123"/>
          <p:cNvCxnSpPr>
            <a:stCxn id="56" idx="0"/>
            <a:endCxn id="120" idx="2"/>
          </p:cNvCxnSpPr>
          <p:nvPr/>
        </p:nvCxnSpPr>
        <p:spPr>
          <a:xfrm flipH="1" flipV="1">
            <a:off x="8736773" y="4307026"/>
            <a:ext cx="936711" cy="8466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8559075" y="4010639"/>
            <a:ext cx="367408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/>
            <a:r>
              <a:rPr lang="en-US" sz="1400" b="1"/>
              <a:t>99</a:t>
            </a:r>
            <a:endParaRPr lang="en-US" sz="1600" b="1"/>
          </a:p>
        </p:txBody>
      </p:sp>
      <p:sp>
        <p:nvSpPr>
          <p:cNvPr id="131" name="TextBox 130"/>
          <p:cNvSpPr txBox="1"/>
          <p:nvPr/>
        </p:nvSpPr>
        <p:spPr>
          <a:xfrm>
            <a:off x="7194976" y="4205484"/>
            <a:ext cx="636713" cy="33855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600" b="1"/>
              <a:t>F# 99</a:t>
            </a:r>
            <a:endParaRPr lang="en-US" b="1"/>
          </a:p>
        </p:txBody>
      </p:sp>
      <p:grpSp>
        <p:nvGrpSpPr>
          <p:cNvPr id="46" name="Group 133"/>
          <p:cNvGrpSpPr/>
          <p:nvPr/>
        </p:nvGrpSpPr>
        <p:grpSpPr>
          <a:xfrm>
            <a:off x="2941857" y="3550462"/>
            <a:ext cx="498226" cy="307777"/>
            <a:chOff x="1345510" y="5775160"/>
            <a:chExt cx="498226" cy="307777"/>
          </a:xfrm>
        </p:grpSpPr>
        <p:cxnSp>
          <p:nvCxnSpPr>
            <p:cNvPr id="135" name="Straight Arrow Connector 134"/>
            <p:cNvCxnSpPr/>
            <p:nvPr/>
          </p:nvCxnSpPr>
          <p:spPr>
            <a:xfrm>
              <a:off x="1600200" y="5943600"/>
              <a:ext cx="24353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36" name="TextBox 135"/>
            <p:cNvSpPr txBox="1"/>
            <p:nvPr/>
          </p:nvSpPr>
          <p:spPr>
            <a:xfrm>
              <a:off x="1345510" y="5775160"/>
              <a:ext cx="269626" cy="307777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1400" b="1"/>
                <a:t>y</a:t>
              </a:r>
              <a:endParaRPr lang="ar-EG" sz="1400" b="1"/>
            </a:p>
          </p:txBody>
        </p:sp>
      </p:grpSp>
      <p:sp>
        <p:nvSpPr>
          <p:cNvPr id="89" name="TextBox 88"/>
          <p:cNvSpPr txBox="1"/>
          <p:nvPr/>
        </p:nvSpPr>
        <p:spPr>
          <a:xfrm>
            <a:off x="1381760" y="4925039"/>
            <a:ext cx="1639333" cy="27785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b="1" i="1"/>
              <a:t>PAGE ALLOCATOR</a:t>
            </a:r>
            <a:endParaRPr lang="ar-EG" b="1" i="1"/>
          </a:p>
        </p:txBody>
      </p:sp>
      <p:cxnSp>
        <p:nvCxnSpPr>
          <p:cNvPr id="90" name="Straight Arrow Connector 89"/>
          <p:cNvCxnSpPr>
            <a:cxnSpLocks/>
            <a:stCxn id="89" idx="3"/>
          </p:cNvCxnSpPr>
          <p:nvPr/>
        </p:nvCxnSpPr>
        <p:spPr>
          <a:xfrm>
            <a:off x="3021093" y="5063965"/>
            <a:ext cx="418991" cy="297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261590E1-2AEC-2CB1-EE92-00BC35FFE364}"/>
              </a:ext>
            </a:extLst>
          </p:cNvPr>
          <p:cNvSpPr txBox="1">
            <a:spLocks/>
          </p:cNvSpPr>
          <p:nvPr/>
        </p:nvSpPr>
        <p:spPr>
          <a:xfrm>
            <a:off x="0" y="3658"/>
            <a:ext cx="10058400" cy="85639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Shared Memory: </a:t>
            </a:r>
            <a:r>
              <a:rPr lang="en-US" b="1"/>
              <a:t>Details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33DEDF-F56F-AE20-CA8C-21991F6991CE}"/>
              </a:ext>
            </a:extLst>
          </p:cNvPr>
          <p:cNvSpPr txBox="1"/>
          <p:nvPr/>
        </p:nvSpPr>
        <p:spPr>
          <a:xfrm>
            <a:off x="7603179" y="330685"/>
            <a:ext cx="4245329" cy="958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/>
              <a:t>1. Space MUST be allocated in RAM</a:t>
            </a:r>
          </a:p>
          <a:p>
            <a:pPr>
              <a:lnSpc>
                <a:spcPct val="150000"/>
              </a:lnSpc>
            </a:pPr>
            <a:r>
              <a:rPr lang="en-US" sz="2000"/>
              <a:t>2. KEEP track of the allocated frames </a:t>
            </a:r>
            <a:endParaRPr lang="en-AE" sz="2000"/>
          </a:p>
        </p:txBody>
      </p:sp>
    </p:spTree>
    <p:extLst>
      <p:ext uri="{BB962C8B-B14F-4D97-AF65-F5344CB8AC3E}">
        <p14:creationId xmlns:p14="http://schemas.microsoft.com/office/powerpoint/2010/main" val="3476391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animBg="1"/>
      <p:bldP spid="15" grpId="0" animBg="1"/>
      <p:bldP spid="16" grpId="0" animBg="1"/>
      <p:bldP spid="16" grpId="1" animBg="1"/>
      <p:bldP spid="18" grpId="0" animBg="1"/>
      <p:bldP spid="29" grpId="0" animBg="1"/>
      <p:bldP spid="30" grpId="0" animBg="1"/>
      <p:bldP spid="31" grpId="0"/>
      <p:bldP spid="32" grpId="0"/>
      <p:bldP spid="50" grpId="0"/>
      <p:bldP spid="51" grpId="0"/>
      <p:bldP spid="63" grpId="0"/>
      <p:bldP spid="64" grpId="0"/>
      <p:bldP spid="65" grpId="0"/>
      <p:bldP spid="72" grpId="0"/>
      <p:bldP spid="73" grpId="0"/>
      <p:bldP spid="83" grpId="0" animBg="1"/>
      <p:bldP spid="84" grpId="0" animBg="1"/>
      <p:bldP spid="91" grpId="0"/>
      <p:bldP spid="92" grpId="0"/>
      <p:bldP spid="130" grpId="0"/>
      <p:bldP spid="131" grpId="0"/>
      <p:bldP spid="89" grpId="0"/>
      <p:bldP spid="2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113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860055"/>
            <a:ext cx="11446746" cy="4273254"/>
          </a:xfrm>
        </p:spPr>
        <p:txBody>
          <a:bodyPr>
            <a:normAutofit/>
          </a:bodyPr>
          <a:lstStyle/>
          <a:p>
            <a:pPr marL="0" indent="0"/>
            <a:r>
              <a:rPr lang="en-US" sz="2800" b="1" err="1">
                <a:solidFill>
                  <a:srgbClr val="FF0000"/>
                </a:solidFill>
              </a:rPr>
              <a:t>sget</a:t>
            </a:r>
            <a:r>
              <a:rPr lang="en-US" sz="2800" b="1"/>
              <a:t>(): Share the stored frame of the object</a:t>
            </a:r>
            <a:r>
              <a:rPr lang="en-US" sz="3200" b="1"/>
              <a:t>.</a:t>
            </a:r>
          </a:p>
        </p:txBody>
      </p:sp>
      <p:grpSp>
        <p:nvGrpSpPr>
          <p:cNvPr id="5" name="Group 16"/>
          <p:cNvGrpSpPr/>
          <p:nvPr/>
        </p:nvGrpSpPr>
        <p:grpSpPr>
          <a:xfrm>
            <a:off x="2371577" y="2261335"/>
            <a:ext cx="1219200" cy="4038600"/>
            <a:chOff x="4953000" y="2514600"/>
            <a:chExt cx="1981200" cy="4038600"/>
          </a:xfrm>
        </p:grpSpPr>
        <p:sp>
          <p:nvSpPr>
            <p:cNvPr id="6" name="Rectangle 5"/>
            <p:cNvSpPr/>
            <p:nvPr/>
          </p:nvSpPr>
          <p:spPr>
            <a:xfrm>
              <a:off x="4953000" y="4876800"/>
              <a:ext cx="1981200" cy="4572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953000" y="2514600"/>
              <a:ext cx="1981200" cy="990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/>
                <a:t>.</a:t>
              </a:r>
            </a:p>
            <a:p>
              <a:pPr algn="ctr"/>
              <a:r>
                <a:rPr lang="en-US"/>
                <a:t>.</a:t>
              </a:r>
            </a:p>
            <a:p>
              <a:pPr algn="ctr"/>
              <a:r>
                <a:rPr lang="en-US"/>
                <a:t>.</a:t>
              </a:r>
              <a:endParaRPr lang="ar-EG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953000" y="4419600"/>
              <a:ext cx="1981200" cy="4572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9" name="Rectangle 8"/>
            <p:cNvSpPr/>
            <p:nvPr/>
          </p:nvSpPr>
          <p:spPr>
            <a:xfrm>
              <a:off x="4953000" y="3962400"/>
              <a:ext cx="1981200" cy="4572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/>
                <a:t>4 KB</a:t>
              </a:r>
              <a:endParaRPr lang="ar-EG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953000" y="3505200"/>
              <a:ext cx="1981200" cy="4572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953000" y="5334000"/>
              <a:ext cx="1981200" cy="12192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/>
                <a:t>.</a:t>
              </a:r>
            </a:p>
            <a:p>
              <a:pPr algn="ctr"/>
              <a:r>
                <a:rPr lang="en-US"/>
                <a:t>.</a:t>
              </a:r>
            </a:p>
            <a:p>
              <a:pPr algn="ctr"/>
              <a:r>
                <a:rPr lang="en-US"/>
                <a:t>.</a:t>
              </a:r>
              <a:endParaRPr lang="ar-EG"/>
            </a:p>
          </p:txBody>
        </p:sp>
      </p:grpSp>
      <p:sp>
        <p:nvSpPr>
          <p:cNvPr id="12" name="Rectangle 11"/>
          <p:cNvSpPr/>
          <p:nvPr/>
        </p:nvSpPr>
        <p:spPr>
          <a:xfrm>
            <a:off x="2384640" y="4636598"/>
            <a:ext cx="1188000" cy="432000"/>
          </a:xfrm>
          <a:prstGeom prst="rect">
            <a:avLst/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/>
              <a:t>4 KB</a:t>
            </a:r>
            <a:endParaRPr lang="ar-EG"/>
          </a:p>
        </p:txBody>
      </p:sp>
      <p:sp>
        <p:nvSpPr>
          <p:cNvPr id="13" name="Rectangle 12"/>
          <p:cNvSpPr/>
          <p:nvPr/>
        </p:nvSpPr>
        <p:spPr>
          <a:xfrm>
            <a:off x="2384640" y="4344861"/>
            <a:ext cx="1188000" cy="252000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/>
              <a:t>2 KB</a:t>
            </a:r>
            <a:endParaRPr lang="ar-EG"/>
          </a:p>
        </p:txBody>
      </p:sp>
      <p:sp>
        <p:nvSpPr>
          <p:cNvPr id="14" name="TextBox 13"/>
          <p:cNvSpPr txBox="1"/>
          <p:nvPr/>
        </p:nvSpPr>
        <p:spPr>
          <a:xfrm>
            <a:off x="2460841" y="1956535"/>
            <a:ext cx="1010213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/>
              <a:t>Virtual.1</a:t>
            </a:r>
            <a:endParaRPr lang="ar-EG" b="1"/>
          </a:p>
        </p:txBody>
      </p:sp>
      <p:grpSp>
        <p:nvGrpSpPr>
          <p:cNvPr id="15" name="Group 14"/>
          <p:cNvGrpSpPr/>
          <p:nvPr/>
        </p:nvGrpSpPr>
        <p:grpSpPr>
          <a:xfrm>
            <a:off x="1915747" y="4899233"/>
            <a:ext cx="461643" cy="307777"/>
            <a:chOff x="1382093" y="5775160"/>
            <a:chExt cx="461643" cy="307777"/>
          </a:xfrm>
        </p:grpSpPr>
        <p:cxnSp>
          <p:nvCxnSpPr>
            <p:cNvPr id="16" name="Straight Arrow Connector 15"/>
            <p:cNvCxnSpPr/>
            <p:nvPr/>
          </p:nvCxnSpPr>
          <p:spPr>
            <a:xfrm>
              <a:off x="1600200" y="5943600"/>
              <a:ext cx="24353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1382093" y="5775160"/>
              <a:ext cx="266420" cy="307777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1400" b="1"/>
                <a:t>x</a:t>
              </a:r>
              <a:endParaRPr lang="ar-EG" sz="1400" b="1"/>
            </a:p>
          </p:txBody>
        </p:sp>
      </p:grpSp>
      <p:sp>
        <p:nvSpPr>
          <p:cNvPr id="18" name="Rectangle 17"/>
          <p:cNvSpPr/>
          <p:nvPr/>
        </p:nvSpPr>
        <p:spPr>
          <a:xfrm>
            <a:off x="2384640" y="3456587"/>
            <a:ext cx="1188000" cy="252000"/>
          </a:xfrm>
          <a:prstGeom prst="rect">
            <a:avLst/>
          </a:prstGeom>
          <a:ln>
            <a:prstDash val="dash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/>
              <a:t>2 KB</a:t>
            </a:r>
            <a:endParaRPr lang="ar-EG"/>
          </a:p>
        </p:txBody>
      </p:sp>
      <p:grpSp>
        <p:nvGrpSpPr>
          <p:cNvPr id="19" name="Group 18"/>
          <p:cNvGrpSpPr/>
          <p:nvPr/>
        </p:nvGrpSpPr>
        <p:grpSpPr>
          <a:xfrm>
            <a:off x="1912541" y="3553759"/>
            <a:ext cx="459037" cy="307777"/>
            <a:chOff x="1384699" y="5775160"/>
            <a:chExt cx="459037" cy="307777"/>
          </a:xfrm>
        </p:grpSpPr>
        <p:cxnSp>
          <p:nvCxnSpPr>
            <p:cNvPr id="20" name="Straight Arrow Connector 19"/>
            <p:cNvCxnSpPr/>
            <p:nvPr/>
          </p:nvCxnSpPr>
          <p:spPr>
            <a:xfrm>
              <a:off x="1600200" y="5943600"/>
              <a:ext cx="24353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1384699" y="5775160"/>
              <a:ext cx="269626" cy="307777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1400" b="1"/>
                <a:t>y</a:t>
              </a:r>
              <a:endParaRPr lang="ar-EG" sz="1400" b="1"/>
            </a:p>
          </p:txBody>
        </p:sp>
      </p:grpSp>
      <p:grpSp>
        <p:nvGrpSpPr>
          <p:cNvPr id="22" name="Group 16"/>
          <p:cNvGrpSpPr/>
          <p:nvPr/>
        </p:nvGrpSpPr>
        <p:grpSpPr>
          <a:xfrm>
            <a:off x="4315766" y="2261335"/>
            <a:ext cx="1219200" cy="4038600"/>
            <a:chOff x="4953000" y="2514600"/>
            <a:chExt cx="1981200" cy="4038600"/>
          </a:xfrm>
        </p:grpSpPr>
        <p:sp>
          <p:nvSpPr>
            <p:cNvPr id="23" name="Rectangle 22"/>
            <p:cNvSpPr/>
            <p:nvPr/>
          </p:nvSpPr>
          <p:spPr>
            <a:xfrm>
              <a:off x="4953000" y="4876800"/>
              <a:ext cx="1981200" cy="4572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953000" y="2514600"/>
              <a:ext cx="1981200" cy="990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/>
                <a:t>.</a:t>
              </a:r>
            </a:p>
            <a:p>
              <a:pPr algn="ctr"/>
              <a:r>
                <a:rPr lang="en-US"/>
                <a:t>.</a:t>
              </a:r>
            </a:p>
            <a:p>
              <a:pPr algn="ctr"/>
              <a:r>
                <a:rPr lang="en-US"/>
                <a:t>.</a:t>
              </a:r>
              <a:endParaRPr lang="ar-EG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953000" y="4419600"/>
              <a:ext cx="1981200" cy="4572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4953000" y="3962400"/>
              <a:ext cx="1981200" cy="4572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953000" y="3505200"/>
              <a:ext cx="1981200" cy="4572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953000" y="5334000"/>
              <a:ext cx="1981200" cy="12192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/>
                <a:t>.</a:t>
              </a:r>
            </a:p>
            <a:p>
              <a:pPr algn="ctr"/>
              <a:r>
                <a:rPr lang="en-US"/>
                <a:t>.</a:t>
              </a:r>
            </a:p>
            <a:p>
              <a:pPr algn="ctr"/>
              <a:r>
                <a:rPr lang="en-US"/>
                <a:t>.</a:t>
              </a:r>
              <a:endParaRPr lang="ar-EG"/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4405029" y="1956535"/>
            <a:ext cx="1010212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/>
              <a:t>Virtual.2</a:t>
            </a:r>
            <a:endParaRPr lang="ar-EG" b="1"/>
          </a:p>
        </p:txBody>
      </p:sp>
      <p:sp>
        <p:nvSpPr>
          <p:cNvPr id="30" name="TextBox 29"/>
          <p:cNvSpPr txBox="1"/>
          <p:nvPr/>
        </p:nvSpPr>
        <p:spPr>
          <a:xfrm>
            <a:off x="2334566" y="1601662"/>
            <a:ext cx="3031398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en-US" sz="1600" b="1"/>
              <a:t>[Virt.2] y2 = </a:t>
            </a:r>
            <a:r>
              <a:rPr lang="en-US" sz="1600" b="1" err="1">
                <a:solidFill>
                  <a:srgbClr val="FF0000"/>
                </a:solidFill>
              </a:rPr>
              <a:t>sget</a:t>
            </a:r>
            <a:r>
              <a:rPr lang="en-US" sz="1600" b="1"/>
              <a:t>(env1ID, “y”)</a:t>
            </a:r>
            <a:endParaRPr lang="ar-EG" sz="1600" b="1"/>
          </a:p>
        </p:txBody>
      </p:sp>
      <p:grpSp>
        <p:nvGrpSpPr>
          <p:cNvPr id="31" name="Group 88"/>
          <p:cNvGrpSpPr/>
          <p:nvPr/>
        </p:nvGrpSpPr>
        <p:grpSpPr>
          <a:xfrm>
            <a:off x="7744766" y="1561077"/>
            <a:ext cx="2895600" cy="1462258"/>
            <a:chOff x="6019800" y="2042942"/>
            <a:chExt cx="2895600" cy="1462258"/>
          </a:xfrm>
        </p:grpSpPr>
        <p:grpSp>
          <p:nvGrpSpPr>
            <p:cNvPr id="32" name="Group 30"/>
            <p:cNvGrpSpPr/>
            <p:nvPr/>
          </p:nvGrpSpPr>
          <p:grpSpPr>
            <a:xfrm>
              <a:off x="6019800" y="2042942"/>
              <a:ext cx="2895600" cy="1462258"/>
              <a:chOff x="6235337" y="2500142"/>
              <a:chExt cx="2895600" cy="1462258"/>
            </a:xfrm>
          </p:grpSpPr>
          <p:grpSp>
            <p:nvGrpSpPr>
              <p:cNvPr id="37" name="Group 107"/>
              <p:cNvGrpSpPr/>
              <p:nvPr/>
            </p:nvGrpSpPr>
            <p:grpSpPr>
              <a:xfrm>
                <a:off x="6235337" y="2500142"/>
                <a:ext cx="2895600" cy="1462258"/>
                <a:chOff x="6235337" y="2500142"/>
                <a:chExt cx="2895600" cy="1462258"/>
              </a:xfrm>
            </p:grpSpPr>
            <p:sp>
              <p:nvSpPr>
                <p:cNvPr id="34" name="Oval 33"/>
                <p:cNvSpPr/>
                <p:nvPr/>
              </p:nvSpPr>
              <p:spPr>
                <a:xfrm>
                  <a:off x="6235337" y="2819400"/>
                  <a:ext cx="2895600" cy="1143000"/>
                </a:xfrm>
                <a:prstGeom prst="ellipse">
                  <a:avLst/>
                </a:prstGeom>
                <a:noFill/>
                <a:ln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EG"/>
                </a:p>
              </p:txBody>
            </p:sp>
            <p:sp>
              <p:nvSpPr>
                <p:cNvPr id="35" name="TextBox 34"/>
                <p:cNvSpPr txBox="1"/>
                <p:nvPr/>
              </p:nvSpPr>
              <p:spPr>
                <a:xfrm>
                  <a:off x="6973602" y="2500142"/>
                  <a:ext cx="157831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r>
                    <a:rPr lang="en-US" b="1"/>
                    <a:t>Share Object 2</a:t>
                  </a:r>
                  <a:endParaRPr lang="ar-EG" b="1"/>
                </a:p>
              </p:txBody>
            </p:sp>
            <p:sp>
              <p:nvSpPr>
                <p:cNvPr id="36" name="TextBox 35"/>
                <p:cNvSpPr txBox="1"/>
                <p:nvPr/>
              </p:nvSpPr>
              <p:spPr>
                <a:xfrm>
                  <a:off x="6523535" y="2819400"/>
                  <a:ext cx="2356351" cy="584775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ctr"/>
                  <a:r>
                    <a:rPr lang="en-US" sz="1600" err="1"/>
                    <a:t>OwnerID</a:t>
                  </a:r>
                  <a:r>
                    <a:rPr lang="en-US" sz="1600"/>
                    <a:t>=</a:t>
                  </a:r>
                  <a:r>
                    <a:rPr lang="en-US" sz="1600" b="1"/>
                    <a:t>Env1ID</a:t>
                  </a:r>
                  <a:r>
                    <a:rPr lang="en-US" sz="1600"/>
                    <a:t>, </a:t>
                  </a:r>
                </a:p>
                <a:p>
                  <a:pPr algn="ctr"/>
                  <a:r>
                    <a:rPr lang="en-US" sz="1600"/>
                    <a:t>Name = “</a:t>
                  </a:r>
                  <a:r>
                    <a:rPr lang="en-US" sz="1600" b="1"/>
                    <a:t>y</a:t>
                  </a:r>
                  <a:r>
                    <a:rPr lang="en-US" sz="1600"/>
                    <a:t>”, Size = </a:t>
                  </a:r>
                  <a:r>
                    <a:rPr lang="en-US" sz="1600" b="1"/>
                    <a:t>2 KB</a:t>
                  </a:r>
                  <a:r>
                    <a:rPr lang="en-US" sz="1600"/>
                    <a:t>, …</a:t>
                  </a:r>
                </a:p>
              </p:txBody>
            </p:sp>
            <p:sp>
              <p:nvSpPr>
                <p:cNvPr id="39" name="Rectangle 38"/>
                <p:cNvSpPr/>
                <p:nvPr/>
              </p:nvSpPr>
              <p:spPr>
                <a:xfrm>
                  <a:off x="6998126" y="3496788"/>
                  <a:ext cx="381000" cy="304800"/>
                </a:xfrm>
                <a:prstGeom prst="rect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lIns="0" tIns="36000" rIns="0" bIns="36000" rtlCol="1" anchor="ctr"/>
                <a:lstStyle/>
                <a:p>
                  <a:pPr algn="ctr"/>
                  <a:endParaRPr lang="ar-EG" sz="1400" b="1"/>
                </a:p>
              </p:txBody>
            </p:sp>
            <p:sp>
              <p:nvSpPr>
                <p:cNvPr id="38" name="TextBox 37"/>
                <p:cNvSpPr txBox="1"/>
                <p:nvPr/>
              </p:nvSpPr>
              <p:spPr>
                <a:xfrm>
                  <a:off x="7692569" y="3421404"/>
                  <a:ext cx="1309076" cy="307777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r>
                    <a:rPr lang="en-US" sz="1400"/>
                    <a:t>Frames Storage</a:t>
                  </a:r>
                </a:p>
              </p:txBody>
            </p:sp>
          </p:grpSp>
          <p:sp>
            <p:nvSpPr>
              <p:cNvPr id="33" name="TextBox 32"/>
              <p:cNvSpPr txBox="1"/>
              <p:nvPr/>
            </p:nvSpPr>
            <p:spPr>
              <a:xfrm>
                <a:off x="7586958" y="3048000"/>
                <a:ext cx="184730" cy="338554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ctr"/>
                <a:endParaRPr lang="en-US" sz="1600"/>
              </a:p>
            </p:txBody>
          </p:sp>
        </p:grpSp>
        <p:sp>
          <p:nvSpPr>
            <p:cNvPr id="42" name="TextBox 41"/>
            <p:cNvSpPr txBox="1"/>
            <p:nvPr/>
          </p:nvSpPr>
          <p:spPr>
            <a:xfrm>
              <a:off x="6795392" y="3048000"/>
              <a:ext cx="367408" cy="307777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ctr"/>
              <a:r>
                <a:rPr lang="en-US" sz="1400" b="1"/>
                <a:t>99</a:t>
              </a:r>
              <a:endParaRPr lang="en-US" sz="1600" b="1"/>
            </a:p>
          </p:txBody>
        </p:sp>
      </p:grpSp>
      <p:grpSp>
        <p:nvGrpSpPr>
          <p:cNvPr id="43" name="Group 84"/>
          <p:cNvGrpSpPr/>
          <p:nvPr/>
        </p:nvGrpSpPr>
        <p:grpSpPr>
          <a:xfrm>
            <a:off x="6296967" y="1968203"/>
            <a:ext cx="1896971" cy="4331732"/>
            <a:chOff x="4648200" y="2450068"/>
            <a:chExt cx="1896971" cy="4331732"/>
          </a:xfrm>
        </p:grpSpPr>
        <p:grpSp>
          <p:nvGrpSpPr>
            <p:cNvPr id="44" name="Group 42"/>
            <p:cNvGrpSpPr/>
            <p:nvPr/>
          </p:nvGrpSpPr>
          <p:grpSpPr>
            <a:xfrm>
              <a:off x="4648200" y="2450068"/>
              <a:ext cx="1219200" cy="4331732"/>
              <a:chOff x="4419600" y="2450068"/>
              <a:chExt cx="1219200" cy="4331732"/>
            </a:xfrm>
          </p:grpSpPr>
          <p:grpSp>
            <p:nvGrpSpPr>
              <p:cNvPr id="61" name="Group 70"/>
              <p:cNvGrpSpPr/>
              <p:nvPr/>
            </p:nvGrpSpPr>
            <p:grpSpPr>
              <a:xfrm>
                <a:off x="4419600" y="2450068"/>
                <a:ext cx="1219200" cy="4331732"/>
                <a:chOff x="4419600" y="2450068"/>
                <a:chExt cx="1219200" cy="4331732"/>
              </a:xfrm>
            </p:grpSpPr>
            <p:sp>
              <p:nvSpPr>
                <p:cNvPr id="46" name="Rectangle 45"/>
                <p:cNvSpPr/>
                <p:nvPr/>
              </p:nvSpPr>
              <p:spPr>
                <a:xfrm>
                  <a:off x="4419600" y="5867400"/>
                  <a:ext cx="1219200" cy="457200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/>
                  <a:endParaRPr lang="ar-EG"/>
                </a:p>
              </p:txBody>
            </p:sp>
            <p:sp>
              <p:nvSpPr>
                <p:cNvPr id="47" name="Rectangle 46"/>
                <p:cNvSpPr/>
                <p:nvPr/>
              </p:nvSpPr>
              <p:spPr>
                <a:xfrm>
                  <a:off x="4419600" y="2756263"/>
                  <a:ext cx="1219200" cy="596537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/>
                  <a:r>
                    <a:rPr lang="en-US"/>
                    <a:t>…</a:t>
                  </a:r>
                  <a:endParaRPr lang="ar-EG"/>
                </a:p>
              </p:txBody>
            </p:sp>
            <p:sp>
              <p:nvSpPr>
                <p:cNvPr id="48" name="Rectangle 47"/>
                <p:cNvSpPr/>
                <p:nvPr/>
              </p:nvSpPr>
              <p:spPr>
                <a:xfrm>
                  <a:off x="4419600" y="4661263"/>
                  <a:ext cx="1219200" cy="457200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/>
                  <a:endParaRPr lang="ar-EG"/>
                </a:p>
              </p:txBody>
            </p:sp>
            <p:sp>
              <p:nvSpPr>
                <p:cNvPr id="49" name="Rectangle 48"/>
                <p:cNvSpPr/>
                <p:nvPr/>
              </p:nvSpPr>
              <p:spPr>
                <a:xfrm>
                  <a:off x="4419600" y="4204063"/>
                  <a:ext cx="1219200" cy="457200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/>
                  <a:endParaRPr lang="ar-EG"/>
                </a:p>
              </p:txBody>
            </p:sp>
            <p:sp>
              <p:nvSpPr>
                <p:cNvPr id="50" name="Rectangle 49"/>
                <p:cNvSpPr/>
                <p:nvPr/>
              </p:nvSpPr>
              <p:spPr>
                <a:xfrm>
                  <a:off x="4419600" y="3746863"/>
                  <a:ext cx="1219200" cy="457200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/>
                  <a:endParaRPr lang="ar-EG"/>
                </a:p>
              </p:txBody>
            </p:sp>
            <p:sp>
              <p:nvSpPr>
                <p:cNvPr id="51" name="Rectangle 50"/>
                <p:cNvSpPr/>
                <p:nvPr/>
              </p:nvSpPr>
              <p:spPr>
                <a:xfrm>
                  <a:off x="4419600" y="6324600"/>
                  <a:ext cx="1219200" cy="457200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/>
                  <a:r>
                    <a:rPr lang="en-US"/>
                    <a:t>…</a:t>
                  </a:r>
                  <a:endParaRPr lang="ar-EG"/>
                </a:p>
              </p:txBody>
            </p:sp>
            <p:sp>
              <p:nvSpPr>
                <p:cNvPr id="52" name="Rectangle 51"/>
                <p:cNvSpPr/>
                <p:nvPr/>
              </p:nvSpPr>
              <p:spPr>
                <a:xfrm>
                  <a:off x="4419600" y="5116285"/>
                  <a:ext cx="1219200" cy="756000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/>
                  <a:r>
                    <a:rPr lang="en-US"/>
                    <a:t>…</a:t>
                  </a:r>
                  <a:endParaRPr lang="ar-EG"/>
                </a:p>
              </p:txBody>
            </p:sp>
            <p:sp>
              <p:nvSpPr>
                <p:cNvPr id="53" name="TextBox 52"/>
                <p:cNvSpPr txBox="1"/>
                <p:nvPr/>
              </p:nvSpPr>
              <p:spPr>
                <a:xfrm>
                  <a:off x="4694081" y="2450068"/>
                  <a:ext cx="655949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r>
                    <a:rPr lang="en-US" b="1"/>
                    <a:t>RAM</a:t>
                  </a:r>
                  <a:endParaRPr lang="ar-EG" b="1"/>
                </a:p>
              </p:txBody>
            </p:sp>
          </p:grpSp>
          <p:sp>
            <p:nvSpPr>
              <p:cNvPr id="45" name="Rectangle 44"/>
              <p:cNvSpPr/>
              <p:nvPr/>
            </p:nvSpPr>
            <p:spPr>
              <a:xfrm>
                <a:off x="4419600" y="3289663"/>
                <a:ext cx="1219200" cy="45720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/>
                <a:endParaRPr lang="ar-EG"/>
              </a:p>
            </p:txBody>
          </p:sp>
        </p:grpSp>
        <p:sp>
          <p:nvSpPr>
            <p:cNvPr id="54" name="Rectangle 53"/>
            <p:cNvSpPr/>
            <p:nvPr/>
          </p:nvSpPr>
          <p:spPr>
            <a:xfrm>
              <a:off x="4653274" y="6072600"/>
              <a:ext cx="1188000" cy="252000"/>
            </a:xfrm>
            <a:prstGeom prst="rect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/>
                <a:t>2 KB</a:t>
              </a:r>
              <a:endParaRPr lang="ar-EG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4666337" y="4217126"/>
              <a:ext cx="1188000" cy="43200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/>
                <a:t>4 KB</a:t>
              </a:r>
              <a:endParaRPr lang="ar-EG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804263" y="4254137"/>
              <a:ext cx="740908" cy="338554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1600" b="1"/>
                <a:t>F# 100</a:t>
              </a:r>
              <a:endParaRPr lang="en-US" b="1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804263" y="5943600"/>
              <a:ext cx="636713" cy="338554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1600" b="1"/>
                <a:t>F# 30</a:t>
              </a:r>
              <a:endParaRPr lang="en-US" b="1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4661263" y="4853400"/>
              <a:ext cx="1188000" cy="252000"/>
            </a:xfrm>
            <a:prstGeom prst="rect">
              <a:avLst/>
            </a:prstGeom>
            <a:ln>
              <a:prstDash val="dash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/>
                <a:t>2 KB</a:t>
              </a:r>
              <a:endParaRPr lang="ar-EG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812292" y="4690646"/>
              <a:ext cx="636713" cy="338554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1600" b="1"/>
                <a:t>F# 99</a:t>
              </a:r>
              <a:endParaRPr lang="en-US" b="1"/>
            </a:p>
          </p:txBody>
        </p:sp>
      </p:grpSp>
      <p:grpSp>
        <p:nvGrpSpPr>
          <p:cNvPr id="64" name="Group 60"/>
          <p:cNvGrpSpPr/>
          <p:nvPr/>
        </p:nvGrpSpPr>
        <p:grpSpPr>
          <a:xfrm>
            <a:off x="3758576" y="4908107"/>
            <a:ext cx="548565" cy="307777"/>
            <a:chOff x="1295171" y="5775160"/>
            <a:chExt cx="548565" cy="307777"/>
          </a:xfrm>
        </p:grpSpPr>
        <p:cxnSp>
          <p:nvCxnSpPr>
            <p:cNvPr id="62" name="Straight Arrow Connector 61"/>
            <p:cNvCxnSpPr/>
            <p:nvPr/>
          </p:nvCxnSpPr>
          <p:spPr>
            <a:xfrm>
              <a:off x="1600200" y="5943600"/>
              <a:ext cx="24353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63" name="TextBox 62"/>
            <p:cNvSpPr txBox="1"/>
            <p:nvPr/>
          </p:nvSpPr>
          <p:spPr>
            <a:xfrm>
              <a:off x="1295171" y="5775160"/>
              <a:ext cx="360996" cy="307777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1400" b="1"/>
                <a:t>y2</a:t>
              </a:r>
              <a:endParaRPr lang="ar-EG" sz="1400" b="1"/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8019566" y="4903085"/>
            <a:ext cx="2620800" cy="927982"/>
            <a:chOff x="6294600" y="5384950"/>
            <a:chExt cx="2620800" cy="927982"/>
          </a:xfrm>
        </p:grpSpPr>
        <p:grpSp>
          <p:nvGrpSpPr>
            <p:cNvPr id="82" name="Group 63"/>
            <p:cNvGrpSpPr/>
            <p:nvPr/>
          </p:nvGrpSpPr>
          <p:grpSpPr>
            <a:xfrm>
              <a:off x="6294600" y="5638800"/>
              <a:ext cx="2620800" cy="304800"/>
              <a:chOff x="6294600" y="5943600"/>
              <a:chExt cx="2620800" cy="304800"/>
            </a:xfrm>
          </p:grpSpPr>
          <p:sp>
            <p:nvSpPr>
              <p:cNvPr id="65" name="Rectangle 64"/>
              <p:cNvSpPr/>
              <p:nvPr/>
            </p:nvSpPr>
            <p:spPr>
              <a:xfrm>
                <a:off x="6690600" y="5943600"/>
                <a:ext cx="304800" cy="304800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lIns="0" tIns="36000" rIns="0" bIns="36000" rtlCol="1" anchor="ctr"/>
              <a:lstStyle/>
              <a:p>
                <a:pPr algn="ctr"/>
                <a:endParaRPr lang="ar-EG"/>
              </a:p>
            </p:txBody>
          </p:sp>
          <p:sp>
            <p:nvSpPr>
              <p:cNvPr id="66" name="Rectangle 65"/>
              <p:cNvSpPr/>
              <p:nvPr/>
            </p:nvSpPr>
            <p:spPr>
              <a:xfrm>
                <a:off x="6995400" y="5943600"/>
                <a:ext cx="304800" cy="304800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lIns="0" tIns="36000" rIns="0" bIns="36000" rtlCol="1" anchor="ctr"/>
              <a:lstStyle/>
              <a:p>
                <a:pPr algn="ctr"/>
                <a:endParaRPr lang="ar-EG"/>
              </a:p>
            </p:txBody>
          </p:sp>
          <p:sp>
            <p:nvSpPr>
              <p:cNvPr id="67" name="Rectangle 66"/>
              <p:cNvSpPr/>
              <p:nvPr/>
            </p:nvSpPr>
            <p:spPr>
              <a:xfrm>
                <a:off x="7909800" y="5943600"/>
                <a:ext cx="304800" cy="304800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lIns="0" tIns="36000" rIns="0" bIns="36000" rtlCol="1" anchor="ctr"/>
              <a:lstStyle/>
              <a:p>
                <a:pPr algn="ctr"/>
                <a:endParaRPr lang="ar-EG"/>
              </a:p>
            </p:txBody>
          </p:sp>
          <p:sp>
            <p:nvSpPr>
              <p:cNvPr id="68" name="Rectangle 67"/>
              <p:cNvSpPr/>
              <p:nvPr/>
            </p:nvSpPr>
            <p:spPr>
              <a:xfrm>
                <a:off x="8214600" y="5943600"/>
                <a:ext cx="304800" cy="304800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lIns="0" tIns="36000" rIns="0" bIns="36000" rtlCol="1" anchor="ctr"/>
              <a:lstStyle/>
              <a:p>
                <a:pPr algn="ctr"/>
                <a:endParaRPr lang="ar-EG"/>
              </a:p>
            </p:txBody>
          </p:sp>
          <p:sp>
            <p:nvSpPr>
              <p:cNvPr id="69" name="Rectangle 68"/>
              <p:cNvSpPr/>
              <p:nvPr/>
            </p:nvSpPr>
            <p:spPr>
              <a:xfrm>
                <a:off x="7300200" y="5943600"/>
                <a:ext cx="612000" cy="304800"/>
              </a:xfrm>
              <a:prstGeom prst="rect">
                <a:avLst/>
              </a:prstGeom>
              <a:ln>
                <a:prstDash val="sysDot"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lIns="0" tIns="36000" rIns="0" bIns="36000" rtlCol="1" anchor="ctr"/>
              <a:lstStyle/>
              <a:p>
                <a:pPr algn="ctr"/>
                <a:r>
                  <a:rPr lang="en-US"/>
                  <a:t>…….</a:t>
                </a:r>
                <a:endParaRPr lang="ar-EG"/>
              </a:p>
            </p:txBody>
          </p:sp>
          <p:sp>
            <p:nvSpPr>
              <p:cNvPr id="70" name="Rectangle 69"/>
              <p:cNvSpPr/>
              <p:nvPr/>
            </p:nvSpPr>
            <p:spPr>
              <a:xfrm>
                <a:off x="8519400" y="5943600"/>
                <a:ext cx="396000" cy="304800"/>
              </a:xfrm>
              <a:prstGeom prst="rect">
                <a:avLst/>
              </a:prstGeom>
              <a:ln>
                <a:prstDash val="sysDot"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lIns="0" tIns="36000" rIns="0" bIns="36000" rtlCol="1" anchor="ctr"/>
              <a:lstStyle/>
              <a:p>
                <a:pPr algn="ctr"/>
                <a:r>
                  <a:rPr lang="en-US"/>
                  <a:t>...</a:t>
                </a:r>
                <a:endParaRPr lang="ar-EG"/>
              </a:p>
            </p:txBody>
          </p:sp>
          <p:sp>
            <p:nvSpPr>
              <p:cNvPr id="71" name="Rectangle 70"/>
              <p:cNvSpPr/>
              <p:nvPr/>
            </p:nvSpPr>
            <p:spPr>
              <a:xfrm>
                <a:off x="6294600" y="5943600"/>
                <a:ext cx="396000" cy="304800"/>
              </a:xfrm>
              <a:prstGeom prst="rect">
                <a:avLst/>
              </a:prstGeom>
              <a:ln>
                <a:prstDash val="sysDot"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lIns="0" tIns="36000" rIns="0" bIns="36000" rtlCol="1" anchor="ctr"/>
              <a:lstStyle/>
              <a:p>
                <a:pPr algn="ctr"/>
                <a:r>
                  <a:rPr lang="en-US"/>
                  <a:t>...</a:t>
                </a:r>
                <a:endParaRPr lang="ar-EG"/>
              </a:p>
            </p:txBody>
          </p:sp>
        </p:grpSp>
        <p:sp>
          <p:nvSpPr>
            <p:cNvPr id="72" name="TextBox 71"/>
            <p:cNvSpPr txBox="1"/>
            <p:nvPr/>
          </p:nvSpPr>
          <p:spPr>
            <a:xfrm>
              <a:off x="6858000" y="5943600"/>
              <a:ext cx="1421415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b="1" err="1"/>
                <a:t>frames_info</a:t>
              </a:r>
              <a:endParaRPr lang="ar-EG" b="1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6642992" y="5384950"/>
              <a:ext cx="367408" cy="307777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ctr"/>
              <a:r>
                <a:rPr lang="en-US" sz="1400" b="1"/>
                <a:t>30</a:t>
              </a:r>
              <a:endParaRPr lang="en-US" sz="1600" b="1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8138758" y="5384950"/>
              <a:ext cx="458779" cy="307777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ctr"/>
              <a:r>
                <a:rPr lang="en-US" sz="1400" b="1"/>
                <a:t>100</a:t>
              </a:r>
              <a:endParaRPr lang="en-US" sz="1600" b="1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6625489" y="5661949"/>
              <a:ext cx="426719" cy="276999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ctr"/>
              <a:r>
                <a:rPr lang="en-US" sz="1200" b="1"/>
                <a:t>R=1</a:t>
              </a:r>
              <a:endParaRPr lang="en-US" sz="1400" b="1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8153400" y="5675811"/>
              <a:ext cx="426719" cy="276999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ctr"/>
              <a:r>
                <a:rPr lang="en-US" sz="1200" b="1"/>
                <a:t>R=1</a:t>
              </a:r>
              <a:endParaRPr lang="en-US" sz="1400" b="1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7897062" y="5384950"/>
              <a:ext cx="367408" cy="307777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ctr"/>
              <a:r>
                <a:rPr lang="en-US" sz="1400" b="1"/>
                <a:t>99</a:t>
              </a:r>
              <a:endParaRPr lang="en-US" sz="1600" b="1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7866018" y="5675811"/>
              <a:ext cx="426719" cy="276999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ctr"/>
              <a:r>
                <a:rPr lang="en-US" sz="1200" b="1"/>
                <a:t>R=1</a:t>
              </a:r>
              <a:endParaRPr lang="en-US" sz="1400" b="1"/>
            </a:p>
          </p:txBody>
        </p:sp>
      </p:grpSp>
      <p:sp>
        <p:nvSpPr>
          <p:cNvPr id="80" name="TextBox 79"/>
          <p:cNvSpPr txBox="1"/>
          <p:nvPr/>
        </p:nvSpPr>
        <p:spPr>
          <a:xfrm>
            <a:off x="9656299" y="5226995"/>
            <a:ext cx="287383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1">
            <a:spAutoFit/>
          </a:bodyPr>
          <a:lstStyle/>
          <a:p>
            <a:pPr algn="ctr"/>
            <a:r>
              <a:rPr lang="en-US" sz="1200" b="1">
                <a:solidFill>
                  <a:srgbClr val="FF0000"/>
                </a:solidFill>
              </a:rPr>
              <a:t>R=2</a:t>
            </a:r>
            <a:endParaRPr lang="en-US" sz="1400" b="1">
              <a:solidFill>
                <a:srgbClr val="FF0000"/>
              </a:solidFill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4328829" y="4815672"/>
            <a:ext cx="1188000" cy="252000"/>
          </a:xfrm>
          <a:prstGeom prst="rect">
            <a:avLst/>
          </a:prstGeom>
          <a:ln>
            <a:prstDash val="dash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/>
              <a:t>2 KB</a:t>
            </a:r>
            <a:endParaRPr lang="ar-EG"/>
          </a:p>
        </p:txBody>
      </p:sp>
      <p:cxnSp>
        <p:nvCxnSpPr>
          <p:cNvPr id="83" name="Straight Arrow Connector 82"/>
          <p:cNvCxnSpPr>
            <a:cxnSpLocks/>
            <a:stCxn id="23" idx="3"/>
            <a:endCxn id="58" idx="1"/>
          </p:cNvCxnSpPr>
          <p:nvPr/>
        </p:nvCxnSpPr>
        <p:spPr>
          <a:xfrm flipV="1">
            <a:off x="5534966" y="4497535"/>
            <a:ext cx="775064" cy="354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>
            <a:stCxn id="42" idx="2"/>
            <a:endCxn id="78" idx="0"/>
          </p:cNvCxnSpPr>
          <p:nvPr/>
        </p:nvCxnSpPr>
        <p:spPr>
          <a:xfrm>
            <a:off x="8704062" y="2873912"/>
            <a:ext cx="1100282" cy="23200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oup 102"/>
          <p:cNvGrpSpPr/>
          <p:nvPr/>
        </p:nvGrpSpPr>
        <p:grpSpPr>
          <a:xfrm>
            <a:off x="7744766" y="1561077"/>
            <a:ext cx="2895600" cy="1462258"/>
            <a:chOff x="6172200" y="457200"/>
            <a:chExt cx="2895600" cy="1462258"/>
          </a:xfrm>
        </p:grpSpPr>
        <p:grpSp>
          <p:nvGrpSpPr>
            <p:cNvPr id="85" name="Group 89"/>
            <p:cNvGrpSpPr/>
            <p:nvPr/>
          </p:nvGrpSpPr>
          <p:grpSpPr>
            <a:xfrm>
              <a:off x="6172200" y="457200"/>
              <a:ext cx="2895600" cy="1462258"/>
              <a:chOff x="6235337" y="2500142"/>
              <a:chExt cx="2895600" cy="1462258"/>
            </a:xfrm>
          </p:grpSpPr>
          <p:grpSp>
            <p:nvGrpSpPr>
              <p:cNvPr id="87" name="Group 107"/>
              <p:cNvGrpSpPr/>
              <p:nvPr/>
            </p:nvGrpSpPr>
            <p:grpSpPr>
              <a:xfrm>
                <a:off x="6235337" y="2500142"/>
                <a:ext cx="2895600" cy="1462258"/>
                <a:chOff x="6235337" y="2500142"/>
                <a:chExt cx="2895600" cy="1462258"/>
              </a:xfrm>
            </p:grpSpPr>
            <p:sp>
              <p:nvSpPr>
                <p:cNvPr id="93" name="Oval 92"/>
                <p:cNvSpPr/>
                <p:nvPr/>
              </p:nvSpPr>
              <p:spPr>
                <a:xfrm>
                  <a:off x="6235337" y="2819400"/>
                  <a:ext cx="2895600" cy="1143000"/>
                </a:xfrm>
                <a:prstGeom prst="ellipse">
                  <a:avLst/>
                </a:prstGeom>
                <a:noFill/>
                <a:ln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EG"/>
                </a:p>
              </p:txBody>
            </p:sp>
            <p:sp>
              <p:nvSpPr>
                <p:cNvPr id="94" name="TextBox 93"/>
                <p:cNvSpPr txBox="1"/>
                <p:nvPr/>
              </p:nvSpPr>
              <p:spPr>
                <a:xfrm>
                  <a:off x="6973602" y="2500142"/>
                  <a:ext cx="157831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r>
                    <a:rPr lang="en-US" b="1"/>
                    <a:t>Share Object 1</a:t>
                  </a:r>
                  <a:endParaRPr lang="ar-EG" b="1"/>
                </a:p>
              </p:txBody>
            </p:sp>
            <p:sp>
              <p:nvSpPr>
                <p:cNvPr id="95" name="TextBox 94"/>
                <p:cNvSpPr txBox="1"/>
                <p:nvPr/>
              </p:nvSpPr>
              <p:spPr>
                <a:xfrm>
                  <a:off x="6523536" y="2804942"/>
                  <a:ext cx="2356351" cy="584775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ctr"/>
                  <a:r>
                    <a:rPr lang="en-US" sz="1600" err="1"/>
                    <a:t>OwnerID</a:t>
                  </a:r>
                  <a:r>
                    <a:rPr lang="en-US" sz="1600"/>
                    <a:t>=</a:t>
                  </a:r>
                  <a:r>
                    <a:rPr lang="en-US" sz="1600" b="1"/>
                    <a:t>Env1ID</a:t>
                  </a:r>
                  <a:r>
                    <a:rPr lang="en-US" sz="1600"/>
                    <a:t>, </a:t>
                  </a:r>
                </a:p>
                <a:p>
                  <a:pPr algn="ctr"/>
                  <a:r>
                    <a:rPr lang="en-US" sz="1600"/>
                    <a:t>Name = “</a:t>
                  </a:r>
                  <a:r>
                    <a:rPr lang="en-US" sz="1600" b="1"/>
                    <a:t>x</a:t>
                  </a:r>
                  <a:r>
                    <a:rPr lang="en-US" sz="1600"/>
                    <a:t>”, Size = </a:t>
                  </a:r>
                  <a:r>
                    <a:rPr lang="en-US" sz="1600" b="1"/>
                    <a:t>6 KB</a:t>
                  </a:r>
                  <a:r>
                    <a:rPr lang="en-US" sz="1600"/>
                    <a:t>, …</a:t>
                  </a:r>
                </a:p>
              </p:txBody>
            </p:sp>
            <p:grpSp>
              <p:nvGrpSpPr>
                <p:cNvPr id="88" name="Group 45"/>
                <p:cNvGrpSpPr/>
                <p:nvPr/>
              </p:nvGrpSpPr>
              <p:grpSpPr>
                <a:xfrm>
                  <a:off x="6998126" y="3496788"/>
                  <a:ext cx="762000" cy="304800"/>
                  <a:chOff x="6858000" y="3581400"/>
                  <a:chExt cx="762000" cy="304800"/>
                </a:xfrm>
              </p:grpSpPr>
              <p:sp>
                <p:nvSpPr>
                  <p:cNvPr id="98" name="Rectangle 97"/>
                  <p:cNvSpPr/>
                  <p:nvPr/>
                </p:nvSpPr>
                <p:spPr>
                  <a:xfrm>
                    <a:off x="6858000" y="3581400"/>
                    <a:ext cx="381000" cy="304800"/>
                  </a:xfrm>
                  <a:prstGeom prst="rect">
                    <a:avLst/>
                  </a:prstGeom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lIns="0" tIns="36000" rIns="0" bIns="36000" rtlCol="1" anchor="ctr"/>
                  <a:lstStyle/>
                  <a:p>
                    <a:pPr algn="ctr"/>
                    <a:endParaRPr lang="ar-EG" sz="1400" b="1"/>
                  </a:p>
                </p:txBody>
              </p:sp>
              <p:sp>
                <p:nvSpPr>
                  <p:cNvPr id="100" name="Rectangle 99"/>
                  <p:cNvSpPr/>
                  <p:nvPr/>
                </p:nvSpPr>
                <p:spPr>
                  <a:xfrm>
                    <a:off x="7239000" y="3581400"/>
                    <a:ext cx="381000" cy="304800"/>
                  </a:xfrm>
                  <a:prstGeom prst="rect">
                    <a:avLst/>
                  </a:prstGeom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lIns="0" tIns="36000" rIns="0" bIns="36000" rtlCol="1" anchor="ctr"/>
                  <a:lstStyle/>
                  <a:p>
                    <a:pPr algn="ctr"/>
                    <a:endParaRPr lang="ar-EG" sz="1400" b="1"/>
                  </a:p>
                </p:txBody>
              </p:sp>
            </p:grpSp>
            <p:sp>
              <p:nvSpPr>
                <p:cNvPr id="97" name="TextBox 96"/>
                <p:cNvSpPr txBox="1"/>
                <p:nvPr/>
              </p:nvSpPr>
              <p:spPr>
                <a:xfrm>
                  <a:off x="7696038" y="3411027"/>
                  <a:ext cx="1309076" cy="307777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r>
                    <a:rPr lang="en-US" sz="1400"/>
                    <a:t>Frames Storage</a:t>
                  </a:r>
                </a:p>
              </p:txBody>
            </p:sp>
          </p:grpSp>
          <p:sp>
            <p:nvSpPr>
              <p:cNvPr id="92" name="TextBox 91"/>
              <p:cNvSpPr txBox="1"/>
              <p:nvPr/>
            </p:nvSpPr>
            <p:spPr>
              <a:xfrm>
                <a:off x="7586958" y="3048000"/>
                <a:ext cx="184730" cy="338554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ctr"/>
                <a:endParaRPr lang="en-US" sz="1600"/>
              </a:p>
            </p:txBody>
          </p:sp>
        </p:grpSp>
        <p:sp>
          <p:nvSpPr>
            <p:cNvPr id="101" name="TextBox 100"/>
            <p:cNvSpPr txBox="1"/>
            <p:nvPr/>
          </p:nvSpPr>
          <p:spPr>
            <a:xfrm>
              <a:off x="6893432" y="1462258"/>
              <a:ext cx="458779" cy="307777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ctr"/>
              <a:r>
                <a:rPr lang="en-US" sz="1400" b="1"/>
                <a:t>100</a:t>
              </a:r>
              <a:endParaRPr lang="en-US" sz="1600" b="1"/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7315200" y="1462258"/>
              <a:ext cx="367408" cy="307777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ctr"/>
              <a:r>
                <a:rPr lang="en-US" sz="1400" b="1"/>
                <a:t>30</a:t>
              </a:r>
              <a:endParaRPr lang="en-US" sz="1600" b="1"/>
            </a:p>
          </p:txBody>
        </p:sp>
      </p:grpSp>
      <p:sp>
        <p:nvSpPr>
          <p:cNvPr id="104" name="TextBox 103"/>
          <p:cNvSpPr txBox="1"/>
          <p:nvPr/>
        </p:nvSpPr>
        <p:spPr>
          <a:xfrm>
            <a:off x="2356684" y="1615605"/>
            <a:ext cx="3031398" cy="33855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en-US" sz="1600" b="1"/>
              <a:t>[Virt.2] x2 = </a:t>
            </a:r>
            <a:r>
              <a:rPr lang="en-US" sz="1600" b="1" err="1">
                <a:solidFill>
                  <a:srgbClr val="FF0000"/>
                </a:solidFill>
              </a:rPr>
              <a:t>sget</a:t>
            </a:r>
            <a:r>
              <a:rPr lang="en-US" sz="1600" b="1"/>
              <a:t>(env1ID, “x”)</a:t>
            </a:r>
            <a:endParaRPr lang="ar-EG" sz="1600" b="1"/>
          </a:p>
        </p:txBody>
      </p:sp>
      <p:sp>
        <p:nvSpPr>
          <p:cNvPr id="105" name="Rectangle 104"/>
          <p:cNvSpPr/>
          <p:nvPr/>
        </p:nvSpPr>
        <p:spPr>
          <a:xfrm>
            <a:off x="4328829" y="4178472"/>
            <a:ext cx="1188000" cy="432000"/>
          </a:xfrm>
          <a:prstGeom prst="rect">
            <a:avLst/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/>
              <a:t>4 KB</a:t>
            </a:r>
            <a:endParaRPr lang="ar-EG"/>
          </a:p>
        </p:txBody>
      </p:sp>
      <p:sp>
        <p:nvSpPr>
          <p:cNvPr id="106" name="Rectangle 105"/>
          <p:cNvSpPr/>
          <p:nvPr/>
        </p:nvSpPr>
        <p:spPr>
          <a:xfrm>
            <a:off x="4328829" y="3886735"/>
            <a:ext cx="1188000" cy="252000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/>
              <a:t>2 KB</a:t>
            </a:r>
            <a:endParaRPr lang="ar-EG"/>
          </a:p>
        </p:txBody>
      </p:sp>
      <p:cxnSp>
        <p:nvCxnSpPr>
          <p:cNvPr id="107" name="Straight Arrow Connector 106"/>
          <p:cNvCxnSpPr>
            <a:stCxn id="101" idx="2"/>
            <a:endCxn id="74" idx="2"/>
          </p:cNvCxnSpPr>
          <p:nvPr/>
        </p:nvCxnSpPr>
        <p:spPr>
          <a:xfrm>
            <a:off x="8695388" y="2873912"/>
            <a:ext cx="1397726" cy="23369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/>
          <p:cNvCxnSpPr>
            <a:stCxn id="102" idx="2"/>
            <a:endCxn id="73" idx="2"/>
          </p:cNvCxnSpPr>
          <p:nvPr/>
        </p:nvCxnSpPr>
        <p:spPr>
          <a:xfrm flipH="1">
            <a:off x="8551662" y="2873912"/>
            <a:ext cx="519808" cy="23369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9958921" y="5213932"/>
            <a:ext cx="287383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1">
            <a:spAutoFit/>
          </a:bodyPr>
          <a:lstStyle/>
          <a:p>
            <a:pPr algn="ctr"/>
            <a:r>
              <a:rPr lang="en-US" sz="1200" b="1">
                <a:solidFill>
                  <a:srgbClr val="FF0000"/>
                </a:solidFill>
              </a:rPr>
              <a:t>R=2</a:t>
            </a:r>
            <a:endParaRPr lang="en-US" sz="1400" b="1">
              <a:solidFill>
                <a:srgbClr val="FF0000"/>
              </a:solidFill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8443630" y="5213932"/>
            <a:ext cx="287383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1">
            <a:spAutoFit/>
          </a:bodyPr>
          <a:lstStyle/>
          <a:p>
            <a:pPr algn="ctr"/>
            <a:r>
              <a:rPr lang="en-US" sz="1200" b="1">
                <a:solidFill>
                  <a:srgbClr val="FF0000"/>
                </a:solidFill>
              </a:rPr>
              <a:t>R=2</a:t>
            </a:r>
            <a:endParaRPr lang="en-US" sz="1400" b="1">
              <a:solidFill>
                <a:srgbClr val="FF0000"/>
              </a:solidFill>
            </a:endParaRPr>
          </a:p>
        </p:txBody>
      </p:sp>
      <p:cxnSp>
        <p:nvCxnSpPr>
          <p:cNvPr id="115" name="Straight Arrow Connector 114"/>
          <p:cNvCxnSpPr>
            <a:stCxn id="105" idx="3"/>
            <a:endCxn id="55" idx="1"/>
          </p:cNvCxnSpPr>
          <p:nvPr/>
        </p:nvCxnSpPr>
        <p:spPr>
          <a:xfrm flipV="1">
            <a:off x="5516829" y="3951262"/>
            <a:ext cx="798274" cy="44321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>
            <a:cxnSpLocks/>
            <a:stCxn id="26" idx="3"/>
            <a:endCxn id="54" idx="1"/>
          </p:cNvCxnSpPr>
          <p:nvPr/>
        </p:nvCxnSpPr>
        <p:spPr>
          <a:xfrm>
            <a:off x="5534966" y="3937735"/>
            <a:ext cx="767075" cy="1779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9" name="Group 121"/>
          <p:cNvGrpSpPr/>
          <p:nvPr/>
        </p:nvGrpSpPr>
        <p:grpSpPr>
          <a:xfrm>
            <a:off x="3769304" y="4459533"/>
            <a:ext cx="548565" cy="307777"/>
            <a:chOff x="1295171" y="5775160"/>
            <a:chExt cx="548565" cy="307777"/>
          </a:xfrm>
        </p:grpSpPr>
        <p:cxnSp>
          <p:nvCxnSpPr>
            <p:cNvPr id="123" name="Straight Arrow Connector 122"/>
            <p:cNvCxnSpPr/>
            <p:nvPr/>
          </p:nvCxnSpPr>
          <p:spPr>
            <a:xfrm>
              <a:off x="1600200" y="5943600"/>
              <a:ext cx="24353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124" name="TextBox 123"/>
            <p:cNvSpPr txBox="1"/>
            <p:nvPr/>
          </p:nvSpPr>
          <p:spPr>
            <a:xfrm>
              <a:off x="1295171" y="5775160"/>
              <a:ext cx="357790" cy="307777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1400" b="1"/>
                <a:t>x2</a:t>
              </a:r>
              <a:endParaRPr lang="ar-EG" sz="1400" b="1"/>
            </a:p>
          </p:txBody>
        </p:sp>
      </p:grpSp>
      <p:sp>
        <p:nvSpPr>
          <p:cNvPr id="125" name="TextBox 124"/>
          <p:cNvSpPr txBox="1"/>
          <p:nvPr/>
        </p:nvSpPr>
        <p:spPr>
          <a:xfrm>
            <a:off x="2334566" y="1617044"/>
            <a:ext cx="3031398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en-US" sz="1600" b="1"/>
              <a:t>[Virt.3] y3 = </a:t>
            </a:r>
            <a:r>
              <a:rPr lang="en-US" sz="1600" b="1" err="1">
                <a:solidFill>
                  <a:srgbClr val="FF0000"/>
                </a:solidFill>
              </a:rPr>
              <a:t>sget</a:t>
            </a:r>
            <a:r>
              <a:rPr lang="en-US" sz="1600" b="1"/>
              <a:t>(env1ID, “y”)</a:t>
            </a:r>
            <a:endParaRPr lang="ar-EG" sz="1600" b="1"/>
          </a:p>
        </p:txBody>
      </p:sp>
      <p:grpSp>
        <p:nvGrpSpPr>
          <p:cNvPr id="90" name="Group 133"/>
          <p:cNvGrpSpPr/>
          <p:nvPr/>
        </p:nvGrpSpPr>
        <p:grpSpPr>
          <a:xfrm>
            <a:off x="4315766" y="1956535"/>
            <a:ext cx="1219200" cy="4343400"/>
            <a:chOff x="9372600" y="2514600"/>
            <a:chExt cx="1219200" cy="4343400"/>
          </a:xfrm>
        </p:grpSpPr>
        <p:grpSp>
          <p:nvGrpSpPr>
            <p:cNvPr id="91" name="Group 16"/>
            <p:cNvGrpSpPr/>
            <p:nvPr/>
          </p:nvGrpSpPr>
          <p:grpSpPr>
            <a:xfrm>
              <a:off x="9372600" y="2819400"/>
              <a:ext cx="1219200" cy="4038600"/>
              <a:chOff x="4953000" y="2514600"/>
              <a:chExt cx="1981200" cy="4038600"/>
            </a:xfrm>
          </p:grpSpPr>
          <p:sp>
            <p:nvSpPr>
              <p:cNvPr id="127" name="Rectangle 126"/>
              <p:cNvSpPr/>
              <p:nvPr/>
            </p:nvSpPr>
            <p:spPr>
              <a:xfrm>
                <a:off x="4953000" y="4876800"/>
                <a:ext cx="1981200" cy="4572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/>
                <a:r>
                  <a:rPr lang="en-US"/>
                  <a:t>4 KB</a:t>
                </a:r>
                <a:endParaRPr lang="ar-EG"/>
              </a:p>
            </p:txBody>
          </p:sp>
          <p:sp>
            <p:nvSpPr>
              <p:cNvPr id="128" name="Rectangle 127"/>
              <p:cNvSpPr/>
              <p:nvPr/>
            </p:nvSpPr>
            <p:spPr>
              <a:xfrm>
                <a:off x="4953000" y="2514600"/>
                <a:ext cx="1981200" cy="99060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/>
                <a:r>
                  <a:rPr lang="en-US"/>
                  <a:t>.</a:t>
                </a:r>
              </a:p>
              <a:p>
                <a:pPr algn="ctr"/>
                <a:r>
                  <a:rPr lang="en-US"/>
                  <a:t>.</a:t>
                </a:r>
              </a:p>
              <a:p>
                <a:pPr algn="ctr"/>
                <a:r>
                  <a:rPr lang="en-US"/>
                  <a:t>.</a:t>
                </a:r>
                <a:endParaRPr lang="ar-EG"/>
              </a:p>
            </p:txBody>
          </p:sp>
          <p:sp>
            <p:nvSpPr>
              <p:cNvPr id="129" name="Rectangle 128"/>
              <p:cNvSpPr/>
              <p:nvPr/>
            </p:nvSpPr>
            <p:spPr>
              <a:xfrm>
                <a:off x="4953000" y="4419600"/>
                <a:ext cx="1981200" cy="45720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/>
                <a:endParaRPr lang="ar-EG"/>
              </a:p>
            </p:txBody>
          </p:sp>
          <p:sp>
            <p:nvSpPr>
              <p:cNvPr id="130" name="Rectangle 129"/>
              <p:cNvSpPr/>
              <p:nvPr/>
            </p:nvSpPr>
            <p:spPr>
              <a:xfrm>
                <a:off x="4953000" y="3962400"/>
                <a:ext cx="1981200" cy="45720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/>
                <a:endParaRPr lang="ar-EG"/>
              </a:p>
            </p:txBody>
          </p:sp>
          <p:sp>
            <p:nvSpPr>
              <p:cNvPr id="131" name="Rectangle 130"/>
              <p:cNvSpPr/>
              <p:nvPr/>
            </p:nvSpPr>
            <p:spPr>
              <a:xfrm>
                <a:off x="4953000" y="3505200"/>
                <a:ext cx="1981200" cy="45720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/>
                <a:endParaRPr lang="ar-EG"/>
              </a:p>
            </p:txBody>
          </p:sp>
          <p:sp>
            <p:nvSpPr>
              <p:cNvPr id="132" name="Rectangle 131"/>
              <p:cNvSpPr/>
              <p:nvPr/>
            </p:nvSpPr>
            <p:spPr>
              <a:xfrm>
                <a:off x="4953000" y="5334000"/>
                <a:ext cx="1981200" cy="121920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/>
                <a:r>
                  <a:rPr lang="en-US"/>
                  <a:t>.</a:t>
                </a:r>
              </a:p>
              <a:p>
                <a:pPr algn="ctr"/>
                <a:r>
                  <a:rPr lang="en-US"/>
                  <a:t>.</a:t>
                </a:r>
              </a:p>
              <a:p>
                <a:pPr algn="ctr"/>
                <a:r>
                  <a:rPr lang="en-US"/>
                  <a:t>.</a:t>
                </a:r>
                <a:endParaRPr lang="ar-EG"/>
              </a:p>
            </p:txBody>
          </p:sp>
        </p:grpSp>
        <p:sp>
          <p:nvSpPr>
            <p:cNvPr id="133" name="TextBox 132"/>
            <p:cNvSpPr txBox="1"/>
            <p:nvPr/>
          </p:nvSpPr>
          <p:spPr>
            <a:xfrm>
              <a:off x="9461863" y="2514600"/>
              <a:ext cx="1010212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b="1"/>
                <a:t>Virtual.3</a:t>
              </a:r>
              <a:endParaRPr lang="ar-EG" b="1"/>
            </a:p>
          </p:txBody>
        </p:sp>
      </p:grpSp>
      <p:sp>
        <p:nvSpPr>
          <p:cNvPr id="136" name="Rectangle 135"/>
          <p:cNvSpPr/>
          <p:nvPr/>
        </p:nvSpPr>
        <p:spPr>
          <a:xfrm>
            <a:off x="4333519" y="4362909"/>
            <a:ext cx="1188000" cy="252000"/>
          </a:xfrm>
          <a:prstGeom prst="rect">
            <a:avLst/>
          </a:prstGeom>
          <a:ln>
            <a:prstDash val="dash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/>
              <a:t>2 KB</a:t>
            </a:r>
            <a:endParaRPr lang="ar-EG"/>
          </a:p>
        </p:txBody>
      </p:sp>
      <p:cxnSp>
        <p:nvCxnSpPr>
          <p:cNvPr id="137" name="Straight Arrow Connector 136"/>
          <p:cNvCxnSpPr>
            <a:stCxn id="136" idx="3"/>
            <a:endCxn id="58" idx="1"/>
          </p:cNvCxnSpPr>
          <p:nvPr/>
        </p:nvCxnSpPr>
        <p:spPr>
          <a:xfrm>
            <a:off x="5521519" y="4488909"/>
            <a:ext cx="788510" cy="862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Box 141"/>
          <p:cNvSpPr txBox="1"/>
          <p:nvPr/>
        </p:nvSpPr>
        <p:spPr>
          <a:xfrm>
            <a:off x="9636320" y="5206241"/>
            <a:ext cx="287383" cy="184666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1">
            <a:spAutoFit/>
          </a:bodyPr>
          <a:lstStyle/>
          <a:p>
            <a:pPr algn="ctr"/>
            <a:r>
              <a:rPr lang="en-US" sz="1200" b="1">
                <a:solidFill>
                  <a:srgbClr val="FF0000"/>
                </a:solidFill>
              </a:rPr>
              <a:t>R=3</a:t>
            </a:r>
            <a:endParaRPr lang="en-US" sz="1400" b="1">
              <a:solidFill>
                <a:srgbClr val="FF0000"/>
              </a:solidFill>
            </a:endParaRPr>
          </a:p>
        </p:txBody>
      </p:sp>
      <p:grpSp>
        <p:nvGrpSpPr>
          <p:cNvPr id="96" name="Group 142"/>
          <p:cNvGrpSpPr/>
          <p:nvPr/>
        </p:nvGrpSpPr>
        <p:grpSpPr>
          <a:xfrm>
            <a:off x="3767202" y="4462510"/>
            <a:ext cx="548565" cy="307777"/>
            <a:chOff x="1295171" y="5775160"/>
            <a:chExt cx="548565" cy="307777"/>
          </a:xfrm>
        </p:grpSpPr>
        <p:cxnSp>
          <p:nvCxnSpPr>
            <p:cNvPr id="144" name="Straight Arrow Connector 143"/>
            <p:cNvCxnSpPr/>
            <p:nvPr/>
          </p:nvCxnSpPr>
          <p:spPr>
            <a:xfrm>
              <a:off x="1600200" y="5943600"/>
              <a:ext cx="24353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45" name="TextBox 144"/>
            <p:cNvSpPr txBox="1"/>
            <p:nvPr/>
          </p:nvSpPr>
          <p:spPr>
            <a:xfrm>
              <a:off x="1295171" y="5775160"/>
              <a:ext cx="360996" cy="307777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1400" b="1"/>
                <a:t>y3</a:t>
              </a:r>
              <a:endParaRPr lang="ar-EG" sz="1400" b="1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55C32D1-2350-4AA9-F4C6-969BBEC02A46}"/>
              </a:ext>
            </a:extLst>
          </p:cNvPr>
          <p:cNvSpPr txBox="1">
            <a:spLocks/>
          </p:cNvSpPr>
          <p:nvPr/>
        </p:nvSpPr>
        <p:spPr>
          <a:xfrm>
            <a:off x="0" y="3658"/>
            <a:ext cx="10058400" cy="85639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Shared Memory: </a:t>
            </a:r>
            <a:r>
              <a:rPr lang="en-US" b="1"/>
              <a:t>Details </a:t>
            </a:r>
          </a:p>
        </p:txBody>
      </p:sp>
    </p:spTree>
    <p:extLst>
      <p:ext uri="{BB962C8B-B14F-4D97-AF65-F5344CB8AC3E}">
        <p14:creationId xmlns:p14="http://schemas.microsoft.com/office/powerpoint/2010/main" val="2125753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 animBg="1"/>
      <p:bldP spid="80" grpId="0" animBg="1"/>
      <p:bldP spid="81" grpId="0" animBg="1"/>
      <p:bldP spid="104" grpId="0" animBg="1"/>
      <p:bldP spid="105" grpId="0" animBg="1"/>
      <p:bldP spid="106" grpId="0" animBg="1"/>
      <p:bldP spid="113" grpId="0" animBg="1"/>
      <p:bldP spid="114" grpId="0" animBg="1"/>
      <p:bldP spid="125" grpId="0" animBg="1"/>
      <p:bldP spid="136" grpId="0" animBg="1"/>
      <p:bldP spid="142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A465F65-F32E-8DC4-0C29-205C456AA54A}"/>
              </a:ext>
            </a:extLst>
          </p:cNvPr>
          <p:cNvSpPr/>
          <p:nvPr/>
        </p:nvSpPr>
        <p:spPr>
          <a:xfrm>
            <a:off x="0" y="1684015"/>
            <a:ext cx="12192000" cy="527836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struct</a:t>
            </a:r>
            <a:r>
              <a:rPr lang="en-US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Share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</a:p>
          <a:p>
            <a:pPr>
              <a:spcBef>
                <a:spcPts val="600"/>
              </a:spcBef>
            </a:pPr>
            <a:r>
              <a:rPr lang="en-US" b="1" i="1" dirty="0">
                <a:solidFill>
                  <a:srgbClr val="008080"/>
                </a:solidFill>
                <a:latin typeface="Consolas" panose="020B0609020204030204" pitchFamily="49" charset="0"/>
              </a:rPr>
              <a:t>	/*Global Info*/</a:t>
            </a:r>
            <a:endParaRPr lang="ar-EG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 algn="l">
              <a:spcBef>
                <a:spcPts val="600"/>
              </a:spcBef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	//Unique ID for this Share object</a:t>
            </a:r>
          </a:p>
          <a:p>
            <a:pPr algn="l">
              <a:spcBef>
                <a:spcPts val="600"/>
              </a:spcBef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	//Should be set to VA of created object after masking most significant bit (to make it +</a:t>
            </a:r>
            <a:r>
              <a:rPr lang="en-US" u="sng" dirty="0" err="1">
                <a:solidFill>
                  <a:srgbClr val="008000"/>
                </a:solidFill>
                <a:latin typeface="Consolas" panose="020B0609020204030204" pitchFamily="49" charset="0"/>
              </a:rPr>
              <a:t>ve</a:t>
            </a:r>
            <a:r>
              <a:rPr lang="en-US" u="sng" dirty="0">
                <a:solidFill>
                  <a:srgbClr val="008000"/>
                </a:solidFill>
                <a:latin typeface="Consolas" panose="020B0609020204030204" pitchFamily="49" charset="0"/>
              </a:rPr>
              <a:t>)</a:t>
            </a:r>
          </a:p>
          <a:p>
            <a:pPr algn="l">
              <a:spcBef>
                <a:spcPts val="600"/>
              </a:spcBef>
            </a:pPr>
            <a:r>
              <a:rPr lang="en-US" dirty="0">
                <a:solidFill>
                  <a:srgbClr val="535353"/>
                </a:solidFill>
                <a:latin typeface="Consolas" panose="020B0609020204030204" pitchFamily="49" charset="0"/>
              </a:rPr>
              <a:t>	int32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ID </a:t>
            </a:r>
            <a:r>
              <a:rPr lang="en-US" dirty="0">
                <a:solidFill>
                  <a:srgbClr val="A36622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rgbClr val="535353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name</a:t>
            </a:r>
            <a:r>
              <a:rPr lang="en-US" dirty="0">
                <a:solidFill>
                  <a:srgbClr val="787878"/>
                </a:solidFill>
                <a:latin typeface="Consolas" panose="020B0609020204030204" pitchFamily="49" charset="0"/>
              </a:rPr>
              <a:t>[</a:t>
            </a:r>
            <a:r>
              <a:rPr lang="en-US" i="1" dirty="0">
                <a:solidFill>
                  <a:srgbClr val="535353"/>
                </a:solidFill>
                <a:latin typeface="Consolas" panose="020B0609020204030204" pitchFamily="49" charset="0"/>
              </a:rPr>
              <a:t>NAMELEN</a:t>
            </a:r>
            <a:r>
              <a:rPr lang="en-US" dirty="0">
                <a:solidFill>
                  <a:srgbClr val="787878"/>
                </a:solidFill>
                <a:latin typeface="Consolas" panose="020B0609020204030204" pitchFamily="49" charset="0"/>
              </a:rPr>
              <a:t>]</a:t>
            </a:r>
            <a:r>
              <a:rPr lang="en-US" dirty="0">
                <a:solidFill>
                  <a:srgbClr val="A36622"/>
                </a:solidFill>
                <a:latin typeface="Consolas" panose="020B0609020204030204" pitchFamily="49" charset="0"/>
              </a:rPr>
              <a:t>;	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//share name</a:t>
            </a:r>
          </a:p>
          <a:p>
            <a:pPr algn="l">
              <a:spcBef>
                <a:spcPts val="600"/>
              </a:spcBef>
            </a:pPr>
            <a:r>
              <a:rPr lang="en-US" dirty="0">
                <a:solidFill>
                  <a:srgbClr val="535353"/>
                </a:solidFill>
                <a:latin typeface="Consolas" panose="020B0609020204030204" pitchFamily="49" charset="0"/>
              </a:rPr>
              <a:t>	int32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ownerID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6622"/>
                </a:solidFill>
                <a:latin typeface="Consolas" panose="020B0609020204030204" pitchFamily="49" charset="0"/>
              </a:rPr>
              <a:t>;	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	//ID of the owner environment</a:t>
            </a:r>
          </a:p>
          <a:p>
            <a:pPr lvl="1">
              <a:spcBef>
                <a:spcPts val="600"/>
              </a:spcBef>
            </a:pPr>
            <a:r>
              <a:rPr lang="en-US" dirty="0">
                <a:solidFill>
                  <a:srgbClr val="535353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size</a:t>
            </a:r>
            <a:r>
              <a:rPr lang="en-US" dirty="0">
                <a:solidFill>
                  <a:srgbClr val="A36622"/>
                </a:solidFill>
                <a:latin typeface="Consolas" panose="020B0609020204030204" pitchFamily="49" charset="0"/>
              </a:rPr>
              <a:t>;				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//share size</a:t>
            </a:r>
            <a:endParaRPr lang="en-US" dirty="0">
              <a:solidFill>
                <a:srgbClr val="A36622"/>
              </a:solidFill>
              <a:latin typeface="Consolas" panose="020B0609020204030204" pitchFamily="49" charset="0"/>
            </a:endParaRPr>
          </a:p>
          <a:p>
            <a:pPr lvl="1">
              <a:spcBef>
                <a:spcPts val="600"/>
              </a:spcBef>
            </a:pPr>
            <a:r>
              <a:rPr lang="en-US" b="1" i="1" dirty="0">
                <a:solidFill>
                  <a:srgbClr val="008080"/>
                </a:solidFill>
                <a:latin typeface="Consolas" panose="020B0609020204030204" pitchFamily="49" charset="0"/>
              </a:rPr>
              <a:t>/*OS Info*/</a:t>
            </a:r>
            <a:endParaRPr lang="ar-EG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 lvl="1">
              <a:spcBef>
                <a:spcPts val="600"/>
              </a:spcBef>
            </a:pPr>
            <a:r>
              <a:rPr lang="en-US" dirty="0">
                <a:solidFill>
                  <a:srgbClr val="535353"/>
                </a:solidFill>
                <a:latin typeface="Consolas" panose="020B0609020204030204" pitchFamily="49" charset="0"/>
              </a:rPr>
              <a:t>uint32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references</a:t>
            </a:r>
            <a:r>
              <a:rPr lang="en-US" dirty="0">
                <a:solidFill>
                  <a:srgbClr val="A36622"/>
                </a:solidFill>
                <a:latin typeface="Consolas" panose="020B0609020204030204" pitchFamily="49" charset="0"/>
              </a:rPr>
              <a:t>;		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//references, number of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envs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looking at this shared mem object</a:t>
            </a:r>
            <a:endParaRPr lang="en-US" dirty="0">
              <a:solidFill>
                <a:srgbClr val="A36622"/>
              </a:solidFill>
              <a:latin typeface="Consolas" panose="020B0609020204030204" pitchFamily="49" charset="0"/>
            </a:endParaRPr>
          </a:p>
          <a:p>
            <a:pPr lvl="1">
              <a:spcBef>
                <a:spcPts val="600"/>
              </a:spcBef>
            </a:pPr>
            <a:r>
              <a:rPr lang="en-US" dirty="0">
                <a:solidFill>
                  <a:srgbClr val="535353"/>
                </a:solidFill>
                <a:latin typeface="Consolas" panose="020B0609020204030204" pitchFamily="49" charset="0"/>
              </a:rPr>
              <a:t>uint8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isWritable</a:t>
            </a:r>
            <a:r>
              <a:rPr lang="en-US" dirty="0">
                <a:solidFill>
                  <a:srgbClr val="A36622"/>
                </a:solidFill>
                <a:latin typeface="Consolas" panose="020B0609020204030204" pitchFamily="49" charset="0"/>
              </a:rPr>
              <a:t>;		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//sharing permissions (0: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ReadOnly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, 1:Writable)</a:t>
            </a:r>
            <a:endParaRPr lang="en-US" dirty="0">
              <a:solidFill>
                <a:srgbClr val="A36622"/>
              </a:solidFill>
              <a:latin typeface="Consolas" panose="020B0609020204030204" pitchFamily="49" charset="0"/>
            </a:endParaRPr>
          </a:p>
          <a:p>
            <a:pPr lvl="1">
              <a:spcBef>
                <a:spcPts val="600"/>
              </a:spcBef>
            </a:pPr>
            <a:r>
              <a:rPr lang="en-US" dirty="0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FrameInfo</a:t>
            </a:r>
            <a:r>
              <a:rPr lang="en-US" dirty="0">
                <a:solidFill>
                  <a:srgbClr val="A36622"/>
                </a:solidFill>
                <a:latin typeface="Consolas" panose="020B0609020204030204" pitchFamily="49" charset="0"/>
              </a:rPr>
              <a:t>**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framesStorage</a:t>
            </a:r>
            <a:r>
              <a:rPr lang="en-US" dirty="0">
                <a:solidFill>
                  <a:srgbClr val="A36622"/>
                </a:solidFill>
                <a:latin typeface="Consolas" panose="020B0609020204030204" pitchFamily="49" charset="0"/>
              </a:rPr>
              <a:t>;	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//to store frames to be shared</a:t>
            </a: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0037CD"/>
                </a:solidFill>
                <a:latin typeface="Consolas" panose="020B0609020204030204" pitchFamily="49" charset="0"/>
              </a:rPr>
              <a:t>	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ShareHandle</a:t>
            </a:r>
            <a:r>
              <a:rPr lang="en-US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handle</a:t>
            </a:r>
            <a:r>
              <a:rPr lang="en-US" dirty="0">
                <a:solidFill>
                  <a:srgbClr val="A36622"/>
                </a:solidFill>
                <a:latin typeface="Consolas" panose="020B0609020204030204" pitchFamily="49" charset="0"/>
              </a:rPr>
              <a:t>;			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//Pointer to the corresponding handle in the </a:t>
            </a:r>
            <a:r>
              <a:rPr lang="en-US" u="sng" dirty="0">
                <a:solidFill>
                  <a:srgbClr val="008000"/>
                </a:solidFill>
                <a:latin typeface="Consolas" panose="020B0609020204030204" pitchFamily="49" charset="0"/>
              </a:rPr>
              <a:t>env</a:t>
            </a:r>
            <a:endParaRPr lang="en-US" i="1" dirty="0">
              <a:solidFill>
                <a:srgbClr val="535353"/>
              </a:solidFill>
              <a:latin typeface="Consolas" panose="020B0609020204030204" pitchFamily="49" charset="0"/>
            </a:endParaRPr>
          </a:p>
          <a:p>
            <a:pPr lvl="1">
              <a:spcBef>
                <a:spcPts val="600"/>
              </a:spcBef>
            </a:pPr>
            <a:r>
              <a:rPr lang="en-US" i="1" dirty="0">
                <a:solidFill>
                  <a:srgbClr val="535353"/>
                </a:solidFill>
                <a:latin typeface="Consolas" panose="020B0609020204030204" pitchFamily="49" charset="0"/>
              </a:rPr>
              <a:t>LIST_ENTRY</a:t>
            </a:r>
            <a:r>
              <a:rPr lang="en-US" i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</a:rPr>
              <a:t>Share</a:t>
            </a:r>
            <a:r>
              <a:rPr lang="en-US" i="1" dirty="0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prev_next_info</a:t>
            </a:r>
            <a:r>
              <a:rPr lang="en-US" i="1" dirty="0">
                <a:solidFill>
                  <a:srgbClr val="A36622"/>
                </a:solidFill>
                <a:latin typeface="Consolas" panose="020B0609020204030204" pitchFamily="49" charset="0"/>
              </a:rPr>
              <a:t>;	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list link pointers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  <a:endParaRPr lang="ar-EG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114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40EC562-0A4F-036A-E0D7-8853E2522EB8}"/>
              </a:ext>
            </a:extLst>
          </p:cNvPr>
          <p:cNvSpPr txBox="1">
            <a:spLocks/>
          </p:cNvSpPr>
          <p:nvPr/>
        </p:nvSpPr>
        <p:spPr>
          <a:xfrm>
            <a:off x="1097280" y="916801"/>
            <a:ext cx="11094720" cy="8205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440" indent="-514080">
              <a:tabLst>
                <a:tab pos="0" algn="l"/>
              </a:tabLst>
            </a:pPr>
            <a:r>
              <a:rPr lang="en-US"/>
              <a:t>Shared Memory: </a:t>
            </a:r>
            <a:r>
              <a:rPr lang="en-US" b="1"/>
              <a:t>Data [</a:t>
            </a:r>
            <a:r>
              <a:rPr lang="en-US" b="1">
                <a:solidFill>
                  <a:srgbClr val="00B050"/>
                </a:solidFill>
              </a:rPr>
              <a:t>GIVEN</a:t>
            </a:r>
            <a:r>
              <a:rPr lang="en-US" b="1"/>
              <a:t>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32D29C-0011-6492-DF1B-6A305CFC9F16}"/>
              </a:ext>
            </a:extLst>
          </p:cNvPr>
          <p:cNvSpPr txBox="1"/>
          <p:nvPr/>
        </p:nvSpPr>
        <p:spPr>
          <a:xfrm>
            <a:off x="6922589" y="1836415"/>
            <a:ext cx="5128019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</a:rPr>
              <a:t>kern/mem/</a:t>
            </a:r>
            <a:r>
              <a:rPr lang="en-US" sz="2000" b="1" err="1">
                <a:solidFill>
                  <a:srgbClr val="FF0000"/>
                </a:solidFill>
              </a:rPr>
              <a:t>shared_memory_manager.h</a:t>
            </a:r>
            <a:endParaRPr lang="ar-EG" sz="20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D1967-E0F9-C7F2-B4E9-C2C687B6B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66ED60-213A-2EEE-9328-BD1182728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115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F5708C1-C71E-9DC3-6505-146CEB96F953}"/>
              </a:ext>
            </a:extLst>
          </p:cNvPr>
          <p:cNvSpPr txBox="1">
            <a:spLocks/>
          </p:cNvSpPr>
          <p:nvPr/>
        </p:nvSpPr>
        <p:spPr>
          <a:xfrm>
            <a:off x="1097280" y="916801"/>
            <a:ext cx="11094720" cy="8205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440" indent="-514080">
              <a:tabLst>
                <a:tab pos="0" algn="l"/>
              </a:tabLst>
            </a:pPr>
            <a:r>
              <a:rPr lang="en-US"/>
              <a:t>Shared Memory: </a:t>
            </a:r>
            <a:r>
              <a:rPr lang="en-US" b="1"/>
              <a:t>Data [</a:t>
            </a:r>
            <a:r>
              <a:rPr lang="en-US" b="1">
                <a:solidFill>
                  <a:srgbClr val="00B050"/>
                </a:solidFill>
              </a:rPr>
              <a:t>GIVEN</a:t>
            </a:r>
            <a:r>
              <a:rPr lang="en-US" b="1"/>
              <a:t>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7FAFEB-4837-5713-5375-8C9EE7FA1100}"/>
              </a:ext>
            </a:extLst>
          </p:cNvPr>
          <p:cNvSpPr txBox="1"/>
          <p:nvPr/>
        </p:nvSpPr>
        <p:spPr>
          <a:xfrm>
            <a:off x="6922589" y="1836415"/>
            <a:ext cx="5128019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</a:rPr>
              <a:t>kern/mem/</a:t>
            </a:r>
            <a:r>
              <a:rPr lang="en-US" sz="2000" b="1" err="1">
                <a:solidFill>
                  <a:srgbClr val="FF0000"/>
                </a:solidFill>
              </a:rPr>
              <a:t>shared_memory_manager.h</a:t>
            </a:r>
            <a:endParaRPr lang="ar-EG" sz="2000" b="1">
              <a:solidFill>
                <a:srgbClr val="FF0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24E5D2-EEC4-6BDB-4322-31A90B28D5C2}"/>
              </a:ext>
            </a:extLst>
          </p:cNvPr>
          <p:cNvSpPr/>
          <p:nvPr/>
        </p:nvSpPr>
        <p:spPr>
          <a:xfrm>
            <a:off x="0" y="2154467"/>
            <a:ext cx="12192000" cy="26782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//List of all shared objects</a:t>
            </a:r>
          </a:p>
          <a:p>
            <a:pPr algn="l"/>
            <a:r>
              <a:rPr lang="en-US" sz="1800" i="1">
                <a:solidFill>
                  <a:srgbClr val="535353"/>
                </a:solidFill>
                <a:latin typeface="Consolas" panose="020B0609020204030204" pitchFamily="49" charset="0"/>
              </a:rPr>
              <a:t>LIST_HEAD</a:t>
            </a:r>
            <a:r>
              <a:rPr lang="en-US" sz="1800" i="1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1800" i="1" err="1">
                <a:solidFill>
                  <a:srgbClr val="000000"/>
                </a:solidFill>
                <a:latin typeface="Consolas" panose="020B0609020204030204" pitchFamily="49" charset="0"/>
              </a:rPr>
              <a:t>Share_List</a:t>
            </a:r>
            <a:r>
              <a:rPr lang="en-US" sz="1800" i="1">
                <a:solidFill>
                  <a:srgbClr val="A36622"/>
                </a:solidFill>
                <a:latin typeface="Consolas" panose="020B0609020204030204" pitchFamily="49" charset="0"/>
              </a:rPr>
              <a:t>,</a:t>
            </a:r>
            <a:r>
              <a:rPr lang="en-US" sz="1800" i="1">
                <a:solidFill>
                  <a:srgbClr val="000000"/>
                </a:solidFill>
                <a:latin typeface="Consolas" panose="020B0609020204030204" pitchFamily="49" charset="0"/>
              </a:rPr>
              <a:t> Share</a:t>
            </a:r>
            <a:r>
              <a:rPr lang="en-US" sz="1800" i="1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  <a:r>
              <a:rPr lang="en-US" sz="1800" i="1">
                <a:solidFill>
                  <a:srgbClr val="A36622"/>
                </a:solidFill>
                <a:latin typeface="Consolas" panose="020B0609020204030204" pitchFamily="49" charset="0"/>
              </a:rPr>
              <a:t>;			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// Declares 'struct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Share_List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’</a:t>
            </a:r>
          </a:p>
          <a:p>
            <a:pPr algn="l"/>
            <a:endParaRPr lang="en-US" sz="1800">
              <a:solidFill>
                <a:srgbClr val="0037CD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sz="1800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</a:p>
          <a:p>
            <a:pPr algn="l"/>
            <a:r>
              <a:rPr lang="en-AE" sz="1800">
                <a:solidFill>
                  <a:srgbClr val="787878"/>
                </a:solidFill>
                <a:latin typeface="Consolas" panose="020B0609020204030204" pitchFamily="49" charset="0"/>
              </a:rPr>
              <a:t>{</a:t>
            </a:r>
          </a:p>
          <a:p>
            <a:pPr algn="l">
              <a:lnSpc>
                <a:spcPct val="150000"/>
              </a:lnSpc>
            </a:pPr>
            <a:r>
              <a:rPr lang="en-US" sz="1800">
                <a:solidFill>
                  <a:srgbClr val="0037CD"/>
                </a:solidFill>
                <a:latin typeface="Consolas" panose="020B0609020204030204" pitchFamily="49" charset="0"/>
              </a:rPr>
              <a:t>	struct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Share_List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	</a:t>
            </a:r>
            <a:r>
              <a:rPr lang="en-US" sz="1800" b="1" err="1">
                <a:solidFill>
                  <a:srgbClr val="000000"/>
                </a:solidFill>
                <a:latin typeface="Consolas" panose="020B0609020204030204" pitchFamily="49" charset="0"/>
              </a:rPr>
              <a:t>shares_list</a:t>
            </a:r>
            <a:r>
              <a:rPr lang="en-US" sz="18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A36622"/>
                </a:solidFill>
                <a:latin typeface="Consolas" panose="020B0609020204030204" pitchFamily="49" charset="0"/>
              </a:rPr>
              <a:t>;	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//List of all share variables created by any process</a:t>
            </a:r>
          </a:p>
          <a:p>
            <a:pPr algn="l">
              <a:lnSpc>
                <a:spcPct val="150000"/>
              </a:lnSpc>
            </a:pPr>
            <a:r>
              <a:rPr lang="en-US" sz="1800">
                <a:solidFill>
                  <a:srgbClr val="0037CD"/>
                </a:solidFill>
                <a:latin typeface="Consolas" panose="020B0609020204030204" pitchFamily="49" charset="0"/>
              </a:rPr>
              <a:t>	struct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spinlock 	</a:t>
            </a:r>
            <a:r>
              <a:rPr lang="en-US" sz="1800" b="1" err="1">
                <a:solidFill>
                  <a:srgbClr val="000000"/>
                </a:solidFill>
                <a:latin typeface="Consolas" panose="020B0609020204030204" pitchFamily="49" charset="0"/>
              </a:rPr>
              <a:t>shareslock</a:t>
            </a:r>
            <a:r>
              <a:rPr lang="en-US" sz="1800">
                <a:solidFill>
                  <a:srgbClr val="A36622"/>
                </a:solidFill>
                <a:latin typeface="Consolas" panose="020B0609020204030204" pitchFamily="49" charset="0"/>
              </a:rPr>
              <a:t>;	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//Use it to protect the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shares_list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in the kernel</a:t>
            </a:r>
          </a:p>
          <a:p>
            <a:pPr algn="l">
              <a:lnSpc>
                <a:spcPct val="150000"/>
              </a:lnSpc>
            </a:pPr>
            <a:r>
              <a:rPr lang="en-US" sz="1800">
                <a:solidFill>
                  <a:srgbClr val="787878"/>
                </a:solidFill>
                <a:latin typeface="Consolas" panose="020B0609020204030204" pitchFamily="49" charset="0"/>
              </a:rPr>
              <a:t>} </a:t>
            </a:r>
            <a:r>
              <a:rPr lang="en-US" sz="1800" b="1" err="1">
                <a:solidFill>
                  <a:srgbClr val="FF0000"/>
                </a:solidFill>
                <a:latin typeface="Consolas" panose="020B0609020204030204" pitchFamily="49" charset="0"/>
              </a:rPr>
              <a:t>AllShares</a:t>
            </a:r>
            <a:r>
              <a:rPr lang="en-US" sz="1800">
                <a:solidFill>
                  <a:srgbClr val="A36622"/>
                </a:solidFill>
                <a:latin typeface="Consolas" panose="020B0609020204030204" pitchFamily="49" charset="0"/>
              </a:rPr>
              <a:t>;</a:t>
            </a:r>
            <a:endParaRPr lang="ar-EG" sz="1600">
              <a:latin typeface="Consola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D26F69-E191-7ACC-B3BB-D6551E852275}"/>
              </a:ext>
            </a:extLst>
          </p:cNvPr>
          <p:cNvSpPr txBox="1"/>
          <p:nvPr/>
        </p:nvSpPr>
        <p:spPr>
          <a:xfrm>
            <a:off x="751390" y="5150753"/>
            <a:ext cx="10689220" cy="461665"/>
          </a:xfrm>
          <a:prstGeom prst="rect">
            <a:avLst/>
          </a:prstGeom>
          <a:solidFill>
            <a:srgbClr val="FFFF00">
              <a:alpha val="40000"/>
            </a:srgbClr>
          </a:solidFill>
          <a:ln w="38100">
            <a:solidFill>
              <a:srgbClr val="FFF30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en-US" sz="2400" b="1">
                <a:solidFill>
                  <a:srgbClr val="FF0000"/>
                </a:solidFill>
              </a:rPr>
              <a:t>GENERAL NOTE</a:t>
            </a:r>
            <a:r>
              <a:rPr lang="en-US" sz="2400" b="1"/>
              <a:t>:</a:t>
            </a:r>
            <a:r>
              <a:rPr lang="en-US" sz="2400"/>
              <a:t> make sure to protect </a:t>
            </a:r>
            <a:r>
              <a:rPr lang="en-US" sz="2400" b="1" err="1">
                <a:solidFill>
                  <a:srgbClr val="000000"/>
                </a:solidFill>
                <a:latin typeface="Consolas" panose="020B0609020204030204" pitchFamily="49" charset="0"/>
              </a:rPr>
              <a:t>shares_list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/>
              <a:t>using its lock</a:t>
            </a:r>
            <a:endParaRPr lang="en-AE" sz="2400"/>
          </a:p>
        </p:txBody>
      </p:sp>
    </p:spTree>
    <p:extLst>
      <p:ext uri="{BB962C8B-B14F-4D97-AF65-F5344CB8AC3E}">
        <p14:creationId xmlns:p14="http://schemas.microsoft.com/office/powerpoint/2010/main" val="2254254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52CE8-BF0F-1F68-5FFC-F24F3326C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EF73E4-3742-EAC8-BD8B-26DB78C52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116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A4A9504-2F9A-BDDB-4EC7-A71D5FBEC206}"/>
              </a:ext>
            </a:extLst>
          </p:cNvPr>
          <p:cNvSpPr txBox="1">
            <a:spLocks/>
          </p:cNvSpPr>
          <p:nvPr/>
        </p:nvSpPr>
        <p:spPr>
          <a:xfrm>
            <a:off x="1097280" y="916801"/>
            <a:ext cx="11094720" cy="8205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440" indent="-514080">
              <a:tabLst>
                <a:tab pos="0" algn="l"/>
              </a:tabLst>
            </a:pPr>
            <a:r>
              <a:rPr lang="en-US"/>
              <a:t>Shared Memory: </a:t>
            </a:r>
            <a:r>
              <a:rPr lang="en-US" b="1"/>
              <a:t>Data [</a:t>
            </a:r>
            <a:r>
              <a:rPr lang="en-US" b="1">
                <a:solidFill>
                  <a:srgbClr val="00B050"/>
                </a:solidFill>
              </a:rPr>
              <a:t>GIVEN</a:t>
            </a:r>
            <a:r>
              <a:rPr lang="en-US" b="1"/>
              <a:t>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72CC86-BF6B-0440-49D8-64D50386132C}"/>
              </a:ext>
            </a:extLst>
          </p:cNvPr>
          <p:cNvSpPr txBox="1"/>
          <p:nvPr/>
        </p:nvSpPr>
        <p:spPr>
          <a:xfrm>
            <a:off x="7426960" y="1836415"/>
            <a:ext cx="3785524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 err="1">
                <a:solidFill>
                  <a:srgbClr val="FF0000"/>
                </a:solidFill>
              </a:rPr>
              <a:t>inc</a:t>
            </a:r>
            <a:r>
              <a:rPr lang="en-US" sz="2000" b="1" dirty="0">
                <a:solidFill>
                  <a:srgbClr val="FF0000"/>
                </a:solidFill>
              </a:rPr>
              <a:t>/</a:t>
            </a:r>
            <a:r>
              <a:rPr lang="en-US" sz="2000" b="1" dirty="0" err="1">
                <a:solidFill>
                  <a:srgbClr val="FF0000"/>
                </a:solidFill>
              </a:rPr>
              <a:t>environment_definitions.h</a:t>
            </a:r>
            <a:endParaRPr lang="ar-EG" sz="2000" b="1" dirty="0">
              <a:solidFill>
                <a:srgbClr val="FF0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E9F13E-5630-35A6-29EE-9CD7FA0FE885}"/>
              </a:ext>
            </a:extLst>
          </p:cNvPr>
          <p:cNvSpPr/>
          <p:nvPr/>
        </p:nvSpPr>
        <p:spPr>
          <a:xfrm>
            <a:off x="0" y="2154467"/>
            <a:ext cx="12192000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ShareHandle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spcBef>
                <a:spcPts val="600"/>
              </a:spcBef>
            </a:pPr>
            <a:r>
              <a:rPr lang="en-US" sz="2000" b="1" dirty="0">
                <a:solidFill>
                  <a:srgbClr val="008000"/>
                </a:solidFill>
                <a:latin typeface="Consolas" panose="020B0609020204030204" pitchFamily="49" charset="0"/>
              </a:rPr>
              <a:t>//Used to store info about the created shared objects inside each env</a:t>
            </a:r>
            <a:endParaRPr lang="en-US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AE" dirty="0">
                <a:solidFill>
                  <a:srgbClr val="787878"/>
                </a:solidFill>
                <a:latin typeface="Consolas" panose="020B0609020204030204" pitchFamily="49" charset="0"/>
              </a:rPr>
              <a:t>{</a:t>
            </a:r>
          </a:p>
          <a:p>
            <a:pPr lvl="1">
              <a:spcBef>
                <a:spcPts val="600"/>
              </a:spcBef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//share name</a:t>
            </a:r>
          </a:p>
          <a:p>
            <a:pPr lvl="1">
              <a:spcBef>
                <a:spcPts val="600"/>
              </a:spcBef>
            </a:pPr>
            <a:r>
              <a:rPr lang="en-US" dirty="0">
                <a:solidFill>
                  <a:srgbClr val="535353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name</a:t>
            </a:r>
            <a:r>
              <a:rPr lang="en-US" dirty="0">
                <a:solidFill>
                  <a:srgbClr val="787878"/>
                </a:solidFill>
                <a:latin typeface="Consolas" panose="020B0609020204030204" pitchFamily="49" charset="0"/>
              </a:rPr>
              <a:t>[</a:t>
            </a:r>
            <a:r>
              <a:rPr lang="en-US" i="1" dirty="0">
                <a:solidFill>
                  <a:srgbClr val="535353"/>
                </a:solidFill>
                <a:latin typeface="Consolas" panose="020B0609020204030204" pitchFamily="49" charset="0"/>
              </a:rPr>
              <a:t>NAMELEN</a:t>
            </a:r>
            <a:r>
              <a:rPr lang="en-US" i="1" dirty="0">
                <a:solidFill>
                  <a:srgbClr val="787878"/>
                </a:solidFill>
                <a:latin typeface="Consolas" panose="020B0609020204030204" pitchFamily="49" charset="0"/>
              </a:rPr>
              <a:t>]</a:t>
            </a:r>
            <a:r>
              <a:rPr lang="en-US" i="1" dirty="0">
                <a:solidFill>
                  <a:srgbClr val="A36622"/>
                </a:solidFill>
                <a:latin typeface="Consolas" panose="020B0609020204030204" pitchFamily="49" charset="0"/>
              </a:rPr>
              <a:t>;</a:t>
            </a:r>
          </a:p>
          <a:p>
            <a:pPr lvl="1">
              <a:spcBef>
                <a:spcPts val="600"/>
              </a:spcBef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//Unique ID for this Share object</a:t>
            </a:r>
          </a:p>
          <a:p>
            <a:pPr lvl="1">
              <a:spcBef>
                <a:spcPts val="600"/>
              </a:spcBef>
            </a:pPr>
            <a:r>
              <a:rPr lang="en-US" dirty="0">
                <a:solidFill>
                  <a:srgbClr val="535353"/>
                </a:solidFill>
                <a:latin typeface="Consolas" panose="020B0609020204030204" pitchFamily="49" charset="0"/>
              </a:rPr>
              <a:t>int32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ID </a:t>
            </a:r>
            <a:r>
              <a:rPr lang="en-US" dirty="0">
                <a:solidFill>
                  <a:srgbClr val="A36622"/>
                </a:solidFill>
                <a:latin typeface="Consolas" panose="020B0609020204030204" pitchFamily="49" charset="0"/>
              </a:rPr>
              <a:t>;</a:t>
            </a:r>
          </a:p>
          <a:p>
            <a:pPr lvl="1">
              <a:spcBef>
                <a:spcPts val="600"/>
              </a:spcBef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list link pointers</a:t>
            </a:r>
          </a:p>
          <a:p>
            <a:pPr lvl="1">
              <a:spcBef>
                <a:spcPts val="600"/>
              </a:spcBef>
            </a:pPr>
            <a:r>
              <a:rPr lang="en-US" i="1" dirty="0">
                <a:solidFill>
                  <a:srgbClr val="535353"/>
                </a:solidFill>
                <a:latin typeface="Consolas" panose="020B0609020204030204" pitchFamily="49" charset="0"/>
              </a:rPr>
              <a:t>LIST_ENTRY</a:t>
            </a:r>
            <a:r>
              <a:rPr lang="en-US" i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ShareHandle</a:t>
            </a:r>
            <a:r>
              <a:rPr lang="en-US" i="1" dirty="0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prev_next_info</a:t>
            </a:r>
            <a:r>
              <a:rPr lang="en-US" i="1" dirty="0">
                <a:solidFill>
                  <a:srgbClr val="A36622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787878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37CD"/>
                </a:solidFill>
                <a:latin typeface="Consolas" panose="020B0609020204030204" pitchFamily="49" charset="0"/>
              </a:rPr>
              <a:t>__attribute__</a:t>
            </a:r>
            <a:r>
              <a:rPr lang="en-US" dirty="0">
                <a:solidFill>
                  <a:srgbClr val="787878"/>
                </a:solidFill>
                <a:latin typeface="Consolas" panose="020B0609020204030204" pitchFamily="49" charset="0"/>
              </a:rPr>
              <a:t>((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packed</a:t>
            </a:r>
            <a:r>
              <a:rPr lang="en-US" dirty="0">
                <a:solidFill>
                  <a:srgbClr val="787878"/>
                </a:solidFill>
                <a:latin typeface="Consolas" panose="020B0609020204030204" pitchFamily="49" charset="0"/>
              </a:rPr>
              <a:t>))</a:t>
            </a:r>
            <a:r>
              <a:rPr lang="en-US" dirty="0">
                <a:solidFill>
                  <a:srgbClr val="A36622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37CD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1502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C22E3-5298-FD5F-3C1D-DE6D43FC0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647BF6-E365-E87F-2223-1161E7FC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117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37D2EA7-6438-E7ED-0DA2-FA4EF7ABF551}"/>
              </a:ext>
            </a:extLst>
          </p:cNvPr>
          <p:cNvSpPr txBox="1">
            <a:spLocks/>
          </p:cNvSpPr>
          <p:nvPr/>
        </p:nvSpPr>
        <p:spPr>
          <a:xfrm>
            <a:off x="1097280" y="916801"/>
            <a:ext cx="11094720" cy="8205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440" indent="-514080">
              <a:tabLst>
                <a:tab pos="0" algn="l"/>
              </a:tabLst>
            </a:pPr>
            <a:r>
              <a:rPr lang="en-US"/>
              <a:t>Shared Memory: </a:t>
            </a:r>
            <a:r>
              <a:rPr lang="en-US" b="1"/>
              <a:t>Data [</a:t>
            </a:r>
            <a:r>
              <a:rPr lang="en-US" b="1">
                <a:solidFill>
                  <a:srgbClr val="00B050"/>
                </a:solidFill>
              </a:rPr>
              <a:t>GIVEN</a:t>
            </a:r>
            <a:r>
              <a:rPr lang="en-US" b="1"/>
              <a:t>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651AA2-75CE-531C-CC27-515F2434A3FB}"/>
              </a:ext>
            </a:extLst>
          </p:cNvPr>
          <p:cNvSpPr txBox="1"/>
          <p:nvPr/>
        </p:nvSpPr>
        <p:spPr>
          <a:xfrm>
            <a:off x="7426960" y="1836415"/>
            <a:ext cx="3785524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 err="1">
                <a:solidFill>
                  <a:srgbClr val="FF0000"/>
                </a:solidFill>
              </a:rPr>
              <a:t>inc</a:t>
            </a:r>
            <a:r>
              <a:rPr lang="en-US" sz="2000" b="1" dirty="0">
                <a:solidFill>
                  <a:srgbClr val="FF0000"/>
                </a:solidFill>
              </a:rPr>
              <a:t>/</a:t>
            </a:r>
            <a:r>
              <a:rPr lang="en-US" sz="2000" b="1" dirty="0" err="1">
                <a:solidFill>
                  <a:srgbClr val="FF0000"/>
                </a:solidFill>
              </a:rPr>
              <a:t>environment_definitions.h</a:t>
            </a:r>
            <a:endParaRPr lang="ar-EG" sz="2000" b="1" dirty="0">
              <a:solidFill>
                <a:srgbClr val="FF0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184E2B-DF40-A5C5-A808-752C63976958}"/>
              </a:ext>
            </a:extLst>
          </p:cNvPr>
          <p:cNvSpPr/>
          <p:nvPr/>
        </p:nvSpPr>
        <p:spPr>
          <a:xfrm>
            <a:off x="0" y="2154467"/>
            <a:ext cx="12192000" cy="429348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Env</a:t>
            </a:r>
            <a:r>
              <a:rPr lang="en-AE" dirty="0">
                <a:solidFill>
                  <a:srgbClr val="787878"/>
                </a:solidFill>
                <a:latin typeface="Consolas" panose="020B0609020204030204" pitchFamily="49" charset="0"/>
              </a:rPr>
              <a:t>{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algn="ctr">
              <a:spcBef>
                <a:spcPts val="600"/>
              </a:spcBef>
            </a:pPr>
            <a:r>
              <a:rPr lang="en-US" sz="2000" b="1" dirty="0">
                <a:solidFill>
                  <a:srgbClr val="008000"/>
                </a:solidFill>
                <a:latin typeface="Consolas" panose="020B0609020204030204" pitchFamily="49" charset="0"/>
              </a:rPr>
              <a:t>//storage of </a:t>
            </a:r>
            <a:r>
              <a:rPr lang="en-US" sz="2000" b="1" dirty="0" err="1">
                <a:solidFill>
                  <a:srgbClr val="008000"/>
                </a:solidFill>
                <a:latin typeface="Consolas" panose="020B0609020204030204" pitchFamily="49" charset="0"/>
              </a:rPr>
              <a:t>shareHandles</a:t>
            </a:r>
            <a:r>
              <a:rPr lang="en-US" sz="2000" b="1" dirty="0">
                <a:solidFill>
                  <a:srgbClr val="008000"/>
                </a:solidFill>
                <a:latin typeface="Consolas" panose="020B0609020204030204" pitchFamily="49" charset="0"/>
              </a:rPr>
              <a:t> inside each env </a:t>
            </a:r>
            <a:endParaRPr lang="en-US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>
              <a:spcBef>
                <a:spcPts val="600"/>
              </a:spcBef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//Storage array &amp; corresponding free list of objects for all share handles for this process</a:t>
            </a:r>
          </a:p>
          <a:p>
            <a:pPr lvl="1">
              <a:spcBef>
                <a:spcPts val="600"/>
              </a:spcBef>
            </a:pPr>
            <a:r>
              <a:rPr lang="en-US" dirty="0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ShareHandle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__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__</a:t>
            </a:r>
            <a:r>
              <a:rPr lang="en-US" dirty="0">
                <a:solidFill>
                  <a:srgbClr val="787878"/>
                </a:solidFill>
                <a:latin typeface="Consolas" panose="020B0609020204030204" pitchFamily="49" charset="0"/>
              </a:rPr>
              <a:t>[</a:t>
            </a:r>
            <a:r>
              <a:rPr lang="en-US" i="1" dirty="0">
                <a:solidFill>
                  <a:srgbClr val="535353"/>
                </a:solidFill>
                <a:latin typeface="Consolas" panose="020B0609020204030204" pitchFamily="49" charset="0"/>
              </a:rPr>
              <a:t>SHARE_MAX_HANDLES</a:t>
            </a:r>
            <a:r>
              <a:rPr lang="en-US" i="1" dirty="0">
                <a:solidFill>
                  <a:srgbClr val="787878"/>
                </a:solidFill>
                <a:latin typeface="Consolas" panose="020B0609020204030204" pitchFamily="49" charset="0"/>
              </a:rPr>
              <a:t>]</a:t>
            </a:r>
            <a:r>
              <a:rPr lang="en-US" i="1" dirty="0">
                <a:solidFill>
                  <a:srgbClr val="A36622"/>
                </a:solidFill>
                <a:latin typeface="Consolas" panose="020B0609020204030204" pitchFamily="49" charset="0"/>
              </a:rPr>
              <a:t>;</a:t>
            </a:r>
          </a:p>
          <a:p>
            <a:pPr lvl="1">
              <a:spcBef>
                <a:spcPts val="600"/>
              </a:spcBef>
            </a:pPr>
            <a:r>
              <a:rPr lang="en-US" dirty="0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ShareHandle_List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__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fshl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__</a:t>
            </a:r>
            <a:r>
              <a:rPr lang="en-US" dirty="0">
                <a:solidFill>
                  <a:srgbClr val="A36622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//List of all free share handles</a:t>
            </a:r>
          </a:p>
          <a:p>
            <a:pPr lvl="1">
              <a:spcBef>
                <a:spcPts val="600"/>
              </a:spcBef>
            </a:pPr>
            <a:r>
              <a:rPr lang="en-US" dirty="0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</a:p>
          <a:p>
            <a:pPr lvl="1">
              <a:spcBef>
                <a:spcPts val="600"/>
              </a:spcBef>
            </a:pPr>
            <a:r>
              <a:rPr lang="en-AE" dirty="0">
                <a:solidFill>
                  <a:srgbClr val="787878"/>
                </a:solidFill>
                <a:latin typeface="Consolas" panose="020B0609020204030204" pitchFamily="49" charset="0"/>
              </a:rPr>
              <a:t>{</a:t>
            </a:r>
          </a:p>
          <a:p>
            <a:pPr lvl="2">
              <a:spcBef>
                <a:spcPts val="600"/>
              </a:spcBef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//List of all share handles created by this process</a:t>
            </a:r>
          </a:p>
          <a:p>
            <a:pPr lvl="2">
              <a:spcBef>
                <a:spcPts val="600"/>
              </a:spcBef>
            </a:pPr>
            <a:r>
              <a:rPr lang="en-US" dirty="0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ShareHandle_List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share_handles_list</a:t>
            </a:r>
            <a:r>
              <a:rPr lang="en-US" dirty="0">
                <a:solidFill>
                  <a:srgbClr val="A36622"/>
                </a:solidFill>
                <a:latin typeface="Consolas" panose="020B0609020204030204" pitchFamily="49" charset="0"/>
              </a:rPr>
              <a:t>;</a:t>
            </a:r>
          </a:p>
          <a:p>
            <a:pPr lvl="2">
              <a:spcBef>
                <a:spcPts val="600"/>
              </a:spcBef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//Lock to protect the list</a:t>
            </a:r>
          </a:p>
          <a:p>
            <a:pPr lvl="2">
              <a:spcBef>
                <a:spcPts val="600"/>
              </a:spcBef>
            </a:pPr>
            <a:r>
              <a:rPr lang="en-US" dirty="0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kspinlock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handleslock</a:t>
            </a:r>
            <a:r>
              <a:rPr lang="en-US" dirty="0">
                <a:solidFill>
                  <a:srgbClr val="A36622"/>
                </a:solidFill>
                <a:latin typeface="Consolas" panose="020B0609020204030204" pitchFamily="49" charset="0"/>
              </a:rPr>
              <a:t>;</a:t>
            </a:r>
          </a:p>
          <a:p>
            <a:pPr lvl="1">
              <a:spcBef>
                <a:spcPts val="600"/>
              </a:spcBef>
            </a:pPr>
            <a:r>
              <a:rPr lang="en-US" dirty="0">
                <a:solidFill>
                  <a:srgbClr val="787878"/>
                </a:solidFill>
                <a:latin typeface="Consolas" panose="020B0609020204030204" pitchFamily="49" charset="0"/>
              </a:rPr>
              <a:t>}</a:t>
            </a:r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shareHandles</a:t>
            </a:r>
            <a:r>
              <a:rPr lang="en-US" dirty="0">
                <a:solidFill>
                  <a:srgbClr val="A36622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37CD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4D2C2B-3BA9-9E10-8830-6809B6445525}"/>
              </a:ext>
            </a:extLst>
          </p:cNvPr>
          <p:cNvSpPr txBox="1"/>
          <p:nvPr/>
        </p:nvSpPr>
        <p:spPr>
          <a:xfrm>
            <a:off x="8844827" y="3215115"/>
            <a:ext cx="3133813" cy="92333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91440" indent="-91440"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US" dirty="0"/>
              <a:t>Local storage for available </a:t>
            </a:r>
            <a:r>
              <a:rPr lang="en-A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ShareHandle</a:t>
            </a:r>
            <a:r>
              <a:rPr lang="en-A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objects for this env </a:t>
            </a:r>
            <a:endParaRPr lang="en-AE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77AD83C-9FB2-8B8E-B9F0-3628731157F5}"/>
              </a:ext>
            </a:extLst>
          </p:cNvPr>
          <p:cNvSpPr/>
          <p:nvPr/>
        </p:nvSpPr>
        <p:spPr bwMode="auto">
          <a:xfrm>
            <a:off x="3918973" y="3276670"/>
            <a:ext cx="2177027" cy="309810"/>
          </a:xfrm>
          <a:prstGeom prst="roundRect">
            <a:avLst/>
          </a:prstGeom>
          <a:solidFill>
            <a:srgbClr val="FF0000">
              <a:alpha val="40000"/>
            </a:srgb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8DFFA1B-85A9-885C-F65C-322E9DAE1D2F}"/>
              </a:ext>
            </a:extLst>
          </p:cNvPr>
          <p:cNvSpPr/>
          <p:nvPr/>
        </p:nvSpPr>
        <p:spPr bwMode="auto">
          <a:xfrm>
            <a:off x="674669" y="6107263"/>
            <a:ext cx="1672291" cy="283378"/>
          </a:xfrm>
          <a:prstGeom prst="roundRect">
            <a:avLst/>
          </a:prstGeom>
          <a:solidFill>
            <a:srgbClr val="FF0000">
              <a:alpha val="40000"/>
            </a:srgb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8962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6E5E9-0FBE-645A-F310-944895A53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85F9C-3D12-18CC-4BA2-B17555222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810368"/>
            <a:ext cx="10058400" cy="114680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solidFill>
                  <a:prstClr val="black"/>
                </a:solidFill>
              </a:rPr>
              <a:t>Initialize the shares list &amp; its lock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solidFill>
                  <a:prstClr val="black"/>
                </a:solidFill>
              </a:rPr>
              <a:t>ALREADY called for you </a:t>
            </a:r>
            <a:r>
              <a:rPr lang="en-US" dirty="0">
                <a:solidFill>
                  <a:prstClr val="black"/>
                </a:solidFill>
                <a:sym typeface="Wingdings" pitchFamily="2" charset="2"/>
              </a:rPr>
              <a:t></a:t>
            </a:r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49585A-C4A9-29B8-A374-DD9BDA7345FA}"/>
              </a:ext>
            </a:extLst>
          </p:cNvPr>
          <p:cNvSpPr/>
          <p:nvPr/>
        </p:nvSpPr>
        <p:spPr>
          <a:xfrm>
            <a:off x="1097280" y="2410266"/>
            <a:ext cx="100584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000">
                <a:solidFill>
                  <a:srgbClr val="535353"/>
                </a:solidFill>
                <a:latin typeface="Consolas" panose="020B0609020204030204" pitchFamily="49" charset="0"/>
              </a:rPr>
              <a:t>void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err="1">
                <a:solidFill>
                  <a:srgbClr val="000000"/>
                </a:solidFill>
                <a:latin typeface="Consolas" panose="020B0609020204030204" pitchFamily="49" charset="0"/>
              </a:rPr>
              <a:t>sharing_init</a:t>
            </a:r>
            <a:r>
              <a:rPr lang="en-US" sz="2000" b="1">
                <a:solidFill>
                  <a:srgbClr val="787878"/>
                </a:solidFill>
                <a:latin typeface="Consolas" panose="020B0609020204030204" pitchFamily="49" charset="0"/>
              </a:rPr>
              <a:t>()														</a:t>
            </a:r>
            <a:r>
              <a:rPr lang="en-US">
                <a:latin typeface="Consolas"/>
              </a:rPr>
              <a:t>(</a:t>
            </a:r>
            <a:r>
              <a:rPr lang="en-US" b="1">
                <a:solidFill>
                  <a:srgbClr val="00B050"/>
                </a:solidFill>
                <a:latin typeface="Consolas"/>
              </a:rPr>
              <a:t>DONE</a:t>
            </a:r>
            <a:r>
              <a:rPr lang="en-US">
                <a:latin typeface="Consolas"/>
              </a:rPr>
              <a:t>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0FC38-A0E2-D854-EFB5-7B1FF4EE8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D1A2AF-5871-88F7-C7E1-75BA44030F1C}"/>
              </a:ext>
            </a:extLst>
          </p:cNvPr>
          <p:cNvSpPr txBox="1"/>
          <p:nvPr/>
        </p:nvSpPr>
        <p:spPr>
          <a:xfrm>
            <a:off x="3867056" y="1781196"/>
            <a:ext cx="4457887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</a:rPr>
              <a:t>kern/mem/</a:t>
            </a:r>
            <a:r>
              <a:rPr lang="en-US" sz="2000" b="1" err="1">
                <a:solidFill>
                  <a:srgbClr val="FF0000"/>
                </a:solidFill>
              </a:rPr>
              <a:t>shared_memory_manager.c</a:t>
            </a:r>
            <a:endParaRPr lang="ar-EG" sz="2000" b="1">
              <a:solidFill>
                <a:srgbClr val="FF0000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78971B7-66BE-EDD3-3DCD-3BE6EF545206}"/>
              </a:ext>
            </a:extLst>
          </p:cNvPr>
          <p:cNvSpPr txBox="1">
            <a:spLocks/>
          </p:cNvSpPr>
          <p:nvPr/>
        </p:nvSpPr>
        <p:spPr>
          <a:xfrm>
            <a:off x="1097280" y="916801"/>
            <a:ext cx="11094720" cy="8205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440" indent="-514080">
              <a:tabLst>
                <a:tab pos="0" algn="l"/>
              </a:tabLst>
            </a:pPr>
            <a:r>
              <a:rPr lang="en-US"/>
              <a:t>Shared Memory: </a:t>
            </a:r>
            <a:r>
              <a:rPr lang="en-US" b="1"/>
              <a:t>Functions [</a:t>
            </a:r>
            <a:r>
              <a:rPr lang="en-US" b="1">
                <a:solidFill>
                  <a:srgbClr val="00B050"/>
                </a:solidFill>
              </a:rPr>
              <a:t>GIVEN</a:t>
            </a:r>
            <a:r>
              <a:rPr lang="en-US" b="1"/>
              <a:t>]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47C0864-702F-B9A1-350C-C2B36D1291D1}"/>
              </a:ext>
            </a:extLst>
          </p:cNvPr>
          <p:cNvSpPr txBox="1">
            <a:spLocks/>
          </p:cNvSpPr>
          <p:nvPr/>
        </p:nvSpPr>
        <p:spPr>
          <a:xfrm>
            <a:off x="1097279" y="4399770"/>
            <a:ext cx="9940637" cy="114649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/>
              <a:t>Search for the given shared object in the "</a:t>
            </a:r>
            <a:r>
              <a:rPr lang="en-US" b="1" dirty="0" err="1">
                <a:latin typeface="Consolas" panose="020B0609020204030204" pitchFamily="49" charset="0"/>
              </a:rPr>
              <a:t>shareHandles</a:t>
            </a:r>
            <a:r>
              <a:rPr lang="en-US" dirty="0"/>
              <a:t>" of the owner </a:t>
            </a:r>
            <a:r>
              <a:rPr lang="en-US" u="sng" dirty="0"/>
              <a:t>env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prstClr val="black"/>
                </a:solidFill>
              </a:rPr>
              <a:t>If found: return ID of the Share object, else: return </a:t>
            </a:r>
            <a:r>
              <a:rPr lang="en-US" sz="1800" dirty="0">
                <a:solidFill>
                  <a:prstClr val="black"/>
                </a:solidFill>
                <a:latin typeface="Consolas" panose="020B0609020204030204" pitchFamily="49" charset="0"/>
              </a:rPr>
              <a:t>E_SHARED_MEM_NOT_EXISTS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8400FC-55E2-B545-47DC-82BF7EB1F280}"/>
              </a:ext>
            </a:extLst>
          </p:cNvPr>
          <p:cNvSpPr/>
          <p:nvPr/>
        </p:nvSpPr>
        <p:spPr>
          <a:xfrm>
            <a:off x="1097279" y="3957177"/>
            <a:ext cx="99470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37CD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find_share</a:t>
            </a:r>
            <a:r>
              <a:rPr lang="en-US" sz="2000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2000" b="1" dirty="0">
                <a:solidFill>
                  <a:srgbClr val="535353"/>
                </a:solidFill>
                <a:latin typeface="Consolas" panose="020B0609020204030204" pitchFamily="49" charset="0"/>
              </a:rPr>
              <a:t>int32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ownerID</a:t>
            </a:r>
            <a:r>
              <a:rPr lang="en-US" sz="2000" b="1" dirty="0">
                <a:solidFill>
                  <a:srgbClr val="A36622"/>
                </a:solidFill>
                <a:latin typeface="Consolas" panose="020B0609020204030204" pitchFamily="49" charset="0"/>
              </a:rPr>
              <a:t>,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535353"/>
                </a:solidFill>
                <a:latin typeface="Consolas" panose="020B0609020204030204" pitchFamily="49" charset="0"/>
              </a:rPr>
              <a:t>char</a:t>
            </a:r>
            <a:r>
              <a:rPr lang="en-US" sz="2000" b="1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name</a:t>
            </a:r>
            <a:r>
              <a:rPr lang="en-US" sz="2000" b="1" dirty="0">
                <a:solidFill>
                  <a:srgbClr val="787878"/>
                </a:solidFill>
                <a:latin typeface="Consolas" panose="020B0609020204030204" pitchFamily="49" charset="0"/>
              </a:rPr>
              <a:t>) 							</a:t>
            </a:r>
            <a:r>
              <a:rPr lang="en-US" dirty="0">
                <a:latin typeface="Consolas"/>
              </a:rPr>
              <a:t>(</a:t>
            </a:r>
            <a:r>
              <a:rPr lang="en-US" b="1" dirty="0">
                <a:solidFill>
                  <a:srgbClr val="00B050"/>
                </a:solidFill>
                <a:latin typeface="Consolas"/>
              </a:rPr>
              <a:t>DONE</a:t>
            </a:r>
            <a:r>
              <a:rPr lang="en-US" dirty="0">
                <a:latin typeface="Consola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50754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2" grpId="0"/>
      <p:bldP spid="5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072AC-304E-3BC0-DB64-16708453D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46E03-5F06-875B-C46A-B1E8ED9A5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810368"/>
            <a:ext cx="10058400" cy="114680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/>
              <a:t>Allocate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ShareHandle</a:t>
            </a:r>
            <a:r>
              <a:rPr lang="en-US" dirty="0"/>
              <a:t> object from the local storage of the given </a:t>
            </a:r>
            <a:r>
              <a:rPr lang="en-US" u="sng" dirty="0"/>
              <a:t>env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solidFill>
                  <a:prstClr val="black"/>
                </a:solidFill>
              </a:rPr>
              <a:t>If found: return pointer to the allocated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ShareHandle</a:t>
            </a:r>
            <a:r>
              <a:rPr lang="en-US" dirty="0">
                <a:solidFill>
                  <a:prstClr val="black"/>
                </a:solidFill>
              </a:rPr>
              <a:t> object, else: return 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NULL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7613A7-2598-F758-219E-ECBF73EB6E78}"/>
              </a:ext>
            </a:extLst>
          </p:cNvPr>
          <p:cNvSpPr/>
          <p:nvPr/>
        </p:nvSpPr>
        <p:spPr>
          <a:xfrm>
            <a:off x="1097279" y="2410266"/>
            <a:ext cx="110947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ShareHandle</a:t>
            </a:r>
            <a:r>
              <a:rPr lang="en-US" sz="2000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allocate_share_handle</a:t>
            </a:r>
            <a:r>
              <a:rPr lang="en-US" sz="2000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2000" b="1" dirty="0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Env</a:t>
            </a:r>
            <a:r>
              <a:rPr lang="en-US" sz="2000" b="1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e</a:t>
            </a:r>
            <a:r>
              <a:rPr lang="en-US" sz="2000" b="1" dirty="0">
                <a:solidFill>
                  <a:srgbClr val="787878"/>
                </a:solidFill>
                <a:latin typeface="Consolas" panose="020B0609020204030204" pitchFamily="49" charset="0"/>
              </a:rPr>
              <a:t>)					</a:t>
            </a:r>
            <a:r>
              <a:rPr lang="en-US" dirty="0">
                <a:latin typeface="Consolas"/>
              </a:rPr>
              <a:t>(</a:t>
            </a:r>
            <a:r>
              <a:rPr lang="en-US" b="1" dirty="0">
                <a:solidFill>
                  <a:srgbClr val="00B050"/>
                </a:solidFill>
                <a:latin typeface="Consolas"/>
              </a:rPr>
              <a:t>DONE</a:t>
            </a:r>
            <a:r>
              <a:rPr lang="en-US" dirty="0">
                <a:latin typeface="Consolas"/>
              </a:rPr>
              <a:t>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4DA353-0DC2-777D-C06B-E65F98F4D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654231-1D09-8EC9-E6C2-36EF36E1A2B0}"/>
              </a:ext>
            </a:extLst>
          </p:cNvPr>
          <p:cNvSpPr txBox="1"/>
          <p:nvPr/>
        </p:nvSpPr>
        <p:spPr>
          <a:xfrm>
            <a:off x="3867056" y="1781196"/>
            <a:ext cx="4457887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</a:rPr>
              <a:t>kern/mem/</a:t>
            </a:r>
            <a:r>
              <a:rPr lang="en-US" sz="2000" b="1" err="1">
                <a:solidFill>
                  <a:srgbClr val="FF0000"/>
                </a:solidFill>
              </a:rPr>
              <a:t>shared_memory_manager.c</a:t>
            </a:r>
            <a:endParaRPr lang="ar-EG" sz="2000" b="1">
              <a:solidFill>
                <a:srgbClr val="FF0000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E7D7EBB-BEC0-B76F-29B1-4FBDB6A26465}"/>
              </a:ext>
            </a:extLst>
          </p:cNvPr>
          <p:cNvSpPr txBox="1">
            <a:spLocks/>
          </p:cNvSpPr>
          <p:nvPr/>
        </p:nvSpPr>
        <p:spPr>
          <a:xfrm>
            <a:off x="1097280" y="916801"/>
            <a:ext cx="11094720" cy="8205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440" indent="-514080">
              <a:tabLst>
                <a:tab pos="0" algn="l"/>
              </a:tabLst>
            </a:pPr>
            <a:r>
              <a:rPr lang="en-US"/>
              <a:t>Shared Memory: </a:t>
            </a:r>
            <a:r>
              <a:rPr lang="en-US" b="1"/>
              <a:t>Functions [</a:t>
            </a:r>
            <a:r>
              <a:rPr lang="en-US" b="1">
                <a:solidFill>
                  <a:srgbClr val="00B050"/>
                </a:solidFill>
              </a:rPr>
              <a:t>GIVEN</a:t>
            </a:r>
            <a:r>
              <a:rPr lang="en-US" b="1"/>
              <a:t>]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3769943-B68A-517D-2B72-4D7D7A01AFD1}"/>
              </a:ext>
            </a:extLst>
          </p:cNvPr>
          <p:cNvSpPr txBox="1">
            <a:spLocks/>
          </p:cNvSpPr>
          <p:nvPr/>
        </p:nvSpPr>
        <p:spPr>
          <a:xfrm>
            <a:off x="1097279" y="4399770"/>
            <a:ext cx="9940637" cy="114649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/>
              <a:t>Free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shareHandle</a:t>
            </a:r>
            <a:r>
              <a:rPr lang="en-US" dirty="0"/>
              <a:t> object by adding it to the local storage of the given </a:t>
            </a:r>
            <a:r>
              <a:rPr lang="en-US" u="sng" dirty="0"/>
              <a:t>env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D84F5F-1E27-9B89-E152-170230472F96}"/>
              </a:ext>
            </a:extLst>
          </p:cNvPr>
          <p:cNvSpPr/>
          <p:nvPr/>
        </p:nvSpPr>
        <p:spPr>
          <a:xfrm>
            <a:off x="1097278" y="3957177"/>
            <a:ext cx="1109471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535353"/>
                </a:solidFill>
                <a:latin typeface="Consolas" panose="020B0609020204030204" pitchFamily="49" charset="0"/>
              </a:rPr>
              <a:t>void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free_share_handle</a:t>
            </a:r>
            <a:r>
              <a:rPr lang="en-US" sz="2000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2000" b="1" dirty="0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Env</a:t>
            </a:r>
            <a:r>
              <a:rPr lang="en-US" sz="2000" b="1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e</a:t>
            </a:r>
            <a:r>
              <a:rPr lang="en-US" sz="2000" b="1" dirty="0">
                <a:solidFill>
                  <a:srgbClr val="A36622"/>
                </a:solidFill>
                <a:latin typeface="Consolas" panose="020B0609020204030204" pitchFamily="49" charset="0"/>
              </a:rPr>
              <a:t>,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ShareHandle</a:t>
            </a:r>
            <a:r>
              <a:rPr lang="en-US" sz="2000" b="1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shareHandle</a:t>
            </a:r>
            <a:r>
              <a:rPr lang="en-US" sz="2000" b="1" dirty="0">
                <a:solidFill>
                  <a:srgbClr val="787878"/>
                </a:solidFill>
                <a:latin typeface="Consolas" panose="020B0609020204030204" pitchFamily="49" charset="0"/>
              </a:rPr>
              <a:t>)	</a:t>
            </a:r>
            <a:r>
              <a:rPr lang="en-US" dirty="0">
                <a:latin typeface="Consolas"/>
              </a:rPr>
              <a:t>(</a:t>
            </a:r>
            <a:r>
              <a:rPr lang="en-US" b="1" dirty="0">
                <a:solidFill>
                  <a:srgbClr val="00B050"/>
                </a:solidFill>
                <a:latin typeface="Consolas"/>
              </a:rPr>
              <a:t>DONE</a:t>
            </a:r>
            <a:r>
              <a:rPr lang="en-US" dirty="0">
                <a:latin typeface="Consola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77150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  <p:bldP spid="5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1" y="2646887"/>
            <a:ext cx="10058400" cy="3670786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en-US" b="1" dirty="0"/>
              <a:t>Allocate</a:t>
            </a:r>
            <a:r>
              <a:rPr lang="en-US" dirty="0"/>
              <a:t> a new shared object 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en-US" b="1" dirty="0"/>
              <a:t>Initialize </a:t>
            </a:r>
            <a:r>
              <a:rPr lang="en-US" dirty="0"/>
              <a:t>its members:</a:t>
            </a:r>
          </a:p>
          <a:p>
            <a:pPr lvl="1">
              <a:lnSpc>
                <a:spcPct val="100000"/>
              </a:lnSpc>
              <a:buFont typeface="+mj-lt"/>
              <a:buAutoNum type="arabicPeriod"/>
            </a:pPr>
            <a:r>
              <a:rPr lang="en-US" b="1" dirty="0"/>
              <a:t>references</a:t>
            </a:r>
            <a:r>
              <a:rPr lang="en-US" dirty="0"/>
              <a:t> = 1, </a:t>
            </a:r>
          </a:p>
          <a:p>
            <a:pPr lvl="1">
              <a:lnSpc>
                <a:spcPct val="100000"/>
              </a:lnSpc>
              <a:buFont typeface="+mj-lt"/>
              <a:buAutoNum type="arabicPeriod"/>
            </a:pPr>
            <a:r>
              <a:rPr lang="en-US" b="1" dirty="0"/>
              <a:t>ID </a:t>
            </a:r>
            <a:r>
              <a:rPr lang="en-US" dirty="0"/>
              <a:t>= VA of created object after masking-out its most significant bit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en-US" b="1" dirty="0"/>
              <a:t>Create </a:t>
            </a:r>
            <a:r>
              <a:rPr lang="en-US" dirty="0"/>
              <a:t>the "</a:t>
            </a:r>
            <a:r>
              <a:rPr lang="en-US" b="1" dirty="0" err="1"/>
              <a:t>framesStorage</a:t>
            </a:r>
            <a:r>
              <a:rPr lang="en-US" dirty="0"/>
              <a:t>“: array of pointers to </a:t>
            </a:r>
            <a:r>
              <a:rPr lang="en-US" dirty="0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FrameInfo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/>
              <a:t>to save pointer(s) to the shared frame(s)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en-US" b="1" dirty="0"/>
              <a:t>Initialize</a:t>
            </a:r>
            <a:r>
              <a:rPr lang="en-US" dirty="0"/>
              <a:t> it by ZEROs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en-US" b="1" dirty="0"/>
              <a:t>Return</a:t>
            </a:r>
            <a:r>
              <a:rPr lang="en-US" dirty="0"/>
              <a:t>:</a:t>
            </a:r>
          </a:p>
          <a:p>
            <a:pPr lvl="1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 If succeed: pointer to the created object for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struct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Share</a:t>
            </a:r>
            <a:endParaRPr lang="en-US" dirty="0"/>
          </a:p>
          <a:p>
            <a:pPr lvl="1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If failed: </a:t>
            </a:r>
            <a:r>
              <a:rPr lang="en-US" b="1" dirty="0"/>
              <a:t>UNDO </a:t>
            </a:r>
            <a:r>
              <a:rPr lang="en-US" dirty="0"/>
              <a:t>any allocation &amp; </a:t>
            </a:r>
            <a:r>
              <a:rPr lang="en-US" b="1" dirty="0"/>
              <a:t>return </a:t>
            </a:r>
            <a:r>
              <a:rPr lang="en-US" dirty="0"/>
              <a:t>NULL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902889"/>
            <a:ext cx="1011520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Share</a:t>
            </a:r>
            <a:r>
              <a:rPr lang="en-US" sz="200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err="1">
                <a:solidFill>
                  <a:srgbClr val="000000"/>
                </a:solidFill>
                <a:latin typeface="Consolas" panose="020B0609020204030204" pitchFamily="49" charset="0"/>
              </a:rPr>
              <a:t>alloc_share</a:t>
            </a:r>
            <a:r>
              <a:rPr lang="en-US" sz="2000" b="1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2000" b="1">
                <a:solidFill>
                  <a:srgbClr val="535353"/>
                </a:solidFill>
                <a:latin typeface="Consolas" panose="020B0609020204030204" pitchFamily="49" charset="0"/>
              </a:rPr>
              <a:t>int32</a:t>
            </a:r>
            <a:r>
              <a:rPr lang="en-US" sz="20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err="1">
                <a:solidFill>
                  <a:srgbClr val="000000"/>
                </a:solidFill>
                <a:latin typeface="Consolas" panose="020B0609020204030204" pitchFamily="49" charset="0"/>
              </a:rPr>
              <a:t>ownerID</a:t>
            </a:r>
            <a:r>
              <a:rPr lang="en-US" sz="2000" b="1">
                <a:solidFill>
                  <a:srgbClr val="A36622"/>
                </a:solidFill>
                <a:latin typeface="Consolas" panose="020B0609020204030204" pitchFamily="49" charset="0"/>
              </a:rPr>
              <a:t>,</a:t>
            </a:r>
            <a:r>
              <a:rPr lang="en-US" sz="20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>
                <a:solidFill>
                  <a:srgbClr val="535353"/>
                </a:solidFill>
                <a:latin typeface="Consolas" panose="020B0609020204030204" pitchFamily="49" charset="0"/>
              </a:rPr>
              <a:t>char</a:t>
            </a:r>
            <a:r>
              <a:rPr lang="en-US" sz="2000" b="1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0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err="1">
                <a:solidFill>
                  <a:srgbClr val="000000"/>
                </a:solidFill>
                <a:latin typeface="Consolas" panose="020B0609020204030204" pitchFamily="49" charset="0"/>
              </a:rPr>
              <a:t>shareName</a:t>
            </a:r>
            <a:r>
              <a:rPr lang="en-US" sz="2000" b="1">
                <a:solidFill>
                  <a:srgbClr val="A36622"/>
                </a:solidFill>
                <a:latin typeface="Consolas" panose="020B0609020204030204" pitchFamily="49" charset="0"/>
              </a:rPr>
              <a:t>,</a:t>
            </a:r>
            <a:r>
              <a:rPr lang="en-US" sz="20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>
                <a:solidFill>
                  <a:srgbClr val="535353"/>
                </a:solidFill>
                <a:latin typeface="Consolas" panose="020B0609020204030204" pitchFamily="49" charset="0"/>
              </a:rPr>
              <a:t>uint32</a:t>
            </a:r>
            <a:r>
              <a:rPr lang="en-US" sz="2000" b="1">
                <a:solidFill>
                  <a:srgbClr val="000000"/>
                </a:solidFill>
                <a:latin typeface="Consolas" panose="020B0609020204030204" pitchFamily="49" charset="0"/>
              </a:rPr>
              <a:t> size</a:t>
            </a:r>
            <a:r>
              <a:rPr lang="en-US" sz="2000" b="1">
                <a:solidFill>
                  <a:srgbClr val="A36622"/>
                </a:solidFill>
                <a:latin typeface="Consolas" panose="020B0609020204030204" pitchFamily="49" charset="0"/>
              </a:rPr>
              <a:t>,</a:t>
            </a:r>
            <a:r>
              <a:rPr lang="en-US" sz="20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>
                <a:solidFill>
                  <a:srgbClr val="535353"/>
                </a:solidFill>
                <a:latin typeface="Consolas" panose="020B0609020204030204" pitchFamily="49" charset="0"/>
              </a:rPr>
              <a:t>uint8</a:t>
            </a:r>
            <a:r>
              <a:rPr lang="en-US" sz="20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err="1">
                <a:solidFill>
                  <a:srgbClr val="000000"/>
                </a:solidFill>
                <a:latin typeface="Consolas" panose="020B0609020204030204" pitchFamily="49" charset="0"/>
              </a:rPr>
              <a:t>isWritable</a:t>
            </a:r>
            <a:r>
              <a:rPr lang="en-US" sz="2000" b="1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  <a:endParaRPr lang="en-US">
              <a:latin typeface="Consola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120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DBBE31-FB54-CAD8-CA44-BD438CEF3615}"/>
              </a:ext>
            </a:extLst>
          </p:cNvPr>
          <p:cNvSpPr txBox="1"/>
          <p:nvPr/>
        </p:nvSpPr>
        <p:spPr>
          <a:xfrm>
            <a:off x="3867056" y="90418"/>
            <a:ext cx="4457887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</a:rPr>
              <a:t>kern/mem/</a:t>
            </a:r>
            <a:r>
              <a:rPr lang="en-US" sz="2000" b="1" err="1">
                <a:solidFill>
                  <a:srgbClr val="FF0000"/>
                </a:solidFill>
              </a:rPr>
              <a:t>shared_memory_manager.c</a:t>
            </a:r>
            <a:endParaRPr lang="ar-EG" sz="2000" b="1">
              <a:solidFill>
                <a:srgbClr val="FF0000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2DED6A0-0C73-9CF2-94B3-7EB169623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#1:</a:t>
            </a:r>
            <a:r>
              <a:rPr lang="en-US"/>
              <a:t> Allocate &amp; Initialize Share Object</a:t>
            </a:r>
            <a:endParaRPr lang="en-A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703C5-2EA4-1D8D-943A-1A730C88B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6169D-E53D-EC09-E0FC-C1899148C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1" y="2646887"/>
            <a:ext cx="10058400" cy="3670786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Search</a:t>
            </a:r>
            <a:r>
              <a:rPr lang="en-US" dirty="0"/>
              <a:t> the handles of the owner env for the given share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</a:rPr>
              <a:t>Hint: use 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envid2env() </a:t>
            </a:r>
            <a:r>
              <a:rPr lang="en-US" dirty="0">
                <a:solidFill>
                  <a:schemeClr val="tx1"/>
                </a:solidFill>
              </a:rPr>
              <a:t>to get the corresponding env from a given </a:t>
            </a:r>
            <a:r>
              <a:rPr lang="en-US" dirty="0" err="1">
                <a:solidFill>
                  <a:schemeClr val="tx1"/>
                </a:solidFill>
              </a:rPr>
              <a:t>envID</a:t>
            </a:r>
            <a:endParaRPr lang="en-US" sz="2400" dirty="0"/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Return</a:t>
            </a:r>
            <a:r>
              <a:rPr lang="en-US" dirty="0"/>
              <a:t>: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dirty="0"/>
              <a:t> If found: return its ID and set 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size</a:t>
            </a:r>
            <a:r>
              <a:rPr lang="en-US" sz="2000" dirty="0"/>
              <a:t> by its size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dirty="0"/>
              <a:t> Else: return </a:t>
            </a:r>
            <a:r>
              <a:rPr lang="en-US" sz="2000" dirty="0">
                <a:latin typeface="Consolas" panose="020B0609020204030204" pitchFamily="49" charset="0"/>
              </a:rPr>
              <a:t>E_SHARED_MEM_NOT_EXISTS </a:t>
            </a:r>
            <a:r>
              <a:rPr lang="en-US" sz="2000" dirty="0"/>
              <a:t>and set 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size</a:t>
            </a:r>
            <a:r>
              <a:rPr lang="en-US" sz="2000" dirty="0"/>
              <a:t> to 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39CA43-51D1-6CE1-5ECB-3D1F71C94097}"/>
              </a:ext>
            </a:extLst>
          </p:cNvPr>
          <p:cNvSpPr/>
          <p:nvPr/>
        </p:nvSpPr>
        <p:spPr>
          <a:xfrm>
            <a:off x="1097280" y="1902889"/>
            <a:ext cx="101152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535353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get_share_info</a:t>
            </a:r>
            <a:r>
              <a:rPr lang="en-US" sz="2000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2000" b="1" dirty="0">
                <a:solidFill>
                  <a:srgbClr val="535353"/>
                </a:solidFill>
                <a:latin typeface="Consolas" panose="020B0609020204030204" pitchFamily="49" charset="0"/>
              </a:rPr>
              <a:t>int32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ownerID</a:t>
            </a:r>
            <a:r>
              <a:rPr lang="en-US" sz="2000" b="1" dirty="0">
                <a:solidFill>
                  <a:srgbClr val="A36622"/>
                </a:solidFill>
                <a:latin typeface="Consolas" panose="020B0609020204030204" pitchFamily="49" charset="0"/>
              </a:rPr>
              <a:t>,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535353"/>
                </a:solidFill>
                <a:latin typeface="Consolas" panose="020B0609020204030204" pitchFamily="49" charset="0"/>
              </a:rPr>
              <a:t>char</a:t>
            </a:r>
            <a:r>
              <a:rPr lang="en-US" sz="2000" b="1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shareName</a:t>
            </a:r>
            <a:r>
              <a:rPr lang="en-US" sz="2000" b="1" dirty="0">
                <a:solidFill>
                  <a:srgbClr val="A36622"/>
                </a:solidFill>
                <a:latin typeface="Consolas" panose="020B0609020204030204" pitchFamily="49" charset="0"/>
              </a:rPr>
              <a:t>,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535353"/>
                </a:solidFill>
                <a:latin typeface="Consolas" panose="020B0609020204030204" pitchFamily="49" charset="0"/>
              </a:rPr>
              <a:t>int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size</a:t>
            </a:r>
            <a:r>
              <a:rPr lang="en-US" sz="2000" b="1" dirty="0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A30A6E-0D49-5F95-6DD3-34543B19F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F07D0A-0468-C5E6-1AD2-208E3CE3A1D3}"/>
              </a:ext>
            </a:extLst>
          </p:cNvPr>
          <p:cNvSpPr txBox="1"/>
          <p:nvPr/>
        </p:nvSpPr>
        <p:spPr>
          <a:xfrm>
            <a:off x="3867056" y="90418"/>
            <a:ext cx="4457887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</a:rPr>
              <a:t>kern/mem/</a:t>
            </a:r>
            <a:r>
              <a:rPr lang="en-US" sz="2000" b="1" err="1">
                <a:solidFill>
                  <a:srgbClr val="FF0000"/>
                </a:solidFill>
              </a:rPr>
              <a:t>shared_memory_manager.c</a:t>
            </a:r>
            <a:endParaRPr lang="ar-EG" sz="2000" b="1">
              <a:solidFill>
                <a:srgbClr val="FF0000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B3F4CE1-9130-754E-4419-6BA0B842E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#2:</a:t>
            </a:r>
            <a:r>
              <a:rPr lang="en-US" dirty="0"/>
              <a:t> Get Share Info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682677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7BBDF-F031-9F4C-327A-17CA9E7BC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F0826-D74A-A7B9-66C4-43E482FA1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8" y="1845733"/>
            <a:ext cx="10393681" cy="4253731"/>
          </a:xfrm>
          <a:solidFill>
            <a:schemeClr val="bg1"/>
          </a:solidFill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pPr marL="342900" lvl="0" indent="-342900" defTabSz="4572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</a:pPr>
            <a:r>
              <a:rPr lang="en-US" b="1" dirty="0">
                <a:solidFill>
                  <a:prstClr val="black"/>
                </a:solidFill>
              </a:rPr>
              <a:t>Apply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b="1" dirty="0">
                <a:solidFill>
                  <a:prstClr val="black"/>
                </a:solidFill>
              </a:rPr>
              <a:t>CUSTOM FIT </a:t>
            </a:r>
            <a:r>
              <a:rPr lang="en-US" dirty="0">
                <a:solidFill>
                  <a:prstClr val="black"/>
                </a:solidFill>
              </a:rPr>
              <a:t>strategy to search the </a:t>
            </a:r>
            <a:r>
              <a:rPr lang="en-US" b="1" dirty="0">
                <a:solidFill>
                  <a:prstClr val="black"/>
                </a:solidFill>
              </a:rPr>
              <a:t>PAGE ALLOCATOR </a:t>
            </a:r>
            <a:r>
              <a:rPr lang="en-US" dirty="0">
                <a:solidFill>
                  <a:prstClr val="black"/>
                </a:solidFill>
              </a:rPr>
              <a:t>in user heap for suitable space to the required allocation size (on </a:t>
            </a:r>
            <a:r>
              <a:rPr lang="en-US" b="1" dirty="0">
                <a:solidFill>
                  <a:prstClr val="black"/>
                </a:solidFill>
              </a:rPr>
              <a:t>4 KB BOUNDARY</a:t>
            </a:r>
            <a:r>
              <a:rPr lang="en-US" dirty="0">
                <a:solidFill>
                  <a:prstClr val="black"/>
                </a:solidFill>
              </a:rPr>
              <a:t>)</a:t>
            </a:r>
          </a:p>
          <a:p>
            <a:pPr marL="342900" lvl="0" indent="-342900" defTabSz="4572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</a:pPr>
            <a:r>
              <a:rPr lang="en-US" b="1" dirty="0">
                <a:solidFill>
                  <a:prstClr val="black"/>
                </a:solidFill>
              </a:rPr>
              <a:t>if no suitable space </a:t>
            </a:r>
            <a:r>
              <a:rPr lang="en-US" dirty="0">
                <a:solidFill>
                  <a:prstClr val="black"/>
                </a:solidFill>
              </a:rPr>
              <a:t>found, return NULL</a:t>
            </a:r>
          </a:p>
          <a:p>
            <a:pPr marL="342900" lvl="0" indent="-342900" defTabSz="4572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</a:pPr>
            <a:r>
              <a:rPr lang="en-US" b="1" dirty="0">
                <a:solidFill>
                  <a:prstClr val="black"/>
                </a:solidFill>
              </a:rPr>
              <a:t>Call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Consolas" panose="020B0609020204030204" pitchFamily="49" charset="0"/>
              </a:rPr>
              <a:t>sys_create_shared_object</a:t>
            </a:r>
            <a:r>
              <a:rPr lang="en-US" dirty="0">
                <a:solidFill>
                  <a:prstClr val="black"/>
                </a:solidFill>
              </a:rPr>
              <a:t>(...) to invoke the Kernel for allocation of shared variable</a:t>
            </a:r>
          </a:p>
          <a:p>
            <a:pPr marL="0" indent="0" defTabSz="4572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None/>
            </a:pPr>
            <a:r>
              <a:rPr lang="en-US" b="1" dirty="0">
                <a:solidFill>
                  <a:prstClr val="black"/>
                </a:solidFill>
              </a:rPr>
              <a:t>RETURN:</a:t>
            </a:r>
          </a:p>
          <a:p>
            <a:pPr marL="342900" lvl="0" indent="-342900" defTabSz="4572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</a:pPr>
            <a:r>
              <a:rPr lang="en-US" dirty="0">
                <a:solidFill>
                  <a:prstClr val="black"/>
                </a:solidFill>
              </a:rPr>
              <a:t>If successful, return its virtual address</a:t>
            </a:r>
          </a:p>
          <a:p>
            <a:pPr marL="342900" lvl="0" indent="-342900" defTabSz="4572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</a:pPr>
            <a:r>
              <a:rPr lang="en-US" dirty="0">
                <a:solidFill>
                  <a:prstClr val="black"/>
                </a:solidFill>
              </a:rPr>
              <a:t>Else, return NULL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9C7AF4-F083-9BC5-5085-D7F6461AD515}"/>
              </a:ext>
            </a:extLst>
          </p:cNvPr>
          <p:cNvSpPr/>
          <p:nvPr/>
        </p:nvSpPr>
        <p:spPr>
          <a:xfrm>
            <a:off x="1097279" y="1952751"/>
            <a:ext cx="101152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>
                <a:solidFill>
                  <a:srgbClr val="0066FF"/>
                </a:solidFill>
                <a:latin typeface="Consolas" panose="020B0609020204030204" pitchFamily="49" charset="0"/>
              </a:rPr>
              <a:t>void</a:t>
            </a:r>
            <a:r>
              <a:rPr lang="en-US" sz="200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err="1">
                <a:solidFill>
                  <a:srgbClr val="000000"/>
                </a:solidFill>
                <a:latin typeface="Consolas" panose="020B0609020204030204" pitchFamily="49" charset="0"/>
              </a:rPr>
              <a:t>smalloc</a:t>
            </a:r>
            <a:r>
              <a:rPr lang="en-US" sz="2000" b="1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2000" b="1">
                <a:solidFill>
                  <a:srgbClr val="0066FF"/>
                </a:solidFill>
                <a:latin typeface="Consolas" panose="020B0609020204030204" pitchFamily="49" charset="0"/>
              </a:rPr>
              <a:t>char</a:t>
            </a:r>
            <a:r>
              <a:rPr lang="en-US" sz="20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000" b="1" err="1">
                <a:solidFill>
                  <a:srgbClr val="000000"/>
                </a:solidFill>
                <a:latin typeface="Consolas" panose="020B0609020204030204" pitchFamily="49" charset="0"/>
              </a:rPr>
              <a:t>sharedVarName</a:t>
            </a:r>
            <a:r>
              <a:rPr lang="en-US" sz="2000" b="1">
                <a:solidFill>
                  <a:srgbClr val="A36622"/>
                </a:solidFill>
                <a:latin typeface="Consolas" panose="020B0609020204030204" pitchFamily="49" charset="0"/>
              </a:rPr>
              <a:t>,</a:t>
            </a:r>
            <a:r>
              <a:rPr lang="en-US" sz="20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>
                <a:solidFill>
                  <a:srgbClr val="0066FF"/>
                </a:solidFill>
                <a:latin typeface="Consolas" panose="020B0609020204030204" pitchFamily="49" charset="0"/>
              </a:rPr>
              <a:t>uint32</a:t>
            </a:r>
            <a:r>
              <a:rPr lang="en-US" sz="2000" b="1">
                <a:solidFill>
                  <a:srgbClr val="000000"/>
                </a:solidFill>
                <a:latin typeface="Consolas" panose="020B0609020204030204" pitchFamily="49" charset="0"/>
              </a:rPr>
              <a:t> size</a:t>
            </a:r>
            <a:r>
              <a:rPr lang="en-US" sz="2000" b="1">
                <a:solidFill>
                  <a:srgbClr val="A36622"/>
                </a:solidFill>
                <a:latin typeface="Consolas" panose="020B0609020204030204" pitchFamily="49" charset="0"/>
              </a:rPr>
              <a:t>,</a:t>
            </a:r>
            <a:r>
              <a:rPr lang="en-US" sz="20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>
                <a:solidFill>
                  <a:srgbClr val="0066FF"/>
                </a:solidFill>
                <a:latin typeface="Consolas" panose="020B0609020204030204" pitchFamily="49" charset="0"/>
              </a:rPr>
              <a:t>uint8</a:t>
            </a:r>
            <a:r>
              <a:rPr lang="en-US" sz="20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err="1">
                <a:solidFill>
                  <a:srgbClr val="000000"/>
                </a:solidFill>
                <a:latin typeface="Consolas" panose="020B0609020204030204" pitchFamily="49" charset="0"/>
              </a:rPr>
              <a:t>isWritable</a:t>
            </a:r>
            <a:r>
              <a:rPr lang="en-US" sz="2000" b="1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9E0FCC-3811-6C95-E59E-94E79B72E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122</a:t>
            </a:fld>
            <a:endParaRPr lang="en-US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4F01FE7C-8405-3A4B-C2BF-C697B86F2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b="1" dirty="0"/>
              <a:t>#3:</a:t>
            </a:r>
            <a:r>
              <a:rPr lang="en-US" dirty="0"/>
              <a:t> </a:t>
            </a:r>
            <a:r>
              <a:rPr lang="en-US" dirty="0" err="1"/>
              <a:t>smalloc</a:t>
            </a:r>
            <a:r>
              <a:rPr lang="en-US" dirty="0"/>
              <a:t>()</a:t>
            </a:r>
            <a:endParaRPr lang="en-A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DC5765-42CA-CF33-BA47-D8EFA4078E75}"/>
              </a:ext>
            </a:extLst>
          </p:cNvPr>
          <p:cNvSpPr txBox="1"/>
          <p:nvPr/>
        </p:nvSpPr>
        <p:spPr>
          <a:xfrm>
            <a:off x="3361497" y="0"/>
            <a:ext cx="5469006" cy="598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lvl="1" indent="0" algn="ctr">
              <a:lnSpc>
                <a:spcPct val="150000"/>
              </a:lnSpc>
              <a:buClr>
                <a:srgbClr val="4F81BD"/>
              </a:buClr>
              <a:buNone/>
            </a:pPr>
            <a:r>
              <a:rPr lang="en-US" sz="2400" b="1" spc="-1">
                <a:solidFill>
                  <a:srgbClr val="FF0000"/>
                </a:solidFill>
                <a:latin typeface="Calibri"/>
              </a:rPr>
              <a:t>[USER SIDE] </a:t>
            </a:r>
            <a:r>
              <a:rPr lang="en-US" sz="2400" b="1" spc="-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lib/</a:t>
            </a:r>
            <a:r>
              <a:rPr lang="en-US" sz="2400" b="1" spc="-1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uheap.c</a:t>
            </a:r>
            <a:endParaRPr 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8041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DE4A1-0825-74A2-57D5-B5FAA138F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BEAEE-89EC-72F9-9BF0-5BCDA1DBA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8" y="2660636"/>
            <a:ext cx="11094722" cy="4197364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 marL="342900" lvl="0" indent="-342900" defTabSz="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/>
            </a:pPr>
            <a:r>
              <a:rPr lang="en-US" b="1" dirty="0">
                <a:solidFill>
                  <a:prstClr val="black"/>
                </a:solidFill>
              </a:rPr>
              <a:t>Allocate </a:t>
            </a:r>
            <a:r>
              <a:rPr lang="en-US" dirty="0">
                <a:solidFill>
                  <a:prstClr val="black"/>
                </a:solidFill>
              </a:rPr>
              <a:t>and</a:t>
            </a:r>
            <a:r>
              <a:rPr lang="en-US" b="1" dirty="0">
                <a:solidFill>
                  <a:prstClr val="black"/>
                </a:solidFill>
              </a:rPr>
              <a:t> Initialize</a:t>
            </a:r>
            <a:r>
              <a:rPr lang="en-US" dirty="0">
                <a:solidFill>
                  <a:prstClr val="black"/>
                </a:solidFill>
              </a:rPr>
              <a:t> a new share object </a:t>
            </a:r>
            <a:r>
              <a:rPr lang="en-US" dirty="0">
                <a:solidFill>
                  <a:prstClr val="black"/>
                </a:solidFill>
                <a:sym typeface="Wingdings" panose="05000000000000000000" pitchFamily="2" charset="2"/>
              </a:rPr>
              <a:t> </a:t>
            </a:r>
            <a:r>
              <a:rPr lang="en-US" b="1" dirty="0">
                <a:solidFill>
                  <a:prstClr val="black"/>
                </a:solidFill>
              </a:rPr>
              <a:t>Add </a:t>
            </a:r>
            <a:r>
              <a:rPr lang="en-US" dirty="0">
                <a:solidFill>
                  <a:prstClr val="black"/>
                </a:solidFill>
              </a:rPr>
              <a:t>it to the “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shares_list</a:t>
            </a:r>
            <a:r>
              <a:rPr lang="en-US" dirty="0">
                <a:solidFill>
                  <a:prstClr val="black"/>
                </a:solidFill>
              </a:rPr>
              <a:t>”</a:t>
            </a:r>
          </a:p>
          <a:p>
            <a:pPr marL="342900" lvl="0" indent="-342900" defTabSz="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/>
            </a:pPr>
            <a:r>
              <a:rPr lang="en-US" b="1" dirty="0">
                <a:solidFill>
                  <a:prstClr val="black"/>
                </a:solidFill>
              </a:rPr>
              <a:t>Allocate </a:t>
            </a:r>
            <a:r>
              <a:rPr lang="en-US" dirty="0">
                <a:solidFill>
                  <a:prstClr val="black"/>
                </a:solidFill>
              </a:rPr>
              <a:t>and</a:t>
            </a:r>
            <a:r>
              <a:rPr lang="en-US" b="1" dirty="0">
                <a:solidFill>
                  <a:prstClr val="black"/>
                </a:solidFill>
              </a:rPr>
              <a:t> Initialize </a:t>
            </a:r>
            <a:r>
              <a:rPr lang="en-US" dirty="0">
                <a:solidFill>
                  <a:prstClr val="black"/>
                </a:solidFill>
              </a:rPr>
              <a:t>the </a:t>
            </a:r>
            <a:r>
              <a:rPr lang="en-US" b="1" dirty="0" err="1">
                <a:solidFill>
                  <a:prstClr val="black"/>
                </a:solidFill>
                <a:latin typeface="Consolas" panose="020B0609020204030204" pitchFamily="49" charset="0"/>
              </a:rPr>
              <a:t>shareHandle</a:t>
            </a:r>
            <a:r>
              <a:rPr lang="en-US" b="1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prstClr val="black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</a:t>
            </a:r>
            <a:r>
              <a:rPr lang="en-US" b="1" dirty="0">
                <a:solidFill>
                  <a:prstClr val="black"/>
                </a:solidFill>
                <a:latin typeface="+mj-lt"/>
                <a:sym typeface="Wingdings" panose="05000000000000000000" pitchFamily="2" charset="2"/>
              </a:rPr>
              <a:t> </a:t>
            </a:r>
            <a:r>
              <a:rPr lang="en-US" sz="2100" b="1" dirty="0">
                <a:solidFill>
                  <a:prstClr val="black"/>
                </a:solidFill>
              </a:rPr>
              <a:t>Add</a:t>
            </a:r>
            <a:r>
              <a:rPr lang="en-US" dirty="0"/>
              <a:t> it to the env </a:t>
            </a:r>
            <a:r>
              <a:rPr lang="en-US" b="1" dirty="0" err="1">
                <a:latin typeface="Consolas" panose="020B0609020204030204" pitchFamily="49" charset="0"/>
              </a:rPr>
              <a:t>shareHandles</a:t>
            </a:r>
            <a:r>
              <a:rPr lang="en-US" dirty="0"/>
              <a:t> List</a:t>
            </a:r>
          </a:p>
          <a:p>
            <a:pPr marL="342900" lvl="0" indent="-342900" defTabSz="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/>
            </a:pPr>
            <a:r>
              <a:rPr lang="en-US" b="1" dirty="0">
                <a:solidFill>
                  <a:prstClr val="black"/>
                </a:solidFill>
              </a:rPr>
              <a:t>Allocate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ALL </a:t>
            </a:r>
            <a:r>
              <a:rPr lang="en-US" dirty="0">
                <a:solidFill>
                  <a:prstClr val="black"/>
                </a:solidFill>
              </a:rPr>
              <a:t>required space in the </a:t>
            </a:r>
            <a:r>
              <a:rPr lang="en-US" b="1" dirty="0">
                <a:solidFill>
                  <a:srgbClr val="FF0000"/>
                </a:solidFill>
              </a:rPr>
              <a:t>physical memory </a:t>
            </a:r>
            <a:r>
              <a:rPr lang="en-US" dirty="0">
                <a:solidFill>
                  <a:prstClr val="black"/>
                </a:solidFill>
              </a:rPr>
              <a:t>on a PAGE boundary</a:t>
            </a:r>
          </a:p>
          <a:p>
            <a:pPr marL="342900" lvl="0" indent="-342900" defTabSz="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/>
            </a:pPr>
            <a:r>
              <a:rPr lang="en-US" b="1" dirty="0">
                <a:solidFill>
                  <a:prstClr val="black"/>
                </a:solidFill>
              </a:rPr>
              <a:t>Map</a:t>
            </a:r>
            <a:r>
              <a:rPr lang="en-US" dirty="0">
                <a:solidFill>
                  <a:prstClr val="black"/>
                </a:solidFill>
              </a:rPr>
              <a:t> them on the given "</a:t>
            </a:r>
            <a:r>
              <a:rPr lang="en-US" b="1" dirty="0" err="1">
                <a:solidFill>
                  <a:prstClr val="black"/>
                </a:solidFill>
                <a:latin typeface="Consolas" panose="020B0609020204030204" pitchFamily="49" charset="0"/>
              </a:rPr>
              <a:t>virtual_address</a:t>
            </a:r>
            <a:r>
              <a:rPr lang="en-US" dirty="0">
                <a:solidFill>
                  <a:prstClr val="black"/>
                </a:solidFill>
              </a:rPr>
              <a:t>" on the current process with </a:t>
            </a:r>
            <a:r>
              <a:rPr lang="en-US" b="1" dirty="0">
                <a:solidFill>
                  <a:prstClr val="black"/>
                </a:solidFill>
              </a:rPr>
              <a:t>WRITABLE </a:t>
            </a:r>
            <a:r>
              <a:rPr lang="en-US" dirty="0">
                <a:solidFill>
                  <a:prstClr val="black"/>
                </a:solidFill>
              </a:rPr>
              <a:t>permissions</a:t>
            </a:r>
          </a:p>
          <a:p>
            <a:pPr marL="342900" indent="-342900" defTabSz="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/>
            </a:pPr>
            <a:r>
              <a:rPr lang="en-US" b="1" dirty="0">
                <a:solidFill>
                  <a:prstClr val="black"/>
                </a:solidFill>
              </a:rPr>
              <a:t>Add</a:t>
            </a:r>
            <a:r>
              <a:rPr lang="en-US" dirty="0">
                <a:solidFill>
                  <a:prstClr val="black"/>
                </a:solidFill>
              </a:rPr>
              <a:t> each allocated frame to "</a:t>
            </a:r>
            <a:r>
              <a:rPr lang="en-US" b="1" dirty="0" err="1">
                <a:solidFill>
                  <a:prstClr val="black"/>
                </a:solidFill>
                <a:latin typeface="Consolas" panose="020B0609020204030204" pitchFamily="49" charset="0"/>
              </a:rPr>
              <a:t>frames_storage</a:t>
            </a:r>
            <a:r>
              <a:rPr lang="en-US" dirty="0">
                <a:solidFill>
                  <a:prstClr val="black"/>
                </a:solidFill>
              </a:rPr>
              <a:t>" of this shared object to keep track of them for later use</a:t>
            </a:r>
          </a:p>
          <a:p>
            <a:pPr marL="0" lvl="0" indent="0" defTabSz="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en-US" b="1" dirty="0">
                <a:solidFill>
                  <a:prstClr val="black"/>
                </a:solidFill>
              </a:rPr>
              <a:t>RETURN:</a:t>
            </a:r>
          </a:p>
          <a:p>
            <a:pPr marL="635508" lvl="1" indent="-342900" defTabSz="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Font typeface="+mj-lt"/>
              <a:buAutoNum type="arabicPeriod"/>
            </a:pPr>
            <a:r>
              <a:rPr lang="en-US" dirty="0">
                <a:solidFill>
                  <a:prstClr val="black"/>
                </a:solidFill>
              </a:rPr>
              <a:t>ID of the shared object (its VA after masking out its </a:t>
            </a:r>
            <a:r>
              <a:rPr lang="en-US" dirty="0" err="1">
                <a:solidFill>
                  <a:prstClr val="black"/>
                </a:solidFill>
              </a:rPr>
              <a:t>msb</a:t>
            </a:r>
            <a:r>
              <a:rPr lang="en-US" dirty="0">
                <a:solidFill>
                  <a:prstClr val="black"/>
                </a:solidFill>
              </a:rPr>
              <a:t>) if </a:t>
            </a:r>
            <a:r>
              <a:rPr lang="en-US" b="1" dirty="0">
                <a:solidFill>
                  <a:prstClr val="black"/>
                </a:solidFill>
              </a:rPr>
              <a:t>success</a:t>
            </a:r>
          </a:p>
          <a:p>
            <a:pPr marL="635508" lvl="1" indent="-342900" defTabSz="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Font typeface="+mj-lt"/>
              <a:buAutoNum type="arabicPeriod"/>
            </a:pP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E_SHARED_MEM_EXISTS </a:t>
            </a:r>
            <a:r>
              <a:rPr lang="en-US" dirty="0">
                <a:solidFill>
                  <a:prstClr val="black"/>
                </a:solidFill>
              </a:rPr>
              <a:t>if the shared object </a:t>
            </a:r>
            <a:r>
              <a:rPr lang="en-US" b="1" dirty="0">
                <a:solidFill>
                  <a:prstClr val="black"/>
                </a:solidFill>
              </a:rPr>
              <a:t>already exists</a:t>
            </a:r>
          </a:p>
          <a:p>
            <a:pPr marL="635508" lvl="1" indent="-342900" defTabSz="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Font typeface="+mj-lt"/>
              <a:buAutoNum type="arabicPeriod"/>
            </a:pP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E_NO_SHARE </a:t>
            </a:r>
            <a:r>
              <a:rPr lang="en-US" dirty="0">
                <a:solidFill>
                  <a:prstClr val="black"/>
                </a:solidFill>
              </a:rPr>
              <a:t>if </a:t>
            </a:r>
            <a:r>
              <a:rPr lang="en-US" b="1" dirty="0">
                <a:solidFill>
                  <a:prstClr val="black"/>
                </a:solidFill>
              </a:rPr>
              <a:t>failed to create </a:t>
            </a:r>
            <a:r>
              <a:rPr lang="en-US" dirty="0">
                <a:solidFill>
                  <a:prstClr val="black"/>
                </a:solidFill>
              </a:rPr>
              <a:t>a shared object	</a:t>
            </a:r>
          </a:p>
          <a:p>
            <a:pPr marL="635508" lvl="1" indent="-342900" defTabSz="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Font typeface="+mj-lt"/>
              <a:buAutoNum type="arabicPeriod"/>
            </a:pP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E_NO_SHARE_HANDLE </a:t>
            </a:r>
            <a:r>
              <a:rPr lang="en-US" dirty="0">
                <a:solidFill>
                  <a:prstClr val="black"/>
                </a:solidFill>
              </a:rPr>
              <a:t>if </a:t>
            </a:r>
            <a:r>
              <a:rPr lang="en-US" b="1" dirty="0">
                <a:solidFill>
                  <a:prstClr val="black"/>
                </a:solidFill>
              </a:rPr>
              <a:t>failed to create </a:t>
            </a:r>
            <a:r>
              <a:rPr lang="en-US" dirty="0">
                <a:solidFill>
                  <a:prstClr val="black"/>
                </a:solidFill>
              </a:rPr>
              <a:t>a </a:t>
            </a:r>
            <a:r>
              <a:rPr lang="en-US">
                <a:solidFill>
                  <a:prstClr val="black"/>
                </a:solidFill>
              </a:rPr>
              <a:t>shareHandle </a:t>
            </a:r>
            <a:r>
              <a:rPr lang="en-US" dirty="0">
                <a:solidFill>
                  <a:prstClr val="black"/>
                </a:solidFill>
              </a:rPr>
              <a:t>object</a:t>
            </a:r>
          </a:p>
          <a:p>
            <a:pPr marL="342900" indent="-342900" defTabSz="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30D70D-7A36-A32C-99F2-C8C80D4EA650}"/>
              </a:ext>
            </a:extLst>
          </p:cNvPr>
          <p:cNvSpPr/>
          <p:nvPr/>
        </p:nvSpPr>
        <p:spPr>
          <a:xfrm>
            <a:off x="1097279" y="1952751"/>
            <a:ext cx="1011520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solidFill>
                  <a:srgbClr val="0066FF"/>
                </a:solidFill>
                <a:latin typeface="Consolas" panose="020B0609020204030204" pitchFamily="49" charset="0"/>
              </a:rPr>
              <a:t>int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err="1">
                <a:solidFill>
                  <a:srgbClr val="000000"/>
                </a:solidFill>
                <a:latin typeface="Consolas" panose="020B0609020204030204" pitchFamily="49" charset="0"/>
              </a:rPr>
              <a:t>create_shared_object</a:t>
            </a:r>
            <a:r>
              <a:rPr lang="en-US" sz="2000" b="1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2000" b="1">
                <a:solidFill>
                  <a:srgbClr val="0066FF"/>
                </a:solidFill>
                <a:latin typeface="Consolas" panose="020B0609020204030204" pitchFamily="49" charset="0"/>
              </a:rPr>
              <a:t>int32</a:t>
            </a:r>
            <a:r>
              <a:rPr lang="en-US" sz="20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err="1">
                <a:solidFill>
                  <a:srgbClr val="000000"/>
                </a:solidFill>
                <a:latin typeface="Consolas" panose="020B0609020204030204" pitchFamily="49" charset="0"/>
              </a:rPr>
              <a:t>ownerID</a:t>
            </a:r>
            <a:r>
              <a:rPr lang="en-US" sz="2000" b="1">
                <a:solidFill>
                  <a:srgbClr val="A36622"/>
                </a:solidFill>
                <a:latin typeface="Consolas" panose="020B0609020204030204" pitchFamily="49" charset="0"/>
              </a:rPr>
              <a:t>,</a:t>
            </a:r>
            <a:r>
              <a:rPr lang="en-US" sz="20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>
                <a:solidFill>
                  <a:srgbClr val="0066FF"/>
                </a:solidFill>
                <a:latin typeface="Consolas" panose="020B0609020204030204" pitchFamily="49" charset="0"/>
              </a:rPr>
              <a:t>char</a:t>
            </a:r>
            <a:r>
              <a:rPr lang="en-US" sz="2000" b="1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0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err="1">
                <a:solidFill>
                  <a:srgbClr val="000000"/>
                </a:solidFill>
                <a:latin typeface="Consolas" panose="020B0609020204030204" pitchFamily="49" charset="0"/>
              </a:rPr>
              <a:t>shareName</a:t>
            </a:r>
            <a:r>
              <a:rPr lang="en-US" sz="2000" b="1">
                <a:solidFill>
                  <a:srgbClr val="A36622"/>
                </a:solidFill>
                <a:latin typeface="Consolas" panose="020B0609020204030204" pitchFamily="49" charset="0"/>
              </a:rPr>
              <a:t>,</a:t>
            </a:r>
            <a:r>
              <a:rPr lang="en-US" sz="20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>
                <a:solidFill>
                  <a:srgbClr val="0066FF"/>
                </a:solidFill>
                <a:latin typeface="Consolas" panose="020B0609020204030204" pitchFamily="49" charset="0"/>
              </a:rPr>
              <a:t>uint32</a:t>
            </a:r>
            <a:r>
              <a:rPr lang="en-US" sz="2000" b="1">
                <a:solidFill>
                  <a:srgbClr val="000000"/>
                </a:solidFill>
                <a:latin typeface="Consolas" panose="020B0609020204030204" pitchFamily="49" charset="0"/>
              </a:rPr>
              <a:t> size</a:t>
            </a:r>
            <a:r>
              <a:rPr lang="en-US" sz="2000" b="1">
                <a:solidFill>
                  <a:srgbClr val="A36622"/>
                </a:solidFill>
                <a:latin typeface="Consolas" panose="020B0609020204030204" pitchFamily="49" charset="0"/>
              </a:rPr>
              <a:t>,</a:t>
            </a:r>
            <a:r>
              <a:rPr lang="en-US" sz="20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>
                <a:solidFill>
                  <a:srgbClr val="0066FF"/>
                </a:solidFill>
                <a:latin typeface="Consolas" panose="020B0609020204030204" pitchFamily="49" charset="0"/>
              </a:rPr>
              <a:t>uint8</a:t>
            </a:r>
            <a:r>
              <a:rPr lang="en-US" sz="20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err="1">
                <a:solidFill>
                  <a:srgbClr val="000000"/>
                </a:solidFill>
                <a:latin typeface="Consolas" panose="020B0609020204030204" pitchFamily="49" charset="0"/>
              </a:rPr>
              <a:t>isWritable</a:t>
            </a:r>
            <a:r>
              <a:rPr lang="en-US" sz="2000" b="1">
                <a:solidFill>
                  <a:srgbClr val="A36622"/>
                </a:solidFill>
                <a:latin typeface="Consolas" panose="020B0609020204030204" pitchFamily="49" charset="0"/>
              </a:rPr>
              <a:t>,</a:t>
            </a:r>
            <a:r>
              <a:rPr lang="en-US" sz="20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>
                <a:solidFill>
                  <a:srgbClr val="0066FF"/>
                </a:solidFill>
                <a:latin typeface="Consolas" panose="020B0609020204030204" pitchFamily="49" charset="0"/>
              </a:rPr>
              <a:t>void</a:t>
            </a:r>
            <a:r>
              <a:rPr lang="en-US" sz="2000" b="1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0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err="1">
                <a:solidFill>
                  <a:srgbClr val="000000"/>
                </a:solidFill>
                <a:latin typeface="Consolas" panose="020B0609020204030204" pitchFamily="49" charset="0"/>
              </a:rPr>
              <a:t>virtual_address</a:t>
            </a:r>
            <a:r>
              <a:rPr lang="en-US" sz="2000" b="1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6F1D5-9B94-0CFD-B115-D33078BAE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123</a:t>
            </a:fld>
            <a:endParaRPr lang="en-US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56657403-A5DB-38A6-DFFD-52893A7D0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b="1" dirty="0"/>
              <a:t>#4:</a:t>
            </a:r>
            <a:r>
              <a:rPr lang="en-US" dirty="0"/>
              <a:t> </a:t>
            </a:r>
            <a:r>
              <a:rPr lang="en-US" dirty="0" err="1"/>
              <a:t>create_shared_object</a:t>
            </a:r>
            <a:r>
              <a:rPr lang="en-US" dirty="0"/>
              <a:t>()</a:t>
            </a:r>
            <a:endParaRPr lang="en-A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AA1916-4AF6-953B-2CA4-12CF20864929}"/>
              </a:ext>
            </a:extLst>
          </p:cNvPr>
          <p:cNvSpPr txBox="1"/>
          <p:nvPr/>
        </p:nvSpPr>
        <p:spPr>
          <a:xfrm>
            <a:off x="1677302" y="0"/>
            <a:ext cx="8955155" cy="598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lvl="1" indent="0" algn="ctr">
              <a:lnSpc>
                <a:spcPct val="150000"/>
              </a:lnSpc>
              <a:buClr>
                <a:srgbClr val="4F81BD"/>
              </a:buClr>
              <a:buNone/>
            </a:pPr>
            <a:r>
              <a:rPr lang="en-US" sz="2400" b="1" spc="-1">
                <a:solidFill>
                  <a:srgbClr val="FF0000"/>
                </a:solidFill>
                <a:latin typeface="Calibri"/>
              </a:rPr>
              <a:t>[KERNEL SIDE] </a:t>
            </a:r>
            <a:r>
              <a:rPr lang="en-US" sz="2400" b="1" spc="-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kern/mem/</a:t>
            </a:r>
            <a:r>
              <a:rPr lang="en-US" sz="2400" b="1" spc="-1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shared_memory_manager.c</a:t>
            </a:r>
            <a:endParaRPr 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554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7D80A-5B2C-5772-EA8A-479B4B050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2BE5-5ECF-32F6-8848-13F0BE90F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518" y="1845734"/>
            <a:ext cx="10232964" cy="4388812"/>
          </a:xfrm>
          <a:solidFill>
            <a:schemeClr val="bg1"/>
          </a:solidFill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pPr marL="342900" lvl="0" indent="-342900" defTabSz="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/>
            </a:pPr>
            <a:r>
              <a:rPr lang="en-US" b="1" dirty="0">
                <a:solidFill>
                  <a:prstClr val="black"/>
                </a:solidFill>
              </a:rPr>
              <a:t>Get</a:t>
            </a:r>
            <a:r>
              <a:rPr lang="en-US" dirty="0">
                <a:solidFill>
                  <a:prstClr val="black"/>
                </a:solidFill>
              </a:rPr>
              <a:t> the info (ID &amp; size) about the shared variable (use </a:t>
            </a:r>
            <a:r>
              <a:rPr lang="en-US" b="1" dirty="0" err="1">
                <a:solidFill>
                  <a:prstClr val="black"/>
                </a:solidFill>
                <a:latin typeface="Consolas" panose="020B0609020204030204" pitchFamily="49" charset="0"/>
              </a:rPr>
              <a:t>sys_get_share_info</a:t>
            </a:r>
            <a:r>
              <a:rPr lang="en-US" dirty="0">
                <a:solidFill>
                  <a:prstClr val="black"/>
                </a:solidFill>
              </a:rPr>
              <a:t>())</a:t>
            </a:r>
          </a:p>
          <a:p>
            <a:pPr marL="342900" lvl="0" indent="-342900" defTabSz="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/>
            </a:pPr>
            <a:r>
              <a:rPr lang="en-US" b="1" dirty="0">
                <a:solidFill>
                  <a:prstClr val="black"/>
                </a:solidFill>
              </a:rPr>
              <a:t>Apply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b="1" dirty="0">
                <a:solidFill>
                  <a:prstClr val="black"/>
                </a:solidFill>
              </a:rPr>
              <a:t>CUSTOM FIT </a:t>
            </a:r>
            <a:r>
              <a:rPr lang="en-US" dirty="0">
                <a:solidFill>
                  <a:prstClr val="black"/>
                </a:solidFill>
              </a:rPr>
              <a:t>strategy to search the heap for suitable space (on 4 KB BOUNDARY)</a:t>
            </a:r>
          </a:p>
          <a:p>
            <a:pPr marL="342900" lvl="0" indent="-342900" defTabSz="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/>
            </a:pPr>
            <a:r>
              <a:rPr lang="en-US" b="1" dirty="0">
                <a:solidFill>
                  <a:prstClr val="black"/>
                </a:solidFill>
              </a:rPr>
              <a:t>Call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Consolas" panose="020B0609020204030204" pitchFamily="49" charset="0"/>
              </a:rPr>
              <a:t>sys_get_shared_object</a:t>
            </a:r>
            <a:r>
              <a:rPr lang="en-US" dirty="0">
                <a:solidFill>
                  <a:prstClr val="black"/>
                </a:solidFill>
              </a:rPr>
              <a:t>(...) to invoke the Kernel for sharing this variable</a:t>
            </a:r>
          </a:p>
          <a:p>
            <a:pPr marL="0" indent="0" defTabSz="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en-US" b="1" dirty="0">
                <a:solidFill>
                  <a:prstClr val="black"/>
                </a:solidFill>
              </a:rPr>
              <a:t>RETURN:</a:t>
            </a:r>
          </a:p>
          <a:p>
            <a:pPr marL="342900" lvl="0" indent="-342900" defTabSz="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/>
            </a:pPr>
            <a:r>
              <a:rPr lang="en-US" dirty="0">
                <a:solidFill>
                  <a:prstClr val="black"/>
                </a:solidFill>
              </a:rPr>
              <a:t>If successful, return its virtual address</a:t>
            </a:r>
          </a:p>
          <a:p>
            <a:pPr marL="342900" lvl="0" indent="-342900" defTabSz="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/>
            </a:pPr>
            <a:r>
              <a:rPr lang="en-US" dirty="0">
                <a:solidFill>
                  <a:prstClr val="black"/>
                </a:solidFill>
              </a:rPr>
              <a:t>If not exist, return NULL</a:t>
            </a:r>
          </a:p>
          <a:p>
            <a:pPr marL="342900" lvl="0" indent="-342900" defTabSz="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/>
            </a:pPr>
            <a:r>
              <a:rPr lang="en-US" dirty="0">
                <a:solidFill>
                  <a:prstClr val="black"/>
                </a:solidFill>
              </a:rPr>
              <a:t>If no space, return NULL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D16DE4-AC03-BB5D-FD3F-9EE016E335C0}"/>
              </a:ext>
            </a:extLst>
          </p:cNvPr>
          <p:cNvSpPr/>
          <p:nvPr/>
        </p:nvSpPr>
        <p:spPr>
          <a:xfrm>
            <a:off x="1097279" y="1952751"/>
            <a:ext cx="101152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>
                <a:solidFill>
                  <a:srgbClr val="0066FF"/>
                </a:solidFill>
                <a:latin typeface="Consolas" panose="020B0609020204030204" pitchFamily="49" charset="0"/>
              </a:rPr>
              <a:t>void</a:t>
            </a:r>
            <a:r>
              <a:rPr lang="en-US" sz="200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err="1">
                <a:solidFill>
                  <a:srgbClr val="000000"/>
                </a:solidFill>
                <a:latin typeface="Consolas" panose="020B0609020204030204" pitchFamily="49" charset="0"/>
              </a:rPr>
              <a:t>sget</a:t>
            </a:r>
            <a:r>
              <a:rPr lang="en-US" sz="2000" b="1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2000" b="1">
                <a:solidFill>
                  <a:srgbClr val="0066FF"/>
                </a:solidFill>
                <a:latin typeface="Consolas" panose="020B0609020204030204" pitchFamily="49" charset="0"/>
              </a:rPr>
              <a:t>int32</a:t>
            </a:r>
            <a:r>
              <a:rPr lang="en-US" sz="20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err="1">
                <a:solidFill>
                  <a:srgbClr val="000000"/>
                </a:solidFill>
                <a:latin typeface="Consolas" panose="020B0609020204030204" pitchFamily="49" charset="0"/>
              </a:rPr>
              <a:t>ownerEnvID</a:t>
            </a:r>
            <a:r>
              <a:rPr lang="en-US" sz="2000" b="1">
                <a:solidFill>
                  <a:srgbClr val="A36622"/>
                </a:solidFill>
                <a:latin typeface="Consolas" panose="020B0609020204030204" pitchFamily="49" charset="0"/>
              </a:rPr>
              <a:t>,</a:t>
            </a:r>
            <a:r>
              <a:rPr lang="en-US" sz="20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>
                <a:solidFill>
                  <a:srgbClr val="0066FF"/>
                </a:solidFill>
                <a:latin typeface="Consolas" panose="020B0609020204030204" pitchFamily="49" charset="0"/>
              </a:rPr>
              <a:t>char</a:t>
            </a:r>
            <a:r>
              <a:rPr lang="en-US" sz="20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000" b="1" err="1">
                <a:solidFill>
                  <a:srgbClr val="000000"/>
                </a:solidFill>
                <a:latin typeface="Consolas" panose="020B0609020204030204" pitchFamily="49" charset="0"/>
              </a:rPr>
              <a:t>sharedVarName</a:t>
            </a:r>
            <a:r>
              <a:rPr lang="en-US" sz="2000" b="1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70329F-9D6C-3C33-C18A-91174012D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124</a:t>
            </a:fld>
            <a:endParaRPr lang="en-US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82A1E868-3987-B514-C66A-A00E29FCB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b="1" dirty="0"/>
              <a:t>#5:</a:t>
            </a:r>
            <a:r>
              <a:rPr lang="en-US" dirty="0"/>
              <a:t> </a:t>
            </a:r>
            <a:r>
              <a:rPr lang="en-US" dirty="0" err="1"/>
              <a:t>sget</a:t>
            </a:r>
            <a:r>
              <a:rPr lang="en-US" dirty="0"/>
              <a:t>()</a:t>
            </a:r>
            <a:endParaRPr lang="en-A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4D4AEA-3618-B2EC-38F1-F153137917EF}"/>
              </a:ext>
            </a:extLst>
          </p:cNvPr>
          <p:cNvSpPr txBox="1"/>
          <p:nvPr/>
        </p:nvSpPr>
        <p:spPr>
          <a:xfrm>
            <a:off x="3361497" y="0"/>
            <a:ext cx="5469006" cy="598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lvl="1" indent="0" algn="ctr">
              <a:lnSpc>
                <a:spcPct val="150000"/>
              </a:lnSpc>
              <a:buClr>
                <a:srgbClr val="4F81BD"/>
              </a:buClr>
              <a:buNone/>
            </a:pPr>
            <a:r>
              <a:rPr lang="en-US" sz="2400" b="1" spc="-1">
                <a:solidFill>
                  <a:srgbClr val="FF0000"/>
                </a:solidFill>
                <a:latin typeface="Calibri"/>
              </a:rPr>
              <a:t>[USER SIDE] </a:t>
            </a:r>
            <a:r>
              <a:rPr lang="en-US" sz="2400" b="1" spc="-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lib/</a:t>
            </a:r>
            <a:r>
              <a:rPr lang="en-US" sz="2400" b="1" spc="-1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uheap.c</a:t>
            </a:r>
            <a:endParaRPr 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8469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8C319-5F2C-14CE-1188-FFA35045A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872CA-22AF-0D66-3EFA-A553CCAF2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115203" cy="4451158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endParaRPr lang="en-US" dirty="0"/>
          </a:p>
          <a:p>
            <a:endParaRPr lang="en-US" dirty="0"/>
          </a:p>
          <a:p>
            <a:pPr marL="342900" lvl="0" indent="-342900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</a:pPr>
            <a:r>
              <a:rPr lang="en-US" b="1" dirty="0">
                <a:solidFill>
                  <a:prstClr val="black"/>
                </a:solidFill>
              </a:rPr>
              <a:t>Get</a:t>
            </a:r>
            <a:r>
              <a:rPr lang="en-US" dirty="0">
                <a:solidFill>
                  <a:prstClr val="black"/>
                </a:solidFill>
              </a:rPr>
              <a:t> virtual address of the </a:t>
            </a:r>
            <a:r>
              <a:rPr lang="en-US" b="1" dirty="0">
                <a:solidFill>
                  <a:prstClr val="black"/>
                </a:solidFill>
                <a:latin typeface="Consolas" panose="020B0609020204030204" pitchFamily="49" charset="0"/>
              </a:rPr>
              <a:t>Share</a:t>
            </a:r>
            <a:r>
              <a:rPr lang="en-US" dirty="0">
                <a:solidFill>
                  <a:prstClr val="black"/>
                </a:solidFill>
              </a:rPr>
              <a:t> object (by setting </a:t>
            </a:r>
            <a:r>
              <a:rPr lang="en-US" dirty="0" err="1">
                <a:solidFill>
                  <a:prstClr val="black"/>
                </a:solidFill>
              </a:rPr>
              <a:t>msb</a:t>
            </a:r>
            <a:r>
              <a:rPr lang="en-US" dirty="0">
                <a:solidFill>
                  <a:prstClr val="black"/>
                </a:solidFill>
              </a:rPr>
              <a:t> to 1)</a:t>
            </a:r>
          </a:p>
          <a:p>
            <a:pPr marL="342900" lvl="0" indent="-342900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</a:pPr>
            <a:r>
              <a:rPr lang="en-US" b="1" dirty="0"/>
              <a:t>Validate</a:t>
            </a:r>
            <a:r>
              <a:rPr lang="en-US" dirty="0"/>
              <a:t> the </a:t>
            </a:r>
            <a:r>
              <a:rPr lang="en-US" sz="2100" b="1" dirty="0">
                <a:solidFill>
                  <a:prstClr val="black"/>
                </a:solidFill>
                <a:latin typeface="Consolas" panose="020B0609020204030204" pitchFamily="49" charset="0"/>
              </a:rPr>
              <a:t>Share</a:t>
            </a:r>
            <a:r>
              <a:rPr lang="en-US" dirty="0"/>
              <a:t> object by checking its ID vs the passed one </a:t>
            </a:r>
          </a:p>
          <a:p>
            <a:pPr marL="342900" lvl="0" indent="-342900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</a:pPr>
            <a:r>
              <a:rPr lang="en-US" b="1" dirty="0">
                <a:solidFill>
                  <a:prstClr val="black"/>
                </a:solidFill>
              </a:rPr>
              <a:t>Get</a:t>
            </a:r>
            <a:r>
              <a:rPr lang="en-US" dirty="0">
                <a:solidFill>
                  <a:prstClr val="black"/>
                </a:solidFill>
              </a:rPr>
              <a:t> its physical frames from the “</a:t>
            </a:r>
            <a:r>
              <a:rPr lang="en-US" b="1" dirty="0" err="1">
                <a:solidFill>
                  <a:prstClr val="black"/>
                </a:solidFill>
                <a:latin typeface="Consolas" panose="020B0609020204030204" pitchFamily="49" charset="0"/>
              </a:rPr>
              <a:t>frames_storage</a:t>
            </a:r>
            <a:r>
              <a:rPr lang="en-US" dirty="0">
                <a:solidFill>
                  <a:prstClr val="black"/>
                </a:solidFill>
              </a:rPr>
              <a:t>”</a:t>
            </a:r>
          </a:p>
          <a:p>
            <a:pPr marL="342900" lvl="0" indent="-342900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</a:pPr>
            <a:r>
              <a:rPr lang="en-US" b="1" dirty="0">
                <a:solidFill>
                  <a:prstClr val="black"/>
                </a:solidFill>
              </a:rPr>
              <a:t>Share</a:t>
            </a:r>
            <a:r>
              <a:rPr lang="en-US" dirty="0">
                <a:solidFill>
                  <a:prstClr val="black"/>
                </a:solidFill>
              </a:rPr>
              <a:t> these frames with the current process starting from the given "</a:t>
            </a:r>
            <a:r>
              <a:rPr lang="en-US" b="1" dirty="0" err="1">
                <a:solidFill>
                  <a:prstClr val="black"/>
                </a:solidFill>
                <a:latin typeface="Consolas" panose="020B0609020204030204" pitchFamily="49" charset="0"/>
              </a:rPr>
              <a:t>virtual_address</a:t>
            </a:r>
            <a:r>
              <a:rPr lang="en-US" dirty="0">
                <a:solidFill>
                  <a:prstClr val="black"/>
                </a:solidFill>
              </a:rPr>
              <a:t>"</a:t>
            </a:r>
          </a:p>
          <a:p>
            <a:pPr marL="342900" lvl="0" indent="-342900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</a:pPr>
            <a:r>
              <a:rPr lang="en-US" b="1" dirty="0">
                <a:solidFill>
                  <a:prstClr val="black"/>
                </a:solidFill>
              </a:rPr>
              <a:t>Use</a:t>
            </a:r>
            <a:r>
              <a:rPr lang="en-US" dirty="0">
                <a:solidFill>
                  <a:prstClr val="black"/>
                </a:solidFill>
              </a:rPr>
              <a:t> the flag </a:t>
            </a:r>
            <a:r>
              <a:rPr lang="en-US" b="1" dirty="0" err="1">
                <a:solidFill>
                  <a:prstClr val="black"/>
                </a:solidFill>
                <a:latin typeface="Consolas" panose="020B0609020204030204" pitchFamily="49" charset="0"/>
              </a:rPr>
              <a:t>isWritable</a:t>
            </a:r>
            <a:r>
              <a:rPr lang="en-US" dirty="0">
                <a:solidFill>
                  <a:prstClr val="black"/>
                </a:solidFill>
              </a:rPr>
              <a:t> to make the sharing either </a:t>
            </a:r>
            <a:r>
              <a:rPr lang="en-US" b="1" dirty="0">
                <a:solidFill>
                  <a:prstClr val="black"/>
                </a:solidFill>
              </a:rPr>
              <a:t>read-only</a:t>
            </a:r>
            <a:r>
              <a:rPr lang="en-US" dirty="0">
                <a:solidFill>
                  <a:prstClr val="black"/>
                </a:solidFill>
              </a:rPr>
              <a:t> OR </a:t>
            </a:r>
            <a:r>
              <a:rPr lang="en-US" b="1" dirty="0">
                <a:solidFill>
                  <a:prstClr val="black"/>
                </a:solidFill>
              </a:rPr>
              <a:t>writable</a:t>
            </a:r>
          </a:p>
          <a:p>
            <a:pPr marL="342900" lvl="0" indent="-342900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</a:pPr>
            <a:r>
              <a:rPr lang="en-US" b="1" dirty="0">
                <a:solidFill>
                  <a:prstClr val="black"/>
                </a:solidFill>
              </a:rPr>
              <a:t>Update </a:t>
            </a:r>
            <a:r>
              <a:rPr lang="en-US" dirty="0">
                <a:solidFill>
                  <a:prstClr val="black"/>
                </a:solidFill>
              </a:rPr>
              <a:t>references </a:t>
            </a:r>
          </a:p>
          <a:p>
            <a:pPr marL="0" lvl="0" indent="0" defTabSz="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en-US" b="1" dirty="0">
                <a:solidFill>
                  <a:prstClr val="black"/>
                </a:solidFill>
              </a:rPr>
              <a:t>RETURN:</a:t>
            </a:r>
          </a:p>
          <a:p>
            <a:pPr marL="342900" lvl="0" indent="-342900" defTabSz="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/>
            </a:pPr>
            <a:r>
              <a:rPr lang="en-US" dirty="0">
                <a:solidFill>
                  <a:prstClr val="black"/>
                </a:solidFill>
              </a:rPr>
              <a:t>	0 if </a:t>
            </a:r>
            <a:r>
              <a:rPr lang="en-US" b="1" dirty="0">
                <a:solidFill>
                  <a:prstClr val="black"/>
                </a:solidFill>
              </a:rPr>
              <a:t>success</a:t>
            </a:r>
          </a:p>
          <a:p>
            <a:pPr marL="342900" lvl="0" indent="-342900" defTabSz="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/>
            </a:pPr>
            <a:r>
              <a:rPr lang="en-US" dirty="0">
                <a:solidFill>
                  <a:prstClr val="black"/>
                </a:solidFill>
              </a:rPr>
              <a:t>	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E_SHARED_MEM_NOT_EXISTS </a:t>
            </a:r>
            <a:r>
              <a:rPr lang="en-US" dirty="0">
                <a:solidFill>
                  <a:prstClr val="black"/>
                </a:solidFill>
              </a:rPr>
              <a:t>if the shared object </a:t>
            </a:r>
            <a:r>
              <a:rPr lang="en-US" b="1" dirty="0">
                <a:solidFill>
                  <a:prstClr val="black"/>
                </a:solidFill>
              </a:rPr>
              <a:t>is NOT exists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D818E0-5CA5-7ADB-F7FA-CF70B68527E2}"/>
              </a:ext>
            </a:extLst>
          </p:cNvPr>
          <p:cNvSpPr/>
          <p:nvPr/>
        </p:nvSpPr>
        <p:spPr>
          <a:xfrm>
            <a:off x="619760" y="1952751"/>
            <a:ext cx="1114551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get_shared_object</a:t>
            </a:r>
            <a:r>
              <a:rPr lang="en-US" sz="2000" b="1" dirty="0">
                <a:solidFill>
                  <a:srgbClr val="787878"/>
                </a:solidFill>
                <a:latin typeface="Consolas" panose="020B0609020204030204" pitchFamily="49" charset="0"/>
              </a:rPr>
              <a:t>(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int32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shareID</a:t>
            </a:r>
            <a:r>
              <a:rPr lang="en-US" sz="2000" b="1" dirty="0">
                <a:solidFill>
                  <a:srgbClr val="A36622"/>
                </a:solidFill>
                <a:latin typeface="Consolas" panose="020B0609020204030204" pitchFamily="49" charset="0"/>
              </a:rPr>
              <a:t>,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void</a:t>
            </a:r>
            <a:r>
              <a:rPr lang="en-US" sz="2000" b="1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virtual_address</a:t>
            </a:r>
            <a:r>
              <a:rPr lang="en-US" sz="2000" b="1" dirty="0">
                <a:solidFill>
                  <a:srgbClr val="787878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23B57D-8613-2CA4-E5BD-E698EE164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125</a:t>
            </a:fld>
            <a:endParaRPr lang="en-US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ACD42251-838D-D867-CDCA-971B31B66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b="1" dirty="0"/>
              <a:t>#6:</a:t>
            </a:r>
            <a:r>
              <a:rPr lang="en-US" dirty="0"/>
              <a:t> </a:t>
            </a:r>
            <a:r>
              <a:rPr lang="en-US" dirty="0" err="1"/>
              <a:t>get_shared_object</a:t>
            </a:r>
            <a:r>
              <a:rPr lang="en-US" dirty="0"/>
              <a:t>()</a:t>
            </a:r>
            <a:endParaRPr lang="en-A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F217B0-9BEA-2C54-DFF8-754E2F1EFED2}"/>
              </a:ext>
            </a:extLst>
          </p:cNvPr>
          <p:cNvSpPr txBox="1"/>
          <p:nvPr/>
        </p:nvSpPr>
        <p:spPr>
          <a:xfrm>
            <a:off x="1677302" y="0"/>
            <a:ext cx="8955155" cy="598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lvl="1" indent="0" algn="ctr">
              <a:lnSpc>
                <a:spcPct val="150000"/>
              </a:lnSpc>
              <a:buClr>
                <a:srgbClr val="4F81BD"/>
              </a:buClr>
              <a:buNone/>
            </a:pPr>
            <a:r>
              <a:rPr lang="en-US" sz="2400" b="1" spc="-1">
                <a:solidFill>
                  <a:srgbClr val="FF0000"/>
                </a:solidFill>
                <a:latin typeface="Calibri"/>
              </a:rPr>
              <a:t>[KERNEL SIDE] </a:t>
            </a:r>
            <a:r>
              <a:rPr lang="en-US" sz="2400" b="1" spc="-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kern/mem/</a:t>
            </a:r>
            <a:r>
              <a:rPr lang="en-US" sz="2400" b="1" spc="-1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shared_memory_manager.c</a:t>
            </a:r>
            <a:endParaRPr 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8587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6"/>
          <p:cNvSpPr>
            <a:spLocks noChangeArrowheads="1"/>
          </p:cNvSpPr>
          <p:nvPr/>
        </p:nvSpPr>
        <p:spPr bwMode="auto">
          <a:xfrm>
            <a:off x="1184565" y="405245"/>
            <a:ext cx="10027918" cy="279847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anchor="ctr"/>
          <a:lstStyle/>
          <a:p>
            <a:pPr algn="ctr" eaLnBrk="0" hangingPunct="0"/>
            <a:r>
              <a:rPr lang="en-US" sz="4400">
                <a:solidFill>
                  <a:schemeClr val="tx2"/>
                </a:solidFill>
              </a:rPr>
              <a:t>FINALLY, LET’S RUN THE </a:t>
            </a:r>
            <a:r>
              <a:rPr lang="en-US" sz="4400" b="1">
                <a:solidFill>
                  <a:schemeClr val="tx2"/>
                </a:solidFill>
              </a:rPr>
              <a:t>ENTIRE FOS</a:t>
            </a:r>
            <a:r>
              <a:rPr lang="en-US" sz="4400">
                <a:solidFill>
                  <a:schemeClr val="tx2"/>
                </a:solidFill>
              </a:rPr>
              <a:t>...</a:t>
            </a:r>
          </a:p>
          <a:p>
            <a:pPr algn="ctr" eaLnBrk="0" hangingPunct="0">
              <a:lnSpc>
                <a:spcPct val="200000"/>
              </a:lnSpc>
            </a:pPr>
            <a:endParaRPr lang="en-US" sz="1400">
              <a:solidFill>
                <a:schemeClr val="tx2"/>
              </a:solidFill>
            </a:endParaRPr>
          </a:p>
          <a:p>
            <a:pPr algn="ctr" eaLnBrk="0" hangingPunct="0">
              <a:lnSpc>
                <a:spcPct val="200000"/>
              </a:lnSpc>
            </a:pPr>
            <a:r>
              <a:rPr lang="en-US" sz="2800" b="1">
                <a:solidFill>
                  <a:srgbClr val="FF0000"/>
                </a:solidFill>
                <a:sym typeface="Wingdings" pitchFamily="2" charset="2"/>
              </a:rPr>
              <a:t> </a:t>
            </a:r>
            <a:r>
              <a:rPr lang="en-US" sz="2800">
                <a:solidFill>
                  <a:schemeClr val="tx2"/>
                </a:solidFill>
              </a:rPr>
              <a:t>Enjoy </a:t>
            </a:r>
            <a:r>
              <a:rPr lang="en-US" sz="2800" b="1">
                <a:solidFill>
                  <a:schemeClr val="tx2"/>
                </a:solidFill>
              </a:rPr>
              <a:t>developing </a:t>
            </a:r>
            <a:r>
              <a:rPr lang="en-US" sz="2800">
                <a:solidFill>
                  <a:schemeClr val="tx2"/>
                </a:solidFill>
              </a:rPr>
              <a:t>your </a:t>
            </a:r>
            <a:r>
              <a:rPr lang="en-US" sz="2800" b="1">
                <a:solidFill>
                  <a:srgbClr val="FF0000"/>
                </a:solidFill>
              </a:rPr>
              <a:t>own OS </a:t>
            </a:r>
            <a:r>
              <a:rPr lang="en-US" sz="2800" b="1">
                <a:solidFill>
                  <a:srgbClr val="FF0000"/>
                </a:solidFill>
                <a:sym typeface="Wingdings" pitchFamily="2" charset="2"/>
              </a:rPr>
              <a:t></a:t>
            </a:r>
            <a:endParaRPr lang="en-US" sz="2800" b="1">
              <a:solidFill>
                <a:srgbClr val="FF0000"/>
              </a:solidFill>
            </a:endParaRPr>
          </a:p>
        </p:txBody>
      </p:sp>
      <p:pic>
        <p:nvPicPr>
          <p:cNvPr id="38915" name="Picture 7" descr="girls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81600" y="3429000"/>
            <a:ext cx="2317750" cy="231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39869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A75FAA3A6A85498CEA72B235095206" ma:contentTypeVersion="3" ma:contentTypeDescription="Create a new document." ma:contentTypeScope="" ma:versionID="72a44a82d73191e9c43e3c60289de1c3">
  <xsd:schema xmlns:xsd="http://www.w3.org/2001/XMLSchema" xmlns:xs="http://www.w3.org/2001/XMLSchema" xmlns:p="http://schemas.microsoft.com/office/2006/metadata/properties" xmlns:ns2="447c295b-992c-42e3-9042-79d4fdce0b45" targetNamespace="http://schemas.microsoft.com/office/2006/metadata/properties" ma:root="true" ma:fieldsID="0e740011ee714eba83319f1c05a554b2" ns2:_="">
    <xsd:import namespace="447c295b-992c-42e3-9042-79d4fdce0b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7c295b-992c-42e3-9042-79d4fdce0b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8E22AD9-2F50-4EC7-8724-BF937FF88C88}"/>
</file>

<file path=customXml/itemProps2.xml><?xml version="1.0" encoding="utf-8"?>
<ds:datastoreItem xmlns:ds="http://schemas.openxmlformats.org/officeDocument/2006/customXml" ds:itemID="{A88FC6C7-89AB-46CD-BE09-277AD0C89543}"/>
</file>

<file path=customXml/itemProps3.xml><?xml version="1.0" encoding="utf-8"?>
<ds:datastoreItem xmlns:ds="http://schemas.openxmlformats.org/officeDocument/2006/customXml" ds:itemID="{5DAC8846-6319-4687-ACB8-CEFD9DD7A22C}"/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6767</TotalTime>
  <Words>10940</Words>
  <Application>Microsoft Office PowerPoint</Application>
  <PresentationFormat>Widescreen</PresentationFormat>
  <Paragraphs>2019</Paragraphs>
  <Slides>126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126</vt:i4>
      </vt:variant>
    </vt:vector>
  </HeadingPairs>
  <TitlesOfParts>
    <vt:vector size="138" baseType="lpstr">
      <vt:lpstr>굴림</vt:lpstr>
      <vt:lpstr>Arial</vt:lpstr>
      <vt:lpstr>Calibri</vt:lpstr>
      <vt:lpstr>Cambria</vt:lpstr>
      <vt:lpstr>Comic Sans MS</vt:lpstr>
      <vt:lpstr>Consolas</vt:lpstr>
      <vt:lpstr>Courier New</vt:lpstr>
      <vt:lpstr>Gill Sans Light</vt:lpstr>
      <vt:lpstr>Symbol</vt:lpstr>
      <vt:lpstr>Times New Roman</vt:lpstr>
      <vt:lpstr>Wingdings</vt:lpstr>
      <vt:lpstr>Retrospect</vt:lpstr>
      <vt:lpstr>OS’26-27 Project </vt:lpstr>
      <vt:lpstr>Agenda</vt:lpstr>
      <vt:lpstr>Agenda</vt:lpstr>
      <vt:lpstr>Fault Handler II (Replace)</vt:lpstr>
      <vt:lpstr>Project Overview</vt:lpstr>
      <vt:lpstr>Objective</vt:lpstr>
      <vt:lpstr>Fault Handler II</vt:lpstr>
      <vt:lpstr>Fault Handler II: Replacement</vt:lpstr>
      <vt:lpstr>Fault Handler II: Introduction</vt:lpstr>
      <vt:lpstr>Replac#1: FIFO – Idea </vt:lpstr>
      <vt:lpstr>Replac#2: LRU – Idea#1 </vt:lpstr>
      <vt:lpstr>Replac#2: LRU – Idea#1 </vt:lpstr>
      <vt:lpstr>Replac#2: LRU – Idea#1 </vt:lpstr>
      <vt:lpstr>Replac#2: LRU – Idea#1 </vt:lpstr>
      <vt:lpstr>Replac#2: LRU – Idea#1 </vt:lpstr>
      <vt:lpstr>Replac#2: LRU – Idea#2: List Approx</vt:lpstr>
      <vt:lpstr>Replac#2: LRU – Idea#2: List Approx</vt:lpstr>
      <vt:lpstr>Replac#2: LRU – Idea#2: List Approx</vt:lpstr>
      <vt:lpstr>Replac#2: LRU – Idea#2: List Approx</vt:lpstr>
      <vt:lpstr>Repl.: Given Data </vt:lpstr>
      <vt:lpstr>#1: FIFO Replacement</vt:lpstr>
      <vt:lpstr>#2: LRU Placement</vt:lpstr>
      <vt:lpstr>#3: LRU Replacement</vt:lpstr>
      <vt:lpstr>Page Fault Handler: Switching…</vt:lpstr>
      <vt:lpstr>User Heap</vt:lpstr>
      <vt:lpstr>Project Overview</vt:lpstr>
      <vt:lpstr>Objective</vt:lpstr>
      <vt:lpstr>User Heap</vt:lpstr>
      <vt:lpstr>User Heap – Functions </vt:lpstr>
      <vt:lpstr>User Heap: Overview</vt:lpstr>
      <vt:lpstr>User Heap: Overview</vt:lpstr>
      <vt:lpstr>User Heap: Overview</vt:lpstr>
      <vt:lpstr>User Heap: Overview</vt:lpstr>
      <vt:lpstr>User Heap – Allocation Types? </vt:lpstr>
      <vt:lpstr>User Heap – Block Allocator </vt:lpstr>
      <vt:lpstr>User Heap – Page Allocator </vt:lpstr>
      <vt:lpstr>User Heap – Page Allocator </vt:lpstr>
      <vt:lpstr>PowerPoint Presentation</vt:lpstr>
      <vt:lpstr>PowerPoint Presentation</vt:lpstr>
      <vt:lpstr>PowerPoint Presentation</vt:lpstr>
      <vt:lpstr>User Heap – Given Functions</vt:lpstr>
      <vt:lpstr>#1: create_buddy_space()</vt:lpstr>
      <vt:lpstr>#2: delete_buddy_space()</vt:lpstr>
      <vt:lpstr>#3: malloc()</vt:lpstr>
      <vt:lpstr>#4: allocate_user_mem()</vt:lpstr>
      <vt:lpstr>#5: free()</vt:lpstr>
      <vt:lpstr>#6: free_user_mem()</vt:lpstr>
      <vt:lpstr>CPU Scheduling</vt:lpstr>
      <vt:lpstr>Project Overview</vt:lpstr>
      <vt:lpstr>Objective</vt:lpstr>
      <vt:lpstr>MLFQ Scheduler</vt:lpstr>
      <vt:lpstr>MLFQ Scheduler</vt:lpstr>
      <vt:lpstr>MLFQ Scheduler: Current Scheduling </vt:lpstr>
      <vt:lpstr>MLFQ Scheduler: Overview</vt:lpstr>
      <vt:lpstr>MLFQ Scheduler: Overview</vt:lpstr>
      <vt:lpstr>MLFQ Scheduler: Overview</vt:lpstr>
      <vt:lpstr>Given Data Structures &amp; Functions</vt:lpstr>
      <vt:lpstr>Given Commands</vt:lpstr>
      <vt:lpstr>#1: Set Starvation Threshold</vt:lpstr>
      <vt:lpstr>#2: Initialize MLFQ Scheduler</vt:lpstr>
      <vt:lpstr>#3: Schedule Next Process</vt:lpstr>
      <vt:lpstr>#4: Timer Tick Handler</vt:lpstr>
      <vt:lpstr>MLFQ Scheduler: Switching…</vt:lpstr>
      <vt:lpstr>IPC (inter-process communication)</vt:lpstr>
      <vt:lpstr>Project Overview</vt:lpstr>
      <vt:lpstr>Objective</vt:lpstr>
      <vt:lpstr>IPC</vt:lpstr>
      <vt:lpstr>IPC: Overview</vt:lpstr>
      <vt:lpstr>IPC: Overview</vt:lpstr>
      <vt:lpstr>IPC: Overview</vt:lpstr>
      <vt:lpstr>IPC: Overview</vt:lpstr>
      <vt:lpstr>IPC: Overview</vt:lpstr>
      <vt:lpstr>IPC: Overview</vt:lpstr>
      <vt:lpstr>IPC#1 (private mailbox)</vt:lpstr>
      <vt:lpstr>IPC#1</vt:lpstr>
      <vt:lpstr>PowerPoint Presentation</vt:lpstr>
      <vt:lpstr>PowerPoint Presentation</vt:lpstr>
      <vt:lpstr>PowerPoint Presentation</vt:lpstr>
      <vt:lpstr>PowerPoint Presentation</vt:lpstr>
      <vt:lpstr>#1: Create Message</vt:lpstr>
      <vt:lpstr>#2: Create Env Mailbox</vt:lpstr>
      <vt:lpstr>#3: Delete Env Mailbox</vt:lpstr>
      <vt:lpstr>#4: Send [USER SIDE]</vt:lpstr>
      <vt:lpstr>#5: Send [KERNEL SIDE]</vt:lpstr>
      <vt:lpstr>#6: Receive [USER SIDE]</vt:lpstr>
      <vt:lpstr>#7: Receive [KERNEL SIDE]</vt:lpstr>
      <vt:lpstr>IPC#2 (public mailbox)</vt:lpstr>
      <vt:lpstr>IPC#2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#1: Create Mailbox [KERNEL SIDE]</vt:lpstr>
      <vt:lpstr>#2: Delete Mailbox [KERNEL SIDE]</vt:lpstr>
      <vt:lpstr>#3: Connect Mailbox [KERNEL SIDE]</vt:lpstr>
      <vt:lpstr>#4: Disconnect Mailbox [KERNEL SIDE]</vt:lpstr>
      <vt:lpstr>#5: Get Mailbox [KERNEL SIDE]</vt:lpstr>
      <vt:lpstr>#6: Broadcast [USER SIDE]</vt:lpstr>
      <vt:lpstr>#7: Broadcast [KERNEL SIDE]</vt:lpstr>
      <vt:lpstr>Shared Memory</vt:lpstr>
      <vt:lpstr>Project Overview</vt:lpstr>
      <vt:lpstr>Objective</vt:lpstr>
      <vt:lpstr>Shared Memory</vt:lpstr>
      <vt:lpstr>Shared Memory</vt:lpstr>
      <vt:lpstr>Shared Memory: Overview</vt:lpstr>
      <vt:lpstr>Shared Memory: Overview</vt:lpstr>
      <vt:lpstr>Shared Memory: Overview</vt:lpstr>
      <vt:lpstr>Shared Memory: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#1: Allocate &amp; Initialize Share Object</vt:lpstr>
      <vt:lpstr>#2: Get Share Info</vt:lpstr>
      <vt:lpstr>#3: smalloc()</vt:lpstr>
      <vt:lpstr>#4: create_shared_object()</vt:lpstr>
      <vt:lpstr>#5: sget()</vt:lpstr>
      <vt:lpstr>#6: get_shared_object()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OS’22 Project</dc:title>
  <dc:creator>ghada hamed ali</dc:creator>
  <cp:lastModifiedBy>Ahmed Salah ELDin</cp:lastModifiedBy>
  <cp:revision>256</cp:revision>
  <dcterms:created xsi:type="dcterms:W3CDTF">2022-10-12T14:36:57Z</dcterms:created>
  <dcterms:modified xsi:type="dcterms:W3CDTF">2026-10-12T18:45:04Z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0x010100E7A75FAA3A6A85498CEA72B235095206</vt:lpwstr>
  </property>
</Properties>
</file>