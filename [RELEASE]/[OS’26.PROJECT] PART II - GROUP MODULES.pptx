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2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82"/>
  </p:notesMasterIdLst>
  <p:sldIdLst>
    <p:sldId id="256" r:id="rId3"/>
    <p:sldId id="257" r:id="rId4"/>
    <p:sldId id="1707" r:id="rId5"/>
    <p:sldId id="1731" r:id="rId6"/>
    <p:sldId id="477" r:id="rId7"/>
    <p:sldId id="258" r:id="rId8"/>
    <p:sldId id="1743" r:id="rId9"/>
    <p:sldId id="842" r:id="rId10"/>
    <p:sldId id="442" r:id="rId11"/>
    <p:sldId id="1799" r:id="rId12"/>
    <p:sldId id="1800" r:id="rId13"/>
    <p:sldId id="1801" r:id="rId14"/>
    <p:sldId id="1802" r:id="rId15"/>
    <p:sldId id="1803" r:id="rId16"/>
    <p:sldId id="1804" r:id="rId17"/>
    <p:sldId id="1805" r:id="rId18"/>
    <p:sldId id="1806" r:id="rId19"/>
    <p:sldId id="1293" r:id="rId20"/>
    <p:sldId id="845" r:id="rId21"/>
    <p:sldId id="1752" r:id="rId22"/>
    <p:sldId id="1756" r:id="rId23"/>
    <p:sldId id="865" r:id="rId24"/>
    <p:sldId id="848" r:id="rId25"/>
    <p:sldId id="1807" r:id="rId26"/>
    <p:sldId id="850" r:id="rId27"/>
    <p:sldId id="481" r:id="rId28"/>
    <p:sldId id="1744" r:id="rId29"/>
    <p:sldId id="866" r:id="rId30"/>
    <p:sldId id="469" r:id="rId31"/>
    <p:sldId id="470" r:id="rId32"/>
    <p:sldId id="390" r:id="rId33"/>
    <p:sldId id="391" r:id="rId34"/>
    <p:sldId id="334" r:id="rId35"/>
    <p:sldId id="870" r:id="rId36"/>
    <p:sldId id="871" r:id="rId37"/>
    <p:sldId id="876" r:id="rId38"/>
    <p:sldId id="1745" r:id="rId39"/>
    <p:sldId id="332" r:id="rId40"/>
    <p:sldId id="333" r:id="rId41"/>
    <p:sldId id="867" r:id="rId42"/>
    <p:sldId id="1754" r:id="rId43"/>
    <p:sldId id="392" r:id="rId44"/>
    <p:sldId id="1755" r:id="rId45"/>
    <p:sldId id="1797" r:id="rId46"/>
    <p:sldId id="1798" r:id="rId47"/>
    <p:sldId id="877" r:id="rId48"/>
    <p:sldId id="878" r:id="rId49"/>
    <p:sldId id="879" r:id="rId50"/>
    <p:sldId id="880" r:id="rId51"/>
    <p:sldId id="881" r:id="rId52"/>
    <p:sldId id="1708" r:id="rId53"/>
    <p:sldId id="1748" r:id="rId54"/>
    <p:sldId id="272" r:id="rId55"/>
    <p:sldId id="1758" r:id="rId56"/>
    <p:sldId id="935" r:id="rId57"/>
    <p:sldId id="1746" r:id="rId58"/>
    <p:sldId id="936" r:id="rId59"/>
    <p:sldId id="1747" r:id="rId60"/>
    <p:sldId id="933" r:id="rId61"/>
    <p:sldId id="500" r:id="rId62"/>
    <p:sldId id="937" r:id="rId63"/>
    <p:sldId id="938" r:id="rId64"/>
    <p:sldId id="1793" r:id="rId65"/>
    <p:sldId id="1795" r:id="rId66"/>
    <p:sldId id="1796" r:id="rId67"/>
    <p:sldId id="506" r:id="rId68"/>
    <p:sldId id="781" r:id="rId69"/>
    <p:sldId id="1283" r:id="rId70"/>
    <p:sldId id="1291" r:id="rId71"/>
    <p:sldId id="1287" r:id="rId72"/>
    <p:sldId id="1289" r:id="rId73"/>
    <p:sldId id="1290" r:id="rId74"/>
    <p:sldId id="1292" r:id="rId75"/>
    <p:sldId id="1294" r:id="rId76"/>
    <p:sldId id="1296" r:id="rId77"/>
    <p:sldId id="1295" r:id="rId78"/>
    <p:sldId id="1297" r:id="rId79"/>
    <p:sldId id="1298" r:id="rId80"/>
    <p:sldId id="1742" r:id="rId8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1657DA-D723-4124-B22B-C8A3DC9AAA70}">
          <p14:sldIdLst>
            <p14:sldId id="256"/>
            <p14:sldId id="257"/>
            <p14:sldId id="1707"/>
            <p14:sldId id="1731"/>
          </p14:sldIdLst>
        </p14:section>
        <p14:section name="Dynamic Allocator" id="{983D029D-6640-43EA-B004-F4FA6FE3ABF1}">
          <p14:sldIdLst>
            <p14:sldId id="477"/>
            <p14:sldId id="258"/>
            <p14:sldId id="1743"/>
            <p14:sldId id="842"/>
            <p14:sldId id="442"/>
            <p14:sldId id="1799"/>
            <p14:sldId id="1800"/>
            <p14:sldId id="1801"/>
            <p14:sldId id="1802"/>
            <p14:sldId id="1803"/>
            <p14:sldId id="1804"/>
            <p14:sldId id="1805"/>
            <p14:sldId id="1806"/>
            <p14:sldId id="1293"/>
            <p14:sldId id="845"/>
            <p14:sldId id="1752"/>
            <p14:sldId id="1756"/>
            <p14:sldId id="865"/>
            <p14:sldId id="848"/>
            <p14:sldId id="1807"/>
            <p14:sldId id="850"/>
          </p14:sldIdLst>
        </p14:section>
        <p14:section name="Kernel Heap" id="{C0DB9563-CEDC-4B1A-9DBA-21C6F340D583}">
          <p14:sldIdLst>
            <p14:sldId id="481"/>
            <p14:sldId id="1744"/>
            <p14:sldId id="866"/>
            <p14:sldId id="469"/>
            <p14:sldId id="470"/>
            <p14:sldId id="390"/>
            <p14:sldId id="391"/>
            <p14:sldId id="334"/>
            <p14:sldId id="870"/>
            <p14:sldId id="871"/>
            <p14:sldId id="876"/>
            <p14:sldId id="1745"/>
            <p14:sldId id="332"/>
            <p14:sldId id="333"/>
            <p14:sldId id="867"/>
            <p14:sldId id="1754"/>
            <p14:sldId id="392"/>
            <p14:sldId id="1755"/>
            <p14:sldId id="1797"/>
            <p14:sldId id="1798"/>
            <p14:sldId id="877"/>
            <p14:sldId id="878"/>
            <p14:sldId id="879"/>
            <p14:sldId id="880"/>
            <p14:sldId id="881"/>
          </p14:sldIdLst>
        </p14:section>
        <p14:section name="FaultHandl I (Place)" id="{361A846B-5C7F-4CD2-AE9F-FC5B6B490F3C}">
          <p14:sldIdLst>
            <p14:sldId id="1708"/>
            <p14:sldId id="1748"/>
            <p14:sldId id="272"/>
            <p14:sldId id="1758"/>
            <p14:sldId id="935"/>
            <p14:sldId id="1746"/>
            <p14:sldId id="936"/>
            <p14:sldId id="1747"/>
            <p14:sldId id="933"/>
            <p14:sldId id="500"/>
            <p14:sldId id="937"/>
            <p14:sldId id="938"/>
          </p14:sldIdLst>
        </p14:section>
        <p14:section name="Channel" id="{C13C4891-B949-4AE1-BBB7-ECB412CD4758}">
          <p14:sldIdLst>
            <p14:sldId id="1793"/>
            <p14:sldId id="1795"/>
            <p14:sldId id="1796"/>
            <p14:sldId id="506"/>
            <p14:sldId id="781"/>
            <p14:sldId id="1283"/>
            <p14:sldId id="1291"/>
            <p14:sldId id="1287"/>
            <p14:sldId id="1289"/>
            <p14:sldId id="1290"/>
            <p14:sldId id="1292"/>
            <p14:sldId id="1294"/>
            <p14:sldId id="1296"/>
            <p14:sldId id="1295"/>
            <p14:sldId id="1297"/>
            <p14:sldId id="1298"/>
            <p14:sldId id="17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646"/>
    <a:srgbClr val="FF0000"/>
    <a:srgbClr val="C0504D"/>
    <a:srgbClr val="31E923"/>
    <a:srgbClr val="0066FF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903" autoAdjust="0"/>
  </p:normalViewPr>
  <p:slideViewPr>
    <p:cSldViewPr snapToGrid="0">
      <p:cViewPr>
        <p:scale>
          <a:sx n="66" d="100"/>
          <a:sy n="66" d="100"/>
        </p:scale>
        <p:origin x="691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viewProps" Target="viewProps.xml"/><Relationship Id="rId89" Type="http://schemas.openxmlformats.org/officeDocument/2006/relationships/customXml" Target="../customXml/item2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customXml" Target="../customXml/item3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presProps" Target="presProps.xml"/><Relationship Id="rId88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microsoft.com/office/2016/11/relationships/changesInfo" Target="changesInfos/changesInfo1.xml"/><Relationship Id="rId61" Type="http://schemas.openxmlformats.org/officeDocument/2006/relationships/slide" Target="slides/slide59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Salah ELDin" userId="68850134-226f-4097-a9a8-787fd6814b0e" providerId="ADAL" clId="{E6460063-32F4-4C7F-87BF-0A962B794F6D}"/>
    <pc:docChg chg="modSld">
      <pc:chgData name="Ahmed Salah ELDin" userId="68850134-226f-4097-a9a8-787fd6814b0e" providerId="ADAL" clId="{E6460063-32F4-4C7F-87BF-0A962B794F6D}" dt="2023-11-07T22:10:44.288" v="1" actId="20577"/>
      <pc:docMkLst>
        <pc:docMk/>
      </pc:docMkLst>
      <pc:sldChg chg="modSp mod">
        <pc:chgData name="Ahmed Salah ELDin" userId="68850134-226f-4097-a9a8-787fd6814b0e" providerId="ADAL" clId="{E6460063-32F4-4C7F-87BF-0A962B794F6D}" dt="2023-11-07T22:10:44.288" v="1" actId="20577"/>
        <pc:sldMkLst>
          <pc:docMk/>
          <pc:sldMk cId="946860532" sldId="859"/>
        </pc:sldMkLst>
      </pc:sldChg>
    </pc:docChg>
  </pc:docChgLst>
  <pc:docChgLst>
    <pc:chgData name="Ahmed Salah ELDin" userId="68850134-226f-4097-a9a8-787fd6814b0e" providerId="ADAL" clId="{ABDB72E2-1DE4-44BC-A1C5-DEF6D7024657}"/>
    <pc:docChg chg="undo redo custSel addSld delSld modSld sldOrd addSection delSection modSection">
      <pc:chgData name="Ahmed Salah ELDin" userId="68850134-226f-4097-a9a8-787fd6814b0e" providerId="ADAL" clId="{ABDB72E2-1DE4-44BC-A1C5-DEF6D7024657}" dt="2022-10-17T10:36:04.609" v="1549"/>
      <pc:docMkLst>
        <pc:docMk/>
      </pc:docMkLst>
      <pc:sldChg chg="modSp mod">
        <pc:chgData name="Ahmed Salah ELDin" userId="68850134-226f-4097-a9a8-787fd6814b0e" providerId="ADAL" clId="{ABDB72E2-1DE4-44BC-A1C5-DEF6D7024657}" dt="2022-10-17T07:12:19.236" v="162" actId="27636"/>
        <pc:sldMkLst>
          <pc:docMk/>
          <pc:sldMk cId="1553194731" sldId="256"/>
        </pc:sldMkLst>
      </pc:sldChg>
      <pc:sldChg chg="modSp mod modAnim">
        <pc:chgData name="Ahmed Salah ELDin" userId="68850134-226f-4097-a9a8-787fd6814b0e" providerId="ADAL" clId="{ABDB72E2-1DE4-44BC-A1C5-DEF6D7024657}" dt="2022-10-17T07:11:50.999" v="144"/>
        <pc:sldMkLst>
          <pc:docMk/>
          <pc:sldMk cId="3835006274" sldId="257"/>
        </pc:sldMkLst>
      </pc:sldChg>
      <pc:sldChg chg="addSp modSp mod ord">
        <pc:chgData name="Ahmed Salah ELDin" userId="68850134-226f-4097-a9a8-787fd6814b0e" providerId="ADAL" clId="{ABDB72E2-1DE4-44BC-A1C5-DEF6D7024657}" dt="2022-10-17T10:36:04.609" v="1549"/>
        <pc:sldMkLst>
          <pc:docMk/>
          <pc:sldMk cId="699320495" sldId="258"/>
        </pc:sldMkLst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4124862599" sldId="259"/>
        </pc:sldMkLst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3174251173" sldId="261"/>
        </pc:sldMkLst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3899216605" sldId="262"/>
        </pc:sldMkLst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776300451" sldId="263"/>
        </pc:sldMkLst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519110457" sldId="264"/>
        </pc:sldMkLst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876818040" sldId="265"/>
        </pc:sldMkLst>
      </pc:sldChg>
      <pc:sldChg chg="modSp mod modAnim">
        <pc:chgData name="Ahmed Salah ELDin" userId="68850134-226f-4097-a9a8-787fd6814b0e" providerId="ADAL" clId="{ABDB72E2-1DE4-44BC-A1C5-DEF6D7024657}" dt="2022-10-17T07:37:17.029" v="364"/>
        <pc:sldMkLst>
          <pc:docMk/>
          <pc:sldMk cId="1012867018" sldId="266"/>
        </pc:sldMkLst>
      </pc:sldChg>
      <pc:sldChg chg="addSp del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4223804136" sldId="267"/>
        </pc:sldMkLst>
      </pc:sldChg>
      <pc:sldChg chg="addSp modSp">
        <pc:chgData name="Ahmed Salah ELDin" userId="68850134-226f-4097-a9a8-787fd6814b0e" providerId="ADAL" clId="{ABDB72E2-1DE4-44BC-A1C5-DEF6D7024657}" dt="2022-10-17T10:36:04.609" v="1549"/>
        <pc:sldMkLst>
          <pc:docMk/>
          <pc:sldMk cId="1239660012" sldId="268"/>
        </pc:sldMkLst>
      </pc:sldChg>
      <pc:sldChg chg="addSp modSp modAnim">
        <pc:chgData name="Ahmed Salah ELDin" userId="68850134-226f-4097-a9a8-787fd6814b0e" providerId="ADAL" clId="{ABDB72E2-1DE4-44BC-A1C5-DEF6D7024657}" dt="2022-10-17T10:36:04.609" v="1549"/>
        <pc:sldMkLst>
          <pc:docMk/>
          <pc:sldMk cId="1581616797" sldId="269"/>
        </pc:sldMkLst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3081736879" sldId="270"/>
        </pc:sldMkLst>
      </pc:sldChg>
      <pc:sldChg chg="modSp modAnim">
        <pc:chgData name="Ahmed Salah ELDin" userId="68850134-226f-4097-a9a8-787fd6814b0e" providerId="ADAL" clId="{ABDB72E2-1DE4-44BC-A1C5-DEF6D7024657}" dt="2022-10-17T08:14:00.908" v="983" actId="404"/>
        <pc:sldMkLst>
          <pc:docMk/>
          <pc:sldMk cId="657418741" sldId="271"/>
        </pc:sldMkLst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1294416210" sldId="272"/>
        </pc:sldMkLst>
      </pc:sldChg>
      <pc:sldChg chg="add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3376042327" sldId="273"/>
        </pc:sldMkLst>
      </pc:sldChg>
      <pc:sldChg chg="modSp mod">
        <pc:chgData name="Ahmed Salah ELDin" userId="68850134-226f-4097-a9a8-787fd6814b0e" providerId="ADAL" clId="{ABDB72E2-1DE4-44BC-A1C5-DEF6D7024657}" dt="2022-10-17T08:17:00.978" v="1087" actId="20577"/>
        <pc:sldMkLst>
          <pc:docMk/>
          <pc:sldMk cId="2489219107" sldId="274"/>
        </pc:sldMkLst>
      </pc:sldChg>
      <pc:sldChg chg="addSp modSp modAnim">
        <pc:chgData name="Ahmed Salah ELDin" userId="68850134-226f-4097-a9a8-787fd6814b0e" providerId="ADAL" clId="{ABDB72E2-1DE4-44BC-A1C5-DEF6D7024657}" dt="2022-10-17T10:36:04.609" v="1549"/>
        <pc:sldMkLst>
          <pc:docMk/>
          <pc:sldMk cId="2058168989" sldId="275"/>
        </pc:sldMkLst>
      </pc:sldChg>
      <pc:sldChg chg="add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78908400" sldId="276"/>
        </pc:sldMkLst>
      </pc:sldChg>
      <pc:sldChg chg="add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445209801" sldId="277"/>
        </pc:sldMkLst>
      </pc:sldChg>
      <pc:sldChg chg="modSp modAnim">
        <pc:chgData name="Ahmed Salah ELDin" userId="68850134-226f-4097-a9a8-787fd6814b0e" providerId="ADAL" clId="{ABDB72E2-1DE4-44BC-A1C5-DEF6D7024657}" dt="2022-10-17T08:27:09.231" v="1211"/>
        <pc:sldMkLst>
          <pc:docMk/>
          <pc:sldMk cId="3516905087" sldId="278"/>
        </pc:sldMkLst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255250965" sldId="279"/>
        </pc:sldMkLst>
      </pc:sldChg>
      <pc:sldChg chg="modSp mod modAnim">
        <pc:chgData name="Ahmed Salah ELDin" userId="68850134-226f-4097-a9a8-787fd6814b0e" providerId="ADAL" clId="{ABDB72E2-1DE4-44BC-A1C5-DEF6D7024657}" dt="2022-10-17T06:56:27.725" v="26"/>
        <pc:sldMkLst>
          <pc:docMk/>
          <pc:sldMk cId="0" sldId="281"/>
        </pc:sldMkLst>
      </pc:sldChg>
      <pc:sldChg chg="delSp modSp mod delAnim modAnim">
        <pc:chgData name="Ahmed Salah ELDin" userId="68850134-226f-4097-a9a8-787fd6814b0e" providerId="ADAL" clId="{ABDB72E2-1DE4-44BC-A1C5-DEF6D7024657}" dt="2022-10-17T06:58:31.659" v="85" actId="14100"/>
        <pc:sldMkLst>
          <pc:docMk/>
          <pc:sldMk cId="959200356" sldId="282"/>
        </pc:sldMkLst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1797231904" sldId="301"/>
        </pc:sldMkLst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4185945458" sldId="310"/>
        </pc:sldMkLst>
      </pc:sldChg>
      <pc:sldChg chg="ord">
        <pc:chgData name="Ahmed Salah ELDin" userId="68850134-226f-4097-a9a8-787fd6814b0e" providerId="ADAL" clId="{ABDB72E2-1DE4-44BC-A1C5-DEF6D7024657}" dt="2022-10-17T08:29:23.943" v="1219"/>
        <pc:sldMkLst>
          <pc:docMk/>
          <pc:sldMk cId="4024678342" sldId="450"/>
        </pc:sldMkLst>
      </pc:sldChg>
      <pc:sldChg chg="addSp modSp mod ord">
        <pc:chgData name="Ahmed Salah ELDin" userId="68850134-226f-4097-a9a8-787fd6814b0e" providerId="ADAL" clId="{ABDB72E2-1DE4-44BC-A1C5-DEF6D7024657}" dt="2022-10-17T10:36:04.609" v="1549"/>
        <pc:sldMkLst>
          <pc:docMk/>
          <pc:sldMk cId="2984249051" sldId="451"/>
        </pc:sldMkLst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2375158163" sldId="452"/>
        </pc:sldMkLst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342908665" sldId="453"/>
        </pc:sldMkLst>
      </pc:sldChg>
      <pc:sldChg chg="del">
        <pc:chgData name="Ahmed Salah ELDin" userId="68850134-226f-4097-a9a8-787fd6814b0e" providerId="ADAL" clId="{ABDB72E2-1DE4-44BC-A1C5-DEF6D7024657}" dt="2022-10-17T07:16:27.788" v="180" actId="47"/>
        <pc:sldMkLst>
          <pc:docMk/>
          <pc:sldMk cId="3867995267" sldId="454"/>
        </pc:sldMkLst>
      </pc:sldChg>
      <pc:sldChg chg="del">
        <pc:chgData name="Ahmed Salah ELDin" userId="68850134-226f-4097-a9a8-787fd6814b0e" providerId="ADAL" clId="{ABDB72E2-1DE4-44BC-A1C5-DEF6D7024657}" dt="2022-10-17T07:19:21.282" v="188" actId="47"/>
        <pc:sldMkLst>
          <pc:docMk/>
          <pc:sldMk cId="3045921456" sldId="455"/>
        </pc:sldMkLst>
      </pc:sldChg>
      <pc:sldChg chg="del">
        <pc:chgData name="Ahmed Salah ELDin" userId="68850134-226f-4097-a9a8-787fd6814b0e" providerId="ADAL" clId="{ABDB72E2-1DE4-44BC-A1C5-DEF6D7024657}" dt="2022-10-17T07:31:35.180" v="301" actId="47"/>
        <pc:sldMkLst>
          <pc:docMk/>
          <pc:sldMk cId="1692903495" sldId="456"/>
        </pc:sldMkLst>
      </pc:sldChg>
      <pc:sldChg chg="del">
        <pc:chgData name="Ahmed Salah ELDin" userId="68850134-226f-4097-a9a8-787fd6814b0e" providerId="ADAL" clId="{ABDB72E2-1DE4-44BC-A1C5-DEF6D7024657}" dt="2022-10-17T08:28:11.910" v="1215" actId="47"/>
        <pc:sldMkLst>
          <pc:docMk/>
          <pc:sldMk cId="3915012586" sldId="457"/>
        </pc:sldMkLst>
      </pc:sldChg>
      <pc:sldChg chg="del">
        <pc:chgData name="Ahmed Salah ELDin" userId="68850134-226f-4097-a9a8-787fd6814b0e" providerId="ADAL" clId="{ABDB72E2-1DE4-44BC-A1C5-DEF6D7024657}" dt="2022-10-17T08:29:17.757" v="1217" actId="47"/>
        <pc:sldMkLst>
          <pc:docMk/>
          <pc:sldMk cId="3704500796" sldId="458"/>
        </pc:sldMkLst>
      </pc:sldChg>
      <pc:sldChg chg="del">
        <pc:chgData name="Ahmed Salah ELDin" userId="68850134-226f-4097-a9a8-787fd6814b0e" providerId="ADAL" clId="{ABDB72E2-1DE4-44BC-A1C5-DEF6D7024657}" dt="2022-10-17T08:31:22.043" v="1234" actId="47"/>
        <pc:sldMkLst>
          <pc:docMk/>
          <pc:sldMk cId="4168451268" sldId="459"/>
        </pc:sldMkLst>
      </pc:sldChg>
      <pc:sldChg chg="del">
        <pc:chgData name="Ahmed Salah ELDin" userId="68850134-226f-4097-a9a8-787fd6814b0e" providerId="ADAL" clId="{ABDB72E2-1DE4-44BC-A1C5-DEF6D7024657}" dt="2022-10-17T08:33:14.966" v="1236" actId="47"/>
        <pc:sldMkLst>
          <pc:docMk/>
          <pc:sldMk cId="789419247" sldId="460"/>
        </pc:sldMkLst>
      </pc:sldChg>
      <pc:sldChg chg="addSp modSp modAnim">
        <pc:chgData name="Ahmed Salah ELDin" userId="68850134-226f-4097-a9a8-787fd6814b0e" providerId="ADAL" clId="{ABDB72E2-1DE4-44BC-A1C5-DEF6D7024657}" dt="2022-10-17T10:36:04.609" v="1549"/>
        <pc:sldMkLst>
          <pc:docMk/>
          <pc:sldMk cId="294427817" sldId="461"/>
        </pc:sldMkLst>
      </pc:sldChg>
      <pc:sldChg chg="addSp modSp modAnim">
        <pc:chgData name="Ahmed Salah ELDin" userId="68850134-226f-4097-a9a8-787fd6814b0e" providerId="ADAL" clId="{ABDB72E2-1DE4-44BC-A1C5-DEF6D7024657}" dt="2022-10-17T10:36:04.609" v="1549"/>
        <pc:sldMkLst>
          <pc:docMk/>
          <pc:sldMk cId="3589371717" sldId="462"/>
        </pc:sldMkLst>
      </pc:sldChg>
      <pc:sldChg chg="addSp modSp">
        <pc:chgData name="Ahmed Salah ELDin" userId="68850134-226f-4097-a9a8-787fd6814b0e" providerId="ADAL" clId="{ABDB72E2-1DE4-44BC-A1C5-DEF6D7024657}" dt="2022-10-17T10:36:04.609" v="1549"/>
        <pc:sldMkLst>
          <pc:docMk/>
          <pc:sldMk cId="3127210958" sldId="463"/>
        </pc:sldMkLst>
      </pc:sldChg>
      <pc:sldChg chg="add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331544636" sldId="464"/>
        </pc:sldMkLst>
      </pc:sldChg>
      <pc:sldChg chg="del">
        <pc:chgData name="Ahmed Salah ELDin" userId="68850134-226f-4097-a9a8-787fd6814b0e" providerId="ADAL" clId="{ABDB72E2-1DE4-44BC-A1C5-DEF6D7024657}" dt="2022-10-17T07:31:40.866" v="302" actId="47"/>
        <pc:sldMkLst>
          <pc:docMk/>
          <pc:sldMk cId="1114907140" sldId="465"/>
        </pc:sldMkLst>
      </pc:sldChg>
      <pc:sldChg chg="modSp add mod">
        <pc:chgData name="Ahmed Salah ELDin" userId="68850134-226f-4097-a9a8-787fd6814b0e" providerId="ADAL" clId="{ABDB72E2-1DE4-44BC-A1C5-DEF6D7024657}" dt="2022-10-17T07:32:08.442" v="315" actId="20577"/>
        <pc:sldMkLst>
          <pc:docMk/>
          <pc:sldMk cId="2314592262" sldId="466"/>
        </pc:sldMkLst>
      </pc:sldChg>
      <pc:sldChg chg="modSp del mod">
        <pc:chgData name="Ahmed Salah ELDin" userId="68850134-226f-4097-a9a8-787fd6814b0e" providerId="ADAL" clId="{ABDB72E2-1DE4-44BC-A1C5-DEF6D7024657}" dt="2022-10-17T07:09:13.013" v="110" actId="2696"/>
        <pc:sldMkLst>
          <pc:docMk/>
          <pc:sldMk cId="3434799819" sldId="466"/>
        </pc:sldMkLst>
      </pc:sldChg>
      <pc:sldChg chg="del">
        <pc:chgData name="Ahmed Salah ELDin" userId="68850134-226f-4097-a9a8-787fd6814b0e" providerId="ADAL" clId="{ABDB72E2-1DE4-44BC-A1C5-DEF6D7024657}" dt="2022-10-17T07:09:13.013" v="110" actId="2696"/>
        <pc:sldMkLst>
          <pc:docMk/>
          <pc:sldMk cId="3515703516" sldId="467"/>
        </pc:sldMkLst>
      </pc:sldChg>
      <pc:sldChg chg="modSp add mod">
        <pc:chgData name="Ahmed Salah ELDin" userId="68850134-226f-4097-a9a8-787fd6814b0e" providerId="ADAL" clId="{ABDB72E2-1DE4-44BC-A1C5-DEF6D7024657}" dt="2022-10-17T07:32:18.671" v="317" actId="20577"/>
        <pc:sldMkLst>
          <pc:docMk/>
          <pc:sldMk cId="4119747146" sldId="467"/>
        </pc:sldMkLst>
      </pc:sldChg>
      <pc:sldChg chg="del">
        <pc:chgData name="Ahmed Salah ELDin" userId="68850134-226f-4097-a9a8-787fd6814b0e" providerId="ADAL" clId="{ABDB72E2-1DE4-44BC-A1C5-DEF6D7024657}" dt="2022-10-17T07:07:43.663" v="90" actId="47"/>
        <pc:sldMkLst>
          <pc:docMk/>
          <pc:sldMk cId="3206902585" sldId="468"/>
        </pc:sldMkLst>
      </pc:sldChg>
      <pc:sldChg chg="del">
        <pc:chgData name="Ahmed Salah ELDin" userId="68850134-226f-4097-a9a8-787fd6814b0e" providerId="ADAL" clId="{ABDB72E2-1DE4-44BC-A1C5-DEF6D7024657}" dt="2022-10-17T07:09:13.013" v="110" actId="2696"/>
        <pc:sldMkLst>
          <pc:docMk/>
          <pc:sldMk cId="263559866" sldId="469"/>
        </pc:sldMkLst>
      </pc:sldChg>
      <pc:sldChg chg="modSp add mod">
        <pc:chgData name="Ahmed Salah ELDin" userId="68850134-226f-4097-a9a8-787fd6814b0e" providerId="ADAL" clId="{ABDB72E2-1DE4-44BC-A1C5-DEF6D7024657}" dt="2022-10-17T07:32:22.733" v="318"/>
        <pc:sldMkLst>
          <pc:docMk/>
          <pc:sldMk cId="480038398" sldId="469"/>
        </pc:sldMkLst>
      </pc:sldChg>
      <pc:sldChg chg="modSp add ord modAnim">
        <pc:chgData name="Ahmed Salah ELDin" userId="68850134-226f-4097-a9a8-787fd6814b0e" providerId="ADAL" clId="{ABDB72E2-1DE4-44BC-A1C5-DEF6D7024657}" dt="2022-10-17T07:16:10.760" v="179" actId="207"/>
        <pc:sldMkLst>
          <pc:docMk/>
          <pc:sldMk cId="3020160953" sldId="470"/>
        </pc:sldMkLst>
      </pc:sldChg>
      <pc:sldChg chg="modSp add mod">
        <pc:chgData name="Ahmed Salah ELDin" userId="68850134-226f-4097-a9a8-787fd6814b0e" providerId="ADAL" clId="{ABDB72E2-1DE4-44BC-A1C5-DEF6D7024657}" dt="2022-10-17T07:30:40.164" v="294" actId="207"/>
        <pc:sldMkLst>
          <pc:docMk/>
          <pc:sldMk cId="1039901496" sldId="471"/>
        </pc:sldMkLst>
      </pc:sldChg>
      <pc:sldChg chg="modSp add mod">
        <pc:chgData name="Ahmed Salah ELDin" userId="68850134-226f-4097-a9a8-787fd6814b0e" providerId="ADAL" clId="{ABDB72E2-1DE4-44BC-A1C5-DEF6D7024657}" dt="2022-10-17T07:31:30.035" v="300" actId="207"/>
        <pc:sldMkLst>
          <pc:docMk/>
          <pc:sldMk cId="3137772925" sldId="472"/>
        </pc:sldMkLst>
      </pc:sldChg>
      <pc:sldChg chg="modSp add mod">
        <pc:chgData name="Ahmed Salah ELDin" userId="68850134-226f-4097-a9a8-787fd6814b0e" providerId="ADAL" clId="{ABDB72E2-1DE4-44BC-A1C5-DEF6D7024657}" dt="2022-10-17T08:29:31.040" v="1220" actId="207"/>
        <pc:sldMkLst>
          <pc:docMk/>
          <pc:sldMk cId="2997599869" sldId="473"/>
        </pc:sldMkLst>
      </pc:sldChg>
      <pc:sldChg chg="modSp add mod">
        <pc:chgData name="Ahmed Salah ELDin" userId="68850134-226f-4097-a9a8-787fd6814b0e" providerId="ADAL" clId="{ABDB72E2-1DE4-44BC-A1C5-DEF6D7024657}" dt="2022-10-17T08:31:18.396" v="1233" actId="207"/>
        <pc:sldMkLst>
          <pc:docMk/>
          <pc:sldMk cId="3866734999" sldId="474"/>
        </pc:sldMkLst>
      </pc:sldChg>
      <pc:sldChg chg="modSp add mod">
        <pc:chgData name="Ahmed Salah ELDin" userId="68850134-226f-4097-a9a8-787fd6814b0e" providerId="ADAL" clId="{ABDB72E2-1DE4-44BC-A1C5-DEF6D7024657}" dt="2022-10-17T08:33:26.709" v="1238" actId="207"/>
        <pc:sldMkLst>
          <pc:docMk/>
          <pc:sldMk cId="2221206604" sldId="475"/>
        </pc:sldMkLst>
      </pc:sldChg>
      <pc:sldChg chg="addSp delSp modSp new mod ord modAnim">
        <pc:chgData name="Ahmed Salah ELDin" userId="68850134-226f-4097-a9a8-787fd6814b0e" providerId="ADAL" clId="{ABDB72E2-1DE4-44BC-A1C5-DEF6D7024657}" dt="2022-10-17T10:36:04.609" v="1549"/>
        <pc:sldMkLst>
          <pc:docMk/>
          <pc:sldMk cId="1305205122" sldId="476"/>
        </pc:sldMkLst>
      </pc:sldChg>
    </pc:docChg>
  </pc:docChgLst>
  <pc:docChgLst>
    <pc:chgData name="Ahmed Salah ELDin" userId="68850134-226f-4097-a9a8-787fd6814b0e" providerId="ADAL" clId="{413A41C2-4AE9-464D-8388-CF86B67ED8CF}"/>
    <pc:docChg chg="undo custSel modSld">
      <pc:chgData name="Ahmed Salah ELDin" userId="68850134-226f-4097-a9a8-787fd6814b0e" providerId="ADAL" clId="{413A41C2-4AE9-464D-8388-CF86B67ED8CF}" dt="2025-11-04T20:07:56.120" v="7" actId="478"/>
      <pc:docMkLst>
        <pc:docMk/>
      </pc:docMkLst>
      <pc:sldChg chg="addSp delSp modSp mod addAnim delAnim">
        <pc:chgData name="Ahmed Salah ELDin" userId="68850134-226f-4097-a9a8-787fd6814b0e" providerId="ADAL" clId="{413A41C2-4AE9-464D-8388-CF86B67ED8CF}" dt="2025-11-04T20:07:56.120" v="7" actId="478"/>
        <pc:sldMkLst>
          <pc:docMk/>
          <pc:sldMk cId="0" sldId="272"/>
        </pc:sldMkLst>
        <pc:spChg chg="add del mod topLvl">
          <ac:chgData name="Ahmed Salah ELDin" userId="68850134-226f-4097-a9a8-787fd6814b0e" providerId="ADAL" clId="{413A41C2-4AE9-464D-8388-CF86B67ED8CF}" dt="2025-11-04T20:07:56.120" v="7" actId="478"/>
          <ac:spMkLst>
            <pc:docMk/>
            <pc:sldMk cId="0" sldId="272"/>
            <ac:spMk id="45" creationId="{E89B0B8C-4DD6-D1AC-0688-C48448A0B88D}"/>
          </ac:spMkLst>
        </pc:spChg>
        <pc:grpChg chg="add del">
          <ac:chgData name="Ahmed Salah ELDin" userId="68850134-226f-4097-a9a8-787fd6814b0e" providerId="ADAL" clId="{413A41C2-4AE9-464D-8388-CF86B67ED8CF}" dt="2025-11-04T20:07:56.120" v="7" actId="478"/>
          <ac:grpSpMkLst>
            <pc:docMk/>
            <pc:sldMk cId="0" sldId="272"/>
            <ac:grpSpMk id="46" creationId="{D0E2F79A-1065-DC3C-67A2-C35A8CD9A4BD}"/>
          </ac:grpSpMkLst>
        </pc:grpChg>
        <pc:grpChg chg="mod topLvl">
          <ac:chgData name="Ahmed Salah ELDin" userId="68850134-226f-4097-a9a8-787fd6814b0e" providerId="ADAL" clId="{413A41C2-4AE9-464D-8388-CF86B67ED8CF}" dt="2025-11-04T20:07:56.120" v="7" actId="478"/>
          <ac:grpSpMkLst>
            <pc:docMk/>
            <pc:sldMk cId="0" sldId="272"/>
            <ac:grpSpMk id="539" creationId="{00000000-0000-0000-0000-000000000000}"/>
          </ac:grpSpMkLst>
        </pc:grpChg>
      </pc:sldChg>
      <pc:sldChg chg="modSp mod">
        <pc:chgData name="Ahmed Salah ELDin" userId="68850134-226f-4097-a9a8-787fd6814b0e" providerId="ADAL" clId="{413A41C2-4AE9-464D-8388-CF86B67ED8CF}" dt="2025-10-26T20:34:37.009" v="3" actId="1076"/>
        <pc:sldMkLst>
          <pc:docMk/>
          <pc:sldMk cId="651110372" sldId="870"/>
        </pc:sldMkLst>
        <pc:spChg chg="mod">
          <ac:chgData name="Ahmed Salah ELDin" userId="68850134-226f-4097-a9a8-787fd6814b0e" providerId="ADAL" clId="{413A41C2-4AE9-464D-8388-CF86B67ED8CF}" dt="2025-10-26T20:34:37.009" v="3" actId="1076"/>
          <ac:spMkLst>
            <pc:docMk/>
            <pc:sldMk cId="651110372" sldId="870"/>
            <ac:spMk id="8" creationId="{64DA4AE5-D9A9-8066-6AEF-973ADAB7EF49}"/>
          </ac:spMkLst>
        </pc:spChg>
      </pc:sldChg>
      <pc:sldChg chg="modSp modAnim">
        <pc:chgData name="Ahmed Salah ELDin" userId="68850134-226f-4097-a9a8-787fd6814b0e" providerId="ADAL" clId="{413A41C2-4AE9-464D-8388-CF86B67ED8CF}" dt="2025-10-27T00:57:42.939" v="5" actId="20578"/>
        <pc:sldMkLst>
          <pc:docMk/>
          <pc:sldMk cId="4152597927" sldId="1755"/>
        </pc:sldMkLst>
        <pc:spChg chg="mod">
          <ac:chgData name="Ahmed Salah ELDin" userId="68850134-226f-4097-a9a8-787fd6814b0e" providerId="ADAL" clId="{413A41C2-4AE9-464D-8388-CF86B67ED8CF}" dt="2025-10-27T00:57:40.255" v="4" actId="20578"/>
          <ac:spMkLst>
            <pc:docMk/>
            <pc:sldMk cId="4152597927" sldId="1755"/>
            <ac:spMk id="3" creationId="{3CC5B943-A737-2E09-8DF5-AD94F37CD1B3}"/>
          </ac:spMkLst>
        </pc:spChg>
      </pc:sldChg>
    </pc:docChg>
  </pc:docChgLst>
  <pc:docChgLst>
    <pc:chgData name="Ahmed Salah ELDin" userId="68850134-226f-4097-a9a8-787fd6814b0e" providerId="ADAL" clId="{41529A9F-B598-4F6F-BF77-A2C038883ABA}"/>
    <pc:docChg chg="undo redo custSel addSld delSld modSld sldOrd delMainMaster addSection modSection">
      <pc:chgData name="Ahmed Salah ELDin" userId="68850134-226f-4097-a9a8-787fd6814b0e" providerId="ADAL" clId="{41529A9F-B598-4F6F-BF77-A2C038883ABA}" dt="2024-10-12T20:06:33.660" v="5963" actId="2711"/>
      <pc:docMkLst>
        <pc:docMk/>
      </pc:docMkLst>
      <pc:sldChg chg="modSp mod">
        <pc:chgData name="Ahmed Salah ELDin" userId="68850134-226f-4097-a9a8-787fd6814b0e" providerId="ADAL" clId="{41529A9F-B598-4F6F-BF77-A2C038883ABA}" dt="2024-10-12T01:33:16.999" v="3520" actId="313"/>
        <pc:sldMkLst>
          <pc:docMk/>
          <pc:sldMk cId="1553194731" sldId="256"/>
        </pc:sldMkLst>
      </pc:sldChg>
      <pc:sldChg chg="addSp modSp mod modAnim">
        <pc:chgData name="Ahmed Salah ELDin" userId="68850134-226f-4097-a9a8-787fd6814b0e" providerId="ADAL" clId="{41529A9F-B598-4F6F-BF77-A2C038883ABA}" dt="2024-10-12T20:05:05.441" v="5949" actId="1076"/>
        <pc:sldMkLst>
          <pc:docMk/>
          <pc:sldMk cId="3835006274" sldId="257"/>
        </pc:sldMkLst>
      </pc:sldChg>
      <pc:sldChg chg="del">
        <pc:chgData name="Ahmed Salah ELDin" userId="68850134-226f-4097-a9a8-787fd6814b0e" providerId="ADAL" clId="{41529A9F-B598-4F6F-BF77-A2C038883ABA}" dt="2024-10-12T19:56:55.259" v="5887" actId="47"/>
        <pc:sldMkLst>
          <pc:docMk/>
          <pc:sldMk cId="0" sldId="281"/>
        </pc:sldMkLst>
      </pc:sldChg>
      <pc:sldChg chg="addSp delSp modSp mod modAnim">
        <pc:chgData name="Ahmed Salah ELDin" userId="68850134-226f-4097-a9a8-787fd6814b0e" providerId="ADAL" clId="{41529A9F-B598-4F6F-BF77-A2C038883ABA}" dt="2024-10-12T19:58:56.013" v="5935" actId="14100"/>
        <pc:sldMkLst>
          <pc:docMk/>
          <pc:sldMk cId="959200356" sldId="282"/>
        </pc:sldMkLst>
      </pc:sldChg>
      <pc:sldChg chg="del">
        <pc:chgData name="Ahmed Salah ELDin" userId="68850134-226f-4097-a9a8-787fd6814b0e" providerId="ADAL" clId="{41529A9F-B598-4F6F-BF77-A2C038883ABA}" dt="2024-10-11T22:22:45.106" v="3433" actId="47"/>
        <pc:sldMkLst>
          <pc:docMk/>
          <pc:sldMk cId="2622262222" sldId="293"/>
        </pc:sldMkLst>
      </pc:sldChg>
      <pc:sldChg chg="delSp modSp add mod modTransition modAnim modShow">
        <pc:chgData name="Ahmed Salah ELDin" userId="68850134-226f-4097-a9a8-787fd6814b0e" providerId="ADAL" clId="{41529A9F-B598-4F6F-BF77-A2C038883ABA}" dt="2024-10-12T01:43:05.600" v="3731" actId="14100"/>
        <pc:sldMkLst>
          <pc:docMk/>
          <pc:sldMk cId="0" sldId="353"/>
        </pc:sldMkLst>
      </pc:sldChg>
      <pc:sldChg chg="addSp delSp modSp mod delAnim modAnim">
        <pc:chgData name="Ahmed Salah ELDin" userId="68850134-226f-4097-a9a8-787fd6814b0e" providerId="ADAL" clId="{41529A9F-B598-4F6F-BF77-A2C038883ABA}" dt="2024-10-12T20:03:55.041" v="5946"/>
        <pc:sldMkLst>
          <pc:docMk/>
          <pc:sldMk cId="1305205122" sldId="476"/>
        </pc:sldMkLst>
      </pc:sldChg>
      <pc:sldChg chg="addSp modSp mod">
        <pc:chgData name="Ahmed Salah ELDin" userId="68850134-226f-4097-a9a8-787fd6814b0e" providerId="ADAL" clId="{41529A9F-B598-4F6F-BF77-A2C038883ABA}" dt="2024-10-12T20:05:28.530" v="5951" actId="1076"/>
        <pc:sldMkLst>
          <pc:docMk/>
          <pc:sldMk cId="1096160882" sldId="477"/>
        </pc:sldMkLst>
      </pc:sldChg>
      <pc:sldChg chg="modSp mod">
        <pc:chgData name="Ahmed Salah ELDin" userId="68850134-226f-4097-a9a8-787fd6814b0e" providerId="ADAL" clId="{41529A9F-B598-4F6F-BF77-A2C038883ABA}" dt="2024-10-12T20:05:47.371" v="5952" actId="2710"/>
        <pc:sldMkLst>
          <pc:docMk/>
          <pc:sldMk cId="0" sldId="478"/>
        </pc:sldMkLst>
      </pc:sldChg>
      <pc:sldChg chg="modSp">
        <pc:chgData name="Ahmed Salah ELDin" userId="68850134-226f-4097-a9a8-787fd6814b0e" providerId="ADAL" clId="{41529A9F-B598-4F6F-BF77-A2C038883ABA}" dt="2024-10-12T20:06:33.660" v="5963" actId="2711"/>
        <pc:sldMkLst>
          <pc:docMk/>
          <pc:sldMk cId="3388246005" sldId="480"/>
        </pc:sldMkLst>
      </pc:sldChg>
      <pc:sldChg chg="del">
        <pc:chgData name="Ahmed Salah ELDin" userId="68850134-226f-4097-a9a8-787fd6814b0e" providerId="ADAL" clId="{41529A9F-B598-4F6F-BF77-A2C038883ABA}" dt="2024-10-12T11:21:26.003" v="4908" actId="47"/>
        <pc:sldMkLst>
          <pc:docMk/>
          <pc:sldMk cId="2213567171" sldId="489"/>
        </pc:sldMkLst>
      </pc:sldChg>
      <pc:sldChg chg="modSp mod">
        <pc:chgData name="Ahmed Salah ELDin" userId="68850134-226f-4097-a9a8-787fd6814b0e" providerId="ADAL" clId="{41529A9F-B598-4F6F-BF77-A2C038883ABA}" dt="2024-10-12T11:21:28.806" v="4909" actId="20577"/>
        <pc:sldMkLst>
          <pc:docMk/>
          <pc:sldMk cId="943350000" sldId="490"/>
        </pc:sldMkLst>
      </pc:sldChg>
      <pc:sldChg chg="modSp mod">
        <pc:chgData name="Ahmed Salah ELDin" userId="68850134-226f-4097-a9a8-787fd6814b0e" providerId="ADAL" clId="{41529A9F-B598-4F6F-BF77-A2C038883ABA}" dt="2024-10-12T11:21:31.137" v="4910" actId="20577"/>
        <pc:sldMkLst>
          <pc:docMk/>
          <pc:sldMk cId="3771889853" sldId="492"/>
        </pc:sldMkLst>
      </pc:sldChg>
      <pc:sldChg chg="modSp mod">
        <pc:chgData name="Ahmed Salah ELDin" userId="68850134-226f-4097-a9a8-787fd6814b0e" providerId="ADAL" clId="{41529A9F-B598-4F6F-BF77-A2C038883ABA}" dt="2024-10-12T11:21:33.261" v="4911" actId="20577"/>
        <pc:sldMkLst>
          <pc:docMk/>
          <pc:sldMk cId="1527117060" sldId="493"/>
        </pc:sldMkLst>
      </pc:sldChg>
      <pc:sldChg chg="modSp mod">
        <pc:chgData name="Ahmed Salah ELDin" userId="68850134-226f-4097-a9a8-787fd6814b0e" providerId="ADAL" clId="{41529A9F-B598-4F6F-BF77-A2C038883ABA}" dt="2024-10-12T11:21:35.520" v="4912" actId="20577"/>
        <pc:sldMkLst>
          <pc:docMk/>
          <pc:sldMk cId="375204051" sldId="494"/>
        </pc:sldMkLst>
      </pc:sldChg>
      <pc:sldChg chg="modSp add modTransition modAnim">
        <pc:chgData name="Ahmed Salah ELDin" userId="68850134-226f-4097-a9a8-787fd6814b0e" providerId="ADAL" clId="{41529A9F-B598-4F6F-BF77-A2C038883ABA}" dt="2024-10-12T01:39:14.994" v="3705" actId="2710"/>
        <pc:sldMkLst>
          <pc:docMk/>
          <pc:sldMk cId="395110170" sldId="781"/>
        </pc:sldMkLst>
      </pc:sldChg>
      <pc:sldChg chg="modSp mod">
        <pc:chgData name="Ahmed Salah ELDin" userId="68850134-226f-4097-a9a8-787fd6814b0e" providerId="ADAL" clId="{41529A9F-B598-4F6F-BF77-A2C038883ABA}" dt="2024-10-12T11:21:39.588" v="4913" actId="20577"/>
        <pc:sldMkLst>
          <pc:docMk/>
          <pc:sldMk cId="1744137000" sldId="839"/>
        </pc:sldMkLst>
      </pc:sldChg>
      <pc:sldChg chg="addSp delSp modSp mod">
        <pc:chgData name="Ahmed Salah ELDin" userId="68850134-226f-4097-a9a8-787fd6814b0e" providerId="ADAL" clId="{41529A9F-B598-4F6F-BF77-A2C038883ABA}" dt="2024-10-12T11:21:42.021" v="4914" actId="20577"/>
        <pc:sldMkLst>
          <pc:docMk/>
          <pc:sldMk cId="2035950103" sldId="840"/>
        </pc:sldMkLst>
      </pc:sldChg>
      <pc:sldChg chg="modSp mod">
        <pc:chgData name="Ahmed Salah ELDin" userId="68850134-226f-4097-a9a8-787fd6814b0e" providerId="ADAL" clId="{41529A9F-B598-4F6F-BF77-A2C038883ABA}" dt="2024-10-11T19:11:38.814" v="1125" actId="14100"/>
        <pc:sldMkLst>
          <pc:docMk/>
          <pc:sldMk cId="1363397491" sldId="842"/>
        </pc:sldMkLst>
      </pc:sldChg>
      <pc:sldChg chg="addSp delSp modSp mod delAnim modAnim">
        <pc:chgData name="Ahmed Salah ELDin" userId="68850134-226f-4097-a9a8-787fd6814b0e" providerId="ADAL" clId="{41529A9F-B598-4F6F-BF77-A2C038883ABA}" dt="2024-10-11T18:56:47.656" v="938" actId="113"/>
        <pc:sldMkLst>
          <pc:docMk/>
          <pc:sldMk cId="686278994" sldId="844"/>
        </pc:sldMkLst>
      </pc:sldChg>
      <pc:sldChg chg="addSp delSp modSp mod delAnim modAnim">
        <pc:chgData name="Ahmed Salah ELDin" userId="68850134-226f-4097-a9a8-787fd6814b0e" providerId="ADAL" clId="{41529A9F-B598-4F6F-BF77-A2C038883ABA}" dt="2024-10-11T22:08:13.393" v="3022"/>
        <pc:sldMkLst>
          <pc:docMk/>
          <pc:sldMk cId="3107180818" sldId="845"/>
        </pc:sldMkLst>
      </pc:sldChg>
      <pc:sldChg chg="modSp">
        <pc:chgData name="Ahmed Salah ELDin" userId="68850134-226f-4097-a9a8-787fd6814b0e" providerId="ADAL" clId="{41529A9F-B598-4F6F-BF77-A2C038883ABA}" dt="2024-10-11T22:37:54.385" v="3480" actId="255"/>
        <pc:sldMkLst>
          <pc:docMk/>
          <pc:sldMk cId="2316613724" sldId="846"/>
        </pc:sldMkLst>
      </pc:sldChg>
      <pc:sldChg chg="modSp mod addAnim delAnim modAnim">
        <pc:chgData name="Ahmed Salah ELDin" userId="68850134-226f-4097-a9a8-787fd6814b0e" providerId="ADAL" clId="{41529A9F-B598-4F6F-BF77-A2C038883ABA}" dt="2024-10-12T11:21:53.584" v="4917" actId="20577"/>
        <pc:sldMkLst>
          <pc:docMk/>
          <pc:sldMk cId="2060065130" sldId="847"/>
        </pc:sldMkLst>
      </pc:sldChg>
      <pc:sldChg chg="modSp mod modAnim">
        <pc:chgData name="Ahmed Salah ELDin" userId="68850134-226f-4097-a9a8-787fd6814b0e" providerId="ADAL" clId="{41529A9F-B598-4F6F-BF77-A2C038883ABA}" dt="2024-10-12T11:21:59.262" v="4919" actId="20577"/>
        <pc:sldMkLst>
          <pc:docMk/>
          <pc:sldMk cId="2446764588" sldId="848"/>
        </pc:sldMkLst>
      </pc:sldChg>
      <pc:sldChg chg="modSp mod modAnim">
        <pc:chgData name="Ahmed Salah ELDin" userId="68850134-226f-4097-a9a8-787fd6814b0e" providerId="ADAL" clId="{41529A9F-B598-4F6F-BF77-A2C038883ABA}" dt="2024-10-12T11:22:01.511" v="4920" actId="20577"/>
        <pc:sldMkLst>
          <pc:docMk/>
          <pc:sldMk cId="30177481" sldId="849"/>
        </pc:sldMkLst>
      </pc:sldChg>
      <pc:sldChg chg="addSp delSp modSp mod modAnim">
        <pc:chgData name="Ahmed Salah ELDin" userId="68850134-226f-4097-a9a8-787fd6814b0e" providerId="ADAL" clId="{41529A9F-B598-4F6F-BF77-A2C038883ABA}" dt="2024-10-12T11:22:03.620" v="4921" actId="20577"/>
        <pc:sldMkLst>
          <pc:docMk/>
          <pc:sldMk cId="863392290" sldId="850"/>
        </pc:sldMkLst>
      </pc:sldChg>
      <pc:sldChg chg="del">
        <pc:chgData name="Ahmed Salah ELDin" userId="68850134-226f-4097-a9a8-787fd6814b0e" providerId="ADAL" clId="{41529A9F-B598-4F6F-BF77-A2C038883ABA}" dt="2024-10-11T22:24:57.356" v="3464" actId="47"/>
        <pc:sldMkLst>
          <pc:docMk/>
          <pc:sldMk cId="1923672540" sldId="851"/>
        </pc:sldMkLst>
      </pc:sldChg>
      <pc:sldChg chg="modSp mod">
        <pc:chgData name="Ahmed Salah ELDin" userId="68850134-226f-4097-a9a8-787fd6814b0e" providerId="ADAL" clId="{41529A9F-B598-4F6F-BF77-A2C038883ABA}" dt="2024-10-12T11:22:06.788" v="4922" actId="20577"/>
        <pc:sldMkLst>
          <pc:docMk/>
          <pc:sldMk cId="3442541711" sldId="852"/>
        </pc:sldMkLst>
      </pc:sldChg>
      <pc:sldChg chg="modSp mod modAnim">
        <pc:chgData name="Ahmed Salah ELDin" userId="68850134-226f-4097-a9a8-787fd6814b0e" providerId="ADAL" clId="{41529A9F-B598-4F6F-BF77-A2C038883ABA}" dt="2024-10-12T11:22:09.719" v="4923" actId="20577"/>
        <pc:sldMkLst>
          <pc:docMk/>
          <pc:sldMk cId="3187514264" sldId="853"/>
        </pc:sldMkLst>
      </pc:sldChg>
      <pc:sldChg chg="modSp del mod">
        <pc:chgData name="Ahmed Salah ELDin" userId="68850134-226f-4097-a9a8-787fd6814b0e" providerId="ADAL" clId="{41529A9F-B598-4F6F-BF77-A2C038883ABA}" dt="2024-10-11T22:24:41.328" v="3463" actId="47"/>
        <pc:sldMkLst>
          <pc:docMk/>
          <pc:sldMk cId="3062484848" sldId="854"/>
        </pc:sldMkLst>
      </pc:sldChg>
      <pc:sldChg chg="modSp mod">
        <pc:chgData name="Ahmed Salah ELDin" userId="68850134-226f-4097-a9a8-787fd6814b0e" providerId="ADAL" clId="{41529A9F-B598-4F6F-BF77-A2C038883ABA}" dt="2024-10-12T11:22:12.703" v="4924" actId="20577"/>
        <pc:sldMkLst>
          <pc:docMk/>
          <pc:sldMk cId="2617798340" sldId="855"/>
        </pc:sldMkLst>
      </pc:sldChg>
      <pc:sldChg chg="modSp mod">
        <pc:chgData name="Ahmed Salah ELDin" userId="68850134-226f-4097-a9a8-787fd6814b0e" providerId="ADAL" clId="{41529A9F-B598-4F6F-BF77-A2C038883ABA}" dt="2024-10-11T22:42:05.854" v="3500"/>
        <pc:sldMkLst>
          <pc:docMk/>
          <pc:sldMk cId="4157573391" sldId="856"/>
        </pc:sldMkLst>
      </pc:sldChg>
      <pc:sldChg chg="modSp mod">
        <pc:chgData name="Ahmed Salah ELDin" userId="68850134-226f-4097-a9a8-787fd6814b0e" providerId="ADAL" clId="{41529A9F-B598-4F6F-BF77-A2C038883ABA}" dt="2024-10-11T22:42:50.303" v="3504" actId="403"/>
        <pc:sldMkLst>
          <pc:docMk/>
          <pc:sldMk cId="1306463906" sldId="857"/>
        </pc:sldMkLst>
      </pc:sldChg>
      <pc:sldChg chg="addSp delSp modSp add mod modAnim">
        <pc:chgData name="Ahmed Salah ELDin" userId="68850134-226f-4097-a9a8-787fd6814b0e" providerId="ADAL" clId="{41529A9F-B598-4F6F-BF77-A2C038883ABA}" dt="2024-10-11T21:25:24.793" v="2667" actId="1076"/>
        <pc:sldMkLst>
          <pc:docMk/>
          <pc:sldMk cId="2679746556" sldId="862"/>
        </pc:sldMkLst>
      </pc:sldChg>
      <pc:sldChg chg="addSp delSp modSp add mod delAnim modAnim">
        <pc:chgData name="Ahmed Salah ELDin" userId="68850134-226f-4097-a9a8-787fd6814b0e" providerId="ADAL" clId="{41529A9F-B598-4F6F-BF77-A2C038883ABA}" dt="2024-10-11T21:41:26.435" v="2774" actId="20577"/>
        <pc:sldMkLst>
          <pc:docMk/>
          <pc:sldMk cId="799557571" sldId="863"/>
        </pc:sldMkLst>
      </pc:sldChg>
      <pc:sldChg chg="addSp delSp modSp add mod delAnim modAnim">
        <pc:chgData name="Ahmed Salah ELDin" userId="68850134-226f-4097-a9a8-787fd6814b0e" providerId="ADAL" clId="{41529A9F-B598-4F6F-BF77-A2C038883ABA}" dt="2024-10-11T21:57:41.935" v="2895"/>
        <pc:sldMkLst>
          <pc:docMk/>
          <pc:sldMk cId="29629457" sldId="864"/>
        </pc:sldMkLst>
      </pc:sldChg>
      <pc:sldChg chg="addSp modSp add mod modAnim">
        <pc:chgData name="Ahmed Salah ELDin" userId="68850134-226f-4097-a9a8-787fd6814b0e" providerId="ADAL" clId="{41529A9F-B598-4F6F-BF77-A2C038883ABA}" dt="2024-10-12T11:21:57.151" v="4918" actId="20577"/>
        <pc:sldMkLst>
          <pc:docMk/>
          <pc:sldMk cId="3870189398" sldId="865"/>
        </pc:sldMkLst>
      </pc:sldChg>
      <pc:sldChg chg="modSp add mod">
        <pc:chgData name="Ahmed Salah ELDin" userId="68850134-226f-4097-a9a8-787fd6814b0e" providerId="ADAL" clId="{41529A9F-B598-4F6F-BF77-A2C038883ABA}" dt="2024-10-12T01:35:42.846" v="3659" actId="14100"/>
        <pc:sldMkLst>
          <pc:docMk/>
          <pc:sldMk cId="2530123396" sldId="866"/>
        </pc:sldMkLst>
      </pc:sldChg>
      <pc:sldChg chg="add del">
        <pc:chgData name="Ahmed Salah ELDin" userId="68850134-226f-4097-a9a8-787fd6814b0e" providerId="ADAL" clId="{41529A9F-B598-4F6F-BF77-A2C038883ABA}" dt="2024-10-12T02:22:30.498" v="4199" actId="47"/>
        <pc:sldMkLst>
          <pc:docMk/>
          <pc:sldMk cId="3435553126" sldId="867"/>
        </pc:sldMkLst>
      </pc:sldChg>
      <pc:sldChg chg="modSp add mod modTransition modAnim modShow">
        <pc:chgData name="Ahmed Salah ELDin" userId="68850134-226f-4097-a9a8-787fd6814b0e" providerId="ADAL" clId="{41529A9F-B598-4F6F-BF77-A2C038883ABA}" dt="2024-10-12T02:06:58.176" v="3945" actId="20577"/>
        <pc:sldMkLst>
          <pc:docMk/>
          <pc:sldMk cId="3551538404" sldId="1280"/>
        </pc:sldMkLst>
      </pc:sldChg>
      <pc:sldChg chg="addSp modSp add mod modTransition modAnim modShow">
        <pc:chgData name="Ahmed Salah ELDin" userId="68850134-226f-4097-a9a8-787fd6814b0e" providerId="ADAL" clId="{41529A9F-B598-4F6F-BF77-A2C038883ABA}" dt="2024-10-12T02:09:35.957" v="4028"/>
        <pc:sldMkLst>
          <pc:docMk/>
          <pc:sldMk cId="2438787831" sldId="1281"/>
        </pc:sldMkLst>
      </pc:sldChg>
      <pc:sldChg chg="modSp add mod modTransition modAnim modShow">
        <pc:chgData name="Ahmed Salah ELDin" userId="68850134-226f-4097-a9a8-787fd6814b0e" providerId="ADAL" clId="{41529A9F-B598-4F6F-BF77-A2C038883ABA}" dt="2024-10-12T11:51:45.012" v="5840" actId="20577"/>
        <pc:sldMkLst>
          <pc:docMk/>
          <pc:sldMk cId="898981062" sldId="1283"/>
        </pc:sldMkLst>
      </pc:sldChg>
      <pc:sldChg chg="addSp delSp modSp add mod modTransition delAnim modAnim modShow">
        <pc:chgData name="Ahmed Salah ELDin" userId="68850134-226f-4097-a9a8-787fd6814b0e" providerId="ADAL" clId="{41529A9F-B598-4F6F-BF77-A2C038883ABA}" dt="2024-10-12T02:22:23.867" v="4198" actId="14100"/>
        <pc:sldMkLst>
          <pc:docMk/>
          <pc:sldMk cId="3263609219" sldId="1287"/>
        </pc:sldMkLst>
      </pc:sldChg>
      <pc:sldChg chg="addSp delSp modSp add mod delAnim modAnim">
        <pc:chgData name="Ahmed Salah ELDin" userId="68850134-226f-4097-a9a8-787fd6814b0e" providerId="ADAL" clId="{41529A9F-B598-4F6F-BF77-A2C038883ABA}" dt="2024-10-12T02:27:37.994" v="4221"/>
        <pc:sldMkLst>
          <pc:docMk/>
          <pc:sldMk cId="3219258967" sldId="1288"/>
        </pc:sldMkLst>
      </pc:sldChg>
      <pc:sldChg chg="addSp delSp modSp add mod delAnim modAnim">
        <pc:chgData name="Ahmed Salah ELDin" userId="68850134-226f-4097-a9a8-787fd6814b0e" providerId="ADAL" clId="{41529A9F-B598-4F6F-BF77-A2C038883ABA}" dt="2024-10-12T11:40:48.609" v="5473" actId="1037"/>
        <pc:sldMkLst>
          <pc:docMk/>
          <pc:sldMk cId="1424969069" sldId="1289"/>
        </pc:sldMkLst>
      </pc:sldChg>
      <pc:sldChg chg="addSp modSp add mod modAnim">
        <pc:chgData name="Ahmed Salah ELDin" userId="68850134-226f-4097-a9a8-787fd6814b0e" providerId="ADAL" clId="{41529A9F-B598-4F6F-BF77-A2C038883ABA}" dt="2024-10-12T11:23:32.325" v="4935" actId="14100"/>
        <pc:sldMkLst>
          <pc:docMk/>
          <pc:sldMk cId="4063903008" sldId="1290"/>
        </pc:sldMkLst>
      </pc:sldChg>
      <pc:sldChg chg="add del">
        <pc:chgData name="Ahmed Salah ELDin" userId="68850134-226f-4097-a9a8-787fd6814b0e" providerId="ADAL" clId="{41529A9F-B598-4F6F-BF77-A2C038883ABA}" dt="2024-10-12T11:32:56.377" v="5288" actId="47"/>
        <pc:sldMkLst>
          <pc:docMk/>
          <pc:sldMk cId="664309313" sldId="1291"/>
        </pc:sldMkLst>
      </pc:sldChg>
      <pc:sldChg chg="addSp delSp modSp add mod delAnim modAnim">
        <pc:chgData name="Ahmed Salah ELDin" userId="68850134-226f-4097-a9a8-787fd6814b0e" providerId="ADAL" clId="{41529A9F-B598-4F6F-BF77-A2C038883ABA}" dt="2024-10-12T11:20:54.339" v="4907"/>
        <pc:sldMkLst>
          <pc:docMk/>
          <pc:sldMk cId="1443447117" sldId="1292"/>
        </pc:sldMkLst>
      </pc:sldChg>
      <pc:sldChg chg="modSp new mod">
        <pc:chgData name="Ahmed Salah ELDin" userId="68850134-226f-4097-a9a8-787fd6814b0e" providerId="ADAL" clId="{41529A9F-B598-4F6F-BF77-A2C038883ABA}" dt="2024-10-12T11:13:35.448" v="4806" actId="20577"/>
        <pc:sldMkLst>
          <pc:docMk/>
          <pc:sldMk cId="1958485420" sldId="1293"/>
        </pc:sldMkLst>
      </pc:sldChg>
      <pc:sldChg chg="addSp delSp modSp add mod modAnim">
        <pc:chgData name="Ahmed Salah ELDin" userId="68850134-226f-4097-a9a8-787fd6814b0e" providerId="ADAL" clId="{41529A9F-B598-4F6F-BF77-A2C038883ABA}" dt="2024-10-12T11:43:16.640" v="5515"/>
        <pc:sldMkLst>
          <pc:docMk/>
          <pc:sldMk cId="170888633" sldId="1294"/>
        </pc:sldMkLst>
      </pc:sldChg>
      <pc:sldChg chg="addSp delSp modSp add del mod delAnim modAnim">
        <pc:chgData name="Ahmed Salah ELDin" userId="68850134-226f-4097-a9a8-787fd6814b0e" providerId="ADAL" clId="{41529A9F-B598-4F6F-BF77-A2C038883ABA}" dt="2024-10-12T11:19:43.672" v="4900" actId="47"/>
        <pc:sldMkLst>
          <pc:docMk/>
          <pc:sldMk cId="770295295" sldId="1294"/>
        </pc:sldMkLst>
      </pc:sldChg>
      <pc:sldChg chg="addSp modSp add mod modAnim">
        <pc:chgData name="Ahmed Salah ELDin" userId="68850134-226f-4097-a9a8-787fd6814b0e" providerId="ADAL" clId="{41529A9F-B598-4F6F-BF77-A2C038883ABA}" dt="2024-10-12T11:43:37.752" v="5518"/>
        <pc:sldMkLst>
          <pc:docMk/>
          <pc:sldMk cId="1215960154" sldId="1295"/>
        </pc:sldMkLst>
      </pc:sldChg>
      <pc:sldChg chg="addSp delSp modSp add mod ord modAnim">
        <pc:chgData name="Ahmed Salah ELDin" userId="68850134-226f-4097-a9a8-787fd6814b0e" providerId="ADAL" clId="{41529A9F-B598-4F6F-BF77-A2C038883ABA}" dt="2024-10-12T11:43:30.296" v="5516" actId="20577"/>
        <pc:sldMkLst>
          <pc:docMk/>
          <pc:sldMk cId="3805055177" sldId="1296"/>
        </pc:sldMkLst>
      </pc:sldChg>
      <pc:sldChg chg="addSp delSp modSp add mod modAnim">
        <pc:chgData name="Ahmed Salah ELDin" userId="68850134-226f-4097-a9a8-787fd6814b0e" providerId="ADAL" clId="{41529A9F-B598-4F6F-BF77-A2C038883ABA}" dt="2024-10-12T11:49:34.512" v="5791"/>
        <pc:sldMkLst>
          <pc:docMk/>
          <pc:sldMk cId="917922634" sldId="1297"/>
        </pc:sldMkLst>
      </pc:sldChg>
      <pc:sldChg chg="addSp delSp modSp add mod modAnim">
        <pc:chgData name="Ahmed Salah ELDin" userId="68850134-226f-4097-a9a8-787fd6814b0e" providerId="ADAL" clId="{41529A9F-B598-4F6F-BF77-A2C038883ABA}" dt="2024-10-12T11:49:43.146" v="5793"/>
        <pc:sldMkLst>
          <pc:docMk/>
          <pc:sldMk cId="3740519632" sldId="1298"/>
        </pc:sldMkLst>
      </pc:sldChg>
      <pc:sldChg chg="modSp add del mod modTransition">
        <pc:chgData name="Ahmed Salah ELDin" userId="68850134-226f-4097-a9a8-787fd6814b0e" providerId="ADAL" clId="{41529A9F-B598-4F6F-BF77-A2C038883ABA}" dt="2024-10-12T19:56:11.658" v="5886" actId="14100"/>
        <pc:sldMkLst>
          <pc:docMk/>
          <pc:sldMk cId="0" sldId="1299"/>
        </pc:sldMkLst>
      </pc:sldChg>
      <pc:sldMasterChg chg="del delSldLayout">
        <pc:chgData name="Ahmed Salah ELDin" userId="68850134-226f-4097-a9a8-787fd6814b0e" providerId="ADAL" clId="{41529A9F-B598-4F6F-BF77-A2C038883ABA}" dt="2024-10-11T22:24:57.356" v="3464" actId="47"/>
        <pc:sldMasterMkLst>
          <pc:docMk/>
          <pc:sldMasterMk cId="1111393702" sldId="2147483673"/>
        </pc:sldMasterMkLst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919175580" sldId="2147483674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2128764987" sldId="2147483675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191253295" sldId="2147483676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1024928321" sldId="2147483677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1012661652" sldId="2147483678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3064551399" sldId="2147483679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95667754" sldId="2147483680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3977755972" sldId="2147483681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648985167" sldId="2147483682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2117135591" sldId="2147483683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613321476" sldId="2147483684"/>
          </pc:sldLayoutMkLst>
        </pc:sldLayoutChg>
      </pc:sldMasterChg>
    </pc:docChg>
  </pc:docChgLst>
  <pc:docChgLst>
    <pc:chgData name="Ahmed Salah ELDin" userId="68850134-226f-4097-a9a8-787fd6814b0e" providerId="ADAL" clId="{F177729E-5FC4-43C6-9147-7AB09CCEC4F2}"/>
    <pc:docChg chg="undo custSel addSld delSld modSld modSection">
      <pc:chgData name="Ahmed Salah ELDin" userId="68850134-226f-4097-a9a8-787fd6814b0e" providerId="ADAL" clId="{F177729E-5FC4-43C6-9147-7AB09CCEC4F2}" dt="2024-12-04T17:52:48.234" v="104" actId="47"/>
      <pc:docMkLst>
        <pc:docMk/>
      </pc:docMkLst>
      <pc:sldChg chg="modSp mod">
        <pc:chgData name="Ahmed Salah ELDin" userId="68850134-226f-4097-a9a8-787fd6814b0e" providerId="ADAL" clId="{F177729E-5FC4-43C6-9147-7AB09CCEC4F2}" dt="2024-10-15T04:39:02.747" v="69" actId="1076"/>
        <pc:sldMkLst>
          <pc:docMk/>
          <pc:sldMk cId="946860532" sldId="859"/>
        </pc:sldMkLst>
      </pc:sldChg>
      <pc:sldChg chg="modSp mod modAnim">
        <pc:chgData name="Ahmed Salah ELDin" userId="68850134-226f-4097-a9a8-787fd6814b0e" providerId="ADAL" clId="{F177729E-5FC4-43C6-9147-7AB09CCEC4F2}" dt="2024-10-15T04:11:56.207" v="59" actId="5793"/>
        <pc:sldMkLst>
          <pc:docMk/>
          <pc:sldMk cId="4063903008" sldId="1290"/>
        </pc:sldMkLst>
      </pc:sldChg>
      <pc:sldChg chg="modSp mod modAnim">
        <pc:chgData name="Ahmed Salah ELDin" userId="68850134-226f-4097-a9a8-787fd6814b0e" providerId="ADAL" clId="{F177729E-5FC4-43C6-9147-7AB09CCEC4F2}" dt="2024-10-15T04:11:27.062" v="51" actId="14100"/>
        <pc:sldMkLst>
          <pc:docMk/>
          <pc:sldMk cId="1443447117" sldId="1292"/>
        </pc:sldMkLst>
      </pc:sldChg>
      <pc:sldChg chg="addSp delSp modSp add del mod addAnim delAnim">
        <pc:chgData name="Ahmed Salah ELDin" userId="68850134-226f-4097-a9a8-787fd6814b0e" providerId="ADAL" clId="{F177729E-5FC4-43C6-9147-7AB09CCEC4F2}" dt="2024-12-04T17:52:48.234" v="104" actId="47"/>
        <pc:sldMkLst>
          <pc:docMk/>
          <pc:sldMk cId="474663484" sldId="17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6DBDB-0F3D-4109-A58A-C28AD499EF3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36D04-5011-4B5C-B00A-65685CFA9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4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FF211-DCD5-ACA7-61DC-CB1D5891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0F96B-138F-3001-489B-A8A9F4318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1A566-1120-5A73-791C-700AC031A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Inshaa’ALLAH</a:t>
            </a:r>
            <a:endParaRPr lang="ar-E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6B901-53A5-2B0E-5047-6EBFD11F6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95C63-9540-4739-B9F5-60777EA6CC1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82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36D04-5011-4B5C-B00A-65685CFA9A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17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3E63D1-3FC3-4656-B103-9D505E48899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40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AB26-83BE-CDC7-4B09-891847C86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BC812-548D-62A4-8497-667233443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D0DC4-1B99-DA86-9344-AC7B4321A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1E29D-3D38-5A46-4934-06CB87401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3E63D1-3FC3-4656-B103-9D505E48899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753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B7B67-15AA-66FC-110A-92978234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C0776-9B3A-9B5A-754A-D9267C825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86B75-CE44-0C68-A546-AF23188A5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BF5D1-8C3F-9526-5AB7-BBF0F1EEF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3E63D1-3FC3-4656-B103-9D505E48899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485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57E35-1D11-56E1-7895-092861D75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2900D-D177-D219-F248-89CCCA8F8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EE25F-D6D8-DA3C-CCB2-A1FB39942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6F9D6-D3CD-26F9-7FE8-CFDB4E594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3E63D1-3FC3-4656-B103-9D505E48899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587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4D13F-E58A-73A2-3906-6E4396A4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A7C52-B258-D772-3389-FD2F470C5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E7A76-A3DB-E7D9-6C46-250A1F22A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1BF7C-C5CB-B6C4-AF99-3C05134BA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3E63D1-3FC3-4656-B103-9D505E48899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471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54AF9-6E2C-BC08-2D97-AA83B376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D2B2B-15B1-E67C-6E5E-897E9AC51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21A42-182E-AC7E-9CDC-6D44956B8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99DA0-3F06-E122-48A3-53B13CF82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3E63D1-3FC3-4656-B103-9D505E48899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427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BD31A-6E01-49E1-79FB-CB9B50A6A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0A6D9-33A9-036F-7B11-EFE7311FF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8009CE-B0B5-AA64-9637-846A57C15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29E92-0A70-58D9-A4D8-ED0278DBC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3E63D1-3FC3-4656-B103-9D505E48899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554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25C4-174D-7F87-4BD9-B352B0AAD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41EFC-A7FE-60EF-D267-D6476B09C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28FA1-25D3-AB92-4336-2D2DB35D3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6ABB4-3D98-3C0B-2684-4F472D110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3E63D1-3FC3-4656-B103-9D505E48899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78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9C181-C1F4-0F55-5EDD-0A37FCAEB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92FD4-B761-E063-77EC-AD92B94A0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4D44F-9281-64F8-0408-3CEBDDD50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3CF95-11B5-5F9E-853C-BD459C83A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3E63D1-3FC3-4656-B103-9D505E48899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72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4662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3471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51395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75033A-9A5A-4DF7-BD42-F7C63168BAA9}" type="slidenum">
              <a:rPr lang="ar-EG" smtClean="0"/>
              <a:pPr>
                <a:defRPr/>
              </a:pPr>
              <a:t>79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69788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14C3-5790-45F3-968A-E9170C0AEB62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9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F11C-1F9A-458C-BFCD-11278D270FD7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9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A729-173D-4100-9E93-E750DC9C7B4C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40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E4902-8201-431E-872A-E02958C7C1ED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32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F2CA-6856-47AD-8FEF-A7F04EC7FA05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FF5E-8A22-4D2F-A7DB-15AEDD690145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95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D14-7D5B-43FF-AD9A-7E175364C69D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6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E2F64E6-D37A-4076-885E-33767E7CCBCE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2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FC57-5D34-4C65-9BD8-CF64D8739E0B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75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8998-9E6E-4D5F-B785-6A36BB5236AB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33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025EB-7E9A-4088-BC0E-41A20DAE8FD1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89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9AD97-EA89-4723-A9B4-E4C59FF7CC2F}" type="datetime1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8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F4F7-DDAA-4308-8A59-A219C6052592}" type="datetime1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60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093B-AF4F-48C7-A1FC-4D131DCD1D3E}" type="datetime1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16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B330-E063-4379-BA29-A13098A5210B}" type="datetime1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74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885B-E7A0-40C5-9E18-B1F24F1F75DE}" type="datetime1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14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BFCF1-87FF-48AC-AD6E-0F47C31B54D3}" type="datetime1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23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93B97-DBA8-4D53-975C-9CE5AEF2AAC5}" type="datetime1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54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2387A-1026-4CA6-AEAC-631207F00851}" type="datetime1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B5C6-0FCB-4A48-A33D-A5BCD4F5C649}" type="datetime1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902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23F4-35A4-46F0-963C-DA871E44108F}" type="datetime1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85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09CAA-BB16-4F93-A683-CB6C9DD0E275}" type="datetime1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8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8B8E24-D3D3-4496-AB4A-F6A693EC6685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925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430AC-8D90-4E69-B7A8-003A04B8EFAB}" type="datetime1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66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MATERIALS/OS%20PROJECT%20APPENDICES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MATERIALS/OS%20PROJECT%20APPENDICES.pdf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MATERIALS/OS%20PROJECT%20APPENDICES.pdf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TERIALS/OS%20PROJECT%20APPENDICES.pdf" TargetMode="External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MATERIALS/OS%20PROJECT%20APPENDICES.pdf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TERIALS/OS%20PROJECT%20APPENDICES.pdf" TargetMode="Externa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MATERIALS/OS%20PROJECT%20APPENDICES.pdf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MATERIALS/OS%20PROJECT%20APPENDICES.pdf" TargetMode="Externa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MATERIALS/OS%20PROJECT%20APPENDICES.pdf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044F-A993-07CB-D1DD-01EB559068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OS’26-27 Project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D10DF-2536-BB92-0FC3-80368303D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455620"/>
            <a:ext cx="12191999" cy="1643428"/>
          </a:xfrm>
        </p:spPr>
        <p:txBody>
          <a:bodyPr>
            <a:normAutofit/>
          </a:bodyPr>
          <a:lstStyle/>
          <a:p>
            <a:pPr algn="ctr"/>
            <a:r>
              <a:rPr lang="en-US" sz="3900" dirty="0"/>
              <a:t>PART II: </a:t>
            </a:r>
            <a:r>
              <a:rPr lang="en-US" sz="3900" b="1" dirty="0"/>
              <a:t>GROUP MODULES</a:t>
            </a:r>
          </a:p>
          <a:p>
            <a:pPr algn="ctr"/>
            <a:r>
              <a:rPr lang="en-US" b="1" dirty="0"/>
              <a:t>(</a:t>
            </a:r>
            <a:r>
              <a:rPr lang="en-US" dirty="0"/>
              <a:t>Dynamic Allocator, Kernel Heap, fault handler </a:t>
            </a:r>
            <a:r>
              <a:rPr lang="en-US" dirty="0" err="1"/>
              <a:t>i</a:t>
            </a:r>
            <a:r>
              <a:rPr lang="en-US" dirty="0"/>
              <a:t>, BLOCKING</a:t>
            </a:r>
            <a:r>
              <a:rPr lang="en-US" b="1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6BA8C-5654-AF8F-C60C-0CBCB05AE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94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772D-765F-870E-3632-73E0D2B6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8471A-C9D0-5A9A-5A1E-FE77062D3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8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PART 0: ROADMAP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PART I: PREREQUISITES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PART II: GROUP MODULES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PART III: INDIVIDUAL MODULES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PART IV: OVERALL TESTING &amp; BONUSES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8EB8-E269-680F-9D36-3D32E91A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0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06E4-01C6-BB48-07BD-E3BC786A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A26D-23AF-3E30-49D2-D4ED592D5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B2B0A-81CC-05B1-F8D2-B887BC139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8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PART II: GROUP MODULES 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Dynamic Allocator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Kernel Heap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Fault Handler I (Placement)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Blocking </a:t>
            </a:r>
          </a:p>
          <a:p>
            <a:pPr marL="201168" lvl="1" indent="0">
              <a:lnSpc>
                <a:spcPct val="150000"/>
              </a:lnSpc>
              <a:buNone/>
            </a:pPr>
            <a:endParaRPr lang="en-US" sz="2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EBC8B-427C-D9AC-D220-60F6A3B3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1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53AC4-84EE-D547-45A2-8E8280E8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9ABE-ED17-24EC-A353-756427A7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lang="ar-EG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15ABAD-C7AD-B689-8450-8C245CDCBAF1}"/>
              </a:ext>
            </a:extLst>
          </p:cNvPr>
          <p:cNvSpPr/>
          <p:nvPr/>
        </p:nvSpPr>
        <p:spPr>
          <a:xfrm>
            <a:off x="235394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D62810-3351-7F14-FB7D-7D6EB0B9607C}"/>
              </a:ext>
            </a:extLst>
          </p:cNvPr>
          <p:cNvSpPr/>
          <p:nvPr/>
        </p:nvSpPr>
        <p:spPr>
          <a:xfrm>
            <a:off x="2220990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A829AF-639F-9D07-A936-15B5AEA4D231}"/>
              </a:ext>
            </a:extLst>
          </p:cNvPr>
          <p:cNvSpPr/>
          <p:nvPr/>
        </p:nvSpPr>
        <p:spPr>
          <a:xfrm>
            <a:off x="4206586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DB985B-A991-A294-154A-30920352E1A5}"/>
              </a:ext>
            </a:extLst>
          </p:cNvPr>
          <p:cNvSpPr/>
          <p:nvPr/>
        </p:nvSpPr>
        <p:spPr>
          <a:xfrm>
            <a:off x="6192182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Module#4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A3AAEBE-50A2-4A28-0EA4-347FC571D166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 rot="5400000">
            <a:off x="3215515" y="740890"/>
            <a:ext cx="859648" cy="495299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5F2CEF0-25E6-531F-3868-FB1E40890363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 rot="5400000">
            <a:off x="4208313" y="1733688"/>
            <a:ext cx="859648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9F7B5768-48FF-A1CB-2D6F-CD358831DA61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 rot="5400000">
            <a:off x="5201111" y="2726486"/>
            <a:ext cx="859648" cy="981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CA611924-9452-26BE-3343-E74B68891F70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 rot="16200000" flipH="1">
            <a:off x="6193909" y="2715486"/>
            <a:ext cx="859648" cy="1003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3B2151E-A0BA-84DE-0203-C7DF50E6B38F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 rot="16200000" flipH="1">
            <a:off x="3229415" y="2501037"/>
            <a:ext cx="831849" cy="49529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968F9C6A-61D1-5700-9C6C-06BD56549A99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 rot="16200000" flipH="1">
            <a:off x="4222213" y="3493835"/>
            <a:ext cx="831849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80226F0-08D1-DAE8-4FF3-1F533E5A6123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5215011" y="4486633"/>
            <a:ext cx="831849" cy="9817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0EFEC7C-1DE5-6AE1-0333-B7146843B6BC}"/>
              </a:ext>
            </a:extLst>
          </p:cNvPr>
          <p:cNvCxnSpPr>
            <a:cxnSpLocks/>
            <a:stCxn id="9" idx="2"/>
            <a:endCxn id="23" idx="0"/>
          </p:cNvCxnSpPr>
          <p:nvPr/>
        </p:nvCxnSpPr>
        <p:spPr>
          <a:xfrm rot="5400000">
            <a:off x="6207810" y="4475635"/>
            <a:ext cx="831849" cy="10037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075671-8605-4BA6-3317-238F8EE1B4E1}"/>
              </a:ext>
            </a:extLst>
          </p:cNvPr>
          <p:cNvSpPr/>
          <p:nvPr/>
        </p:nvSpPr>
        <p:spPr>
          <a:xfrm>
            <a:off x="2220989" y="1873161"/>
            <a:ext cx="7801689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Prerequisite Modules </a:t>
            </a:r>
          </a:p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Dyn. </a:t>
            </a:r>
            <a:r>
              <a:rPr lang="en-US" sz="2400" b="1" dirty="0" err="1">
                <a:solidFill>
                  <a:prstClr val="black"/>
                </a:solidFill>
                <a:latin typeface="Calibri"/>
              </a:rPr>
              <a:t>Alloc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, Kern Heap, Fault Handl. 1, Blocking</a:t>
            </a:r>
            <a:endParaRPr lang="en-AE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1F111F-D255-0D68-BD20-696AEDFF9053}"/>
              </a:ext>
            </a:extLst>
          </p:cNvPr>
          <p:cNvSpPr/>
          <p:nvPr/>
        </p:nvSpPr>
        <p:spPr>
          <a:xfrm>
            <a:off x="229044" y="364085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[M#1]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Fault Handl. 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B9B4E6-2E85-866F-811B-5D062C66BFE7}"/>
              </a:ext>
            </a:extLst>
          </p:cNvPr>
          <p:cNvSpPr/>
          <p:nvPr/>
        </p:nvSpPr>
        <p:spPr>
          <a:xfrm>
            <a:off x="2220990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[M#2]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User Heap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B015F1-0B07-7967-119E-36204B801A59}"/>
              </a:ext>
            </a:extLst>
          </p:cNvPr>
          <p:cNvSpPr/>
          <p:nvPr/>
        </p:nvSpPr>
        <p:spPr>
          <a:xfrm>
            <a:off x="4212936" y="365355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[M#3]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CPU Sched.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3C7191C-5CC3-4051-09B7-C6BC13077040}"/>
              </a:ext>
            </a:extLst>
          </p:cNvPr>
          <p:cNvSpPr/>
          <p:nvPr/>
        </p:nvSpPr>
        <p:spPr>
          <a:xfrm>
            <a:off x="6198532" y="3650583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[M#4]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#1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9AC7792B-71B0-4334-F187-767AFBE54902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rot="16200000" flipH="1">
            <a:off x="7178883" y="1730511"/>
            <a:ext cx="853297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7BEFFCA-25FC-3143-1BE2-75293A2AC132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rot="5400000">
            <a:off x="7186432" y="3490661"/>
            <a:ext cx="838200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9D1142D-EA21-8B83-26C4-CC53FD7158AE}"/>
              </a:ext>
            </a:extLst>
          </p:cNvPr>
          <p:cNvSpPr/>
          <p:nvPr/>
        </p:nvSpPr>
        <p:spPr>
          <a:xfrm>
            <a:off x="8155779" y="364085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[M#5]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#2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4C4D98-AB2E-F8E0-13FE-C6332FEE662C}"/>
              </a:ext>
            </a:extLst>
          </p:cNvPr>
          <p:cNvSpPr/>
          <p:nvPr/>
        </p:nvSpPr>
        <p:spPr>
          <a:xfrm>
            <a:off x="3154440" y="5393458"/>
            <a:ext cx="5934789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&amp; Overall Testing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Scenarios &amp; Bonuses</a:t>
            </a:r>
            <a:endParaRPr kumimoji="0" lang="en-AE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E3C8661-894D-1FB5-F99E-E7C65C11AB8C}"/>
              </a:ext>
            </a:extLst>
          </p:cNvPr>
          <p:cNvSpPr/>
          <p:nvPr/>
        </p:nvSpPr>
        <p:spPr>
          <a:xfrm>
            <a:off x="10157026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[M#6]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Shared Memory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EBD1D8E6-552C-A5D8-3CEA-CFFA941A23CF}"/>
              </a:ext>
            </a:extLst>
          </p:cNvPr>
          <p:cNvCxnSpPr>
            <a:cxnSpLocks/>
            <a:stCxn id="13" idx="2"/>
            <a:endCxn id="28" idx="0"/>
          </p:cNvCxnSpPr>
          <p:nvPr/>
        </p:nvCxnSpPr>
        <p:spPr>
          <a:xfrm rot="16200000" flipH="1">
            <a:off x="8176331" y="733064"/>
            <a:ext cx="859648" cy="49686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708FE76F-2755-1F49-5E87-F37B6A245FC6}"/>
              </a:ext>
            </a:extLst>
          </p:cNvPr>
          <p:cNvCxnSpPr>
            <a:cxnSpLocks/>
            <a:stCxn id="28" idx="2"/>
            <a:endCxn id="23" idx="0"/>
          </p:cNvCxnSpPr>
          <p:nvPr/>
        </p:nvCxnSpPr>
        <p:spPr>
          <a:xfrm rot="5400000">
            <a:off x="8190232" y="2493213"/>
            <a:ext cx="831849" cy="49686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92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C8D7F9-4BC9-DCF5-DA37-887FE454D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Allocator</a:t>
            </a:r>
            <a:endParaRPr lang="en-A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0E736-AB6F-216C-1931-A35FD64C7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II: group modules</a:t>
            </a:r>
            <a:endParaRPr lang="en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38FA3-02BC-C0B3-00E7-931D9D6E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4411A9F2-352A-62A1-63F7-F9889E991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0"/>
            <a:ext cx="1190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60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12C1C-768E-67BA-CE7E-057E322C6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FD3C8C65-1369-EE38-B323-45647228EE27}"/>
              </a:ext>
            </a:extLst>
          </p:cNvPr>
          <p:cNvSpPr/>
          <p:nvPr/>
        </p:nvSpPr>
        <p:spPr>
          <a:xfrm>
            <a:off x="1154084" y="2270926"/>
            <a:ext cx="10058400" cy="2924072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200" b="1" u="sng" dirty="0">
                <a:solidFill>
                  <a:srgbClr val="FF0000"/>
                </a:solidFill>
              </a:rPr>
              <a:t>Dynamically</a:t>
            </a:r>
            <a:r>
              <a:rPr lang="en-US" sz="2200" dirty="0"/>
              <a:t> allocate/free small-size blocks in the heap using </a:t>
            </a:r>
            <a:r>
              <a:rPr lang="en-US" sz="2200" b="1" dirty="0">
                <a:solidFill>
                  <a:schemeClr val="tx2"/>
                </a:solidFill>
              </a:rPr>
              <a:t>FAST and MEMORY-EFFICIENT way </a:t>
            </a:r>
            <a:r>
              <a:rPr lang="en-US" sz="2200" dirty="0"/>
              <a:t>either for </a:t>
            </a:r>
            <a:r>
              <a:rPr lang="en-US" sz="2200" b="1" dirty="0"/>
              <a:t>OS </a:t>
            </a:r>
            <a:r>
              <a:rPr lang="en-US" sz="2200" dirty="0"/>
              <a:t>or any </a:t>
            </a:r>
            <a:r>
              <a:rPr lang="en-US" sz="2200" b="1" dirty="0"/>
              <a:t>user program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E487D-FCB8-AE5A-2ADD-FA62E1A8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20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536B8-001A-52D9-82EF-BFDB67D1B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F774-808D-F4DE-05F2-1AD9AB0F8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/>
          <a:lstStyle/>
          <a:p>
            <a:r>
              <a:rPr lang="en-US" sz="4800" dirty="0"/>
              <a:t>Dynamic Allocator – </a:t>
            </a:r>
            <a:r>
              <a:rPr lang="en-US" sz="4800" b="1" dirty="0"/>
              <a:t>Functions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B2CCC-9883-8D86-0E63-643FA06C8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functions required to handle “</a:t>
            </a:r>
            <a:r>
              <a:rPr lang="en-US" sz="2000" b="1" dirty="0"/>
              <a:t>Dynamic Allocator</a:t>
            </a:r>
            <a:r>
              <a:rPr lang="en-US" dirty="0"/>
              <a:t>” are: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944D3-8745-AF02-C9AF-A93EB0B3E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FC27FFD-7A6B-8FA2-E271-247A638E8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822545"/>
              </p:ext>
            </p:extLst>
          </p:nvPr>
        </p:nvGraphicFramePr>
        <p:xfrm>
          <a:off x="1307939" y="2486082"/>
          <a:ext cx="9904544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6836">
                  <a:extLst>
                    <a:ext uri="{9D8B030D-6E8A-4147-A177-3AD203B41FA5}">
                      <a16:colId xmlns:a16="http://schemas.microsoft.com/office/drawing/2014/main" val="422314023"/>
                    </a:ext>
                  </a:extLst>
                </a:gridCol>
                <a:gridCol w="5156193">
                  <a:extLst>
                    <a:ext uri="{9D8B030D-6E8A-4147-A177-3AD203B41FA5}">
                      <a16:colId xmlns:a16="http://schemas.microsoft.com/office/drawing/2014/main" val="1877600023"/>
                    </a:ext>
                  </a:extLst>
                </a:gridCol>
                <a:gridCol w="3301515">
                  <a:extLst>
                    <a:ext uri="{9D8B030D-6E8A-4147-A177-3AD203B41FA5}">
                      <a16:colId xmlns:a16="http://schemas.microsoft.com/office/drawing/2014/main" val="2719033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24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get_block_size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u="none" dirty="0"/>
                        <a:t>All essential declarations in:</a:t>
                      </a:r>
                    </a:p>
                    <a:p>
                      <a:pPr algn="ctr"/>
                      <a:r>
                        <a:rPr lang="en-US" u="none" dirty="0" err="1"/>
                        <a:t>inc</a:t>
                      </a:r>
                      <a:r>
                        <a:rPr lang="en-US" u="none" dirty="0"/>
                        <a:t>/</a:t>
                      </a:r>
                      <a:r>
                        <a:rPr lang="en-US" u="none" dirty="0" err="1"/>
                        <a:t>dynamic_allocator.h</a:t>
                      </a:r>
                      <a:endParaRPr lang="en-US" u="none" dirty="0"/>
                    </a:p>
                    <a:p>
                      <a:pPr algn="ctr"/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Functions definitions </a:t>
                      </a:r>
                      <a:r>
                        <a:rPr lang="en-US" b="1" u="sng" dirty="0">
                          <a:solidFill>
                            <a:srgbClr val="C00000"/>
                          </a:solidFill>
                        </a:rPr>
                        <a:t>TO DO</a:t>
                      </a: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lib/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dynamic_allocator.c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788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alloc_block</a:t>
                      </a:r>
                      <a:endParaRPr lang="en-US" sz="1800" b="1" kern="1200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365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free_block</a:t>
                      </a:r>
                      <a:endParaRPr lang="en-US" sz="1800" b="1" kern="1200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u="non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480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53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A367C26A-8898-0B1B-905A-4FBB40A71C94}"/>
              </a:ext>
            </a:extLst>
          </p:cNvPr>
          <p:cNvSpPr/>
          <p:nvPr/>
        </p:nvSpPr>
        <p:spPr>
          <a:xfrm>
            <a:off x="6746665" y="0"/>
            <a:ext cx="5445335" cy="68775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Allocator </a:t>
            </a:r>
            <a:r>
              <a:rPr lang="en-US" b="1" dirty="0"/>
              <a:t>– Idea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00014"/>
            <a:ext cx="6825788" cy="5126566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GOAL: </a:t>
            </a:r>
            <a:r>
              <a:rPr lang="en-US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allow the dynamic de/allocation of </a:t>
            </a:r>
            <a:r>
              <a:rPr lang="en-US" b="1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small-size blocks </a:t>
            </a:r>
            <a:r>
              <a:rPr lang="en-US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in run-time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MAIN IDEA: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1. Divide the page into two halves of size 2U</a:t>
            </a:r>
          </a:p>
          <a:p>
            <a:r>
              <a:rPr lang="en-US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2. </a:t>
            </a:r>
            <a:r>
              <a:rPr lang="en-US" dirty="0"/>
              <a:t>If a request of size </a:t>
            </a:r>
            <a:r>
              <a:rPr lang="en-US" i="1" dirty="0"/>
              <a:t>s </a:t>
            </a:r>
            <a:r>
              <a:rPr lang="en-US" dirty="0"/>
              <a:t>is 2</a:t>
            </a:r>
            <a:r>
              <a:rPr lang="en-US" i="1" baseline="30000" dirty="0"/>
              <a:t>U</a:t>
            </a:r>
            <a:r>
              <a:rPr lang="en-US" baseline="30000" dirty="0"/>
              <a:t>-1</a:t>
            </a:r>
            <a:r>
              <a:rPr lang="en-US" dirty="0"/>
              <a:t> &lt; </a:t>
            </a:r>
            <a:r>
              <a:rPr lang="en-US" i="1" dirty="0"/>
              <a:t>s </a:t>
            </a:r>
            <a:r>
              <a:rPr lang="en-US" dirty="0"/>
              <a:t>&lt;= 2</a:t>
            </a:r>
            <a:r>
              <a:rPr lang="en-US" i="1" baseline="30000" dirty="0"/>
              <a:t>U  </a:t>
            </a:r>
            <a:r>
              <a:rPr lang="en-US" dirty="0">
                <a:sym typeface="Wingdings" panose="05000000000000000000" pitchFamily="2" charset="2"/>
              </a:rPr>
              <a:t> e</a:t>
            </a:r>
            <a:r>
              <a:rPr lang="en-US" dirty="0"/>
              <a:t>ntire block is allocated</a:t>
            </a:r>
          </a:p>
          <a:p>
            <a:r>
              <a:rPr lang="en-US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3. </a:t>
            </a:r>
            <a:r>
              <a:rPr lang="en-US" dirty="0"/>
              <a:t>Otherwise, block is split into two equal buddies</a:t>
            </a:r>
          </a:p>
          <a:p>
            <a:pPr lvl="1"/>
            <a:r>
              <a:rPr lang="en-US" dirty="0"/>
              <a:t>Process continues until smallest block ≥ </a:t>
            </a:r>
            <a:r>
              <a:rPr lang="en-US" i="1" dirty="0"/>
              <a:t>s </a:t>
            </a:r>
            <a:r>
              <a:rPr lang="en-US" dirty="0"/>
              <a:t>is generated</a:t>
            </a:r>
            <a:endParaRPr lang="en-US" dirty="0">
              <a:solidFill>
                <a:srgbClr val="5C5962"/>
              </a:solidFill>
              <a:latin typeface="+mj-lt"/>
              <a:ea typeface="Calibri" panose="020F0502020204030204" pitchFamily="34" charset="0"/>
            </a:endParaRP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4. Keep track of the free blocks of each size in a linked list</a:t>
            </a:r>
          </a:p>
          <a:p>
            <a:pPr lv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</a:pPr>
            <a:r>
              <a:rPr lang="en-US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Each list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is </a:t>
            </a:r>
            <a:r>
              <a:rPr lang="en-US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double-linked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 list of elements, each element has: </a:t>
            </a:r>
          </a:p>
          <a:p>
            <a:pPr marL="749808" lvl="1" indent="-457200">
              <a:lnSpc>
                <a:spcPct val="110000"/>
              </a:lnSpc>
              <a:buClr>
                <a:srgbClr val="4F81BD"/>
              </a:buClr>
              <a:buFont typeface="+mj-lt"/>
              <a:buAutoNum type="arabicPeriod"/>
            </a:pPr>
            <a:r>
              <a:rPr lang="en-US" b="1" dirty="0"/>
              <a:t>level:</a:t>
            </a:r>
            <a:r>
              <a:rPr lang="en-US" dirty="0"/>
              <a:t> level of the block </a:t>
            </a:r>
            <a:r>
              <a:rPr lang="en-US" b="1" dirty="0"/>
              <a:t>(1 Byte)</a:t>
            </a:r>
          </a:p>
          <a:p>
            <a:pPr marL="749808" lvl="1" indent="-457200">
              <a:lnSpc>
                <a:spcPct val="110000"/>
              </a:lnSpc>
              <a:buClr>
                <a:srgbClr val="4F81BD"/>
              </a:buClr>
              <a:buFont typeface="+mj-lt"/>
              <a:buAutoNum type="arabicPeriod"/>
            </a:pPr>
            <a:r>
              <a:rPr lang="en-US" b="1" dirty="0" err="1"/>
              <a:t>is_free</a:t>
            </a:r>
            <a:r>
              <a:rPr lang="en-US" b="1" dirty="0"/>
              <a:t>:</a:t>
            </a:r>
            <a:r>
              <a:rPr lang="en-US" dirty="0"/>
              <a:t> Boolean describing whether or not this block is free </a:t>
            </a:r>
            <a:r>
              <a:rPr lang="en-US" b="1" dirty="0"/>
              <a:t>(1 B)</a:t>
            </a:r>
            <a:endParaRPr lang="en-US" dirty="0"/>
          </a:p>
          <a:p>
            <a:pPr marL="749808" lvl="1" indent="-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Font typeface="+mj-lt"/>
              <a:buAutoNum type="arabicPeriod"/>
            </a:pPr>
            <a:r>
              <a:rPr lang="en-US" b="1" dirty="0" err="1"/>
              <a:t>prev</a:t>
            </a:r>
            <a:r>
              <a:rPr lang="en-US" b="1" dirty="0"/>
              <a:t>, next </a:t>
            </a:r>
            <a:r>
              <a:rPr lang="en-US" dirty="0"/>
              <a:t>Pointers to the adjacent element </a:t>
            </a:r>
            <a:r>
              <a:rPr lang="en-US" b="1" dirty="0"/>
              <a:t>(4 Byte/each)</a:t>
            </a:r>
            <a:endParaRPr lang="en-US" dirty="0"/>
          </a:p>
          <a:p>
            <a:pPr marL="0" inden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Min block size is </a:t>
            </a:r>
            <a:r>
              <a:rPr lang="en-US" b="1" dirty="0"/>
              <a:t>16 B</a:t>
            </a:r>
            <a:r>
              <a:rPr lang="en-US" dirty="0"/>
              <a:t>… </a:t>
            </a:r>
            <a:r>
              <a:rPr lang="en-US" b="1" dirty="0">
                <a:solidFill>
                  <a:srgbClr val="FF0000"/>
                </a:solidFill>
              </a:rPr>
              <a:t>WHY?</a:t>
            </a:r>
            <a:endParaRPr lang="en-US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8</a:t>
            </a:fld>
            <a:endParaRPr lang="en-US"/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62F73EF-DBCF-DED9-FD0F-54C5A7A300F9}"/>
              </a:ext>
            </a:extLst>
          </p:cNvPr>
          <p:cNvGrpSpPr/>
          <p:nvPr/>
        </p:nvGrpSpPr>
        <p:grpSpPr>
          <a:xfrm>
            <a:off x="8858675" y="4831781"/>
            <a:ext cx="3239289" cy="286707"/>
            <a:chOff x="8858675" y="4395359"/>
            <a:chExt cx="3239289" cy="28670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5E0CAA-9210-F3B3-10A0-3B630CD68A28}"/>
                </a:ext>
              </a:extLst>
            </p:cNvPr>
            <p:cNvSpPr/>
            <p:nvPr/>
          </p:nvSpPr>
          <p:spPr>
            <a:xfrm>
              <a:off x="9639814" y="4395359"/>
              <a:ext cx="354330" cy="286707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C0C40ED-B0E1-181F-784D-B7593F1D5DA3}"/>
                </a:ext>
              </a:extLst>
            </p:cNvPr>
            <p:cNvSpPr/>
            <p:nvPr/>
          </p:nvSpPr>
          <p:spPr>
            <a:xfrm>
              <a:off x="10165769" y="4395359"/>
              <a:ext cx="354330" cy="286707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3B99CCC-366D-9653-053E-2A06EE56C1A8}"/>
                </a:ext>
              </a:extLst>
            </p:cNvPr>
            <p:cNvSpPr/>
            <p:nvPr/>
          </p:nvSpPr>
          <p:spPr>
            <a:xfrm>
              <a:off x="9113859" y="4395359"/>
              <a:ext cx="354330" cy="286707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8A81D7B-1F63-52D1-2765-2EF38B7F32FB}"/>
                </a:ext>
              </a:extLst>
            </p:cNvPr>
            <p:cNvSpPr/>
            <p:nvPr/>
          </p:nvSpPr>
          <p:spPr>
            <a:xfrm>
              <a:off x="10691724" y="4395359"/>
              <a:ext cx="354330" cy="286707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7C553B2-1DF6-42C6-175E-076AA92C2369}"/>
                </a:ext>
              </a:extLst>
            </p:cNvPr>
            <p:cNvSpPr/>
            <p:nvPr/>
          </p:nvSpPr>
          <p:spPr>
            <a:xfrm>
              <a:off x="11217679" y="4395359"/>
              <a:ext cx="354330" cy="286707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94957DF-E0C3-7CD9-BEF8-ABD3E8A18A40}"/>
                </a:ext>
              </a:extLst>
            </p:cNvPr>
            <p:cNvSpPr/>
            <p:nvPr/>
          </p:nvSpPr>
          <p:spPr>
            <a:xfrm>
              <a:off x="11743634" y="4395359"/>
              <a:ext cx="354330" cy="286707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3F02BE7-D148-16B8-E5C4-7F9411C951DA}"/>
                </a:ext>
              </a:extLst>
            </p:cNvPr>
            <p:cNvCxnSpPr>
              <a:stCxn id="18" idx="3"/>
              <a:endCxn id="26" idx="1"/>
            </p:cNvCxnSpPr>
            <p:nvPr/>
          </p:nvCxnSpPr>
          <p:spPr>
            <a:xfrm>
              <a:off x="8858675" y="4536358"/>
              <a:ext cx="255184" cy="2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74FEAE6-183E-81AE-B8CA-B96F7260569C}"/>
                </a:ext>
              </a:extLst>
            </p:cNvPr>
            <p:cNvCxnSpPr>
              <a:cxnSpLocks/>
              <a:stCxn id="26" idx="3"/>
              <a:endCxn id="24" idx="1"/>
            </p:cNvCxnSpPr>
            <p:nvPr/>
          </p:nvCxnSpPr>
          <p:spPr>
            <a:xfrm>
              <a:off x="9468189" y="4538713"/>
              <a:ext cx="1716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D13C2FA-A035-D086-CC57-31F25C8875AF}"/>
                </a:ext>
              </a:extLst>
            </p:cNvPr>
            <p:cNvCxnSpPr>
              <a:cxnSpLocks/>
              <a:stCxn id="24" idx="3"/>
              <a:endCxn id="25" idx="1"/>
            </p:cNvCxnSpPr>
            <p:nvPr/>
          </p:nvCxnSpPr>
          <p:spPr>
            <a:xfrm>
              <a:off x="9994144" y="4538713"/>
              <a:ext cx="1716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B08A009-2638-14E7-1620-BA2EEBB1C34B}"/>
                </a:ext>
              </a:extLst>
            </p:cNvPr>
            <p:cNvCxnSpPr>
              <a:cxnSpLocks/>
              <a:stCxn id="25" idx="3"/>
              <a:endCxn id="27" idx="1"/>
            </p:cNvCxnSpPr>
            <p:nvPr/>
          </p:nvCxnSpPr>
          <p:spPr>
            <a:xfrm>
              <a:off x="10520099" y="4538713"/>
              <a:ext cx="1716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858F5CC-6BEB-7B61-3419-77653FAF2F4C}"/>
                </a:ext>
              </a:extLst>
            </p:cNvPr>
            <p:cNvCxnSpPr>
              <a:cxnSpLocks/>
              <a:stCxn id="27" idx="3"/>
              <a:endCxn id="28" idx="1"/>
            </p:cNvCxnSpPr>
            <p:nvPr/>
          </p:nvCxnSpPr>
          <p:spPr>
            <a:xfrm>
              <a:off x="11046054" y="4538713"/>
              <a:ext cx="1716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F29B055-ED12-7953-C17F-CE7AB362A8DE}"/>
                </a:ext>
              </a:extLst>
            </p:cNvPr>
            <p:cNvCxnSpPr>
              <a:cxnSpLocks/>
              <a:stCxn id="28" idx="3"/>
              <a:endCxn id="29" idx="1"/>
            </p:cNvCxnSpPr>
            <p:nvPr/>
          </p:nvCxnSpPr>
          <p:spPr>
            <a:xfrm>
              <a:off x="11572009" y="4538713"/>
              <a:ext cx="1716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2286E3E-6F63-73A1-3137-EE40FEB3D9EE}"/>
              </a:ext>
            </a:extLst>
          </p:cNvPr>
          <p:cNvGrpSpPr/>
          <p:nvPr/>
        </p:nvGrpSpPr>
        <p:grpSpPr>
          <a:xfrm>
            <a:off x="8858675" y="6440631"/>
            <a:ext cx="1393241" cy="286707"/>
            <a:chOff x="8858675" y="6004209"/>
            <a:chExt cx="1393241" cy="28670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61D134F-4B74-9EA0-4476-267BC567D53C}"/>
                </a:ext>
              </a:extLst>
            </p:cNvPr>
            <p:cNvSpPr/>
            <p:nvPr/>
          </p:nvSpPr>
          <p:spPr>
            <a:xfrm>
              <a:off x="9099916" y="6004209"/>
              <a:ext cx="1152000" cy="286707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A451720-E809-AD1C-73F2-B933B7197B1B}"/>
                </a:ext>
              </a:extLst>
            </p:cNvPr>
            <p:cNvCxnSpPr>
              <a:cxnSpLocks/>
              <a:stCxn id="20" idx="3"/>
              <a:endCxn id="54" idx="1"/>
            </p:cNvCxnSpPr>
            <p:nvPr/>
          </p:nvCxnSpPr>
          <p:spPr>
            <a:xfrm flipV="1">
              <a:off x="8858675" y="6147563"/>
              <a:ext cx="241241" cy="2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099536F-5066-894F-E76B-4FB843D90E36}"/>
              </a:ext>
            </a:extLst>
          </p:cNvPr>
          <p:cNvGrpSpPr/>
          <p:nvPr/>
        </p:nvGrpSpPr>
        <p:grpSpPr>
          <a:xfrm>
            <a:off x="8265698" y="4335051"/>
            <a:ext cx="1957587" cy="2431699"/>
            <a:chOff x="8265698" y="2578589"/>
            <a:chExt cx="1957587" cy="2431699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5E5627D-792C-4B24-B3E6-50C3E6762AA3}"/>
                </a:ext>
              </a:extLst>
            </p:cNvPr>
            <p:cNvGrpSpPr/>
            <p:nvPr/>
          </p:nvGrpSpPr>
          <p:grpSpPr>
            <a:xfrm>
              <a:off x="8395240" y="3033755"/>
              <a:ext cx="463435" cy="1976533"/>
              <a:chOff x="9437023" y="3092017"/>
              <a:chExt cx="463435" cy="1976533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30F5063-D954-ABFC-D1E6-EF83A0C4FED9}"/>
                  </a:ext>
                </a:extLst>
              </p:cNvPr>
              <p:cNvSpPr/>
              <p:nvPr/>
            </p:nvSpPr>
            <p:spPr>
              <a:xfrm>
                <a:off x="9437023" y="3092017"/>
                <a:ext cx="463435" cy="36512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16</a:t>
                </a:r>
                <a:endParaRPr lang="en-AE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16AAE1A-EA9F-DE27-BDE7-57735F992B26}"/>
                  </a:ext>
                </a:extLst>
              </p:cNvPr>
              <p:cNvSpPr/>
              <p:nvPr/>
            </p:nvSpPr>
            <p:spPr>
              <a:xfrm>
                <a:off x="9437023" y="3457142"/>
                <a:ext cx="463435" cy="36512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32</a:t>
                </a:r>
                <a:endParaRPr lang="en-AE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E7B642-E62A-8401-A9E8-B8A35EA4CE1C}"/>
                  </a:ext>
                </a:extLst>
              </p:cNvPr>
              <p:cNvSpPr/>
              <p:nvPr/>
            </p:nvSpPr>
            <p:spPr>
              <a:xfrm>
                <a:off x="9437023" y="4703425"/>
                <a:ext cx="463435" cy="36512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2K</a:t>
                </a:r>
                <a:endParaRPr lang="en-AE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1289DC1-9E5B-64DF-0A7E-CC6392D984B3}"/>
                  </a:ext>
                </a:extLst>
              </p:cNvPr>
              <p:cNvSpPr/>
              <p:nvPr/>
            </p:nvSpPr>
            <p:spPr>
              <a:xfrm>
                <a:off x="9437023" y="3825535"/>
                <a:ext cx="463435" cy="87788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.</a:t>
                </a:r>
              </a:p>
              <a:p>
                <a:pPr algn="ctr"/>
                <a:r>
                  <a:rPr lang="en-US" dirty="0"/>
                  <a:t>.</a:t>
                </a:r>
              </a:p>
              <a:p>
                <a:pPr algn="ctr"/>
                <a:r>
                  <a:rPr lang="en-US" dirty="0"/>
                  <a:t>.</a:t>
                </a:r>
              </a:p>
            </p:txBody>
          </p: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844DB1B-3412-2B35-3B76-B7C1F2D0599A}"/>
                </a:ext>
              </a:extLst>
            </p:cNvPr>
            <p:cNvSpPr txBox="1"/>
            <p:nvPr/>
          </p:nvSpPr>
          <p:spPr>
            <a:xfrm>
              <a:off x="8265698" y="2578589"/>
              <a:ext cx="19575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</a:rPr>
                <a:t>freeBlockLists</a:t>
              </a:r>
              <a:endParaRPr lang="en-AE" b="1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483FC2C-C979-971F-3961-2A4F1404CD13}"/>
              </a:ext>
            </a:extLst>
          </p:cNvPr>
          <p:cNvGrpSpPr/>
          <p:nvPr/>
        </p:nvGrpSpPr>
        <p:grpSpPr>
          <a:xfrm>
            <a:off x="11022591" y="15913"/>
            <a:ext cx="1075373" cy="3950729"/>
            <a:chOff x="11022591" y="140605"/>
            <a:chExt cx="1075373" cy="395072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AB9388-583D-AF1C-8879-772A666BB8F3}"/>
                </a:ext>
              </a:extLst>
            </p:cNvPr>
            <p:cNvSpPr/>
            <p:nvPr/>
          </p:nvSpPr>
          <p:spPr>
            <a:xfrm>
              <a:off x="11022591" y="3513681"/>
              <a:ext cx="1075373" cy="5776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Page</a:t>
              </a:r>
              <a:endParaRPr lang="en-AE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C26ED48-FDE5-ED9E-3FAB-F9CD9151E528}"/>
                </a:ext>
              </a:extLst>
            </p:cNvPr>
            <p:cNvSpPr/>
            <p:nvPr/>
          </p:nvSpPr>
          <p:spPr>
            <a:xfrm>
              <a:off x="11022591" y="2940263"/>
              <a:ext cx="1075373" cy="57765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Page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01C7E51-3B54-2EAC-D1E9-15DB3E7A20D4}"/>
                </a:ext>
              </a:extLst>
            </p:cNvPr>
            <p:cNvSpPr/>
            <p:nvPr/>
          </p:nvSpPr>
          <p:spPr>
            <a:xfrm>
              <a:off x="11022591" y="2366845"/>
              <a:ext cx="1075373" cy="57765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Page</a:t>
              </a:r>
              <a:endParaRPr lang="en-AE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2CAAD9B-A945-B44D-A736-FFF4285EBCAE}"/>
                </a:ext>
              </a:extLst>
            </p:cNvPr>
            <p:cNvSpPr/>
            <p:nvPr/>
          </p:nvSpPr>
          <p:spPr>
            <a:xfrm>
              <a:off x="11022591" y="1818429"/>
              <a:ext cx="1075373" cy="5776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Page</a:t>
              </a:r>
              <a:endParaRPr lang="en-AE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12567C6-F6E6-05F3-75D8-CBD6C72F7437}"/>
                </a:ext>
              </a:extLst>
            </p:cNvPr>
            <p:cNvSpPr/>
            <p:nvPr/>
          </p:nvSpPr>
          <p:spPr>
            <a:xfrm>
              <a:off x="11022591" y="1269351"/>
              <a:ext cx="1075373" cy="57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Page</a:t>
              </a:r>
              <a:endParaRPr lang="en-AE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5C2EEEB-4267-6D70-47AB-2DCE119AE6AD}"/>
                </a:ext>
              </a:extLst>
            </p:cNvPr>
            <p:cNvSpPr/>
            <p:nvPr/>
          </p:nvSpPr>
          <p:spPr>
            <a:xfrm>
              <a:off x="11022591" y="694663"/>
              <a:ext cx="1075373" cy="57765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Page</a:t>
              </a:r>
              <a:endParaRPr lang="en-AE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A227D18D-49AE-57F7-34B3-9E3E9653B52E}"/>
                </a:ext>
              </a:extLst>
            </p:cNvPr>
            <p:cNvSpPr/>
            <p:nvPr/>
          </p:nvSpPr>
          <p:spPr>
            <a:xfrm>
              <a:off x="11022591" y="140605"/>
              <a:ext cx="1075373" cy="5776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Page</a:t>
              </a:r>
              <a:endParaRPr lang="en-AE" dirty="0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63666CEC-3E0F-E81A-706E-AD0BF45C39E2}"/>
              </a:ext>
            </a:extLst>
          </p:cNvPr>
          <p:cNvGrpSpPr/>
          <p:nvPr/>
        </p:nvGrpSpPr>
        <p:grpSpPr>
          <a:xfrm>
            <a:off x="8858675" y="5198185"/>
            <a:ext cx="2181530" cy="289129"/>
            <a:chOff x="8858675" y="4761763"/>
            <a:chExt cx="2181530" cy="28912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55D948C-69F4-2F2A-81E6-B77226ABCE7B}"/>
                </a:ext>
              </a:extLst>
            </p:cNvPr>
            <p:cNvSpPr/>
            <p:nvPr/>
          </p:nvSpPr>
          <p:spPr>
            <a:xfrm>
              <a:off x="9113859" y="4764185"/>
              <a:ext cx="468000" cy="286707"/>
            </a:xfrm>
            <a:prstGeom prst="rect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F938D6A9-08A6-5B15-0B6D-A512EEBAA399}"/>
                </a:ext>
              </a:extLst>
            </p:cNvPr>
            <p:cNvCxnSpPr>
              <a:cxnSpLocks/>
              <a:stCxn id="19" idx="3"/>
              <a:endCxn id="48" idx="1"/>
            </p:cNvCxnSpPr>
            <p:nvPr/>
          </p:nvCxnSpPr>
          <p:spPr>
            <a:xfrm>
              <a:off x="8858675" y="4891092"/>
              <a:ext cx="255184" cy="16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146B125-D4ED-7CE9-AF66-6BCE77833134}"/>
                </a:ext>
              </a:extLst>
            </p:cNvPr>
            <p:cNvSpPr/>
            <p:nvPr/>
          </p:nvSpPr>
          <p:spPr>
            <a:xfrm>
              <a:off x="9855505" y="4761763"/>
              <a:ext cx="468000" cy="286707"/>
            </a:xfrm>
            <a:prstGeom prst="rect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FBE36F55-EAD0-2D35-28A0-E129035BADBC}"/>
                </a:ext>
              </a:extLst>
            </p:cNvPr>
            <p:cNvCxnSpPr>
              <a:cxnSpLocks/>
              <a:stCxn id="48" idx="3"/>
              <a:endCxn id="50" idx="1"/>
            </p:cNvCxnSpPr>
            <p:nvPr/>
          </p:nvCxnSpPr>
          <p:spPr>
            <a:xfrm flipV="1">
              <a:off x="9581859" y="4905117"/>
              <a:ext cx="273646" cy="24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C52FA45-F0CC-CDFC-C7B8-72432C1A1BB1}"/>
                </a:ext>
              </a:extLst>
            </p:cNvPr>
            <p:cNvSpPr/>
            <p:nvPr/>
          </p:nvSpPr>
          <p:spPr>
            <a:xfrm>
              <a:off x="10572205" y="4763980"/>
              <a:ext cx="468000" cy="286707"/>
            </a:xfrm>
            <a:prstGeom prst="rect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4C3C538-878D-EBBC-CAE0-18B875DF5930}"/>
                </a:ext>
              </a:extLst>
            </p:cNvPr>
            <p:cNvCxnSpPr>
              <a:cxnSpLocks/>
              <a:stCxn id="50" idx="3"/>
              <a:endCxn id="97" idx="1"/>
            </p:cNvCxnSpPr>
            <p:nvPr/>
          </p:nvCxnSpPr>
          <p:spPr>
            <a:xfrm>
              <a:off x="10323505" y="4905117"/>
              <a:ext cx="248700" cy="22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F5FE080-7C4F-339F-60B9-F99D214D4B2C}"/>
              </a:ext>
            </a:extLst>
          </p:cNvPr>
          <p:cNvSpPr/>
          <p:nvPr/>
        </p:nvSpPr>
        <p:spPr>
          <a:xfrm>
            <a:off x="8395564" y="4790759"/>
            <a:ext cx="463435" cy="365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16</a:t>
            </a:r>
            <a:endParaRPr lang="en-AE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8DDD80-B4ED-A9F2-D80F-33C519389B83}"/>
              </a:ext>
            </a:extLst>
          </p:cNvPr>
          <p:cNvSpPr/>
          <p:nvPr/>
        </p:nvSpPr>
        <p:spPr>
          <a:xfrm>
            <a:off x="1110788" y="383508"/>
            <a:ext cx="8778240" cy="609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 KB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15A58E-521C-6FB5-5216-8EB00E48C466}"/>
              </a:ext>
            </a:extLst>
          </p:cNvPr>
          <p:cNvSpPr txBox="1"/>
          <p:nvPr/>
        </p:nvSpPr>
        <p:spPr>
          <a:xfrm>
            <a:off x="8133843" y="1123649"/>
            <a:ext cx="221329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Request 400 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E98D86-160D-2C4F-EC87-FB443F8AE910}"/>
              </a:ext>
            </a:extLst>
          </p:cNvPr>
          <p:cNvSpPr/>
          <p:nvPr/>
        </p:nvSpPr>
        <p:spPr>
          <a:xfrm>
            <a:off x="1110788" y="373117"/>
            <a:ext cx="4389120" cy="609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 KB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FCFB60-25EC-B977-6362-0D0EA082A51A}"/>
              </a:ext>
            </a:extLst>
          </p:cNvPr>
          <p:cNvSpPr/>
          <p:nvPr/>
        </p:nvSpPr>
        <p:spPr>
          <a:xfrm>
            <a:off x="5507528" y="373117"/>
            <a:ext cx="4389120" cy="609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 KB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DDE5CF-7CBB-B9B3-C2A0-B0382DAA9EED}"/>
              </a:ext>
            </a:extLst>
          </p:cNvPr>
          <p:cNvSpPr/>
          <p:nvPr/>
        </p:nvSpPr>
        <p:spPr>
          <a:xfrm>
            <a:off x="1110788" y="373117"/>
            <a:ext cx="2194560" cy="609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 KB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E1DD3F-2AB3-9547-ABC9-0B49D0285ABA}"/>
              </a:ext>
            </a:extLst>
          </p:cNvPr>
          <p:cNvSpPr/>
          <p:nvPr/>
        </p:nvSpPr>
        <p:spPr>
          <a:xfrm>
            <a:off x="3305348" y="373117"/>
            <a:ext cx="2194560" cy="609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 KB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2AD920-8DFA-FC77-0030-F907A17B9FAF}"/>
              </a:ext>
            </a:extLst>
          </p:cNvPr>
          <p:cNvSpPr/>
          <p:nvPr/>
        </p:nvSpPr>
        <p:spPr>
          <a:xfrm>
            <a:off x="1110788" y="373117"/>
            <a:ext cx="1097280" cy="609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512 B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4DC498-9F19-9CFA-A2CA-ED50FD19B502}"/>
              </a:ext>
            </a:extLst>
          </p:cNvPr>
          <p:cNvSpPr/>
          <p:nvPr/>
        </p:nvSpPr>
        <p:spPr>
          <a:xfrm>
            <a:off x="2211878" y="373117"/>
            <a:ext cx="1097280" cy="609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512 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8331C7-3CD7-3EA8-B46A-E34359018AAC}"/>
              </a:ext>
            </a:extLst>
          </p:cNvPr>
          <p:cNvSpPr/>
          <p:nvPr/>
        </p:nvSpPr>
        <p:spPr>
          <a:xfrm>
            <a:off x="1110788" y="373117"/>
            <a:ext cx="762000" cy="609600"/>
          </a:xfrm>
          <a:prstGeom prst="rect">
            <a:avLst/>
          </a:prstGeom>
          <a:solidFill>
            <a:srgbClr val="FCD5B5">
              <a:alpha val="65882"/>
            </a:srgb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BFE06C-037A-D659-CAEE-8B6AED0C8891}"/>
              </a:ext>
            </a:extLst>
          </p:cNvPr>
          <p:cNvSpPr txBox="1"/>
          <p:nvPr/>
        </p:nvSpPr>
        <p:spPr>
          <a:xfrm>
            <a:off x="8133843" y="1616832"/>
            <a:ext cx="221329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Request 800 B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F2868EE-5ACA-DC81-72A1-A3B09C2D8B93}"/>
              </a:ext>
            </a:extLst>
          </p:cNvPr>
          <p:cNvSpPr/>
          <p:nvPr/>
        </p:nvSpPr>
        <p:spPr>
          <a:xfrm>
            <a:off x="3320588" y="373117"/>
            <a:ext cx="1676400" cy="609600"/>
          </a:xfrm>
          <a:prstGeom prst="rect">
            <a:avLst/>
          </a:prstGeom>
          <a:solidFill>
            <a:srgbClr val="FCD5B5">
              <a:alpha val="65882"/>
            </a:srgb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520E0D-ECE0-BA1C-BD0B-03DD1FF93D31}"/>
              </a:ext>
            </a:extLst>
          </p:cNvPr>
          <p:cNvSpPr txBox="1"/>
          <p:nvPr/>
        </p:nvSpPr>
        <p:spPr>
          <a:xfrm>
            <a:off x="8133843" y="2110015"/>
            <a:ext cx="228062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Request 256 B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7BA349E-CC78-D38F-9D7A-722CA6927733}"/>
              </a:ext>
            </a:extLst>
          </p:cNvPr>
          <p:cNvSpPr/>
          <p:nvPr/>
        </p:nvSpPr>
        <p:spPr>
          <a:xfrm>
            <a:off x="2211878" y="373117"/>
            <a:ext cx="548640" cy="609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256B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54E1537-293F-93E9-8177-DA7CAF8DA102}"/>
              </a:ext>
            </a:extLst>
          </p:cNvPr>
          <p:cNvSpPr/>
          <p:nvPr/>
        </p:nvSpPr>
        <p:spPr>
          <a:xfrm>
            <a:off x="2775758" y="373117"/>
            <a:ext cx="548640" cy="609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256B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55AD9E-1F1A-E33A-FAE3-4887D3AE6B7D}"/>
              </a:ext>
            </a:extLst>
          </p:cNvPr>
          <p:cNvSpPr/>
          <p:nvPr/>
        </p:nvSpPr>
        <p:spPr>
          <a:xfrm>
            <a:off x="2211878" y="373117"/>
            <a:ext cx="548640" cy="609600"/>
          </a:xfrm>
          <a:prstGeom prst="rect">
            <a:avLst/>
          </a:prstGeom>
          <a:solidFill>
            <a:srgbClr val="FCD5B5">
              <a:alpha val="65882"/>
            </a:srgb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F1FF7F-ECE5-CAFB-5CA0-75656CCE5324}"/>
              </a:ext>
            </a:extLst>
          </p:cNvPr>
          <p:cNvSpPr txBox="1"/>
          <p:nvPr/>
        </p:nvSpPr>
        <p:spPr>
          <a:xfrm>
            <a:off x="8265698" y="2603197"/>
            <a:ext cx="205780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Request 1 KB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32DD3DA-7168-4901-BC0C-B62C8FE6629F}"/>
              </a:ext>
            </a:extLst>
          </p:cNvPr>
          <p:cNvSpPr/>
          <p:nvPr/>
        </p:nvSpPr>
        <p:spPr>
          <a:xfrm>
            <a:off x="5507528" y="373117"/>
            <a:ext cx="2194560" cy="609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 KB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910BB4E-81A0-FFAA-101F-A4BA2A044423}"/>
              </a:ext>
            </a:extLst>
          </p:cNvPr>
          <p:cNvSpPr/>
          <p:nvPr/>
        </p:nvSpPr>
        <p:spPr>
          <a:xfrm>
            <a:off x="7705898" y="373117"/>
            <a:ext cx="2194560" cy="609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 KB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8AB9050-DA38-5F82-0A7C-33B740EE0207}"/>
              </a:ext>
            </a:extLst>
          </p:cNvPr>
          <p:cNvSpPr/>
          <p:nvPr/>
        </p:nvSpPr>
        <p:spPr>
          <a:xfrm>
            <a:off x="5511338" y="373117"/>
            <a:ext cx="2194560" cy="609600"/>
          </a:xfrm>
          <a:prstGeom prst="rect">
            <a:avLst/>
          </a:prstGeom>
          <a:solidFill>
            <a:srgbClr val="FCD5B5">
              <a:alpha val="65882"/>
            </a:srgb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9DE7F3-88C7-89B4-8738-94E9ED29A593}"/>
              </a:ext>
            </a:extLst>
          </p:cNvPr>
          <p:cNvSpPr txBox="1"/>
          <p:nvPr/>
        </p:nvSpPr>
        <p:spPr>
          <a:xfrm>
            <a:off x="1329376" y="-84083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9A629B-D082-C6B2-430B-C01D2179F4EE}"/>
              </a:ext>
            </a:extLst>
          </p:cNvPr>
          <p:cNvSpPr txBox="1"/>
          <p:nvPr/>
        </p:nvSpPr>
        <p:spPr>
          <a:xfrm>
            <a:off x="3930188" y="-84083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B93521-5064-1243-E9CA-7B73F815928B}"/>
              </a:ext>
            </a:extLst>
          </p:cNvPr>
          <p:cNvSpPr txBox="1"/>
          <p:nvPr/>
        </p:nvSpPr>
        <p:spPr>
          <a:xfrm>
            <a:off x="2253788" y="-84083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D6BD28-C423-AB4A-F436-4F6778799D64}"/>
              </a:ext>
            </a:extLst>
          </p:cNvPr>
          <p:cNvSpPr txBox="1"/>
          <p:nvPr/>
        </p:nvSpPr>
        <p:spPr>
          <a:xfrm>
            <a:off x="6381436" y="-84083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023DF8C-2FBA-80C3-7E86-CC913FF74733}"/>
              </a:ext>
            </a:extLst>
          </p:cNvPr>
          <p:cNvSpPr/>
          <p:nvPr/>
        </p:nvSpPr>
        <p:spPr>
          <a:xfrm>
            <a:off x="6939145" y="2073021"/>
            <a:ext cx="1456095" cy="211225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9BD269C-20B1-4F15-DFE5-1BBF9D388A77}"/>
              </a:ext>
            </a:extLst>
          </p:cNvPr>
          <p:cNvGrpSpPr/>
          <p:nvPr/>
        </p:nvGrpSpPr>
        <p:grpSpPr>
          <a:xfrm>
            <a:off x="6950721" y="3857323"/>
            <a:ext cx="1432944" cy="318175"/>
            <a:chOff x="7893935" y="2783840"/>
            <a:chExt cx="1432944" cy="318175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D78145B-5D79-E2B5-E3F2-8E30C3859113}"/>
                </a:ext>
              </a:extLst>
            </p:cNvPr>
            <p:cNvSpPr/>
            <p:nvPr/>
          </p:nvSpPr>
          <p:spPr>
            <a:xfrm>
              <a:off x="7893935" y="2783840"/>
              <a:ext cx="689418" cy="31817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level</a:t>
              </a:r>
              <a:endParaRPr lang="en-AE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599D2AB4-240B-918E-25AE-241649F3B6AB}"/>
                </a:ext>
              </a:extLst>
            </p:cNvPr>
            <p:cNvSpPr/>
            <p:nvPr/>
          </p:nvSpPr>
          <p:spPr>
            <a:xfrm>
              <a:off x="8594855" y="2783840"/>
              <a:ext cx="732024" cy="31817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err="1"/>
                <a:t>is_free</a:t>
              </a:r>
              <a:endParaRPr lang="en-AE" dirty="0"/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C24A570-9AAE-EC2B-877D-655FAE35741F}"/>
              </a:ext>
            </a:extLst>
          </p:cNvPr>
          <p:cNvSpPr txBox="1"/>
          <p:nvPr/>
        </p:nvSpPr>
        <p:spPr>
          <a:xfrm>
            <a:off x="7250250" y="1717701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Block </a:t>
            </a:r>
            <a:endParaRPr lang="en-AE" b="1" dirty="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0C46E7F-0397-26E0-20FC-5B2E85E65220}"/>
              </a:ext>
            </a:extLst>
          </p:cNvPr>
          <p:cNvGrpSpPr/>
          <p:nvPr/>
        </p:nvGrpSpPr>
        <p:grpSpPr>
          <a:xfrm>
            <a:off x="6950647" y="3375307"/>
            <a:ext cx="1436049" cy="483525"/>
            <a:chOff x="9796200" y="4502856"/>
            <a:chExt cx="1436049" cy="483525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85F53CF6-C8EB-D796-B3B2-75255BEFEC97}"/>
                </a:ext>
              </a:extLst>
            </p:cNvPr>
            <p:cNvSpPr/>
            <p:nvPr/>
          </p:nvSpPr>
          <p:spPr>
            <a:xfrm>
              <a:off x="9796354" y="4502856"/>
              <a:ext cx="1435895" cy="24269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err="1"/>
                <a:t>prev</a:t>
              </a:r>
              <a:r>
                <a:rPr lang="en-US" b="1" dirty="0"/>
                <a:t> </a:t>
              </a:r>
              <a:r>
                <a:rPr lang="en-US" b="1" dirty="0" err="1"/>
                <a:t>ptr</a:t>
              </a:r>
              <a:r>
                <a:rPr lang="en-US" b="1" dirty="0"/>
                <a:t> </a:t>
              </a:r>
              <a:r>
                <a:rPr lang="en-US" b="1" dirty="0">
                  <a:sym typeface="Wingdings" panose="05000000000000000000" pitchFamily="2" charset="2"/>
                </a:rPr>
                <a:t></a:t>
              </a:r>
              <a:endParaRPr lang="en-AE" b="1" dirty="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2A71A45C-2778-59EB-3816-E132D074A37F}"/>
                </a:ext>
              </a:extLst>
            </p:cNvPr>
            <p:cNvSpPr/>
            <p:nvPr/>
          </p:nvSpPr>
          <p:spPr>
            <a:xfrm>
              <a:off x="9796200" y="4743683"/>
              <a:ext cx="1435895" cy="24269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next </a:t>
              </a:r>
              <a:r>
                <a:rPr lang="en-US" b="1" dirty="0" err="1"/>
                <a:t>ptr</a:t>
              </a:r>
              <a:r>
                <a:rPr lang="en-US" b="1" dirty="0"/>
                <a:t> </a:t>
              </a:r>
              <a:r>
                <a:rPr lang="en-US" b="1" dirty="0">
                  <a:sym typeface="Wingdings" panose="05000000000000000000" pitchFamily="2" charset="2"/>
                </a:rPr>
                <a:t></a:t>
              </a:r>
              <a:endParaRPr lang="en-AE" b="1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CE855B3-E6E3-B7E1-F0DD-AA3B5D8F8F0F}"/>
              </a:ext>
            </a:extLst>
          </p:cNvPr>
          <p:cNvGrpSpPr/>
          <p:nvPr/>
        </p:nvGrpSpPr>
        <p:grpSpPr>
          <a:xfrm>
            <a:off x="7731923" y="4782742"/>
            <a:ext cx="726481" cy="1985908"/>
            <a:chOff x="7731923" y="4782742"/>
            <a:chExt cx="726481" cy="19859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555B5F-77FA-8117-556F-AF535C34D96C}"/>
                </a:ext>
              </a:extLst>
            </p:cNvPr>
            <p:cNvSpPr txBox="1"/>
            <p:nvPr/>
          </p:nvSpPr>
          <p:spPr>
            <a:xfrm>
              <a:off x="7868178" y="4782742"/>
              <a:ext cx="5902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L#4</a:t>
              </a:r>
              <a:endParaRPr lang="en-AE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387C105-F8DE-956A-7A6B-BEA174569D06}"/>
                </a:ext>
              </a:extLst>
            </p:cNvPr>
            <p:cNvSpPr txBox="1"/>
            <p:nvPr/>
          </p:nvSpPr>
          <p:spPr>
            <a:xfrm>
              <a:off x="7868178" y="5175661"/>
              <a:ext cx="5902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L#5</a:t>
              </a:r>
              <a:endParaRPr lang="en-AE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85AE5A-6FC1-C7BA-E7BA-992A66120B69}"/>
                </a:ext>
              </a:extLst>
            </p:cNvPr>
            <p:cNvSpPr txBox="1"/>
            <p:nvPr/>
          </p:nvSpPr>
          <p:spPr>
            <a:xfrm>
              <a:off x="7731923" y="6399318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L#11</a:t>
              </a:r>
              <a:endParaRPr lang="en-AE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36339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0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animBg="1"/>
      <p:bldP spid="5" grpId="0" animBg="1"/>
      <p:bldP spid="5" grpId="1" animBg="1"/>
      <p:bldP spid="6" grpId="0" animBg="1"/>
      <p:bldP spid="6" grpId="1" animBg="1"/>
      <p:bldP spid="21" grpId="0" animBg="1"/>
      <p:bldP spid="21" grpId="1" animBg="1"/>
      <p:bldP spid="23" grpId="0" animBg="1"/>
      <p:bldP spid="23" grpId="1" animBg="1"/>
      <p:bldP spid="31" grpId="0" animBg="1"/>
      <p:bldP spid="31" grpId="1" animBg="1"/>
      <p:bldP spid="34" grpId="0" animBg="1"/>
      <p:bldP spid="34" grpId="1" animBg="1"/>
      <p:bldP spid="35" grpId="0" animBg="1"/>
      <p:bldP spid="35" grpId="1" animBg="1"/>
      <p:bldP spid="37" grpId="0" animBg="1"/>
      <p:bldP spid="37" grpId="1" animBg="1"/>
      <p:bldP spid="38" grpId="0" animBg="1"/>
      <p:bldP spid="38" grpId="1" animBg="1"/>
      <p:bldP spid="40" grpId="0" animBg="1"/>
      <p:bldP spid="40" grpId="1" animBg="1"/>
      <p:bldP spid="41" grpId="0" animBg="1"/>
      <p:bldP spid="41" grpId="1" animBg="1"/>
      <p:bldP spid="43" grpId="0" animBg="1"/>
      <p:bldP spid="43" grpId="1" animBg="1"/>
      <p:bldP spid="44" grpId="0" animBg="1"/>
      <p:bldP spid="44" grpId="1" animBg="1"/>
      <p:bldP spid="46" grpId="0" animBg="1"/>
      <p:bldP spid="46" grpId="1" animBg="1"/>
      <p:bldP spid="47" grpId="0" animBg="1"/>
      <p:bldP spid="47" grpId="1" animBg="1"/>
      <p:bldP spid="52" grpId="0" animBg="1"/>
      <p:bldP spid="52" grpId="1" animBg="1"/>
      <p:bldP spid="53" grpId="0" animBg="1"/>
      <p:bldP spid="53" grpId="1" animBg="1"/>
      <p:bldP spid="56" grpId="0" animBg="1"/>
      <p:bldP spid="56" grpId="1" animBg="1"/>
      <p:bldP spid="57" grpId="0" animBg="1"/>
      <p:bldP spid="57" grpId="1" animBg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85" grpId="0" animBg="1"/>
      <p:bldP spid="1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roup 426">
            <a:extLst>
              <a:ext uri="{FF2B5EF4-FFF2-40B4-BE49-F238E27FC236}">
                <a16:creationId xmlns:a16="http://schemas.microsoft.com/office/drawing/2014/main" id="{F029BE94-E66B-FBD4-1F34-E7DD6A7303DF}"/>
              </a:ext>
            </a:extLst>
          </p:cNvPr>
          <p:cNvGrpSpPr/>
          <p:nvPr/>
        </p:nvGrpSpPr>
        <p:grpSpPr>
          <a:xfrm>
            <a:off x="3308294" y="6193382"/>
            <a:ext cx="8778240" cy="609600"/>
            <a:chOff x="3308294" y="5860870"/>
            <a:chExt cx="8778240" cy="609600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2CE92DB-89FC-7AE4-F43A-3BBFDFDE9B93}"/>
                </a:ext>
              </a:extLst>
            </p:cNvPr>
            <p:cNvSpPr/>
            <p:nvPr/>
          </p:nvSpPr>
          <p:spPr>
            <a:xfrm>
              <a:off x="3308294" y="5860870"/>
              <a:ext cx="877824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4 KB</a:t>
              </a: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00828292-8177-1151-23DE-81D84086BB91}"/>
                </a:ext>
              </a:extLst>
            </p:cNvPr>
            <p:cNvSpPr/>
            <p:nvPr/>
          </p:nvSpPr>
          <p:spPr>
            <a:xfrm>
              <a:off x="3308294" y="5867404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00"/>
              <a:t>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48DE39-A089-4FC4-8A2D-225AD6AA3DB7}"/>
              </a:ext>
            </a:extLst>
          </p:cNvPr>
          <p:cNvSpPr/>
          <p:nvPr/>
        </p:nvSpPr>
        <p:spPr>
          <a:xfrm>
            <a:off x="-4417" y="5898136"/>
            <a:ext cx="2828234" cy="9538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 =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Alloc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(300 B)</a:t>
            </a:r>
            <a:endParaRPr lang="en-AE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Need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310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Byte </a:t>
            </a: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it should reside in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Level#9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3C362F-99D8-426D-B331-E172FE2C2A1B}"/>
              </a:ext>
            </a:extLst>
          </p:cNvPr>
          <p:cNvSpPr/>
          <p:nvPr/>
        </p:nvSpPr>
        <p:spPr>
          <a:xfrm>
            <a:off x="2269447" y="2732997"/>
            <a:ext cx="1992402" cy="59078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r>
              <a:rPr lang="en-US" dirty="0">
                <a:solidFill>
                  <a:prstClr val="black"/>
                </a:solidFill>
              </a:rPr>
              <a:t>No blocks! move to the above level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0BE9FE8A-41C6-4BA7-BE27-9D6AC549B81C}"/>
              </a:ext>
            </a:extLst>
          </p:cNvPr>
          <p:cNvSpPr/>
          <p:nvPr/>
        </p:nvSpPr>
        <p:spPr>
          <a:xfrm>
            <a:off x="2281489" y="1913616"/>
            <a:ext cx="1992402" cy="59078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No blocks! move to the above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2FF723-C7C5-CEF4-A741-920C741AB360}"/>
              </a:ext>
            </a:extLst>
          </p:cNvPr>
          <p:cNvSpPr txBox="1">
            <a:spLocks/>
          </p:cNvSpPr>
          <p:nvPr/>
        </p:nvSpPr>
        <p:spPr>
          <a:xfrm>
            <a:off x="0" y="6005"/>
            <a:ext cx="6874569" cy="953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Dynamic Allocator </a:t>
            </a:r>
            <a:r>
              <a:rPr lang="en-US" b="1" dirty="0"/>
              <a:t>– Allocate</a:t>
            </a:r>
            <a:endParaRPr lang="en-AE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3A15EC1-B03C-FDD6-6E71-2C8C6D2D1E35}"/>
              </a:ext>
            </a:extLst>
          </p:cNvPr>
          <p:cNvCxnSpPr>
            <a:cxnSpLocks/>
          </p:cNvCxnSpPr>
          <p:nvPr/>
        </p:nvCxnSpPr>
        <p:spPr>
          <a:xfrm>
            <a:off x="407250" y="1574370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5D53F3E-2E8D-E2AC-7F11-956654A6B145}"/>
              </a:ext>
            </a:extLst>
          </p:cNvPr>
          <p:cNvCxnSpPr>
            <a:cxnSpLocks/>
          </p:cNvCxnSpPr>
          <p:nvPr/>
        </p:nvCxnSpPr>
        <p:spPr>
          <a:xfrm flipV="1">
            <a:off x="1260334" y="2337443"/>
            <a:ext cx="0" cy="3692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861CC8D-8314-08EA-53DD-C4A8632D634A}"/>
              </a:ext>
            </a:extLst>
          </p:cNvPr>
          <p:cNvCxnSpPr>
            <a:cxnSpLocks/>
          </p:cNvCxnSpPr>
          <p:nvPr/>
        </p:nvCxnSpPr>
        <p:spPr>
          <a:xfrm>
            <a:off x="407250" y="2360518"/>
            <a:ext cx="0" cy="346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tangle 13">
            <a:extLst>
              <a:ext uri="{FF2B5EF4-FFF2-40B4-BE49-F238E27FC236}">
                <a16:creationId xmlns:a16="http://schemas.microsoft.com/office/drawing/2014/main" id="{47A43AAD-3257-F194-F7F0-26C89C724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2709680"/>
            <a:ext cx="1350604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9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7BD54CE-B6AC-AD4F-3978-9CF401A7885C}"/>
              </a:ext>
            </a:extLst>
          </p:cNvPr>
          <p:cNvCxnSpPr>
            <a:cxnSpLocks/>
          </p:cNvCxnSpPr>
          <p:nvPr/>
        </p:nvCxnSpPr>
        <p:spPr>
          <a:xfrm flipV="1">
            <a:off x="1260334" y="1574370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Rectangle 13">
            <a:extLst>
              <a:ext uri="{FF2B5EF4-FFF2-40B4-BE49-F238E27FC236}">
                <a16:creationId xmlns:a16="http://schemas.microsoft.com/office/drawing/2014/main" id="{05927B6A-2731-C948-CE2C-00379298B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93" y="1111193"/>
            <a:ext cx="1334002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11</a:t>
            </a:r>
          </a:p>
        </p:txBody>
      </p:sp>
      <p:sp>
        <p:nvSpPr>
          <p:cNvPr id="99" name="Rectangle 13">
            <a:extLst>
              <a:ext uri="{FF2B5EF4-FFF2-40B4-BE49-F238E27FC236}">
                <a16:creationId xmlns:a16="http://schemas.microsoft.com/office/drawing/2014/main" id="{44B0D401-834B-6B53-38FC-1AE791CBA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67" y="1888005"/>
            <a:ext cx="134223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10</a:t>
            </a:r>
          </a:p>
        </p:txBody>
      </p:sp>
      <p:sp>
        <p:nvSpPr>
          <p:cNvPr id="83" name="Rectangle 13">
            <a:extLst>
              <a:ext uri="{FF2B5EF4-FFF2-40B4-BE49-F238E27FC236}">
                <a16:creationId xmlns:a16="http://schemas.microsoft.com/office/drawing/2014/main" id="{053B84D4-FD32-15F8-5D6E-453088FAF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3925671"/>
            <a:ext cx="135582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4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CDB1AB4-9BAD-4DF0-F918-AF4099574BF9}"/>
              </a:ext>
            </a:extLst>
          </p:cNvPr>
          <p:cNvCxnSpPr>
            <a:cxnSpLocks/>
            <a:stCxn id="93" idx="2"/>
            <a:endCxn id="83" idx="0"/>
          </p:cNvCxnSpPr>
          <p:nvPr/>
        </p:nvCxnSpPr>
        <p:spPr>
          <a:xfrm>
            <a:off x="884121" y="3180408"/>
            <a:ext cx="2610" cy="74526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6" name="Arrow: Bent 75">
            <a:extLst>
              <a:ext uri="{FF2B5EF4-FFF2-40B4-BE49-F238E27FC236}">
                <a16:creationId xmlns:a16="http://schemas.microsoft.com/office/drawing/2014/main" id="{CD4A92EF-2ACE-5583-20FB-E3F4517B613F}"/>
              </a:ext>
            </a:extLst>
          </p:cNvPr>
          <p:cNvSpPr/>
          <p:nvPr/>
        </p:nvSpPr>
        <p:spPr>
          <a:xfrm rot="5400000">
            <a:off x="1716804" y="1879656"/>
            <a:ext cx="346219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8" name="Arrow: Bent 77">
            <a:extLst>
              <a:ext uri="{FF2B5EF4-FFF2-40B4-BE49-F238E27FC236}">
                <a16:creationId xmlns:a16="http://schemas.microsoft.com/office/drawing/2014/main" id="{29909422-08BE-85D1-A87F-2EADC46F0CA9}"/>
              </a:ext>
            </a:extLst>
          </p:cNvPr>
          <p:cNvSpPr/>
          <p:nvPr/>
        </p:nvSpPr>
        <p:spPr>
          <a:xfrm rot="5400000">
            <a:off x="1716547" y="2699211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9" name="Arrow: Bent 78">
            <a:extLst>
              <a:ext uri="{FF2B5EF4-FFF2-40B4-BE49-F238E27FC236}">
                <a16:creationId xmlns:a16="http://schemas.microsoft.com/office/drawing/2014/main" id="{EE16F196-FFA8-895E-DBA9-B8D41416FB8A}"/>
              </a:ext>
            </a:extLst>
          </p:cNvPr>
          <p:cNvSpPr/>
          <p:nvPr/>
        </p:nvSpPr>
        <p:spPr>
          <a:xfrm rot="5400000">
            <a:off x="1728590" y="3936739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D920643-2B59-EA72-6B11-095D4FC5BD4C}"/>
              </a:ext>
            </a:extLst>
          </p:cNvPr>
          <p:cNvSpPr/>
          <p:nvPr/>
        </p:nvSpPr>
        <p:spPr>
          <a:xfrm>
            <a:off x="11022591" y="3388989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6006286-A568-26FD-ED6A-D7B1A758082D}"/>
              </a:ext>
            </a:extLst>
          </p:cNvPr>
          <p:cNvSpPr/>
          <p:nvPr/>
        </p:nvSpPr>
        <p:spPr>
          <a:xfrm>
            <a:off x="11022591" y="2815571"/>
            <a:ext cx="1075373" cy="5776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1826CB8-1799-388C-3344-E5B4DAE3B240}"/>
              </a:ext>
            </a:extLst>
          </p:cNvPr>
          <p:cNvSpPr/>
          <p:nvPr/>
        </p:nvSpPr>
        <p:spPr>
          <a:xfrm>
            <a:off x="11022591" y="224215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0279CA5-B3BF-D7D4-1A32-5D9EA0F4FD5D}"/>
              </a:ext>
            </a:extLst>
          </p:cNvPr>
          <p:cNvSpPr/>
          <p:nvPr/>
        </p:nvSpPr>
        <p:spPr>
          <a:xfrm>
            <a:off x="11022591" y="1693737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B98B15C-3E09-16C6-A2DC-E71838E09306}"/>
              </a:ext>
            </a:extLst>
          </p:cNvPr>
          <p:cNvSpPr/>
          <p:nvPr/>
        </p:nvSpPr>
        <p:spPr>
          <a:xfrm>
            <a:off x="11022591" y="1144659"/>
            <a:ext cx="1075373" cy="57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CC95B25-87A3-EDBD-C0B5-9924CBE5AB21}"/>
              </a:ext>
            </a:extLst>
          </p:cNvPr>
          <p:cNvSpPr/>
          <p:nvPr/>
        </p:nvSpPr>
        <p:spPr>
          <a:xfrm>
            <a:off x="11022591" y="569971"/>
            <a:ext cx="1075373" cy="5776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D90EFAC-B09B-7E8D-252A-FECE132CE842}"/>
              </a:ext>
            </a:extLst>
          </p:cNvPr>
          <p:cNvSpPr/>
          <p:nvPr/>
        </p:nvSpPr>
        <p:spPr>
          <a:xfrm>
            <a:off x="11022591" y="1591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935A7313-0A24-4F54-5CC7-6171DC107734}"/>
              </a:ext>
            </a:extLst>
          </p:cNvPr>
          <p:cNvCxnSpPr>
            <a:cxnSpLocks/>
          </p:cNvCxnSpPr>
          <p:nvPr/>
        </p:nvCxnSpPr>
        <p:spPr>
          <a:xfrm>
            <a:off x="417904" y="3629188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8CF1D4AB-69B6-CCE5-83EA-56A6CE8CB782}"/>
              </a:ext>
            </a:extLst>
          </p:cNvPr>
          <p:cNvCxnSpPr>
            <a:cxnSpLocks/>
          </p:cNvCxnSpPr>
          <p:nvPr/>
        </p:nvCxnSpPr>
        <p:spPr>
          <a:xfrm flipV="1">
            <a:off x="1270988" y="3598708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0DB549ED-191E-1A7E-BA5D-2C1B70D38CC3}"/>
              </a:ext>
            </a:extLst>
          </p:cNvPr>
          <p:cNvGrpSpPr/>
          <p:nvPr/>
        </p:nvGrpSpPr>
        <p:grpSpPr>
          <a:xfrm>
            <a:off x="208820" y="4396399"/>
            <a:ext cx="1350604" cy="1006903"/>
            <a:chOff x="208820" y="4396399"/>
            <a:chExt cx="1350604" cy="1006903"/>
          </a:xfrm>
        </p:grpSpPr>
        <p:sp>
          <p:nvSpPr>
            <p:cNvPr id="138" name="Rectangle 13" descr="N&#10;">
              <a:extLst>
                <a:ext uri="{FF2B5EF4-FFF2-40B4-BE49-F238E27FC236}">
                  <a16:creationId xmlns:a16="http://schemas.microsoft.com/office/drawing/2014/main" id="{E2203146-D456-45E0-FF62-1EA16291D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20" y="4932574"/>
              <a:ext cx="1350604" cy="4707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b="0" dirty="0">
                  <a:solidFill>
                    <a:prstClr val="black"/>
                  </a:solidFill>
                </a:rPr>
                <a:t>Not used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68F7E69A-8530-661A-3B73-F27AEA788306}"/>
                </a:ext>
              </a:extLst>
            </p:cNvPr>
            <p:cNvCxnSpPr>
              <a:cxnSpLocks/>
              <a:stCxn id="83" idx="2"/>
              <a:endCxn id="138" idx="0"/>
            </p:cNvCxnSpPr>
            <p:nvPr/>
          </p:nvCxnSpPr>
          <p:spPr>
            <a:xfrm flipH="1">
              <a:off x="884122" y="4396399"/>
              <a:ext cx="2609" cy="53617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CB4561A8-4993-8EC4-3ACE-36BD61D56192}"/>
                </a:ext>
              </a:extLst>
            </p:cNvPr>
            <p:cNvCxnSpPr>
              <a:cxnSpLocks/>
            </p:cNvCxnSpPr>
            <p:nvPr/>
          </p:nvCxnSpPr>
          <p:spPr>
            <a:xfrm>
              <a:off x="399723" y="4693920"/>
              <a:ext cx="0" cy="2386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5D73E991-2843-5887-B663-539E4DA2F9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003" y="4693920"/>
              <a:ext cx="0" cy="2122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5" name="Arrow: Bent 154">
            <a:extLst>
              <a:ext uri="{FF2B5EF4-FFF2-40B4-BE49-F238E27FC236}">
                <a16:creationId xmlns:a16="http://schemas.microsoft.com/office/drawing/2014/main" id="{1F2023F2-5988-08E6-9C07-D1DD65FA0431}"/>
              </a:ext>
            </a:extLst>
          </p:cNvPr>
          <p:cNvSpPr/>
          <p:nvPr/>
        </p:nvSpPr>
        <p:spPr>
          <a:xfrm rot="5400000">
            <a:off x="1743690" y="1129463"/>
            <a:ext cx="346219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B9094997-310C-0FFB-3145-A100CC067595}"/>
              </a:ext>
            </a:extLst>
          </p:cNvPr>
          <p:cNvSpPr/>
          <p:nvPr/>
        </p:nvSpPr>
        <p:spPr>
          <a:xfrm>
            <a:off x="2294412" y="1113021"/>
            <a:ext cx="1992402" cy="59078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No blocks! </a:t>
            </a:r>
          </a:p>
          <a:p>
            <a:pPr algn="ctr" defTabSz="914400"/>
            <a:r>
              <a:rPr lang="en-US" b="1" dirty="0">
                <a:solidFill>
                  <a:prstClr val="black"/>
                </a:solidFill>
                <a:latin typeface="Calibri"/>
              </a:rPr>
              <a:t>Allocate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new page</a:t>
            </a:r>
          </a:p>
        </p:txBody>
      </p: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9F75D2EE-0660-95C6-3793-75607C0C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52" y="0"/>
            <a:ext cx="4243411" cy="3966642"/>
          </a:xfrm>
          <a:solidFill>
            <a:schemeClr val="bg1"/>
          </a:solidFill>
        </p:spPr>
        <p:txBody>
          <a:bodyPr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For</a:t>
            </a:r>
            <a:r>
              <a:rPr lang="en-US" sz="1600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 the given size, </a:t>
            </a: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find its suitable level</a:t>
            </a:r>
            <a:endParaRPr lang="en-US" sz="1600" b="1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CASE1: if no block exists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Check upper level(s) until find one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If not found</a:t>
            </a:r>
          </a:p>
          <a:p>
            <a:pPr marL="29260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2.1 Allocate page from the OS</a:t>
            </a:r>
          </a:p>
          <a:p>
            <a:pPr marL="29260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2.2 Split it into two buddies</a:t>
            </a:r>
          </a:p>
          <a:p>
            <a:pPr marL="29260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2.3 Add them to the corresponding list (L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  <a:sym typeface="Wingdings" panose="05000000000000000000" pitchFamily="2" charset="2"/>
              </a:rPr>
              <a:t>R)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Repeat while NOT reaching desired level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Pick first block, split it to 2 buddies &amp; add them to lower level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CASE2: if block exists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Allocate it &amp; update the data structures 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859434E-3086-3CC1-600A-CE50D8E81288}"/>
              </a:ext>
            </a:extLst>
          </p:cNvPr>
          <p:cNvGrpSpPr/>
          <p:nvPr/>
        </p:nvGrpSpPr>
        <p:grpSpPr>
          <a:xfrm>
            <a:off x="1534195" y="1079422"/>
            <a:ext cx="4002346" cy="541487"/>
            <a:chOff x="5371642" y="1508565"/>
            <a:chExt cx="4120659" cy="541487"/>
          </a:xfrm>
        </p:grpSpPr>
        <p:sp>
          <p:nvSpPr>
            <p:cNvPr id="119" name="Rectangle 13">
              <a:extLst>
                <a:ext uri="{FF2B5EF4-FFF2-40B4-BE49-F238E27FC236}">
                  <a16:creationId xmlns:a16="http://schemas.microsoft.com/office/drawing/2014/main" id="{AFF5B718-D63B-FCE1-76CF-D7F2BAE2E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3509" y="1521516"/>
              <a:ext cx="1373433" cy="52853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L_buddy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120" name="Rectangle 13">
              <a:extLst>
                <a:ext uri="{FF2B5EF4-FFF2-40B4-BE49-F238E27FC236}">
                  <a16:creationId xmlns:a16="http://schemas.microsoft.com/office/drawing/2014/main" id="{2423F712-173B-E19F-60C1-DD12DAEC0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8810" y="1508565"/>
              <a:ext cx="1373433" cy="52853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R_buddy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121" name="Arrow: Right 120">
              <a:extLst>
                <a:ext uri="{FF2B5EF4-FFF2-40B4-BE49-F238E27FC236}">
                  <a16:creationId xmlns:a16="http://schemas.microsoft.com/office/drawing/2014/main" id="{9CAFD4E3-81D6-E96C-00E0-80E3C266B974}"/>
                </a:ext>
              </a:extLst>
            </p:cNvPr>
            <p:cNvSpPr/>
            <p:nvPr/>
          </p:nvSpPr>
          <p:spPr>
            <a:xfrm>
              <a:off x="7246279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2" name="Arrow: Bent 121">
              <a:extLst>
                <a:ext uri="{FF2B5EF4-FFF2-40B4-BE49-F238E27FC236}">
                  <a16:creationId xmlns:a16="http://schemas.microsoft.com/office/drawing/2014/main" id="{58356F36-196D-2322-D147-87DDF591023E}"/>
                </a:ext>
              </a:extLst>
            </p:cNvPr>
            <p:cNvSpPr/>
            <p:nvPr/>
          </p:nvSpPr>
          <p:spPr>
            <a:xfrm rot="5400000">
              <a:off x="91342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3" name="Arrow: Right 122">
              <a:extLst>
                <a:ext uri="{FF2B5EF4-FFF2-40B4-BE49-F238E27FC236}">
                  <a16:creationId xmlns:a16="http://schemas.microsoft.com/office/drawing/2014/main" id="{F8D74959-AD43-7D3A-5072-ECF6E40F8F05}"/>
                </a:ext>
              </a:extLst>
            </p:cNvPr>
            <p:cNvSpPr/>
            <p:nvPr/>
          </p:nvSpPr>
          <p:spPr>
            <a:xfrm>
              <a:off x="5371642" y="1757511"/>
              <a:ext cx="452109" cy="511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5C466D30-390B-237B-9E7E-5D428AF22387}"/>
              </a:ext>
            </a:extLst>
          </p:cNvPr>
          <p:cNvGrpSpPr/>
          <p:nvPr/>
        </p:nvGrpSpPr>
        <p:grpSpPr>
          <a:xfrm>
            <a:off x="1545939" y="1095062"/>
            <a:ext cx="2181534" cy="528536"/>
            <a:chOff x="7246279" y="1508565"/>
            <a:chExt cx="2246022" cy="528536"/>
          </a:xfrm>
        </p:grpSpPr>
        <p:sp>
          <p:nvSpPr>
            <p:cNvPr id="181" name="Rectangle 13">
              <a:extLst>
                <a:ext uri="{FF2B5EF4-FFF2-40B4-BE49-F238E27FC236}">
                  <a16:creationId xmlns:a16="http://schemas.microsoft.com/office/drawing/2014/main" id="{189ED2CD-74C8-491E-B8CB-0B19F1BDB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8810" y="1508565"/>
              <a:ext cx="1373433" cy="52853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R_buddy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182" name="Arrow: Right 181">
              <a:extLst>
                <a:ext uri="{FF2B5EF4-FFF2-40B4-BE49-F238E27FC236}">
                  <a16:creationId xmlns:a16="http://schemas.microsoft.com/office/drawing/2014/main" id="{50E8BE4B-ED49-8F46-0CBB-F5F78AD291C9}"/>
                </a:ext>
              </a:extLst>
            </p:cNvPr>
            <p:cNvSpPr/>
            <p:nvPr/>
          </p:nvSpPr>
          <p:spPr>
            <a:xfrm>
              <a:off x="7246279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3" name="Arrow: Bent 182">
              <a:extLst>
                <a:ext uri="{FF2B5EF4-FFF2-40B4-BE49-F238E27FC236}">
                  <a16:creationId xmlns:a16="http://schemas.microsoft.com/office/drawing/2014/main" id="{463744A7-213C-033C-5667-16F3C7EC10A0}"/>
                </a:ext>
              </a:extLst>
            </p:cNvPr>
            <p:cNvSpPr/>
            <p:nvPr/>
          </p:nvSpPr>
          <p:spPr>
            <a:xfrm rot="5400000">
              <a:off x="91342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DA5ED0B4-0788-243F-A7F1-7B0897FECCEC}"/>
              </a:ext>
            </a:extLst>
          </p:cNvPr>
          <p:cNvGrpSpPr/>
          <p:nvPr/>
        </p:nvGrpSpPr>
        <p:grpSpPr>
          <a:xfrm>
            <a:off x="1534198" y="1834791"/>
            <a:ext cx="3337322" cy="541487"/>
            <a:chOff x="5371642" y="1508565"/>
            <a:chExt cx="3435978" cy="541487"/>
          </a:xfrm>
        </p:grpSpPr>
        <p:sp>
          <p:nvSpPr>
            <p:cNvPr id="188" name="Rectangle 13">
              <a:extLst>
                <a:ext uri="{FF2B5EF4-FFF2-40B4-BE49-F238E27FC236}">
                  <a16:creationId xmlns:a16="http://schemas.microsoft.com/office/drawing/2014/main" id="{A9BA8366-50B7-D6C8-6CBC-4EC3FFDEF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3510" y="1521516"/>
              <a:ext cx="1016344" cy="52853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800" dirty="0" err="1">
                  <a:solidFill>
                    <a:prstClr val="black"/>
                  </a:solidFill>
                </a:rPr>
                <a:t>L_buddy</a:t>
              </a: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89" name="Rectangle 13">
              <a:extLst>
                <a:ext uri="{FF2B5EF4-FFF2-40B4-BE49-F238E27FC236}">
                  <a16:creationId xmlns:a16="http://schemas.microsoft.com/office/drawing/2014/main" id="{EC69F8F0-0677-0FAA-9A31-917388C28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375" y="1508565"/>
              <a:ext cx="1016344" cy="52853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800" dirty="0" err="1">
                  <a:solidFill>
                    <a:prstClr val="black"/>
                  </a:solidFill>
                </a:rPr>
                <a:t>R_buddy</a:t>
              </a: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90" name="Arrow: Right 189">
              <a:extLst>
                <a:ext uri="{FF2B5EF4-FFF2-40B4-BE49-F238E27FC236}">
                  <a16:creationId xmlns:a16="http://schemas.microsoft.com/office/drawing/2014/main" id="{D7AB74CE-B61E-5811-C749-1AAC82755B14}"/>
                </a:ext>
              </a:extLst>
            </p:cNvPr>
            <p:cNvSpPr/>
            <p:nvPr/>
          </p:nvSpPr>
          <p:spPr>
            <a:xfrm>
              <a:off x="6871843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1" name="Arrow: Bent 190">
              <a:extLst>
                <a:ext uri="{FF2B5EF4-FFF2-40B4-BE49-F238E27FC236}">
                  <a16:creationId xmlns:a16="http://schemas.microsoft.com/office/drawing/2014/main" id="{7E700CEA-905C-4501-3856-4268D8235061}"/>
                </a:ext>
              </a:extLst>
            </p:cNvPr>
            <p:cNvSpPr/>
            <p:nvPr/>
          </p:nvSpPr>
          <p:spPr>
            <a:xfrm rot="5400000">
              <a:off x="8449569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2" name="Arrow: Right 191">
              <a:extLst>
                <a:ext uri="{FF2B5EF4-FFF2-40B4-BE49-F238E27FC236}">
                  <a16:creationId xmlns:a16="http://schemas.microsoft.com/office/drawing/2014/main" id="{848B9B20-607A-3E30-BD14-2A12B5E9DB15}"/>
                </a:ext>
              </a:extLst>
            </p:cNvPr>
            <p:cNvSpPr/>
            <p:nvPr/>
          </p:nvSpPr>
          <p:spPr>
            <a:xfrm>
              <a:off x="5371642" y="1757511"/>
              <a:ext cx="452109" cy="511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562B6E18-3F25-9C7B-E5EC-B5F22DBB5BF2}"/>
              </a:ext>
            </a:extLst>
          </p:cNvPr>
          <p:cNvGrpSpPr/>
          <p:nvPr/>
        </p:nvGrpSpPr>
        <p:grpSpPr>
          <a:xfrm>
            <a:off x="1555674" y="1851861"/>
            <a:ext cx="1880196" cy="528536"/>
            <a:chOff x="6871843" y="1508565"/>
            <a:chExt cx="1935777" cy="528536"/>
          </a:xfrm>
        </p:grpSpPr>
        <p:sp>
          <p:nvSpPr>
            <p:cNvPr id="195" name="Rectangle 13">
              <a:extLst>
                <a:ext uri="{FF2B5EF4-FFF2-40B4-BE49-F238E27FC236}">
                  <a16:creationId xmlns:a16="http://schemas.microsoft.com/office/drawing/2014/main" id="{5D1C5FF5-4024-428A-4335-EA4B1071D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375" y="1508565"/>
              <a:ext cx="1016344" cy="52853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800" dirty="0" err="1">
                  <a:solidFill>
                    <a:prstClr val="black"/>
                  </a:solidFill>
                </a:rPr>
                <a:t>R_buddy</a:t>
              </a: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96" name="Arrow: Right 195">
              <a:extLst>
                <a:ext uri="{FF2B5EF4-FFF2-40B4-BE49-F238E27FC236}">
                  <a16:creationId xmlns:a16="http://schemas.microsoft.com/office/drawing/2014/main" id="{E22237E3-EE96-5F0B-125B-8891F4E0ACFC}"/>
                </a:ext>
              </a:extLst>
            </p:cNvPr>
            <p:cNvSpPr/>
            <p:nvPr/>
          </p:nvSpPr>
          <p:spPr>
            <a:xfrm>
              <a:off x="6871843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7" name="Arrow: Bent 196">
              <a:extLst>
                <a:ext uri="{FF2B5EF4-FFF2-40B4-BE49-F238E27FC236}">
                  <a16:creationId xmlns:a16="http://schemas.microsoft.com/office/drawing/2014/main" id="{C5038B81-E6EB-445B-8DDE-7ABD39404A65}"/>
                </a:ext>
              </a:extLst>
            </p:cNvPr>
            <p:cNvSpPr/>
            <p:nvPr/>
          </p:nvSpPr>
          <p:spPr>
            <a:xfrm rot="5400000">
              <a:off x="8449569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4DE03D66-39B1-4C02-E0E9-7578E4401C69}"/>
              </a:ext>
            </a:extLst>
          </p:cNvPr>
          <p:cNvGrpSpPr/>
          <p:nvPr/>
        </p:nvGrpSpPr>
        <p:grpSpPr>
          <a:xfrm>
            <a:off x="1555670" y="2651917"/>
            <a:ext cx="2817757" cy="541487"/>
            <a:chOff x="5371642" y="1508565"/>
            <a:chExt cx="2901059" cy="541487"/>
          </a:xfrm>
        </p:grpSpPr>
        <p:sp>
          <p:nvSpPr>
            <p:cNvPr id="200" name="Rectangle 13">
              <a:extLst>
                <a:ext uri="{FF2B5EF4-FFF2-40B4-BE49-F238E27FC236}">
                  <a16:creationId xmlns:a16="http://schemas.microsoft.com/office/drawing/2014/main" id="{45415159-FCF3-473C-5309-942CB4837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3510" y="1521516"/>
              <a:ext cx="750938" cy="5285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400" dirty="0" err="1">
                  <a:solidFill>
                    <a:prstClr val="black"/>
                  </a:solidFill>
                </a:rPr>
                <a:t>L_buddy</a:t>
              </a:r>
              <a:endParaRPr lang="en-US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201" name="Rectangle 13">
              <a:extLst>
                <a:ext uri="{FF2B5EF4-FFF2-40B4-BE49-F238E27FC236}">
                  <a16:creationId xmlns:a16="http://schemas.microsoft.com/office/drawing/2014/main" id="{27B37265-1F03-1C2D-558F-E8AF22A9A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622" y="1508565"/>
              <a:ext cx="750938" cy="5285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400" dirty="0" err="1">
                  <a:solidFill>
                    <a:prstClr val="black"/>
                  </a:solidFill>
                </a:rPr>
                <a:t>R_buddy</a:t>
              </a:r>
              <a:endParaRPr lang="en-US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202" name="Arrow: Right 201">
              <a:extLst>
                <a:ext uri="{FF2B5EF4-FFF2-40B4-BE49-F238E27FC236}">
                  <a16:creationId xmlns:a16="http://schemas.microsoft.com/office/drawing/2014/main" id="{52604AA3-4FB0-B308-DB74-311E37C8BDA4}"/>
                </a:ext>
              </a:extLst>
            </p:cNvPr>
            <p:cNvSpPr/>
            <p:nvPr/>
          </p:nvSpPr>
          <p:spPr>
            <a:xfrm>
              <a:off x="6615090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3" name="Arrow: Bent 202">
              <a:extLst>
                <a:ext uri="{FF2B5EF4-FFF2-40B4-BE49-F238E27FC236}">
                  <a16:creationId xmlns:a16="http://schemas.microsoft.com/office/drawing/2014/main" id="{277E781B-B628-66DD-0452-65735D2D2BCC}"/>
                </a:ext>
              </a:extLst>
            </p:cNvPr>
            <p:cNvSpPr/>
            <p:nvPr/>
          </p:nvSpPr>
          <p:spPr>
            <a:xfrm rot="5400000">
              <a:off x="79146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7" name="Arrow: Right 306">
              <a:extLst>
                <a:ext uri="{FF2B5EF4-FFF2-40B4-BE49-F238E27FC236}">
                  <a16:creationId xmlns:a16="http://schemas.microsoft.com/office/drawing/2014/main" id="{5F81CC71-38E5-AF0E-2590-50DFF0D76F6D}"/>
                </a:ext>
              </a:extLst>
            </p:cNvPr>
            <p:cNvSpPr/>
            <p:nvPr/>
          </p:nvSpPr>
          <p:spPr>
            <a:xfrm>
              <a:off x="5371642" y="1757511"/>
              <a:ext cx="452109" cy="511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cxnSp>
        <p:nvCxnSpPr>
          <p:cNvPr id="342" name="Connector: Curved 341">
            <a:extLst>
              <a:ext uri="{FF2B5EF4-FFF2-40B4-BE49-F238E27FC236}">
                <a16:creationId xmlns:a16="http://schemas.microsoft.com/office/drawing/2014/main" id="{7C205447-3B4D-6A85-D7F9-EC87F94C7904}"/>
              </a:ext>
            </a:extLst>
          </p:cNvPr>
          <p:cNvCxnSpPr>
            <a:stCxn id="130" idx="1"/>
            <a:endCxn id="158" idx="0"/>
          </p:cNvCxnSpPr>
          <p:nvPr/>
        </p:nvCxnSpPr>
        <p:spPr>
          <a:xfrm rot="10800000" flipV="1">
            <a:off x="9899595" y="3104398"/>
            <a:ext cx="1122997" cy="3088984"/>
          </a:xfrm>
          <a:prstGeom prst="curvedConnector2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63AD3BED-6618-2E05-A576-5F7D8D46E38A}"/>
              </a:ext>
            </a:extLst>
          </p:cNvPr>
          <p:cNvGrpSpPr/>
          <p:nvPr/>
        </p:nvGrpSpPr>
        <p:grpSpPr>
          <a:xfrm>
            <a:off x="1563621" y="2648017"/>
            <a:ext cx="1610014" cy="528536"/>
            <a:chOff x="6615090" y="1508565"/>
            <a:chExt cx="1657611" cy="528536"/>
          </a:xfrm>
        </p:grpSpPr>
        <p:sp>
          <p:nvSpPr>
            <p:cNvPr id="347" name="Rectangle 13">
              <a:extLst>
                <a:ext uri="{FF2B5EF4-FFF2-40B4-BE49-F238E27FC236}">
                  <a16:creationId xmlns:a16="http://schemas.microsoft.com/office/drawing/2014/main" id="{13EA55F6-A626-E5D8-BE92-4789051D9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622" y="1508565"/>
              <a:ext cx="750938" cy="5285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400" dirty="0" err="1">
                  <a:solidFill>
                    <a:prstClr val="black"/>
                  </a:solidFill>
                </a:rPr>
                <a:t>R_buddy</a:t>
              </a:r>
              <a:endParaRPr lang="en-US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348" name="Arrow: Right 347">
              <a:extLst>
                <a:ext uri="{FF2B5EF4-FFF2-40B4-BE49-F238E27FC236}">
                  <a16:creationId xmlns:a16="http://schemas.microsoft.com/office/drawing/2014/main" id="{27BDFAFC-187C-E4FB-802C-0DBEF9B83F82}"/>
                </a:ext>
              </a:extLst>
            </p:cNvPr>
            <p:cNvSpPr/>
            <p:nvPr/>
          </p:nvSpPr>
          <p:spPr>
            <a:xfrm>
              <a:off x="6615090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9" name="Arrow: Bent 348">
              <a:extLst>
                <a:ext uri="{FF2B5EF4-FFF2-40B4-BE49-F238E27FC236}">
                  <a16:creationId xmlns:a16="http://schemas.microsoft.com/office/drawing/2014/main" id="{9DAB1196-A3CA-4359-17F3-AE205D6D1FFA}"/>
                </a:ext>
              </a:extLst>
            </p:cNvPr>
            <p:cNvSpPr/>
            <p:nvPr/>
          </p:nvSpPr>
          <p:spPr>
            <a:xfrm rot="5400000">
              <a:off x="79146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59D0FF6B-51AE-FD34-BDC8-75166B685B85}"/>
              </a:ext>
            </a:extLst>
          </p:cNvPr>
          <p:cNvGrpSpPr/>
          <p:nvPr/>
        </p:nvGrpSpPr>
        <p:grpSpPr>
          <a:xfrm>
            <a:off x="2677662" y="4302601"/>
            <a:ext cx="1119024" cy="1894638"/>
            <a:chOff x="2677662" y="4302601"/>
            <a:chExt cx="1119024" cy="1894638"/>
          </a:xfrm>
        </p:grpSpPr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96422FD4-9508-A41C-BBA0-2946A511FE60}"/>
                </a:ext>
              </a:extLst>
            </p:cNvPr>
            <p:cNvGrpSpPr/>
            <p:nvPr/>
          </p:nvGrpSpPr>
          <p:grpSpPr>
            <a:xfrm>
              <a:off x="3018224" y="4661674"/>
              <a:ext cx="457192" cy="1535565"/>
              <a:chOff x="3018224" y="4661674"/>
              <a:chExt cx="457192" cy="1535565"/>
            </a:xfrm>
          </p:grpSpPr>
          <p:grpSp>
            <p:nvGrpSpPr>
              <p:cNvPr id="356" name="Group 355">
                <a:extLst>
                  <a:ext uri="{FF2B5EF4-FFF2-40B4-BE49-F238E27FC236}">
                    <a16:creationId xmlns:a16="http://schemas.microsoft.com/office/drawing/2014/main" id="{76EC81F5-40EE-2538-787D-ADCA6BCA560C}"/>
                  </a:ext>
                </a:extLst>
              </p:cNvPr>
              <p:cNvGrpSpPr/>
              <p:nvPr/>
            </p:nvGrpSpPr>
            <p:grpSpPr>
              <a:xfrm>
                <a:off x="3018224" y="4661674"/>
                <a:ext cx="457192" cy="627702"/>
                <a:chOff x="3194610" y="6211127"/>
                <a:chExt cx="457192" cy="627702"/>
              </a:xfrm>
            </p:grpSpPr>
            <p:sp>
              <p:nvSpPr>
                <p:cNvPr id="353" name="Rectangle 352">
                  <a:extLst>
                    <a:ext uri="{FF2B5EF4-FFF2-40B4-BE49-F238E27FC236}">
                      <a16:creationId xmlns:a16="http://schemas.microsoft.com/office/drawing/2014/main" id="{4A9D0C76-2A04-F0B4-C91F-C6F4D90C37D0}"/>
                    </a:ext>
                  </a:extLst>
                </p:cNvPr>
                <p:cNvSpPr/>
                <p:nvPr/>
              </p:nvSpPr>
              <p:spPr>
                <a:xfrm>
                  <a:off x="3194610" y="6211127"/>
                  <a:ext cx="327622" cy="622441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L9</a:t>
                  </a:r>
                  <a:endParaRPr lang="en-US" sz="1200" b="1" dirty="0"/>
                </a:p>
                <a:p>
                  <a:pPr algn="ctr"/>
                  <a:r>
                    <a:rPr lang="en-US" b="1" dirty="0"/>
                    <a:t>0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55" name="Rectangle 354">
                      <a:extLst>
                        <a:ext uri="{FF2B5EF4-FFF2-40B4-BE49-F238E27FC236}">
                          <a16:creationId xmlns:a16="http://schemas.microsoft.com/office/drawing/2014/main" id="{F9C59883-173D-126C-45F1-8C70C3DF69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0122" y="6216388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355" name="Rectangle 354">
                      <a:extLst>
                        <a:ext uri="{FF2B5EF4-FFF2-40B4-BE49-F238E27FC236}">
                          <a16:creationId xmlns:a16="http://schemas.microsoft.com/office/drawing/2014/main" id="{F9C59883-173D-126C-45F1-8C70C3DF691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00122" y="6216388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61" name="Straight Arrow Connector 360">
                <a:extLst>
                  <a:ext uri="{FF2B5EF4-FFF2-40B4-BE49-F238E27FC236}">
                    <a16:creationId xmlns:a16="http://schemas.microsoft.com/office/drawing/2014/main" id="{76FB7A81-1A8D-46EB-A2BE-8945AAB6E5AC}"/>
                  </a:ext>
                </a:extLst>
              </p:cNvPr>
              <p:cNvCxnSpPr>
                <a:endCxn id="353" idx="2"/>
              </p:cNvCxnSpPr>
              <p:nvPr/>
            </p:nvCxnSpPr>
            <p:spPr>
              <a:xfrm flipH="1" flipV="1">
                <a:off x="3182035" y="5284115"/>
                <a:ext cx="141701" cy="9131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7B68B11D-5F5B-F439-CCA2-4749929F87EB}"/>
                </a:ext>
              </a:extLst>
            </p:cNvPr>
            <p:cNvSpPr txBox="1"/>
            <p:nvPr/>
          </p:nvSpPr>
          <p:spPr>
            <a:xfrm>
              <a:off x="2677662" y="4302601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26714CA1-F183-A366-0D9A-B940098771D1}"/>
              </a:ext>
            </a:extLst>
          </p:cNvPr>
          <p:cNvGrpSpPr/>
          <p:nvPr/>
        </p:nvGrpSpPr>
        <p:grpSpPr>
          <a:xfrm>
            <a:off x="7705034" y="6193382"/>
            <a:ext cx="4389120" cy="609600"/>
            <a:chOff x="7705034" y="6197239"/>
            <a:chExt cx="4389120" cy="609600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73DBDA0A-1C10-3A6F-7B6D-B4032A35AE3D}"/>
                </a:ext>
              </a:extLst>
            </p:cNvPr>
            <p:cNvSpPr/>
            <p:nvPr/>
          </p:nvSpPr>
          <p:spPr>
            <a:xfrm>
              <a:off x="7705034" y="6197239"/>
              <a:ext cx="438912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9F41696C-847D-D164-8161-C61DF3C5E086}"/>
                </a:ext>
              </a:extLst>
            </p:cNvPr>
            <p:cNvSpPr/>
            <p:nvPr/>
          </p:nvSpPr>
          <p:spPr>
            <a:xfrm>
              <a:off x="7721358" y="6199916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265F5556-54A8-FC39-1353-C3521EBD64D0}"/>
              </a:ext>
            </a:extLst>
          </p:cNvPr>
          <p:cNvGrpSpPr/>
          <p:nvPr/>
        </p:nvGrpSpPr>
        <p:grpSpPr>
          <a:xfrm>
            <a:off x="3308294" y="6193382"/>
            <a:ext cx="4389120" cy="609600"/>
            <a:chOff x="3308294" y="5147756"/>
            <a:chExt cx="4389120" cy="609600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750C95C8-0FE3-40FA-FCB1-FA9449542BEE}"/>
                </a:ext>
              </a:extLst>
            </p:cNvPr>
            <p:cNvSpPr/>
            <p:nvPr/>
          </p:nvSpPr>
          <p:spPr>
            <a:xfrm>
              <a:off x="3308294" y="5147756"/>
              <a:ext cx="438912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B8DA2A23-E7A4-F6D4-879D-95F1637E2DF0}"/>
                </a:ext>
              </a:extLst>
            </p:cNvPr>
            <p:cNvSpPr/>
            <p:nvPr/>
          </p:nvSpPr>
          <p:spPr>
            <a:xfrm>
              <a:off x="3308294" y="5147756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312EDCD5-34D5-A706-C8A7-AE3D4BC0B390}"/>
              </a:ext>
            </a:extLst>
          </p:cNvPr>
          <p:cNvGrpSpPr/>
          <p:nvPr/>
        </p:nvGrpSpPr>
        <p:grpSpPr>
          <a:xfrm>
            <a:off x="5502854" y="6185412"/>
            <a:ext cx="2194560" cy="609600"/>
            <a:chOff x="5495234" y="6203773"/>
            <a:chExt cx="2194560" cy="609600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F4F274A-E407-96B4-6779-01E69713693B}"/>
                </a:ext>
              </a:extLst>
            </p:cNvPr>
            <p:cNvSpPr/>
            <p:nvPr/>
          </p:nvSpPr>
          <p:spPr>
            <a:xfrm>
              <a:off x="5495234" y="6203773"/>
              <a:ext cx="219456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1 KB</a:t>
              </a: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CACDE366-2E36-C23F-FEC6-3287F3CE8F1B}"/>
                </a:ext>
              </a:extLst>
            </p:cNvPr>
            <p:cNvSpPr/>
            <p:nvPr/>
          </p:nvSpPr>
          <p:spPr>
            <a:xfrm>
              <a:off x="5516016" y="6203773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BE3D8E5A-9EA3-7A9F-1EB4-42F2F95C830D}"/>
              </a:ext>
            </a:extLst>
          </p:cNvPr>
          <p:cNvGrpSpPr/>
          <p:nvPr/>
        </p:nvGrpSpPr>
        <p:grpSpPr>
          <a:xfrm>
            <a:off x="3308294" y="6185412"/>
            <a:ext cx="2194560" cy="609600"/>
            <a:chOff x="3300674" y="3450182"/>
            <a:chExt cx="2194560" cy="609600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CF1FB0E4-4B50-B497-114A-22598297C54F}"/>
                </a:ext>
              </a:extLst>
            </p:cNvPr>
            <p:cNvSpPr/>
            <p:nvPr/>
          </p:nvSpPr>
          <p:spPr>
            <a:xfrm>
              <a:off x="3300674" y="3450182"/>
              <a:ext cx="219456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1 KB</a:t>
              </a: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6C359D69-42D6-8894-D703-0C2B9BC2B1C3}"/>
                </a:ext>
              </a:extLst>
            </p:cNvPr>
            <p:cNvSpPr/>
            <p:nvPr/>
          </p:nvSpPr>
          <p:spPr>
            <a:xfrm>
              <a:off x="3300674" y="3450182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66EEABE8-DD34-2C01-946F-55506A91CB29}"/>
              </a:ext>
            </a:extLst>
          </p:cNvPr>
          <p:cNvGrpSpPr/>
          <p:nvPr/>
        </p:nvGrpSpPr>
        <p:grpSpPr>
          <a:xfrm>
            <a:off x="4409384" y="6185412"/>
            <a:ext cx="1097280" cy="609600"/>
            <a:chOff x="4409384" y="6204169"/>
            <a:chExt cx="1097280" cy="609600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B3C88119-9244-1426-81B0-6A86065213E9}"/>
                </a:ext>
              </a:extLst>
            </p:cNvPr>
            <p:cNvSpPr/>
            <p:nvPr/>
          </p:nvSpPr>
          <p:spPr>
            <a:xfrm>
              <a:off x="4409384" y="6204169"/>
              <a:ext cx="109728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512 B</a:t>
              </a: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59339FDC-26C7-C06F-9695-9823057C6562}"/>
                </a:ext>
              </a:extLst>
            </p:cNvPr>
            <p:cNvSpPr/>
            <p:nvPr/>
          </p:nvSpPr>
          <p:spPr>
            <a:xfrm>
              <a:off x="4419775" y="6204169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7034648F-EAE8-2C67-3B2C-FDF370DC974C}"/>
              </a:ext>
            </a:extLst>
          </p:cNvPr>
          <p:cNvGrpSpPr/>
          <p:nvPr/>
        </p:nvGrpSpPr>
        <p:grpSpPr>
          <a:xfrm>
            <a:off x="3308294" y="6185412"/>
            <a:ext cx="1097280" cy="609600"/>
            <a:chOff x="3308294" y="3602582"/>
            <a:chExt cx="1097280" cy="609600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82B733F3-8239-9F5B-C077-B2909C3C78AA}"/>
                </a:ext>
              </a:extLst>
            </p:cNvPr>
            <p:cNvSpPr/>
            <p:nvPr/>
          </p:nvSpPr>
          <p:spPr>
            <a:xfrm>
              <a:off x="3308294" y="3602582"/>
              <a:ext cx="109728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512 B</a:t>
              </a: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4455F39F-8D6E-4EAD-3640-E621ADBAEE1C}"/>
                </a:ext>
              </a:extLst>
            </p:cNvPr>
            <p:cNvSpPr/>
            <p:nvPr/>
          </p:nvSpPr>
          <p:spPr>
            <a:xfrm>
              <a:off x="3308294" y="3602582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5EF0F238-E3D0-A73F-0CBB-4149F8DA7F59}"/>
              </a:ext>
            </a:extLst>
          </p:cNvPr>
          <p:cNvGrpSpPr/>
          <p:nvPr/>
        </p:nvGrpSpPr>
        <p:grpSpPr>
          <a:xfrm>
            <a:off x="3289154" y="5751474"/>
            <a:ext cx="762000" cy="1055365"/>
            <a:chOff x="3289154" y="5751474"/>
            <a:chExt cx="762000" cy="1055365"/>
          </a:xfrm>
        </p:grpSpPr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DFEA0AC2-E50F-2287-4FC3-65571916F75D}"/>
                </a:ext>
              </a:extLst>
            </p:cNvPr>
            <p:cNvGrpSpPr/>
            <p:nvPr/>
          </p:nvGrpSpPr>
          <p:grpSpPr>
            <a:xfrm>
              <a:off x="3289154" y="5751474"/>
              <a:ext cx="762000" cy="1046018"/>
              <a:chOff x="3289154" y="5761865"/>
              <a:chExt cx="762000" cy="1046018"/>
            </a:xfrm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1E91ACED-C8DF-D4B1-6EEB-5387CA01010F}"/>
                  </a:ext>
                </a:extLst>
              </p:cNvPr>
              <p:cNvSpPr/>
              <p:nvPr/>
            </p:nvSpPr>
            <p:spPr>
              <a:xfrm>
                <a:off x="3289154" y="6198283"/>
                <a:ext cx="762000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C306FA12-0D1E-A64D-F8A3-0BC16DA941B7}"/>
                  </a:ext>
                </a:extLst>
              </p:cNvPr>
              <p:cNvSpPr txBox="1"/>
              <p:nvPr/>
            </p:nvSpPr>
            <p:spPr>
              <a:xfrm>
                <a:off x="3507742" y="5761865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A</a:t>
                </a:r>
              </a:p>
            </p:txBody>
          </p:sp>
        </p:grp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E56284C1-A146-B04D-C6F4-C99EEDC8B74F}"/>
                </a:ext>
              </a:extLst>
            </p:cNvPr>
            <p:cNvSpPr/>
            <p:nvPr/>
          </p:nvSpPr>
          <p:spPr>
            <a:xfrm>
              <a:off x="3300674" y="6203773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40121BB6-D726-CFC5-A44E-FB38AAD84607}"/>
              </a:ext>
            </a:extLst>
          </p:cNvPr>
          <p:cNvGrpSpPr/>
          <p:nvPr/>
        </p:nvGrpSpPr>
        <p:grpSpPr>
          <a:xfrm>
            <a:off x="3827323" y="4298743"/>
            <a:ext cx="1119024" cy="1886669"/>
            <a:chOff x="2677662" y="4302601"/>
            <a:chExt cx="1119024" cy="1886669"/>
          </a:xfrm>
        </p:grpSpPr>
        <p:grpSp>
          <p:nvGrpSpPr>
            <p:cNvPr id="429" name="Group 428">
              <a:extLst>
                <a:ext uri="{FF2B5EF4-FFF2-40B4-BE49-F238E27FC236}">
                  <a16:creationId xmlns:a16="http://schemas.microsoft.com/office/drawing/2014/main" id="{F9567CB0-100D-EAEB-9DD3-BFF9999CC1A7}"/>
                </a:ext>
              </a:extLst>
            </p:cNvPr>
            <p:cNvGrpSpPr/>
            <p:nvPr/>
          </p:nvGrpSpPr>
          <p:grpSpPr>
            <a:xfrm>
              <a:off x="3018224" y="4661674"/>
              <a:ext cx="457192" cy="1527596"/>
              <a:chOff x="3018224" y="4661674"/>
              <a:chExt cx="457192" cy="1527596"/>
            </a:xfrm>
          </p:grpSpPr>
          <p:grpSp>
            <p:nvGrpSpPr>
              <p:cNvPr id="437" name="Group 436">
                <a:extLst>
                  <a:ext uri="{FF2B5EF4-FFF2-40B4-BE49-F238E27FC236}">
                    <a16:creationId xmlns:a16="http://schemas.microsoft.com/office/drawing/2014/main" id="{28E49D41-151E-5C51-98CE-7D0259603E09}"/>
                  </a:ext>
                </a:extLst>
              </p:cNvPr>
              <p:cNvGrpSpPr/>
              <p:nvPr/>
            </p:nvGrpSpPr>
            <p:grpSpPr>
              <a:xfrm>
                <a:off x="3018224" y="4661674"/>
                <a:ext cx="457192" cy="627702"/>
                <a:chOff x="3194610" y="6211127"/>
                <a:chExt cx="457192" cy="627702"/>
              </a:xfrm>
            </p:grpSpPr>
            <p:sp>
              <p:nvSpPr>
                <p:cNvPr id="443" name="Rectangle 442">
                  <a:extLst>
                    <a:ext uri="{FF2B5EF4-FFF2-40B4-BE49-F238E27FC236}">
                      <a16:creationId xmlns:a16="http://schemas.microsoft.com/office/drawing/2014/main" id="{58EE9766-1AEA-BD0C-01DC-883F417CA0B9}"/>
                    </a:ext>
                  </a:extLst>
                </p:cNvPr>
                <p:cNvSpPr/>
                <p:nvPr/>
              </p:nvSpPr>
              <p:spPr>
                <a:xfrm>
                  <a:off x="3194610" y="6211127"/>
                  <a:ext cx="327622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L9</a:t>
                  </a:r>
                  <a:endParaRPr lang="en-US" sz="1200" b="1" dirty="0"/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44" name="Rectangle 443">
                      <a:extLst>
                        <a:ext uri="{FF2B5EF4-FFF2-40B4-BE49-F238E27FC236}">
                          <a16:creationId xmlns:a16="http://schemas.microsoft.com/office/drawing/2014/main" id="{68FE5D38-30EF-33E5-1841-943F18FF84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0122" y="6216388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444" name="Rectangle 443">
                      <a:extLst>
                        <a:ext uri="{FF2B5EF4-FFF2-40B4-BE49-F238E27FC236}">
                          <a16:creationId xmlns:a16="http://schemas.microsoft.com/office/drawing/2014/main" id="{68FE5D38-30EF-33E5-1841-943F18FF84E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00122" y="6216388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442" name="Straight Arrow Connector 441">
                <a:extLst>
                  <a:ext uri="{FF2B5EF4-FFF2-40B4-BE49-F238E27FC236}">
                    <a16:creationId xmlns:a16="http://schemas.microsoft.com/office/drawing/2014/main" id="{07E540DF-4D5D-A2D8-0652-3C81381B040A}"/>
                  </a:ext>
                </a:extLst>
              </p:cNvPr>
              <p:cNvCxnSpPr>
                <a:cxnSpLocks/>
                <a:stCxn id="370" idx="0"/>
                <a:endCxn id="443" idx="2"/>
              </p:cNvCxnSpPr>
              <p:nvPr/>
            </p:nvCxnSpPr>
            <p:spPr>
              <a:xfrm flipH="1" flipV="1">
                <a:off x="3182035" y="5284115"/>
                <a:ext cx="155678" cy="9051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35" name="TextBox 434">
              <a:extLst>
                <a:ext uri="{FF2B5EF4-FFF2-40B4-BE49-F238E27FC236}">
                  <a16:creationId xmlns:a16="http://schemas.microsoft.com/office/drawing/2014/main" id="{89F131D2-75E4-CD09-A5E5-2C210D320C78}"/>
                </a:ext>
              </a:extLst>
            </p:cNvPr>
            <p:cNvSpPr txBox="1"/>
            <p:nvPr/>
          </p:nvSpPr>
          <p:spPr>
            <a:xfrm>
              <a:off x="2677662" y="4302601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1294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DB3E2"/>
                                      </p:to>
                                    </p:animClr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DB3E2"/>
                                      </p:to>
                                    </p:animClr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DB3E2"/>
                                      </p:to>
                                    </p:animClr>
                                    <p:set>
                                      <p:cBhvr>
                                        <p:cTn id="4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7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7E3BC"/>
                                      </p:to>
                                    </p:animClr>
                                    <p:set>
                                      <p:cBhvr>
                                        <p:cTn id="53" dur="7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7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75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6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6" grpId="1" animBg="1"/>
      <p:bldP spid="172" grpId="0" animBg="1"/>
      <p:bldP spid="172" grpId="1" animBg="1"/>
      <p:bldP spid="93" grpId="0" animBg="1"/>
      <p:bldP spid="76" grpId="0" animBg="1"/>
      <p:bldP spid="78" grpId="0" animBg="1"/>
      <p:bldP spid="155" grpId="0" animBg="1"/>
      <p:bldP spid="177" grpId="0" animBg="1"/>
      <p:bldP spid="177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6325A-0CB2-7C32-C88D-6C69D91AD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E3594-C1F3-6F98-2DAD-00DE359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00"/>
              <a:t>10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5C91A-D2A7-D675-B591-440CCA150DC3}"/>
              </a:ext>
            </a:extLst>
          </p:cNvPr>
          <p:cNvSpPr txBox="1">
            <a:spLocks/>
          </p:cNvSpPr>
          <p:nvPr/>
        </p:nvSpPr>
        <p:spPr>
          <a:xfrm>
            <a:off x="0" y="6005"/>
            <a:ext cx="6874569" cy="953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Dynamic Allocator </a:t>
            </a:r>
            <a:r>
              <a:rPr lang="en-US" b="1" dirty="0"/>
              <a:t>– Allocate</a:t>
            </a:r>
            <a:endParaRPr lang="en-AE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372FE70-4183-9E8A-1E99-2EF732A6A4B1}"/>
              </a:ext>
            </a:extLst>
          </p:cNvPr>
          <p:cNvCxnSpPr>
            <a:cxnSpLocks/>
          </p:cNvCxnSpPr>
          <p:nvPr/>
        </p:nvCxnSpPr>
        <p:spPr>
          <a:xfrm>
            <a:off x="407250" y="1574370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FEED306-B1D8-D7B4-A830-49820B358DCA}"/>
              </a:ext>
            </a:extLst>
          </p:cNvPr>
          <p:cNvCxnSpPr>
            <a:cxnSpLocks/>
          </p:cNvCxnSpPr>
          <p:nvPr/>
        </p:nvCxnSpPr>
        <p:spPr>
          <a:xfrm flipV="1">
            <a:off x="1260334" y="2337443"/>
            <a:ext cx="0" cy="3692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83E5EC7-E892-7EF8-48AB-FDB674131988}"/>
              </a:ext>
            </a:extLst>
          </p:cNvPr>
          <p:cNvCxnSpPr>
            <a:cxnSpLocks/>
          </p:cNvCxnSpPr>
          <p:nvPr/>
        </p:nvCxnSpPr>
        <p:spPr>
          <a:xfrm>
            <a:off x="407250" y="2360518"/>
            <a:ext cx="0" cy="346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tangle 13">
            <a:extLst>
              <a:ext uri="{FF2B5EF4-FFF2-40B4-BE49-F238E27FC236}">
                <a16:creationId xmlns:a16="http://schemas.microsoft.com/office/drawing/2014/main" id="{B3E37A52-1F36-FCCF-7244-8FDA0924B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2709680"/>
            <a:ext cx="1350604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9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8AD1B1D-07AA-4EBE-BCEA-29931D5DE4B9}"/>
              </a:ext>
            </a:extLst>
          </p:cNvPr>
          <p:cNvCxnSpPr>
            <a:cxnSpLocks/>
          </p:cNvCxnSpPr>
          <p:nvPr/>
        </p:nvCxnSpPr>
        <p:spPr>
          <a:xfrm flipV="1">
            <a:off x="1260334" y="1574370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Rectangle 13">
            <a:extLst>
              <a:ext uri="{FF2B5EF4-FFF2-40B4-BE49-F238E27FC236}">
                <a16:creationId xmlns:a16="http://schemas.microsoft.com/office/drawing/2014/main" id="{119C12DA-14A6-5428-BAFC-ABA43C66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93" y="1111193"/>
            <a:ext cx="1334002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11</a:t>
            </a:r>
          </a:p>
        </p:txBody>
      </p:sp>
      <p:sp>
        <p:nvSpPr>
          <p:cNvPr id="99" name="Rectangle 13">
            <a:extLst>
              <a:ext uri="{FF2B5EF4-FFF2-40B4-BE49-F238E27FC236}">
                <a16:creationId xmlns:a16="http://schemas.microsoft.com/office/drawing/2014/main" id="{17F29CF1-BBC1-AB18-F1BB-1EAB3DE6C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67" y="1888005"/>
            <a:ext cx="134223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10</a:t>
            </a:r>
          </a:p>
        </p:txBody>
      </p:sp>
      <p:sp>
        <p:nvSpPr>
          <p:cNvPr id="83" name="Rectangle 13">
            <a:extLst>
              <a:ext uri="{FF2B5EF4-FFF2-40B4-BE49-F238E27FC236}">
                <a16:creationId xmlns:a16="http://schemas.microsoft.com/office/drawing/2014/main" id="{702E0382-1523-F8B1-FA06-781F4DC2D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3925671"/>
            <a:ext cx="135582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4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015FAC7-9D55-6C23-7C0A-F6DDA944D5F7}"/>
              </a:ext>
            </a:extLst>
          </p:cNvPr>
          <p:cNvCxnSpPr>
            <a:cxnSpLocks/>
            <a:stCxn id="93" idx="2"/>
            <a:endCxn id="83" idx="0"/>
          </p:cNvCxnSpPr>
          <p:nvPr/>
        </p:nvCxnSpPr>
        <p:spPr>
          <a:xfrm>
            <a:off x="884121" y="3180408"/>
            <a:ext cx="2610" cy="74526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Arrow: Bent 78">
            <a:extLst>
              <a:ext uri="{FF2B5EF4-FFF2-40B4-BE49-F238E27FC236}">
                <a16:creationId xmlns:a16="http://schemas.microsoft.com/office/drawing/2014/main" id="{1460DEA7-FD04-B3AC-D017-7C8A06EB585E}"/>
              </a:ext>
            </a:extLst>
          </p:cNvPr>
          <p:cNvSpPr/>
          <p:nvPr/>
        </p:nvSpPr>
        <p:spPr>
          <a:xfrm rot="5400000">
            <a:off x="1728590" y="3936739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E6CB88E-56DD-3C55-E078-5E2750BB1780}"/>
              </a:ext>
            </a:extLst>
          </p:cNvPr>
          <p:cNvSpPr/>
          <p:nvPr/>
        </p:nvSpPr>
        <p:spPr>
          <a:xfrm>
            <a:off x="11022591" y="3388989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6B4F070-00E1-D2E6-F5BD-AD59A640AB8D}"/>
              </a:ext>
            </a:extLst>
          </p:cNvPr>
          <p:cNvSpPr/>
          <p:nvPr/>
        </p:nvSpPr>
        <p:spPr>
          <a:xfrm>
            <a:off x="11022591" y="2815571"/>
            <a:ext cx="1075373" cy="57765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6845106-8714-278E-ABB5-59D7074C2CBF}"/>
              </a:ext>
            </a:extLst>
          </p:cNvPr>
          <p:cNvSpPr/>
          <p:nvPr/>
        </p:nvSpPr>
        <p:spPr>
          <a:xfrm>
            <a:off x="11022591" y="224215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E41A2A0-1895-D6DF-BB37-EE122CE75B67}"/>
              </a:ext>
            </a:extLst>
          </p:cNvPr>
          <p:cNvSpPr/>
          <p:nvPr/>
        </p:nvSpPr>
        <p:spPr>
          <a:xfrm>
            <a:off x="11022591" y="1693737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69F3A26-E1B3-D812-D624-F9A53EC8D8BB}"/>
              </a:ext>
            </a:extLst>
          </p:cNvPr>
          <p:cNvSpPr/>
          <p:nvPr/>
        </p:nvSpPr>
        <p:spPr>
          <a:xfrm>
            <a:off x="11022591" y="1144659"/>
            <a:ext cx="1075373" cy="57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9B9CF53-A2B7-F873-3C89-15D6792C01AE}"/>
              </a:ext>
            </a:extLst>
          </p:cNvPr>
          <p:cNvSpPr/>
          <p:nvPr/>
        </p:nvSpPr>
        <p:spPr>
          <a:xfrm>
            <a:off x="11022591" y="569971"/>
            <a:ext cx="1075373" cy="5776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328C37C-AEB1-DD96-5E6C-405138E1EF01}"/>
              </a:ext>
            </a:extLst>
          </p:cNvPr>
          <p:cNvSpPr/>
          <p:nvPr/>
        </p:nvSpPr>
        <p:spPr>
          <a:xfrm>
            <a:off x="11022591" y="1591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AE9A9EE-4AE7-975C-B944-7C0D9C1B88D8}"/>
              </a:ext>
            </a:extLst>
          </p:cNvPr>
          <p:cNvCxnSpPr>
            <a:cxnSpLocks/>
          </p:cNvCxnSpPr>
          <p:nvPr/>
        </p:nvCxnSpPr>
        <p:spPr>
          <a:xfrm>
            <a:off x="417904" y="3629188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1E90580-827C-E4FD-21B5-E9F9BF1FB330}"/>
              </a:ext>
            </a:extLst>
          </p:cNvPr>
          <p:cNvCxnSpPr>
            <a:cxnSpLocks/>
          </p:cNvCxnSpPr>
          <p:nvPr/>
        </p:nvCxnSpPr>
        <p:spPr>
          <a:xfrm flipV="1">
            <a:off x="1270988" y="3598708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491DD9B-CFE0-4598-C2B7-288D12A6840B}"/>
              </a:ext>
            </a:extLst>
          </p:cNvPr>
          <p:cNvGrpSpPr/>
          <p:nvPr/>
        </p:nvGrpSpPr>
        <p:grpSpPr>
          <a:xfrm>
            <a:off x="208820" y="4396399"/>
            <a:ext cx="1350604" cy="1006903"/>
            <a:chOff x="208820" y="4396399"/>
            <a:chExt cx="1350604" cy="1006903"/>
          </a:xfrm>
        </p:grpSpPr>
        <p:sp>
          <p:nvSpPr>
            <p:cNvPr id="138" name="Rectangle 13" descr="N&#10;">
              <a:extLst>
                <a:ext uri="{FF2B5EF4-FFF2-40B4-BE49-F238E27FC236}">
                  <a16:creationId xmlns:a16="http://schemas.microsoft.com/office/drawing/2014/main" id="{CE46A185-0862-4A0B-BE36-311FE33F1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20" y="4932574"/>
              <a:ext cx="1350604" cy="4707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b="0" dirty="0">
                  <a:solidFill>
                    <a:prstClr val="black"/>
                  </a:solidFill>
                </a:rPr>
                <a:t>Not used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727B0582-5420-841E-59D0-C21CA5D08248}"/>
                </a:ext>
              </a:extLst>
            </p:cNvPr>
            <p:cNvCxnSpPr>
              <a:cxnSpLocks/>
              <a:stCxn id="83" idx="2"/>
              <a:endCxn id="138" idx="0"/>
            </p:cNvCxnSpPr>
            <p:nvPr/>
          </p:nvCxnSpPr>
          <p:spPr>
            <a:xfrm flipH="1">
              <a:off x="884122" y="4396399"/>
              <a:ext cx="2609" cy="53617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0CF7B03B-60B0-FEAD-6CFC-F35D52A1046D}"/>
                </a:ext>
              </a:extLst>
            </p:cNvPr>
            <p:cNvCxnSpPr>
              <a:cxnSpLocks/>
            </p:cNvCxnSpPr>
            <p:nvPr/>
          </p:nvCxnSpPr>
          <p:spPr>
            <a:xfrm>
              <a:off x="399723" y="4693920"/>
              <a:ext cx="0" cy="2386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8492ACE1-3E42-0E14-CF6A-BD90C217DC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003" y="4693920"/>
              <a:ext cx="0" cy="2122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5" name="Arrow: Bent 154">
            <a:extLst>
              <a:ext uri="{FF2B5EF4-FFF2-40B4-BE49-F238E27FC236}">
                <a16:creationId xmlns:a16="http://schemas.microsoft.com/office/drawing/2014/main" id="{0B45CD71-19B1-A346-A7C8-20F35EC64253}"/>
              </a:ext>
            </a:extLst>
          </p:cNvPr>
          <p:cNvSpPr/>
          <p:nvPr/>
        </p:nvSpPr>
        <p:spPr>
          <a:xfrm rot="5400000">
            <a:off x="1743690" y="1129463"/>
            <a:ext cx="346219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1BE773B-CCF7-DBBC-7B87-A9752190CAF6}"/>
              </a:ext>
            </a:extLst>
          </p:cNvPr>
          <p:cNvSpPr/>
          <p:nvPr/>
        </p:nvSpPr>
        <p:spPr>
          <a:xfrm>
            <a:off x="3308294" y="6203773"/>
            <a:ext cx="877824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 KB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C5716D2-0E4C-070F-D70C-C09ACD788EB3}"/>
              </a:ext>
            </a:extLst>
          </p:cNvPr>
          <p:cNvSpPr/>
          <p:nvPr/>
        </p:nvSpPr>
        <p:spPr>
          <a:xfrm>
            <a:off x="3308294" y="6197239"/>
            <a:ext cx="438912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 KB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A7566D20-34CC-3A1C-B251-B83B20F814B2}"/>
              </a:ext>
            </a:extLst>
          </p:cNvPr>
          <p:cNvSpPr/>
          <p:nvPr/>
        </p:nvSpPr>
        <p:spPr>
          <a:xfrm>
            <a:off x="3300674" y="6203773"/>
            <a:ext cx="219456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 KB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D3776213-6093-8912-B4CC-0248FFB2E2DF}"/>
              </a:ext>
            </a:extLst>
          </p:cNvPr>
          <p:cNvSpPr/>
          <p:nvPr/>
        </p:nvSpPr>
        <p:spPr>
          <a:xfrm>
            <a:off x="3308294" y="6204169"/>
            <a:ext cx="109728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512 B</a:t>
            </a:r>
          </a:p>
        </p:txBody>
      </p: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038144B5-2AD2-43F1-AB28-160CCC8DD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52" y="0"/>
            <a:ext cx="4243411" cy="3966642"/>
          </a:xfrm>
          <a:solidFill>
            <a:schemeClr val="bg1"/>
          </a:solidFill>
        </p:spPr>
        <p:txBody>
          <a:bodyPr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For</a:t>
            </a:r>
            <a:r>
              <a:rPr lang="en-US" sz="1600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 the given size, </a:t>
            </a: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find its suitable level</a:t>
            </a:r>
            <a:endParaRPr lang="en-US" sz="1600" b="1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CASE1: if no block exists</a:t>
            </a:r>
          </a:p>
          <a:p>
            <a:pPr lv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Check upper level(s) until find one</a:t>
            </a:r>
          </a:p>
          <a:p>
            <a:pPr lv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If not found</a:t>
            </a:r>
          </a:p>
          <a:p>
            <a:pPr marL="29260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2.1 Allocate page from the OS</a:t>
            </a:r>
          </a:p>
          <a:p>
            <a:pPr marL="29260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2.2 Split it into two buddies</a:t>
            </a:r>
          </a:p>
          <a:p>
            <a:pPr marL="29260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2.3 Add them to the corresponding list (L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  <a:sym typeface="Wingdings" panose="05000000000000000000" pitchFamily="2" charset="2"/>
              </a:rPr>
              <a:t>R)</a:t>
            </a:r>
            <a:endParaRPr lang="en-US" sz="1600" dirty="0">
              <a:solidFill>
                <a:srgbClr val="5C5962"/>
              </a:solidFill>
              <a:ea typeface="Calibri" panose="020F0502020204030204" pitchFamily="34" charset="0"/>
            </a:endParaRPr>
          </a:p>
          <a:p>
            <a:pPr marL="0" lv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Repeat while NOT reaching desired level </a:t>
            </a:r>
          </a:p>
          <a:p>
            <a:pPr lvl="0"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Pick first block, split it to 2 buddies &amp; add them to lower level</a:t>
            </a:r>
          </a:p>
          <a:p>
            <a:pPr marL="0" lv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CASE2: if block exists</a:t>
            </a:r>
          </a:p>
          <a:p>
            <a:pPr lvl="0"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Allocate it &amp; update the data structures </a:t>
            </a: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F3FF988F-2B50-CA94-F414-9DD0B3E56B5D}"/>
              </a:ext>
            </a:extLst>
          </p:cNvPr>
          <p:cNvGrpSpPr/>
          <p:nvPr/>
        </p:nvGrpSpPr>
        <p:grpSpPr>
          <a:xfrm>
            <a:off x="1545939" y="1095062"/>
            <a:ext cx="2181534" cy="528536"/>
            <a:chOff x="7246279" y="1508565"/>
            <a:chExt cx="2246022" cy="528536"/>
          </a:xfrm>
        </p:grpSpPr>
        <p:sp>
          <p:nvSpPr>
            <p:cNvPr id="181" name="Rectangle 13">
              <a:extLst>
                <a:ext uri="{FF2B5EF4-FFF2-40B4-BE49-F238E27FC236}">
                  <a16:creationId xmlns:a16="http://schemas.microsoft.com/office/drawing/2014/main" id="{66B8D742-5ED9-6119-BB41-0E9CC5BBF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8810" y="1508565"/>
              <a:ext cx="1373433" cy="52853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R_buddy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182" name="Arrow: Right 181">
              <a:extLst>
                <a:ext uri="{FF2B5EF4-FFF2-40B4-BE49-F238E27FC236}">
                  <a16:creationId xmlns:a16="http://schemas.microsoft.com/office/drawing/2014/main" id="{F576CCF3-4840-0B8C-ADF1-0DB9598E6C78}"/>
                </a:ext>
              </a:extLst>
            </p:cNvPr>
            <p:cNvSpPr/>
            <p:nvPr/>
          </p:nvSpPr>
          <p:spPr>
            <a:xfrm>
              <a:off x="7246279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3" name="Arrow: Bent 182">
              <a:extLst>
                <a:ext uri="{FF2B5EF4-FFF2-40B4-BE49-F238E27FC236}">
                  <a16:creationId xmlns:a16="http://schemas.microsoft.com/office/drawing/2014/main" id="{BF444F18-FE57-F130-BCAE-A7183465D262}"/>
                </a:ext>
              </a:extLst>
            </p:cNvPr>
            <p:cNvSpPr/>
            <p:nvPr/>
          </p:nvSpPr>
          <p:spPr>
            <a:xfrm rot="5400000">
              <a:off x="91342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AEBC7F4-321C-F200-B847-2AC833A97BD4}"/>
              </a:ext>
            </a:extLst>
          </p:cNvPr>
          <p:cNvGrpSpPr/>
          <p:nvPr/>
        </p:nvGrpSpPr>
        <p:grpSpPr>
          <a:xfrm>
            <a:off x="1555674" y="1851861"/>
            <a:ext cx="1880196" cy="528536"/>
            <a:chOff x="6871843" y="1508565"/>
            <a:chExt cx="1935777" cy="528536"/>
          </a:xfrm>
        </p:grpSpPr>
        <p:sp>
          <p:nvSpPr>
            <p:cNvPr id="195" name="Rectangle 13">
              <a:extLst>
                <a:ext uri="{FF2B5EF4-FFF2-40B4-BE49-F238E27FC236}">
                  <a16:creationId xmlns:a16="http://schemas.microsoft.com/office/drawing/2014/main" id="{5F0AFFDD-0B64-BB1D-BF76-70C037FF1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375" y="1508565"/>
              <a:ext cx="1016344" cy="52853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800" dirty="0" err="1">
                  <a:solidFill>
                    <a:prstClr val="black"/>
                  </a:solidFill>
                </a:rPr>
                <a:t>R_buddy</a:t>
              </a: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96" name="Arrow: Right 195">
              <a:extLst>
                <a:ext uri="{FF2B5EF4-FFF2-40B4-BE49-F238E27FC236}">
                  <a16:creationId xmlns:a16="http://schemas.microsoft.com/office/drawing/2014/main" id="{5FDB47DB-6AF0-2335-5C29-6D19FF06DC5F}"/>
                </a:ext>
              </a:extLst>
            </p:cNvPr>
            <p:cNvSpPr/>
            <p:nvPr/>
          </p:nvSpPr>
          <p:spPr>
            <a:xfrm>
              <a:off x="6871843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7" name="Arrow: Bent 196">
              <a:extLst>
                <a:ext uri="{FF2B5EF4-FFF2-40B4-BE49-F238E27FC236}">
                  <a16:creationId xmlns:a16="http://schemas.microsoft.com/office/drawing/2014/main" id="{DEE02243-03D2-059D-A56E-4F27A116A2EE}"/>
                </a:ext>
              </a:extLst>
            </p:cNvPr>
            <p:cNvSpPr/>
            <p:nvPr/>
          </p:nvSpPr>
          <p:spPr>
            <a:xfrm rot="5400000">
              <a:off x="8449569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cxnSp>
        <p:nvCxnSpPr>
          <p:cNvPr id="342" name="Connector: Curved 341">
            <a:extLst>
              <a:ext uri="{FF2B5EF4-FFF2-40B4-BE49-F238E27FC236}">
                <a16:creationId xmlns:a16="http://schemas.microsoft.com/office/drawing/2014/main" id="{0414D08F-735C-C1BA-5033-4206D89DF89E}"/>
              </a:ext>
            </a:extLst>
          </p:cNvPr>
          <p:cNvCxnSpPr>
            <a:cxnSpLocks/>
            <a:stCxn id="130" idx="1"/>
          </p:cNvCxnSpPr>
          <p:nvPr/>
        </p:nvCxnSpPr>
        <p:spPr>
          <a:xfrm rot="10800000" flipV="1">
            <a:off x="9899595" y="3104397"/>
            <a:ext cx="1122997" cy="3092841"/>
          </a:xfrm>
          <a:prstGeom prst="curvedConnector2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FC4494DD-1941-AFEF-F0D8-ED9658012C97}"/>
              </a:ext>
            </a:extLst>
          </p:cNvPr>
          <p:cNvGrpSpPr/>
          <p:nvPr/>
        </p:nvGrpSpPr>
        <p:grpSpPr>
          <a:xfrm>
            <a:off x="1563621" y="2648017"/>
            <a:ext cx="1610014" cy="528536"/>
            <a:chOff x="6615090" y="1508565"/>
            <a:chExt cx="1657611" cy="528536"/>
          </a:xfrm>
        </p:grpSpPr>
        <p:sp>
          <p:nvSpPr>
            <p:cNvPr id="347" name="Rectangle 13">
              <a:extLst>
                <a:ext uri="{FF2B5EF4-FFF2-40B4-BE49-F238E27FC236}">
                  <a16:creationId xmlns:a16="http://schemas.microsoft.com/office/drawing/2014/main" id="{CD1040C0-6016-DC09-6F41-DAFB2502F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622" y="1508565"/>
              <a:ext cx="750938" cy="5285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400" dirty="0" err="1">
                  <a:solidFill>
                    <a:prstClr val="black"/>
                  </a:solidFill>
                </a:rPr>
                <a:t>R_buddy</a:t>
              </a:r>
              <a:endParaRPr lang="en-US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348" name="Arrow: Right 347">
              <a:extLst>
                <a:ext uri="{FF2B5EF4-FFF2-40B4-BE49-F238E27FC236}">
                  <a16:creationId xmlns:a16="http://schemas.microsoft.com/office/drawing/2014/main" id="{21BDCF08-8839-BA0A-9893-851E355FE9AF}"/>
                </a:ext>
              </a:extLst>
            </p:cNvPr>
            <p:cNvSpPr/>
            <p:nvPr/>
          </p:nvSpPr>
          <p:spPr>
            <a:xfrm>
              <a:off x="6615090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9" name="Arrow: Bent 348">
              <a:extLst>
                <a:ext uri="{FF2B5EF4-FFF2-40B4-BE49-F238E27FC236}">
                  <a16:creationId xmlns:a16="http://schemas.microsoft.com/office/drawing/2014/main" id="{5DD66D48-79E0-E292-852F-40B4A4C798AD}"/>
                </a:ext>
              </a:extLst>
            </p:cNvPr>
            <p:cNvSpPr/>
            <p:nvPr/>
          </p:nvSpPr>
          <p:spPr>
            <a:xfrm rot="5400000">
              <a:off x="79146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FEAB4A-14D2-8F5F-6DC9-F4909506A323}"/>
              </a:ext>
            </a:extLst>
          </p:cNvPr>
          <p:cNvSpPr/>
          <p:nvPr/>
        </p:nvSpPr>
        <p:spPr>
          <a:xfrm>
            <a:off x="-4417" y="5898136"/>
            <a:ext cx="2828234" cy="9538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B =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Alloc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(2000 B)</a:t>
            </a:r>
            <a:endParaRPr lang="en-AE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Need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2010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Byte </a:t>
            </a: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it should reside in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Level#11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EE56A2-C2B1-351E-BF70-A4FC1E2B4016}"/>
              </a:ext>
            </a:extLst>
          </p:cNvPr>
          <p:cNvSpPr/>
          <p:nvPr/>
        </p:nvSpPr>
        <p:spPr>
          <a:xfrm>
            <a:off x="6598398" y="3104397"/>
            <a:ext cx="3973889" cy="659481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5F32CD-5A56-95C5-A6BC-708144F2BBAA}"/>
              </a:ext>
            </a:extLst>
          </p:cNvPr>
          <p:cNvGrpSpPr/>
          <p:nvPr/>
        </p:nvGrpSpPr>
        <p:grpSpPr>
          <a:xfrm>
            <a:off x="7095817" y="4296067"/>
            <a:ext cx="1119024" cy="1894638"/>
            <a:chOff x="2677662" y="4302601"/>
            <a:chExt cx="1119024" cy="189463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744F9E2-51F8-AC15-85D4-BF8F9E64F7F5}"/>
                </a:ext>
              </a:extLst>
            </p:cNvPr>
            <p:cNvGrpSpPr/>
            <p:nvPr/>
          </p:nvGrpSpPr>
          <p:grpSpPr>
            <a:xfrm>
              <a:off x="2969782" y="4656544"/>
              <a:ext cx="505634" cy="1540695"/>
              <a:chOff x="2969782" y="4656544"/>
              <a:chExt cx="505634" cy="1540695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F943586-B4FF-5AC1-3687-9A079F8DBA78}"/>
                  </a:ext>
                </a:extLst>
              </p:cNvPr>
              <p:cNvGrpSpPr/>
              <p:nvPr/>
            </p:nvGrpSpPr>
            <p:grpSpPr>
              <a:xfrm>
                <a:off x="2969782" y="4656544"/>
                <a:ext cx="505634" cy="627571"/>
                <a:chOff x="3146168" y="6205997"/>
                <a:chExt cx="505634" cy="627571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B64CB92C-711A-1614-23F1-BF85923A0BAB}"/>
                    </a:ext>
                  </a:extLst>
                </p:cNvPr>
                <p:cNvSpPr/>
                <p:nvPr/>
              </p:nvSpPr>
              <p:spPr>
                <a:xfrm>
                  <a:off x="3146168" y="6211127"/>
                  <a:ext cx="376064" cy="622441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L11</a:t>
                  </a:r>
                  <a:endParaRPr lang="en-US" sz="1200" b="1" dirty="0"/>
                </a:p>
                <a:p>
                  <a:pPr algn="ctr"/>
                  <a:r>
                    <a:rPr lang="en-US" b="1" dirty="0"/>
                    <a:t>0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17484AE1-5C9E-46CB-E7C3-441065C048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0122" y="6205997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17484AE1-5C9E-46CB-E7C3-441065C048C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00122" y="6205997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51AAF766-6B4F-11B5-A891-796D640F20CE}"/>
                  </a:ext>
                </a:extLst>
              </p:cNvPr>
              <p:cNvCxnSpPr>
                <a:cxnSpLocks/>
                <a:endCxn id="22" idx="2"/>
              </p:cNvCxnSpPr>
              <p:nvPr/>
            </p:nvCxnSpPr>
            <p:spPr>
              <a:xfrm flipH="1" flipV="1">
                <a:off x="3157814" y="5284115"/>
                <a:ext cx="165922" cy="9131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A2554B5-5B8A-7D4B-2E34-170F8B8F354D}"/>
                </a:ext>
              </a:extLst>
            </p:cNvPr>
            <p:cNvSpPr txBox="1"/>
            <p:nvPr/>
          </p:nvSpPr>
          <p:spPr>
            <a:xfrm>
              <a:off x="2677662" y="4302601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F7DFAB3-44B7-DD54-C086-D1E17BD8AFCB}"/>
              </a:ext>
            </a:extLst>
          </p:cNvPr>
          <p:cNvGrpSpPr/>
          <p:nvPr/>
        </p:nvGrpSpPr>
        <p:grpSpPr>
          <a:xfrm>
            <a:off x="3289154" y="5751474"/>
            <a:ext cx="762000" cy="1066800"/>
            <a:chOff x="3289154" y="5751474"/>
            <a:chExt cx="762000" cy="10668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CB85059-4BAE-77D5-410C-3EBFD6239774}"/>
                </a:ext>
              </a:extLst>
            </p:cNvPr>
            <p:cNvGrpSpPr/>
            <p:nvPr/>
          </p:nvGrpSpPr>
          <p:grpSpPr>
            <a:xfrm>
              <a:off x="3289154" y="5751474"/>
              <a:ext cx="762000" cy="1066800"/>
              <a:chOff x="3289154" y="5761865"/>
              <a:chExt cx="762000" cy="106680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4D9BCBF-F8AF-B807-25FD-E9BF28F3F9C5}"/>
                  </a:ext>
                </a:extLst>
              </p:cNvPr>
              <p:cNvSpPr/>
              <p:nvPr/>
            </p:nvSpPr>
            <p:spPr>
              <a:xfrm>
                <a:off x="3289154" y="6219065"/>
                <a:ext cx="762000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F0849D1-D949-D467-9F5E-E78EBFF025B9}"/>
                  </a:ext>
                </a:extLst>
              </p:cNvPr>
              <p:cNvSpPr txBox="1"/>
              <p:nvPr/>
            </p:nvSpPr>
            <p:spPr>
              <a:xfrm>
                <a:off x="3507742" y="5761865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A</a:t>
                </a:r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310F855-369E-C73E-9D0A-1BE730A0266F}"/>
                </a:ext>
              </a:extLst>
            </p:cNvPr>
            <p:cNvSpPr/>
            <p:nvPr/>
          </p:nvSpPr>
          <p:spPr>
            <a:xfrm>
              <a:off x="3300674" y="6203773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58A72FE-9754-7076-0156-C07FB959F9E3}"/>
              </a:ext>
            </a:extLst>
          </p:cNvPr>
          <p:cNvGrpSpPr/>
          <p:nvPr/>
        </p:nvGrpSpPr>
        <p:grpSpPr>
          <a:xfrm>
            <a:off x="7705034" y="6193382"/>
            <a:ext cx="4389120" cy="609600"/>
            <a:chOff x="7705034" y="6197239"/>
            <a:chExt cx="4389120" cy="6096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6820A62-18A0-5745-9D49-1A87589D2345}"/>
                </a:ext>
              </a:extLst>
            </p:cNvPr>
            <p:cNvSpPr/>
            <p:nvPr/>
          </p:nvSpPr>
          <p:spPr>
            <a:xfrm>
              <a:off x="7705034" y="6197239"/>
              <a:ext cx="438912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5487A50-8A1E-7698-C3F9-6CFA46B6EAD7}"/>
                </a:ext>
              </a:extLst>
            </p:cNvPr>
            <p:cNvSpPr/>
            <p:nvPr/>
          </p:nvSpPr>
          <p:spPr>
            <a:xfrm>
              <a:off x="7721358" y="6199916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42352F8-F4E5-C565-BF1E-BE5454E63E95}"/>
              </a:ext>
            </a:extLst>
          </p:cNvPr>
          <p:cNvGrpSpPr/>
          <p:nvPr/>
        </p:nvGrpSpPr>
        <p:grpSpPr>
          <a:xfrm>
            <a:off x="5502854" y="6185412"/>
            <a:ext cx="2194560" cy="609600"/>
            <a:chOff x="5495234" y="6203773"/>
            <a:chExt cx="2194560" cy="6096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1DF53DC-5334-0EB9-6065-4E4C708B6AAF}"/>
                </a:ext>
              </a:extLst>
            </p:cNvPr>
            <p:cNvSpPr/>
            <p:nvPr/>
          </p:nvSpPr>
          <p:spPr>
            <a:xfrm>
              <a:off x="5495234" y="6203773"/>
              <a:ext cx="219456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1 KB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7F4A152-BA26-A847-D0DA-EC5A80F82478}"/>
                </a:ext>
              </a:extLst>
            </p:cNvPr>
            <p:cNvSpPr/>
            <p:nvPr/>
          </p:nvSpPr>
          <p:spPr>
            <a:xfrm>
              <a:off x="5516016" y="6203773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C2D8A0-7F4F-17CD-ADED-30416D415FAB}"/>
              </a:ext>
            </a:extLst>
          </p:cNvPr>
          <p:cNvGrpSpPr/>
          <p:nvPr/>
        </p:nvGrpSpPr>
        <p:grpSpPr>
          <a:xfrm>
            <a:off x="4409384" y="6185412"/>
            <a:ext cx="1097280" cy="609600"/>
            <a:chOff x="4409384" y="6204169"/>
            <a:chExt cx="1097280" cy="6096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66983F8-3AEE-935D-EA20-3A38AA699A4A}"/>
                </a:ext>
              </a:extLst>
            </p:cNvPr>
            <p:cNvSpPr/>
            <p:nvPr/>
          </p:nvSpPr>
          <p:spPr>
            <a:xfrm>
              <a:off x="4409384" y="6204169"/>
              <a:ext cx="109728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512 B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C097E59-7476-311C-1E85-E152528481F3}"/>
                </a:ext>
              </a:extLst>
            </p:cNvPr>
            <p:cNvSpPr/>
            <p:nvPr/>
          </p:nvSpPr>
          <p:spPr>
            <a:xfrm>
              <a:off x="4419775" y="6204169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4AC87A3-4A27-3BB2-AD11-844032C02DDC}"/>
              </a:ext>
            </a:extLst>
          </p:cNvPr>
          <p:cNvGrpSpPr/>
          <p:nvPr/>
        </p:nvGrpSpPr>
        <p:grpSpPr>
          <a:xfrm>
            <a:off x="7685396" y="5750430"/>
            <a:ext cx="3897004" cy="1066800"/>
            <a:chOff x="7685396" y="5740039"/>
            <a:chExt cx="3897004" cy="1066800"/>
          </a:xfrm>
        </p:grpSpPr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351C4C77-AC03-9F7B-9F71-C4339BD9C2E2}"/>
                </a:ext>
              </a:extLst>
            </p:cNvPr>
            <p:cNvGrpSpPr/>
            <p:nvPr/>
          </p:nvGrpSpPr>
          <p:grpSpPr>
            <a:xfrm>
              <a:off x="7685396" y="5740039"/>
              <a:ext cx="3897004" cy="1066800"/>
              <a:chOff x="5518094" y="3814784"/>
              <a:chExt cx="1676400" cy="1066800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F98DA6FE-CB0A-7810-A0BC-8C4B7E478BD9}"/>
                  </a:ext>
                </a:extLst>
              </p:cNvPr>
              <p:cNvSpPr/>
              <p:nvPr/>
            </p:nvSpPr>
            <p:spPr>
              <a:xfrm>
                <a:off x="5518094" y="4271984"/>
                <a:ext cx="1676400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A33CF91D-B439-5D71-DD02-4BA4B7BD01A7}"/>
                  </a:ext>
                </a:extLst>
              </p:cNvPr>
              <p:cNvSpPr txBox="1"/>
              <p:nvPr/>
            </p:nvSpPr>
            <p:spPr>
              <a:xfrm>
                <a:off x="6127694" y="3814784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B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9BB6E09-B993-D1C6-AB81-42D6FE8E5D72}"/>
                </a:ext>
              </a:extLst>
            </p:cNvPr>
            <p:cNvSpPr/>
            <p:nvPr/>
          </p:nvSpPr>
          <p:spPr>
            <a:xfrm>
              <a:off x="7718829" y="6197239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</p:spTree>
    <p:extLst>
      <p:ext uri="{BB962C8B-B14F-4D97-AF65-F5344CB8AC3E}">
        <p14:creationId xmlns:p14="http://schemas.microsoft.com/office/powerpoint/2010/main" val="324401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DB3E2"/>
                                      </p:to>
                                    </p:animClr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6AF5-A8BC-2652-6FE2-0FEC9712E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9CC52-12E3-43B7-9376-C4245075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00"/>
              <a:t>11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7D836-AE8E-C4E6-8D1A-47932DD209D1}"/>
              </a:ext>
            </a:extLst>
          </p:cNvPr>
          <p:cNvSpPr txBox="1">
            <a:spLocks/>
          </p:cNvSpPr>
          <p:nvPr/>
        </p:nvSpPr>
        <p:spPr>
          <a:xfrm>
            <a:off x="0" y="6005"/>
            <a:ext cx="6874569" cy="953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Dynamic Allocator </a:t>
            </a:r>
            <a:r>
              <a:rPr lang="en-US" b="1" dirty="0"/>
              <a:t>– Allocate</a:t>
            </a:r>
            <a:endParaRPr lang="en-AE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84052D7-72F5-FBFD-2E32-BCCC525F8591}"/>
              </a:ext>
            </a:extLst>
          </p:cNvPr>
          <p:cNvCxnSpPr>
            <a:cxnSpLocks/>
          </p:cNvCxnSpPr>
          <p:nvPr/>
        </p:nvCxnSpPr>
        <p:spPr>
          <a:xfrm>
            <a:off x="407250" y="1574370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B06C474-7531-1FAB-4968-00F5852B49A6}"/>
              </a:ext>
            </a:extLst>
          </p:cNvPr>
          <p:cNvCxnSpPr>
            <a:cxnSpLocks/>
          </p:cNvCxnSpPr>
          <p:nvPr/>
        </p:nvCxnSpPr>
        <p:spPr>
          <a:xfrm flipV="1">
            <a:off x="1260334" y="2337443"/>
            <a:ext cx="0" cy="3692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83BE048-DAD5-C992-88D1-ED6E401C0C60}"/>
              </a:ext>
            </a:extLst>
          </p:cNvPr>
          <p:cNvCxnSpPr>
            <a:cxnSpLocks/>
          </p:cNvCxnSpPr>
          <p:nvPr/>
        </p:nvCxnSpPr>
        <p:spPr>
          <a:xfrm>
            <a:off x="407250" y="2360518"/>
            <a:ext cx="0" cy="346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tangle 13">
            <a:extLst>
              <a:ext uri="{FF2B5EF4-FFF2-40B4-BE49-F238E27FC236}">
                <a16:creationId xmlns:a16="http://schemas.microsoft.com/office/drawing/2014/main" id="{6D397B46-942F-CE95-159C-35144D501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2709680"/>
            <a:ext cx="1350604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9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9E7B979-2B45-8D59-57EB-2630EF37420B}"/>
              </a:ext>
            </a:extLst>
          </p:cNvPr>
          <p:cNvCxnSpPr>
            <a:cxnSpLocks/>
          </p:cNvCxnSpPr>
          <p:nvPr/>
        </p:nvCxnSpPr>
        <p:spPr>
          <a:xfrm flipV="1">
            <a:off x="1260334" y="1574370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Rectangle 13">
            <a:extLst>
              <a:ext uri="{FF2B5EF4-FFF2-40B4-BE49-F238E27FC236}">
                <a16:creationId xmlns:a16="http://schemas.microsoft.com/office/drawing/2014/main" id="{2B0F33FB-FA96-8DFE-F483-CADD3C2D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93" y="1111193"/>
            <a:ext cx="1334002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11</a:t>
            </a:r>
          </a:p>
        </p:txBody>
      </p:sp>
      <p:sp>
        <p:nvSpPr>
          <p:cNvPr id="99" name="Rectangle 13">
            <a:extLst>
              <a:ext uri="{FF2B5EF4-FFF2-40B4-BE49-F238E27FC236}">
                <a16:creationId xmlns:a16="http://schemas.microsoft.com/office/drawing/2014/main" id="{2F8CF7DB-7999-42A8-8F11-5BA7B60AA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67" y="1888005"/>
            <a:ext cx="134223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10</a:t>
            </a:r>
          </a:p>
        </p:txBody>
      </p:sp>
      <p:sp>
        <p:nvSpPr>
          <p:cNvPr id="83" name="Rectangle 13">
            <a:extLst>
              <a:ext uri="{FF2B5EF4-FFF2-40B4-BE49-F238E27FC236}">
                <a16:creationId xmlns:a16="http://schemas.microsoft.com/office/drawing/2014/main" id="{F2D2012A-37ED-3BCF-A6FE-45B92E0F8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3925671"/>
            <a:ext cx="135582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4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DC39DC1-F0BE-F2EB-752B-25D603B74D83}"/>
              </a:ext>
            </a:extLst>
          </p:cNvPr>
          <p:cNvCxnSpPr>
            <a:cxnSpLocks/>
            <a:stCxn id="93" idx="2"/>
            <a:endCxn id="83" idx="0"/>
          </p:cNvCxnSpPr>
          <p:nvPr/>
        </p:nvCxnSpPr>
        <p:spPr>
          <a:xfrm>
            <a:off x="884121" y="3180408"/>
            <a:ext cx="2610" cy="74526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Arrow: Bent 78">
            <a:extLst>
              <a:ext uri="{FF2B5EF4-FFF2-40B4-BE49-F238E27FC236}">
                <a16:creationId xmlns:a16="http://schemas.microsoft.com/office/drawing/2014/main" id="{8D544463-515C-2BBF-C6C6-D2C9C145FFEC}"/>
              </a:ext>
            </a:extLst>
          </p:cNvPr>
          <p:cNvSpPr/>
          <p:nvPr/>
        </p:nvSpPr>
        <p:spPr>
          <a:xfrm rot="5400000">
            <a:off x="1728590" y="3936739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3F940D7-B850-DE9F-452C-074403675132}"/>
              </a:ext>
            </a:extLst>
          </p:cNvPr>
          <p:cNvSpPr/>
          <p:nvPr/>
        </p:nvSpPr>
        <p:spPr>
          <a:xfrm>
            <a:off x="11022591" y="3388989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EBF774F-4A18-2726-7675-4B873E0F33C5}"/>
              </a:ext>
            </a:extLst>
          </p:cNvPr>
          <p:cNvSpPr/>
          <p:nvPr/>
        </p:nvSpPr>
        <p:spPr>
          <a:xfrm>
            <a:off x="11022591" y="2815571"/>
            <a:ext cx="1075373" cy="57765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AD7493C-9067-E6A5-D973-4041673F7BAA}"/>
              </a:ext>
            </a:extLst>
          </p:cNvPr>
          <p:cNvSpPr/>
          <p:nvPr/>
        </p:nvSpPr>
        <p:spPr>
          <a:xfrm>
            <a:off x="11022591" y="569215"/>
            <a:ext cx="1075373" cy="5776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24F4A1B-6A58-4E4C-AF62-0DA4245DB02D}"/>
              </a:ext>
            </a:extLst>
          </p:cNvPr>
          <p:cNvSpPr/>
          <p:nvPr/>
        </p:nvSpPr>
        <p:spPr>
          <a:xfrm>
            <a:off x="11022591" y="1693737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C81318F-C7FA-84CD-D47C-790369DEC30B}"/>
              </a:ext>
            </a:extLst>
          </p:cNvPr>
          <p:cNvSpPr/>
          <p:nvPr/>
        </p:nvSpPr>
        <p:spPr>
          <a:xfrm>
            <a:off x="11022591" y="1144659"/>
            <a:ext cx="1075373" cy="57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CBA069C-F669-4BE1-EB1C-B136A807D7E6}"/>
              </a:ext>
            </a:extLst>
          </p:cNvPr>
          <p:cNvSpPr/>
          <p:nvPr/>
        </p:nvSpPr>
        <p:spPr>
          <a:xfrm>
            <a:off x="11022591" y="227448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22057BF-C253-9208-5AB8-501D24ED0279}"/>
              </a:ext>
            </a:extLst>
          </p:cNvPr>
          <p:cNvSpPr/>
          <p:nvPr/>
        </p:nvSpPr>
        <p:spPr>
          <a:xfrm>
            <a:off x="11022591" y="1591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F0986A3-059E-38D6-E82E-9BCEBE7A4716}"/>
              </a:ext>
            </a:extLst>
          </p:cNvPr>
          <p:cNvCxnSpPr>
            <a:cxnSpLocks/>
          </p:cNvCxnSpPr>
          <p:nvPr/>
        </p:nvCxnSpPr>
        <p:spPr>
          <a:xfrm>
            <a:off x="417904" y="3629188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37350960-76F3-B8A4-8642-11816AE2FFB3}"/>
              </a:ext>
            </a:extLst>
          </p:cNvPr>
          <p:cNvCxnSpPr>
            <a:cxnSpLocks/>
          </p:cNvCxnSpPr>
          <p:nvPr/>
        </p:nvCxnSpPr>
        <p:spPr>
          <a:xfrm flipV="1">
            <a:off x="1270988" y="3598708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788E883-76AD-A41B-3570-F10EA8F1BDBF}"/>
              </a:ext>
            </a:extLst>
          </p:cNvPr>
          <p:cNvGrpSpPr/>
          <p:nvPr/>
        </p:nvGrpSpPr>
        <p:grpSpPr>
          <a:xfrm>
            <a:off x="208820" y="4396399"/>
            <a:ext cx="1350604" cy="1006903"/>
            <a:chOff x="208820" y="4396399"/>
            <a:chExt cx="1350604" cy="1006903"/>
          </a:xfrm>
        </p:grpSpPr>
        <p:sp>
          <p:nvSpPr>
            <p:cNvPr id="138" name="Rectangle 13" descr="N&#10;">
              <a:extLst>
                <a:ext uri="{FF2B5EF4-FFF2-40B4-BE49-F238E27FC236}">
                  <a16:creationId xmlns:a16="http://schemas.microsoft.com/office/drawing/2014/main" id="{61F70B9C-E361-E5D8-2148-0C0D81CE1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20" y="4932574"/>
              <a:ext cx="1350604" cy="4707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b="0" dirty="0">
                  <a:solidFill>
                    <a:prstClr val="black"/>
                  </a:solidFill>
                </a:rPr>
                <a:t>Not used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71745A58-F0E5-4B78-CA7A-701A0C7B4CF8}"/>
                </a:ext>
              </a:extLst>
            </p:cNvPr>
            <p:cNvCxnSpPr>
              <a:cxnSpLocks/>
              <a:stCxn id="83" idx="2"/>
              <a:endCxn id="138" idx="0"/>
            </p:cNvCxnSpPr>
            <p:nvPr/>
          </p:nvCxnSpPr>
          <p:spPr>
            <a:xfrm flipH="1">
              <a:off x="884122" y="4396399"/>
              <a:ext cx="2609" cy="53617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37EDBA94-FF80-DC3E-8C3B-7149E1396044}"/>
                </a:ext>
              </a:extLst>
            </p:cNvPr>
            <p:cNvCxnSpPr>
              <a:cxnSpLocks/>
            </p:cNvCxnSpPr>
            <p:nvPr/>
          </p:nvCxnSpPr>
          <p:spPr>
            <a:xfrm>
              <a:off x="399723" y="4693920"/>
              <a:ext cx="0" cy="2386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0297F6B3-5E2E-14B1-7192-82D3A44D19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003" y="4693920"/>
              <a:ext cx="0" cy="2122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5" name="Arrow: Bent 154">
            <a:extLst>
              <a:ext uri="{FF2B5EF4-FFF2-40B4-BE49-F238E27FC236}">
                <a16:creationId xmlns:a16="http://schemas.microsoft.com/office/drawing/2014/main" id="{A3BA4164-02C2-5B5E-C8D0-3CE1223E739F}"/>
              </a:ext>
            </a:extLst>
          </p:cNvPr>
          <p:cNvSpPr/>
          <p:nvPr/>
        </p:nvSpPr>
        <p:spPr>
          <a:xfrm rot="5400000">
            <a:off x="1743690" y="1129463"/>
            <a:ext cx="346219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D5E082B-CDBC-354F-C99E-FB38C0BB29C3}"/>
              </a:ext>
            </a:extLst>
          </p:cNvPr>
          <p:cNvSpPr/>
          <p:nvPr/>
        </p:nvSpPr>
        <p:spPr>
          <a:xfrm>
            <a:off x="3308294" y="6203773"/>
            <a:ext cx="877824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 KB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3C67924-A2A0-56AF-8E39-272772EED1FB}"/>
              </a:ext>
            </a:extLst>
          </p:cNvPr>
          <p:cNvSpPr/>
          <p:nvPr/>
        </p:nvSpPr>
        <p:spPr>
          <a:xfrm>
            <a:off x="3308294" y="6197239"/>
            <a:ext cx="438912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 KB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68A36CD-8F31-E0D3-84E9-2F9DDAB9D400}"/>
              </a:ext>
            </a:extLst>
          </p:cNvPr>
          <p:cNvSpPr/>
          <p:nvPr/>
        </p:nvSpPr>
        <p:spPr>
          <a:xfrm>
            <a:off x="3300674" y="6203773"/>
            <a:ext cx="219456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 KB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458E4D69-5462-B66A-6022-486EBE4116B9}"/>
              </a:ext>
            </a:extLst>
          </p:cNvPr>
          <p:cNvSpPr/>
          <p:nvPr/>
        </p:nvSpPr>
        <p:spPr>
          <a:xfrm>
            <a:off x="3308294" y="6204169"/>
            <a:ext cx="109728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512 B</a:t>
            </a:r>
          </a:p>
        </p:txBody>
      </p: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42AD0764-C625-7D7D-BB78-68CCABCE0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52" y="0"/>
            <a:ext cx="4243411" cy="3966642"/>
          </a:xfrm>
          <a:solidFill>
            <a:schemeClr val="bg1"/>
          </a:solidFill>
        </p:spPr>
        <p:txBody>
          <a:bodyPr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For</a:t>
            </a:r>
            <a:r>
              <a:rPr lang="en-US" sz="1600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 the given size, </a:t>
            </a: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find its suitable level</a:t>
            </a:r>
            <a:endParaRPr lang="en-US" sz="1600" b="1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CASE1: if no block exists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Check upper level(s) until find one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If not found</a:t>
            </a:r>
          </a:p>
          <a:p>
            <a:pPr marL="29260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2.1 Allocate page from the OS</a:t>
            </a:r>
          </a:p>
          <a:p>
            <a:pPr marL="29260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2.2 Split it into two buddies</a:t>
            </a:r>
          </a:p>
          <a:p>
            <a:pPr marL="29260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2.3 Add them to the corresponding list (L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  <a:sym typeface="Wingdings" panose="05000000000000000000" pitchFamily="2" charset="2"/>
              </a:rPr>
              <a:t>R)</a:t>
            </a:r>
            <a:endParaRPr lang="en-US" sz="1600" dirty="0">
              <a:solidFill>
                <a:srgbClr val="5C5962"/>
              </a:solidFill>
              <a:ea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Repeat while NOT reaching desired level 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Pick first block, split it to 2 buddies &amp; add them to lower level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CASE2: if block exists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Allocate it &amp; update the data structures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CASE3: if NO memory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Return NULL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1600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190C8B99-78F9-2A83-74A4-CBE1F355520C}"/>
              </a:ext>
            </a:extLst>
          </p:cNvPr>
          <p:cNvGrpSpPr/>
          <p:nvPr/>
        </p:nvGrpSpPr>
        <p:grpSpPr>
          <a:xfrm>
            <a:off x="1555674" y="1851861"/>
            <a:ext cx="1880196" cy="528536"/>
            <a:chOff x="6871843" y="1508565"/>
            <a:chExt cx="1935777" cy="528536"/>
          </a:xfrm>
        </p:grpSpPr>
        <p:sp>
          <p:nvSpPr>
            <p:cNvPr id="195" name="Rectangle 13">
              <a:extLst>
                <a:ext uri="{FF2B5EF4-FFF2-40B4-BE49-F238E27FC236}">
                  <a16:creationId xmlns:a16="http://schemas.microsoft.com/office/drawing/2014/main" id="{C8DBC538-C3DE-2762-5DBF-EF91D18EA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375" y="1508565"/>
              <a:ext cx="1016344" cy="52853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800" dirty="0" err="1">
                  <a:solidFill>
                    <a:prstClr val="black"/>
                  </a:solidFill>
                </a:rPr>
                <a:t>R_buddy</a:t>
              </a: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96" name="Arrow: Right 195">
              <a:extLst>
                <a:ext uri="{FF2B5EF4-FFF2-40B4-BE49-F238E27FC236}">
                  <a16:creationId xmlns:a16="http://schemas.microsoft.com/office/drawing/2014/main" id="{75849215-31A3-38DC-0F29-A61D971798C2}"/>
                </a:ext>
              </a:extLst>
            </p:cNvPr>
            <p:cNvSpPr/>
            <p:nvPr/>
          </p:nvSpPr>
          <p:spPr>
            <a:xfrm>
              <a:off x="6871843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7" name="Arrow: Bent 196">
              <a:extLst>
                <a:ext uri="{FF2B5EF4-FFF2-40B4-BE49-F238E27FC236}">
                  <a16:creationId xmlns:a16="http://schemas.microsoft.com/office/drawing/2014/main" id="{C79BA21A-EB9D-D552-E929-839EF61A76EC}"/>
                </a:ext>
              </a:extLst>
            </p:cNvPr>
            <p:cNvSpPr/>
            <p:nvPr/>
          </p:nvSpPr>
          <p:spPr>
            <a:xfrm rot="5400000">
              <a:off x="8449569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cxnSp>
        <p:nvCxnSpPr>
          <p:cNvPr id="342" name="Connector: Curved 341">
            <a:extLst>
              <a:ext uri="{FF2B5EF4-FFF2-40B4-BE49-F238E27FC236}">
                <a16:creationId xmlns:a16="http://schemas.microsoft.com/office/drawing/2014/main" id="{F4EF85CB-2716-1082-3B54-AF487596EF7E}"/>
              </a:ext>
            </a:extLst>
          </p:cNvPr>
          <p:cNvCxnSpPr>
            <a:cxnSpLocks/>
            <a:stCxn id="131" idx="1"/>
            <a:endCxn id="10" idx="0"/>
          </p:cNvCxnSpPr>
          <p:nvPr/>
        </p:nvCxnSpPr>
        <p:spPr>
          <a:xfrm rot="10800000" flipV="1">
            <a:off x="9890347" y="858041"/>
            <a:ext cx="1132244" cy="4240267"/>
          </a:xfrm>
          <a:prstGeom prst="curvedConnector2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F215EF6C-AC61-9480-C918-AAFFA5B5F374}"/>
              </a:ext>
            </a:extLst>
          </p:cNvPr>
          <p:cNvGrpSpPr/>
          <p:nvPr/>
        </p:nvGrpSpPr>
        <p:grpSpPr>
          <a:xfrm>
            <a:off x="1563621" y="2648017"/>
            <a:ext cx="1610014" cy="528536"/>
            <a:chOff x="6615090" y="1508565"/>
            <a:chExt cx="1657611" cy="528536"/>
          </a:xfrm>
        </p:grpSpPr>
        <p:sp>
          <p:nvSpPr>
            <p:cNvPr id="347" name="Rectangle 13">
              <a:extLst>
                <a:ext uri="{FF2B5EF4-FFF2-40B4-BE49-F238E27FC236}">
                  <a16:creationId xmlns:a16="http://schemas.microsoft.com/office/drawing/2014/main" id="{5F50EF6E-EADA-1AD3-06DC-3769C0DD1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622" y="1508565"/>
              <a:ext cx="750938" cy="5285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400" dirty="0" err="1">
                  <a:solidFill>
                    <a:prstClr val="black"/>
                  </a:solidFill>
                </a:rPr>
                <a:t>R_buddy</a:t>
              </a:r>
              <a:endParaRPr lang="en-US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348" name="Arrow: Right 347">
              <a:extLst>
                <a:ext uri="{FF2B5EF4-FFF2-40B4-BE49-F238E27FC236}">
                  <a16:creationId xmlns:a16="http://schemas.microsoft.com/office/drawing/2014/main" id="{EA3158DF-C18C-30C8-C796-619A02385CBD}"/>
                </a:ext>
              </a:extLst>
            </p:cNvPr>
            <p:cNvSpPr/>
            <p:nvPr/>
          </p:nvSpPr>
          <p:spPr>
            <a:xfrm>
              <a:off x="6615090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9" name="Arrow: Bent 348">
              <a:extLst>
                <a:ext uri="{FF2B5EF4-FFF2-40B4-BE49-F238E27FC236}">
                  <a16:creationId xmlns:a16="http://schemas.microsoft.com/office/drawing/2014/main" id="{0D36A07F-4D6F-C620-C570-F6F936F409BE}"/>
                </a:ext>
              </a:extLst>
            </p:cNvPr>
            <p:cNvSpPr/>
            <p:nvPr/>
          </p:nvSpPr>
          <p:spPr>
            <a:xfrm rot="5400000">
              <a:off x="79146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71FD79-033E-A8BD-3036-A0AA989A1A6C}"/>
              </a:ext>
            </a:extLst>
          </p:cNvPr>
          <p:cNvSpPr/>
          <p:nvPr/>
        </p:nvSpPr>
        <p:spPr>
          <a:xfrm>
            <a:off x="0" y="5898136"/>
            <a:ext cx="2828234" cy="9538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C =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Alloc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(1100 B)</a:t>
            </a:r>
            <a:endParaRPr lang="en-AE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Need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1110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Byte </a:t>
            </a: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it should reside in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Level#11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F4242F-8013-7C20-B1FF-A08D3BB6EA18}"/>
              </a:ext>
            </a:extLst>
          </p:cNvPr>
          <p:cNvSpPr/>
          <p:nvPr/>
        </p:nvSpPr>
        <p:spPr>
          <a:xfrm>
            <a:off x="6728724" y="300382"/>
            <a:ext cx="4077818" cy="1281539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003C87-9C40-C776-3E96-9E8C1E8344FA}"/>
              </a:ext>
            </a:extLst>
          </p:cNvPr>
          <p:cNvGrpSpPr/>
          <p:nvPr/>
        </p:nvGrpSpPr>
        <p:grpSpPr>
          <a:xfrm>
            <a:off x="3289154" y="5751474"/>
            <a:ext cx="762000" cy="1066800"/>
            <a:chOff x="3289154" y="5751474"/>
            <a:chExt cx="762000" cy="10668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51ABA63-B1FF-4CD7-6A9F-51486A7478FD}"/>
                </a:ext>
              </a:extLst>
            </p:cNvPr>
            <p:cNvGrpSpPr/>
            <p:nvPr/>
          </p:nvGrpSpPr>
          <p:grpSpPr>
            <a:xfrm>
              <a:off x="3289154" y="5751474"/>
              <a:ext cx="762000" cy="1066800"/>
              <a:chOff x="3289154" y="5761865"/>
              <a:chExt cx="762000" cy="106680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A7B98A1-0F42-926C-9077-8BFAFBDBC43E}"/>
                  </a:ext>
                </a:extLst>
              </p:cNvPr>
              <p:cNvSpPr/>
              <p:nvPr/>
            </p:nvSpPr>
            <p:spPr>
              <a:xfrm>
                <a:off x="3289154" y="6219065"/>
                <a:ext cx="762000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67F3D23-C039-D947-F5C4-0CB7CB9A7C27}"/>
                  </a:ext>
                </a:extLst>
              </p:cNvPr>
              <p:cNvSpPr txBox="1"/>
              <p:nvPr/>
            </p:nvSpPr>
            <p:spPr>
              <a:xfrm>
                <a:off x="3507742" y="5761865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A</a:t>
                </a:r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451B74B-E9B2-CDD1-4794-F810EB3C1DFD}"/>
                </a:ext>
              </a:extLst>
            </p:cNvPr>
            <p:cNvSpPr/>
            <p:nvPr/>
          </p:nvSpPr>
          <p:spPr>
            <a:xfrm>
              <a:off x="3300674" y="6203773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E126FE0-419B-825D-A3D4-B769C2EDFBDC}"/>
              </a:ext>
            </a:extLst>
          </p:cNvPr>
          <p:cNvSpPr txBox="1">
            <a:spLocks/>
          </p:cNvSpPr>
          <p:nvPr/>
        </p:nvSpPr>
        <p:spPr>
          <a:xfrm>
            <a:off x="8745220" y="524049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00"/>
              <a:t>11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47B7A0-B776-237F-BF99-28D0DEC74EBC}"/>
              </a:ext>
            </a:extLst>
          </p:cNvPr>
          <p:cNvSpPr/>
          <p:nvPr/>
        </p:nvSpPr>
        <p:spPr>
          <a:xfrm>
            <a:off x="3315914" y="5087918"/>
            <a:ext cx="8778240" cy="6096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 KB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A4D993-2E84-DDB9-A7BF-4E0EEE198F98}"/>
              </a:ext>
            </a:extLst>
          </p:cNvPr>
          <p:cNvSpPr/>
          <p:nvPr/>
        </p:nvSpPr>
        <p:spPr>
          <a:xfrm>
            <a:off x="2294412" y="1113021"/>
            <a:ext cx="1992402" cy="59078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No blocks! </a:t>
            </a:r>
          </a:p>
          <a:p>
            <a:pPr algn="ctr" defTabSz="914400"/>
            <a:r>
              <a:rPr lang="en-US" b="1" dirty="0">
                <a:solidFill>
                  <a:prstClr val="black"/>
                </a:solidFill>
                <a:latin typeface="Calibri"/>
              </a:rPr>
              <a:t>Allocate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new page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335AEFC-4F3C-711C-32FF-9EEE9E5EB36E}"/>
              </a:ext>
            </a:extLst>
          </p:cNvPr>
          <p:cNvGrpSpPr/>
          <p:nvPr/>
        </p:nvGrpSpPr>
        <p:grpSpPr>
          <a:xfrm>
            <a:off x="1534195" y="1079422"/>
            <a:ext cx="4002346" cy="541487"/>
            <a:chOff x="5371642" y="1508565"/>
            <a:chExt cx="4120659" cy="541487"/>
          </a:xfrm>
        </p:grpSpPr>
        <p:sp>
          <p:nvSpPr>
            <p:cNvPr id="45" name="Rectangle 13">
              <a:extLst>
                <a:ext uri="{FF2B5EF4-FFF2-40B4-BE49-F238E27FC236}">
                  <a16:creationId xmlns:a16="http://schemas.microsoft.com/office/drawing/2014/main" id="{A8521FF0-A715-55EC-5F19-D9764142E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3509" y="1521516"/>
              <a:ext cx="1373433" cy="52853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L_buddy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46" name="Rectangle 13">
              <a:extLst>
                <a:ext uri="{FF2B5EF4-FFF2-40B4-BE49-F238E27FC236}">
                  <a16:creationId xmlns:a16="http://schemas.microsoft.com/office/drawing/2014/main" id="{30E183D5-4845-E0DD-5BB8-B3C705481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8810" y="1508565"/>
              <a:ext cx="1373433" cy="52853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R_buddy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8BD05336-AA2D-AD80-9F21-E8C12501AC43}"/>
                </a:ext>
              </a:extLst>
            </p:cNvPr>
            <p:cNvSpPr/>
            <p:nvPr/>
          </p:nvSpPr>
          <p:spPr>
            <a:xfrm>
              <a:off x="7246279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8" name="Arrow: Bent 47">
              <a:extLst>
                <a:ext uri="{FF2B5EF4-FFF2-40B4-BE49-F238E27FC236}">
                  <a16:creationId xmlns:a16="http://schemas.microsoft.com/office/drawing/2014/main" id="{C786E045-3F9F-128F-0344-B63153A1999E}"/>
                </a:ext>
              </a:extLst>
            </p:cNvPr>
            <p:cNvSpPr/>
            <p:nvPr/>
          </p:nvSpPr>
          <p:spPr>
            <a:xfrm rot="5400000">
              <a:off x="91342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D1068ABC-D815-08E3-36EE-9C1C5E21C08D}"/>
                </a:ext>
              </a:extLst>
            </p:cNvPr>
            <p:cNvSpPr/>
            <p:nvPr/>
          </p:nvSpPr>
          <p:spPr>
            <a:xfrm>
              <a:off x="5371642" y="1757511"/>
              <a:ext cx="452109" cy="511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E617564-2445-294C-F95E-24C5FFEAF069}"/>
              </a:ext>
            </a:extLst>
          </p:cNvPr>
          <p:cNvSpPr/>
          <p:nvPr/>
        </p:nvSpPr>
        <p:spPr>
          <a:xfrm>
            <a:off x="6750655" y="1597848"/>
            <a:ext cx="4055887" cy="644305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AF6A59D-1D1A-04FD-CDB5-E310ADE40E8E}"/>
              </a:ext>
            </a:extLst>
          </p:cNvPr>
          <p:cNvGrpSpPr/>
          <p:nvPr/>
        </p:nvGrpSpPr>
        <p:grpSpPr>
          <a:xfrm>
            <a:off x="1545939" y="1095062"/>
            <a:ext cx="2181534" cy="528536"/>
            <a:chOff x="7246279" y="1508565"/>
            <a:chExt cx="2246022" cy="528536"/>
          </a:xfrm>
        </p:grpSpPr>
        <p:sp>
          <p:nvSpPr>
            <p:cNvPr id="52" name="Rectangle 13">
              <a:extLst>
                <a:ext uri="{FF2B5EF4-FFF2-40B4-BE49-F238E27FC236}">
                  <a16:creationId xmlns:a16="http://schemas.microsoft.com/office/drawing/2014/main" id="{5B267A5C-B128-2C23-9811-1481D6CA1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8810" y="1508565"/>
              <a:ext cx="1373433" cy="52853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R_buddy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D9F8D10F-BAAF-8120-CB82-D898E4E8B320}"/>
                </a:ext>
              </a:extLst>
            </p:cNvPr>
            <p:cNvSpPr/>
            <p:nvPr/>
          </p:nvSpPr>
          <p:spPr>
            <a:xfrm>
              <a:off x="7246279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4" name="Arrow: Bent 53">
              <a:extLst>
                <a:ext uri="{FF2B5EF4-FFF2-40B4-BE49-F238E27FC236}">
                  <a16:creationId xmlns:a16="http://schemas.microsoft.com/office/drawing/2014/main" id="{36E89394-E567-508A-8976-55308E195723}"/>
                </a:ext>
              </a:extLst>
            </p:cNvPr>
            <p:cNvSpPr/>
            <p:nvPr/>
          </p:nvSpPr>
          <p:spPr>
            <a:xfrm rot="5400000">
              <a:off x="91342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8E468CDB-5C7F-AD84-CC41-A32030943869}"/>
              </a:ext>
            </a:extLst>
          </p:cNvPr>
          <p:cNvSpPr/>
          <p:nvPr/>
        </p:nvSpPr>
        <p:spPr>
          <a:xfrm>
            <a:off x="6764606" y="3112864"/>
            <a:ext cx="4055887" cy="644305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CA3C1F9-4C4A-AACA-520C-575289ED9E5D}"/>
              </a:ext>
            </a:extLst>
          </p:cNvPr>
          <p:cNvGrpSpPr/>
          <p:nvPr/>
        </p:nvGrpSpPr>
        <p:grpSpPr>
          <a:xfrm>
            <a:off x="3167790" y="3608273"/>
            <a:ext cx="1119024" cy="1492955"/>
            <a:chOff x="-797656" y="4094684"/>
            <a:chExt cx="1119024" cy="1492955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EECBFD11-C5AF-F5AE-33FB-4789D83F025F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F282E41-E7ED-C31D-8B3F-D1C5940BCE72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42797676-E7C5-B3BF-4285-C1496B97E513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L11</a:t>
                  </a:r>
                </a:p>
                <a:p>
                  <a:pPr algn="ctr"/>
                  <a:r>
                    <a:rPr lang="en-US" b="1" dirty="0"/>
                    <a:t>0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6F33D57F-0FE7-276D-EF0E-1F145A6DA5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6F33D57F-0FE7-276D-EF0E-1F145A6DA5A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413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CF1B8F4E-D978-C493-F1AD-D983C1909F2E}"/>
                  </a:ext>
                </a:extLst>
              </p:cNvPr>
              <p:cNvCxnSpPr>
                <a:cxnSpLocks/>
                <a:stCxn id="31" idx="0"/>
                <a:endCxn id="61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F1DC80F-E962-0E13-5FE7-2636966D23F4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3714591-8B57-2621-B70F-5B4E189310C5}"/>
              </a:ext>
            </a:extLst>
          </p:cNvPr>
          <p:cNvGrpSpPr/>
          <p:nvPr/>
        </p:nvGrpSpPr>
        <p:grpSpPr>
          <a:xfrm>
            <a:off x="7705034" y="6193382"/>
            <a:ext cx="4389120" cy="609600"/>
            <a:chOff x="7705034" y="6197239"/>
            <a:chExt cx="4389120" cy="60960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FB02494D-D56A-B2B1-E891-B413E1CA0C09}"/>
                </a:ext>
              </a:extLst>
            </p:cNvPr>
            <p:cNvSpPr/>
            <p:nvPr/>
          </p:nvSpPr>
          <p:spPr>
            <a:xfrm>
              <a:off x="7705034" y="6197239"/>
              <a:ext cx="438912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14EFB5D-ACC9-C23E-6B57-F812F44E569E}"/>
                </a:ext>
              </a:extLst>
            </p:cNvPr>
            <p:cNvSpPr/>
            <p:nvPr/>
          </p:nvSpPr>
          <p:spPr>
            <a:xfrm>
              <a:off x="7721358" y="6199916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4DB1E76-4A1B-FB4B-5F38-AFFBAD83A597}"/>
              </a:ext>
            </a:extLst>
          </p:cNvPr>
          <p:cNvGrpSpPr/>
          <p:nvPr/>
        </p:nvGrpSpPr>
        <p:grpSpPr>
          <a:xfrm>
            <a:off x="5502854" y="6185412"/>
            <a:ext cx="2194560" cy="613457"/>
            <a:chOff x="5495234" y="6203773"/>
            <a:chExt cx="2194560" cy="613457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08AE449-402C-32B3-5D67-BDF42A27FAFD}"/>
                </a:ext>
              </a:extLst>
            </p:cNvPr>
            <p:cNvSpPr/>
            <p:nvPr/>
          </p:nvSpPr>
          <p:spPr>
            <a:xfrm>
              <a:off x="5495234" y="6203773"/>
              <a:ext cx="219456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1 KB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6178542-9656-56E3-CA24-245B55828316}"/>
                </a:ext>
              </a:extLst>
            </p:cNvPr>
            <p:cNvSpPr/>
            <p:nvPr/>
          </p:nvSpPr>
          <p:spPr>
            <a:xfrm>
              <a:off x="5516016" y="6214164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FF96111-C173-0200-A663-C5CD1503E328}"/>
              </a:ext>
            </a:extLst>
          </p:cNvPr>
          <p:cNvGrpSpPr/>
          <p:nvPr/>
        </p:nvGrpSpPr>
        <p:grpSpPr>
          <a:xfrm>
            <a:off x="4409384" y="6185412"/>
            <a:ext cx="1097280" cy="623848"/>
            <a:chOff x="4409384" y="6204169"/>
            <a:chExt cx="1097280" cy="62384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E10C284-5E63-1175-5E84-FFE44D380B60}"/>
                </a:ext>
              </a:extLst>
            </p:cNvPr>
            <p:cNvSpPr/>
            <p:nvPr/>
          </p:nvSpPr>
          <p:spPr>
            <a:xfrm>
              <a:off x="4409384" y="6204169"/>
              <a:ext cx="109728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512 B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4F0EA2C-A0A6-686F-D808-7A89CEB41152}"/>
                </a:ext>
              </a:extLst>
            </p:cNvPr>
            <p:cNvSpPr/>
            <p:nvPr/>
          </p:nvSpPr>
          <p:spPr>
            <a:xfrm>
              <a:off x="4419775" y="6224951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B5D1707-8BB4-4C75-D53A-6738E8CB3403}"/>
              </a:ext>
            </a:extLst>
          </p:cNvPr>
          <p:cNvGrpSpPr/>
          <p:nvPr/>
        </p:nvGrpSpPr>
        <p:grpSpPr>
          <a:xfrm>
            <a:off x="7685396" y="5740039"/>
            <a:ext cx="3897004" cy="1066800"/>
            <a:chOff x="7685396" y="5740039"/>
            <a:chExt cx="3897004" cy="1066800"/>
          </a:xfrm>
        </p:grpSpPr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62C0AD1A-7292-0981-8A61-6E1C22EABFDA}"/>
                </a:ext>
              </a:extLst>
            </p:cNvPr>
            <p:cNvGrpSpPr/>
            <p:nvPr/>
          </p:nvGrpSpPr>
          <p:grpSpPr>
            <a:xfrm>
              <a:off x="7685396" y="5740039"/>
              <a:ext cx="3897004" cy="1066800"/>
              <a:chOff x="5518094" y="3814784"/>
              <a:chExt cx="1676400" cy="1066800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BB81E341-3E27-1710-3C8F-616C91426251}"/>
                  </a:ext>
                </a:extLst>
              </p:cNvPr>
              <p:cNvSpPr/>
              <p:nvPr/>
            </p:nvSpPr>
            <p:spPr>
              <a:xfrm>
                <a:off x="5518094" y="4271984"/>
                <a:ext cx="1676400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9DC18EC2-B61F-DA9C-C9B2-CC8C03D7FD12}"/>
                  </a:ext>
                </a:extLst>
              </p:cNvPr>
              <p:cNvSpPr txBox="1"/>
              <p:nvPr/>
            </p:nvSpPr>
            <p:spPr>
              <a:xfrm>
                <a:off x="6127694" y="3814784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B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B1FD5E2-B4AE-FA81-1A6E-57D575481890}"/>
                </a:ext>
              </a:extLst>
            </p:cNvPr>
            <p:cNvSpPr/>
            <p:nvPr/>
          </p:nvSpPr>
          <p:spPr>
            <a:xfrm>
              <a:off x="7718829" y="6197239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F3DD357-C85C-173E-0F4C-8DF2571B55CF}"/>
              </a:ext>
            </a:extLst>
          </p:cNvPr>
          <p:cNvGrpSpPr/>
          <p:nvPr/>
        </p:nvGrpSpPr>
        <p:grpSpPr>
          <a:xfrm>
            <a:off x="3308294" y="5087918"/>
            <a:ext cx="4389120" cy="609600"/>
            <a:chOff x="3308294" y="5087918"/>
            <a:chExt cx="4389120" cy="6096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F25450-6A1C-8D84-6C5C-7BD7265288B7}"/>
                </a:ext>
              </a:extLst>
            </p:cNvPr>
            <p:cNvSpPr/>
            <p:nvPr/>
          </p:nvSpPr>
          <p:spPr>
            <a:xfrm>
              <a:off x="3308294" y="5087918"/>
              <a:ext cx="4389120" cy="6096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0AE53D6-AB08-541D-3380-AF093BC2CCF6}"/>
                </a:ext>
              </a:extLst>
            </p:cNvPr>
            <p:cNvSpPr/>
            <p:nvPr/>
          </p:nvSpPr>
          <p:spPr>
            <a:xfrm>
              <a:off x="3308294" y="5091185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6DBAE4-C94B-A8FE-4D94-9846015601CD}"/>
              </a:ext>
            </a:extLst>
          </p:cNvPr>
          <p:cNvGrpSpPr/>
          <p:nvPr/>
        </p:nvGrpSpPr>
        <p:grpSpPr>
          <a:xfrm>
            <a:off x="3266730" y="4644028"/>
            <a:ext cx="2549648" cy="1066800"/>
            <a:chOff x="7643831" y="5740039"/>
            <a:chExt cx="2549648" cy="106680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DD84599-E0F0-29FA-8412-B127144FAD77}"/>
                </a:ext>
              </a:extLst>
            </p:cNvPr>
            <p:cNvGrpSpPr/>
            <p:nvPr/>
          </p:nvGrpSpPr>
          <p:grpSpPr>
            <a:xfrm>
              <a:off x="7643831" y="5740039"/>
              <a:ext cx="2549648" cy="1066800"/>
              <a:chOff x="5500214" y="3814784"/>
              <a:chExt cx="1096799" cy="10668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D04E25B-0D7F-EBBA-9B14-59115F461B21}"/>
                  </a:ext>
                </a:extLst>
              </p:cNvPr>
              <p:cNvSpPr/>
              <p:nvPr/>
            </p:nvSpPr>
            <p:spPr>
              <a:xfrm>
                <a:off x="5500214" y="4271984"/>
                <a:ext cx="1096799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C49B8A0-C995-0F83-8EC5-DEE0193B342C}"/>
                  </a:ext>
                </a:extLst>
              </p:cNvPr>
              <p:cNvSpPr txBox="1"/>
              <p:nvPr/>
            </p:nvSpPr>
            <p:spPr>
              <a:xfrm>
                <a:off x="6127694" y="3814784"/>
                <a:ext cx="1614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C</a:t>
                </a: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A051D97-B9A5-1636-49F9-B13FEC03E2B8}"/>
                </a:ext>
              </a:extLst>
            </p:cNvPr>
            <p:cNvSpPr/>
            <p:nvPr/>
          </p:nvSpPr>
          <p:spPr>
            <a:xfrm>
              <a:off x="7677265" y="6197239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C4DE12D-390C-0698-AD85-228271D13CE4}"/>
              </a:ext>
            </a:extLst>
          </p:cNvPr>
          <p:cNvGrpSpPr/>
          <p:nvPr/>
        </p:nvGrpSpPr>
        <p:grpSpPr>
          <a:xfrm>
            <a:off x="7695787" y="5098309"/>
            <a:ext cx="4389120" cy="609600"/>
            <a:chOff x="7695787" y="5098309"/>
            <a:chExt cx="4389120" cy="609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8915E57-96E8-C219-4441-EEF8140391ED}"/>
                </a:ext>
              </a:extLst>
            </p:cNvPr>
            <p:cNvSpPr/>
            <p:nvPr/>
          </p:nvSpPr>
          <p:spPr>
            <a:xfrm>
              <a:off x="7695787" y="5098309"/>
              <a:ext cx="4389120" cy="6096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F59CC987-50B8-6827-DF09-B235CF01E6B4}"/>
                </a:ext>
              </a:extLst>
            </p:cNvPr>
            <p:cNvSpPr/>
            <p:nvPr/>
          </p:nvSpPr>
          <p:spPr>
            <a:xfrm>
              <a:off x="7718829" y="5101228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916CADDF-48A3-EE2E-044B-9D1F8167B562}"/>
              </a:ext>
            </a:extLst>
          </p:cNvPr>
          <p:cNvSpPr/>
          <p:nvPr/>
        </p:nvSpPr>
        <p:spPr>
          <a:xfrm>
            <a:off x="0" y="5898136"/>
            <a:ext cx="2828234" cy="9538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D =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Alloc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(1 KB)</a:t>
            </a:r>
            <a:endParaRPr lang="en-AE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Need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1K+10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Byte </a:t>
            </a: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it should reside in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Level#11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97681F7-20DF-5258-1A77-A497D78DEB4B}"/>
              </a:ext>
            </a:extLst>
          </p:cNvPr>
          <p:cNvGrpSpPr/>
          <p:nvPr/>
        </p:nvGrpSpPr>
        <p:grpSpPr>
          <a:xfrm>
            <a:off x="7695788" y="4652840"/>
            <a:ext cx="2310658" cy="1066800"/>
            <a:chOff x="7643832" y="5740039"/>
            <a:chExt cx="2310658" cy="1066800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9BDE5695-74E7-BF0F-707D-34408EF9678F}"/>
                </a:ext>
              </a:extLst>
            </p:cNvPr>
            <p:cNvGrpSpPr/>
            <p:nvPr/>
          </p:nvGrpSpPr>
          <p:grpSpPr>
            <a:xfrm>
              <a:off x="7643832" y="5740039"/>
              <a:ext cx="2310658" cy="1066800"/>
              <a:chOff x="5500214" y="3814784"/>
              <a:chExt cx="993991" cy="1066800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DBF3EA7-415F-61C1-E6DB-BE1CEDD68CF8}"/>
                  </a:ext>
                </a:extLst>
              </p:cNvPr>
              <p:cNvSpPr/>
              <p:nvPr/>
            </p:nvSpPr>
            <p:spPr>
              <a:xfrm>
                <a:off x="5500214" y="4271984"/>
                <a:ext cx="993991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5054F2C-941C-3F80-5E1D-47B7B52C3619}"/>
                  </a:ext>
                </a:extLst>
              </p:cNvPr>
              <p:cNvSpPr txBox="1"/>
              <p:nvPr/>
            </p:nvSpPr>
            <p:spPr>
              <a:xfrm>
                <a:off x="6127694" y="3814784"/>
                <a:ext cx="17666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D</a:t>
                </a:r>
              </a:p>
            </p:txBody>
          </p:sp>
        </p:grp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8F71954-2C1A-6714-25FA-B465B4CC6D0C}"/>
                </a:ext>
              </a:extLst>
            </p:cNvPr>
            <p:cNvSpPr/>
            <p:nvPr/>
          </p:nvSpPr>
          <p:spPr>
            <a:xfrm>
              <a:off x="7677265" y="6197239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48234CD5-0DE6-5B65-5348-A4C2781690AA}"/>
              </a:ext>
            </a:extLst>
          </p:cNvPr>
          <p:cNvSpPr/>
          <p:nvPr/>
        </p:nvSpPr>
        <p:spPr>
          <a:xfrm>
            <a:off x="-14201" y="5905018"/>
            <a:ext cx="2828234" cy="9538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 =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Alloc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(2000 B)</a:t>
            </a:r>
            <a:endParaRPr lang="en-AE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Need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2010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Byte </a:t>
            </a: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it should reside in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Level#11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E16C87A-5345-0A3A-0399-EF2CA2A2F7A1}"/>
              </a:ext>
            </a:extLst>
          </p:cNvPr>
          <p:cNvSpPr/>
          <p:nvPr/>
        </p:nvSpPr>
        <p:spPr>
          <a:xfrm>
            <a:off x="4325842" y="1108733"/>
            <a:ext cx="1992402" cy="59078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r>
              <a:rPr lang="en-US" b="1" dirty="0">
                <a:solidFill>
                  <a:srgbClr val="FF0000"/>
                </a:solidFill>
                <a:latin typeface="Calibri"/>
              </a:rPr>
              <a:t>NO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 MORE MEMORY</a:t>
            </a:r>
          </a:p>
        </p:txBody>
      </p:sp>
    </p:spTree>
    <p:extLst>
      <p:ext uri="{BB962C8B-B14F-4D97-AF65-F5344CB8AC3E}">
        <p14:creationId xmlns:p14="http://schemas.microsoft.com/office/powerpoint/2010/main" val="232413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DB3E2"/>
                                      </p:to>
                                    </p:animClr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C1D9"/>
                                      </p:to>
                                    </p:animClr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75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2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6" presetClass="entr" presetSubtype="2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5" grpId="1" animBg="1"/>
      <p:bldP spid="155" grpId="0" animBg="1"/>
      <p:bldP spid="155" grpId="1" animBg="1"/>
      <p:bldP spid="4" grpId="0" animBg="1"/>
      <p:bldP spid="4" grpId="1" animBg="1"/>
      <p:bldP spid="5" grpId="0" animBg="1"/>
      <p:bldP spid="5" grpId="1" animBg="1"/>
      <p:bldP spid="8" grpId="0" animBg="1"/>
      <p:bldP spid="43" grpId="0" animBg="1"/>
      <p:bldP spid="43" grpId="1" animBg="1"/>
      <p:bldP spid="43" grpId="2" animBg="1"/>
      <p:bldP spid="50" grpId="0" animBg="1"/>
      <p:bldP spid="50" grpId="1" animBg="1"/>
      <p:bldP spid="55" grpId="0" animBg="1"/>
      <p:bldP spid="55" grpId="1" animBg="1"/>
      <p:bldP spid="55" grpId="2" animBg="1"/>
      <p:bldP spid="55" grpId="3" animBg="1"/>
      <p:bldP spid="110" grpId="0" animBg="1"/>
      <p:bldP spid="110" grpId="1" animBg="1"/>
      <p:bldP spid="124" grpId="0" animBg="1"/>
      <p:bldP spid="1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79B19-19CB-697E-C192-EAF3A4026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FB465-51BF-9FF0-5CFB-99199206F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00"/>
              <a:t>12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5793B-8E14-C151-FBE8-785F45779BCE}"/>
              </a:ext>
            </a:extLst>
          </p:cNvPr>
          <p:cNvSpPr txBox="1">
            <a:spLocks/>
          </p:cNvSpPr>
          <p:nvPr/>
        </p:nvSpPr>
        <p:spPr>
          <a:xfrm>
            <a:off x="0" y="6005"/>
            <a:ext cx="6874569" cy="953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Dynamic Allocator </a:t>
            </a:r>
            <a:r>
              <a:rPr lang="en-US" b="1" dirty="0"/>
              <a:t>– Free</a:t>
            </a:r>
            <a:endParaRPr lang="en-AE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31B7352-2CB6-0687-D2E8-AC29C9D54A00}"/>
              </a:ext>
            </a:extLst>
          </p:cNvPr>
          <p:cNvCxnSpPr>
            <a:cxnSpLocks/>
          </p:cNvCxnSpPr>
          <p:nvPr/>
        </p:nvCxnSpPr>
        <p:spPr>
          <a:xfrm>
            <a:off x="407250" y="1574370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4B96D70-BDF2-033B-DEEF-2A42B9745BBE}"/>
              </a:ext>
            </a:extLst>
          </p:cNvPr>
          <p:cNvCxnSpPr>
            <a:cxnSpLocks/>
          </p:cNvCxnSpPr>
          <p:nvPr/>
        </p:nvCxnSpPr>
        <p:spPr>
          <a:xfrm flipV="1">
            <a:off x="1260334" y="2337443"/>
            <a:ext cx="0" cy="3692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F99B6CD-B9A7-047D-30FF-F66A16A05F4F}"/>
              </a:ext>
            </a:extLst>
          </p:cNvPr>
          <p:cNvCxnSpPr>
            <a:cxnSpLocks/>
          </p:cNvCxnSpPr>
          <p:nvPr/>
        </p:nvCxnSpPr>
        <p:spPr>
          <a:xfrm>
            <a:off x="407250" y="2360518"/>
            <a:ext cx="0" cy="346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tangle 13">
            <a:extLst>
              <a:ext uri="{FF2B5EF4-FFF2-40B4-BE49-F238E27FC236}">
                <a16:creationId xmlns:a16="http://schemas.microsoft.com/office/drawing/2014/main" id="{421ECA03-0062-7F09-B3AB-2C6E4E48C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2709680"/>
            <a:ext cx="1350604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9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FB9E53E-695B-40CD-D2FE-71162EABDC29}"/>
              </a:ext>
            </a:extLst>
          </p:cNvPr>
          <p:cNvCxnSpPr>
            <a:cxnSpLocks/>
          </p:cNvCxnSpPr>
          <p:nvPr/>
        </p:nvCxnSpPr>
        <p:spPr>
          <a:xfrm flipV="1">
            <a:off x="1260334" y="1574370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Rectangle 13">
            <a:extLst>
              <a:ext uri="{FF2B5EF4-FFF2-40B4-BE49-F238E27FC236}">
                <a16:creationId xmlns:a16="http://schemas.microsoft.com/office/drawing/2014/main" id="{C9973265-0321-4394-6CF4-0CD3D4CCE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93" y="1111193"/>
            <a:ext cx="1334002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11</a:t>
            </a:r>
          </a:p>
        </p:txBody>
      </p:sp>
      <p:sp>
        <p:nvSpPr>
          <p:cNvPr id="99" name="Rectangle 13">
            <a:extLst>
              <a:ext uri="{FF2B5EF4-FFF2-40B4-BE49-F238E27FC236}">
                <a16:creationId xmlns:a16="http://schemas.microsoft.com/office/drawing/2014/main" id="{2F1AA2BF-617A-B2E0-72BD-05C612237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67" y="1888005"/>
            <a:ext cx="134223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10</a:t>
            </a:r>
          </a:p>
        </p:txBody>
      </p:sp>
      <p:sp>
        <p:nvSpPr>
          <p:cNvPr id="83" name="Rectangle 13">
            <a:extLst>
              <a:ext uri="{FF2B5EF4-FFF2-40B4-BE49-F238E27FC236}">
                <a16:creationId xmlns:a16="http://schemas.microsoft.com/office/drawing/2014/main" id="{5AFDA845-DDB7-5911-23DF-23B4AA389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3925671"/>
            <a:ext cx="135582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4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C68EED8-E446-38BB-2416-2A0938CF3E1B}"/>
              </a:ext>
            </a:extLst>
          </p:cNvPr>
          <p:cNvCxnSpPr>
            <a:cxnSpLocks/>
            <a:stCxn id="93" idx="2"/>
            <a:endCxn id="83" idx="0"/>
          </p:cNvCxnSpPr>
          <p:nvPr/>
        </p:nvCxnSpPr>
        <p:spPr>
          <a:xfrm>
            <a:off x="884121" y="3180408"/>
            <a:ext cx="2610" cy="74526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Arrow: Bent 78">
            <a:extLst>
              <a:ext uri="{FF2B5EF4-FFF2-40B4-BE49-F238E27FC236}">
                <a16:creationId xmlns:a16="http://schemas.microsoft.com/office/drawing/2014/main" id="{8FBAD161-E51F-A1F9-E75C-05919F405886}"/>
              </a:ext>
            </a:extLst>
          </p:cNvPr>
          <p:cNvSpPr/>
          <p:nvPr/>
        </p:nvSpPr>
        <p:spPr>
          <a:xfrm rot="5400000">
            <a:off x="1728590" y="3936739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94FA54A-CA0E-E8FA-E9E2-A89BB1BB3446}"/>
              </a:ext>
            </a:extLst>
          </p:cNvPr>
          <p:cNvSpPr/>
          <p:nvPr/>
        </p:nvSpPr>
        <p:spPr>
          <a:xfrm>
            <a:off x="11022591" y="3388989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13F5E4C-AB80-1A64-EDBD-18B791D2E2C7}"/>
              </a:ext>
            </a:extLst>
          </p:cNvPr>
          <p:cNvSpPr/>
          <p:nvPr/>
        </p:nvSpPr>
        <p:spPr>
          <a:xfrm>
            <a:off x="11022591" y="2815571"/>
            <a:ext cx="1075373" cy="57765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0AB2978-59DF-3FCF-B44C-6D1E76D9D604}"/>
              </a:ext>
            </a:extLst>
          </p:cNvPr>
          <p:cNvSpPr/>
          <p:nvPr/>
        </p:nvSpPr>
        <p:spPr>
          <a:xfrm>
            <a:off x="11022591" y="569215"/>
            <a:ext cx="1075373" cy="5776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3D832E9-8DC5-274A-9D90-1CA3B194F44B}"/>
              </a:ext>
            </a:extLst>
          </p:cNvPr>
          <p:cNvSpPr/>
          <p:nvPr/>
        </p:nvSpPr>
        <p:spPr>
          <a:xfrm>
            <a:off x="11022591" y="1693737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F66CA04-09F9-D847-344F-DDF447AA3145}"/>
              </a:ext>
            </a:extLst>
          </p:cNvPr>
          <p:cNvSpPr/>
          <p:nvPr/>
        </p:nvSpPr>
        <p:spPr>
          <a:xfrm>
            <a:off x="11022591" y="1144659"/>
            <a:ext cx="1075373" cy="57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D42CD61-3CB4-C83A-AF4E-7E0025CF182D}"/>
              </a:ext>
            </a:extLst>
          </p:cNvPr>
          <p:cNvSpPr/>
          <p:nvPr/>
        </p:nvSpPr>
        <p:spPr>
          <a:xfrm>
            <a:off x="11022591" y="227448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74824BA-AD39-D7C4-506C-D69930DFE82C}"/>
              </a:ext>
            </a:extLst>
          </p:cNvPr>
          <p:cNvSpPr/>
          <p:nvPr/>
        </p:nvSpPr>
        <p:spPr>
          <a:xfrm>
            <a:off x="11022591" y="1591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4F3CB0A3-DDCD-1EFA-D099-4FA0B92B5A22}"/>
              </a:ext>
            </a:extLst>
          </p:cNvPr>
          <p:cNvCxnSpPr>
            <a:cxnSpLocks/>
          </p:cNvCxnSpPr>
          <p:nvPr/>
        </p:nvCxnSpPr>
        <p:spPr>
          <a:xfrm>
            <a:off x="417904" y="3629188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6301D74-779E-512C-D0B5-863BFAB0F1FB}"/>
              </a:ext>
            </a:extLst>
          </p:cNvPr>
          <p:cNvCxnSpPr>
            <a:cxnSpLocks/>
          </p:cNvCxnSpPr>
          <p:nvPr/>
        </p:nvCxnSpPr>
        <p:spPr>
          <a:xfrm flipV="1">
            <a:off x="1270988" y="3598708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060A559-8A0C-6BD7-44B0-36712456511C}"/>
              </a:ext>
            </a:extLst>
          </p:cNvPr>
          <p:cNvGrpSpPr/>
          <p:nvPr/>
        </p:nvGrpSpPr>
        <p:grpSpPr>
          <a:xfrm>
            <a:off x="208820" y="4396399"/>
            <a:ext cx="1350604" cy="1006903"/>
            <a:chOff x="208820" y="4396399"/>
            <a:chExt cx="1350604" cy="1006903"/>
          </a:xfrm>
        </p:grpSpPr>
        <p:sp>
          <p:nvSpPr>
            <p:cNvPr id="138" name="Rectangle 13" descr="N&#10;">
              <a:extLst>
                <a:ext uri="{FF2B5EF4-FFF2-40B4-BE49-F238E27FC236}">
                  <a16:creationId xmlns:a16="http://schemas.microsoft.com/office/drawing/2014/main" id="{7EF591DA-3D21-9F77-6693-0FD3FA8ED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20" y="4932574"/>
              <a:ext cx="1350604" cy="4707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b="0" dirty="0">
                  <a:solidFill>
                    <a:prstClr val="black"/>
                  </a:solidFill>
                </a:rPr>
                <a:t>Not used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5F100DCF-A83B-16FC-BF76-8C95723406DD}"/>
                </a:ext>
              </a:extLst>
            </p:cNvPr>
            <p:cNvCxnSpPr>
              <a:cxnSpLocks/>
              <a:stCxn id="83" idx="2"/>
              <a:endCxn id="138" idx="0"/>
            </p:cNvCxnSpPr>
            <p:nvPr/>
          </p:nvCxnSpPr>
          <p:spPr>
            <a:xfrm flipH="1">
              <a:off x="884122" y="4396399"/>
              <a:ext cx="2609" cy="53617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81AA4E85-4B01-A7EC-8761-4DBA16F71D51}"/>
                </a:ext>
              </a:extLst>
            </p:cNvPr>
            <p:cNvCxnSpPr>
              <a:cxnSpLocks/>
            </p:cNvCxnSpPr>
            <p:nvPr/>
          </p:nvCxnSpPr>
          <p:spPr>
            <a:xfrm>
              <a:off x="399723" y="4693920"/>
              <a:ext cx="0" cy="2386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DF1B8807-4ED4-9E7B-8459-29825F02B0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003" y="4693920"/>
              <a:ext cx="0" cy="2122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5" name="Arrow: Bent 154">
            <a:extLst>
              <a:ext uri="{FF2B5EF4-FFF2-40B4-BE49-F238E27FC236}">
                <a16:creationId xmlns:a16="http://schemas.microsoft.com/office/drawing/2014/main" id="{3FFFE67A-FF36-64E4-FA8F-835D01C8AD74}"/>
              </a:ext>
            </a:extLst>
          </p:cNvPr>
          <p:cNvSpPr/>
          <p:nvPr/>
        </p:nvSpPr>
        <p:spPr>
          <a:xfrm rot="5400000">
            <a:off x="1743690" y="1129463"/>
            <a:ext cx="346219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7BEC188-2DB4-11F5-67D3-D0E2DC84189B}"/>
              </a:ext>
            </a:extLst>
          </p:cNvPr>
          <p:cNvSpPr/>
          <p:nvPr/>
        </p:nvSpPr>
        <p:spPr>
          <a:xfrm>
            <a:off x="3308294" y="6203773"/>
            <a:ext cx="877824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 KB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282CF016-4AE0-B0D3-D649-A0CD508AB30E}"/>
              </a:ext>
            </a:extLst>
          </p:cNvPr>
          <p:cNvSpPr/>
          <p:nvPr/>
        </p:nvSpPr>
        <p:spPr>
          <a:xfrm>
            <a:off x="3308294" y="6197239"/>
            <a:ext cx="438912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 KB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CBAFFC8-353B-EA4C-6C73-85C365E38CCA}"/>
              </a:ext>
            </a:extLst>
          </p:cNvPr>
          <p:cNvSpPr/>
          <p:nvPr/>
        </p:nvSpPr>
        <p:spPr>
          <a:xfrm>
            <a:off x="3300674" y="6203773"/>
            <a:ext cx="219456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 KB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7D3298DE-23F6-364A-9083-C32B1DFDFBAD}"/>
              </a:ext>
            </a:extLst>
          </p:cNvPr>
          <p:cNvSpPr/>
          <p:nvPr/>
        </p:nvSpPr>
        <p:spPr>
          <a:xfrm>
            <a:off x="3308294" y="6204169"/>
            <a:ext cx="109728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512 B</a:t>
            </a:r>
          </a:p>
        </p:txBody>
      </p: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A805275D-6186-D04F-FC23-67CF71C33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52" y="0"/>
            <a:ext cx="4243411" cy="3966642"/>
          </a:xfrm>
          <a:solidFill>
            <a:schemeClr val="bg1"/>
          </a:solidFill>
        </p:spPr>
        <p:txBody>
          <a:bodyPr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For</a:t>
            </a:r>
            <a:r>
              <a:rPr lang="en-US" sz="1600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 the given address, </a:t>
            </a: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find its level &amp; status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Add 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it to the corresponding list &amp; update DS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Find </a:t>
            </a:r>
            <a:r>
              <a:rPr lang="en-US" sz="1600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it’s buddy (using its VA)</a:t>
            </a:r>
            <a:endParaRPr lang="en-US" sz="1600" b="1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CASE1: </a:t>
            </a: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if Buddy allocated /not in same level</a:t>
            </a:r>
            <a:endParaRPr lang="en-US" sz="1600" b="1" dirty="0">
              <a:solidFill>
                <a:srgbClr val="5C5962"/>
              </a:solidFill>
              <a:latin typeface="+mj-lt"/>
              <a:ea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Do nothing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1600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224D022-020F-3E2E-49D1-1B34AF56974B}"/>
              </a:ext>
            </a:extLst>
          </p:cNvPr>
          <p:cNvGrpSpPr/>
          <p:nvPr/>
        </p:nvGrpSpPr>
        <p:grpSpPr>
          <a:xfrm>
            <a:off x="1555674" y="1851861"/>
            <a:ext cx="1880196" cy="528536"/>
            <a:chOff x="6871843" y="1508565"/>
            <a:chExt cx="1935777" cy="528536"/>
          </a:xfrm>
        </p:grpSpPr>
        <p:sp>
          <p:nvSpPr>
            <p:cNvPr id="195" name="Rectangle 13">
              <a:extLst>
                <a:ext uri="{FF2B5EF4-FFF2-40B4-BE49-F238E27FC236}">
                  <a16:creationId xmlns:a16="http://schemas.microsoft.com/office/drawing/2014/main" id="{D8E59CA0-C027-0D3A-30ED-8C8D5D525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375" y="1508565"/>
              <a:ext cx="1016344" cy="52853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800" dirty="0" err="1">
                  <a:solidFill>
                    <a:prstClr val="black"/>
                  </a:solidFill>
                </a:rPr>
                <a:t>R_buddy</a:t>
              </a: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96" name="Arrow: Right 195">
              <a:extLst>
                <a:ext uri="{FF2B5EF4-FFF2-40B4-BE49-F238E27FC236}">
                  <a16:creationId xmlns:a16="http://schemas.microsoft.com/office/drawing/2014/main" id="{0DE6A2B2-AA29-7E87-EC69-C1AF0660EB92}"/>
                </a:ext>
              </a:extLst>
            </p:cNvPr>
            <p:cNvSpPr/>
            <p:nvPr/>
          </p:nvSpPr>
          <p:spPr>
            <a:xfrm>
              <a:off x="6871843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7" name="Arrow: Bent 196">
              <a:extLst>
                <a:ext uri="{FF2B5EF4-FFF2-40B4-BE49-F238E27FC236}">
                  <a16:creationId xmlns:a16="http://schemas.microsoft.com/office/drawing/2014/main" id="{8237E516-8A95-6735-98AA-F71F32DC6617}"/>
                </a:ext>
              </a:extLst>
            </p:cNvPr>
            <p:cNvSpPr/>
            <p:nvPr/>
          </p:nvSpPr>
          <p:spPr>
            <a:xfrm rot="5400000">
              <a:off x="8449569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F49DDD94-CF1B-5787-5546-C34D27A425F6}"/>
              </a:ext>
            </a:extLst>
          </p:cNvPr>
          <p:cNvGrpSpPr/>
          <p:nvPr/>
        </p:nvGrpSpPr>
        <p:grpSpPr>
          <a:xfrm>
            <a:off x="1563621" y="2648017"/>
            <a:ext cx="1610014" cy="528536"/>
            <a:chOff x="6615090" y="1508565"/>
            <a:chExt cx="1657611" cy="528536"/>
          </a:xfrm>
        </p:grpSpPr>
        <p:sp>
          <p:nvSpPr>
            <p:cNvPr id="347" name="Rectangle 13">
              <a:extLst>
                <a:ext uri="{FF2B5EF4-FFF2-40B4-BE49-F238E27FC236}">
                  <a16:creationId xmlns:a16="http://schemas.microsoft.com/office/drawing/2014/main" id="{11045846-0319-ED19-39F7-B9C27E099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622" y="1508565"/>
              <a:ext cx="750938" cy="5285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400" dirty="0" err="1">
                  <a:solidFill>
                    <a:prstClr val="black"/>
                  </a:solidFill>
                </a:rPr>
                <a:t>R_buddy</a:t>
              </a:r>
              <a:endParaRPr lang="en-US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348" name="Arrow: Right 347">
              <a:extLst>
                <a:ext uri="{FF2B5EF4-FFF2-40B4-BE49-F238E27FC236}">
                  <a16:creationId xmlns:a16="http://schemas.microsoft.com/office/drawing/2014/main" id="{DDD7A3A9-96B3-A220-FA73-A95AB9DF5C96}"/>
                </a:ext>
              </a:extLst>
            </p:cNvPr>
            <p:cNvSpPr/>
            <p:nvPr/>
          </p:nvSpPr>
          <p:spPr>
            <a:xfrm>
              <a:off x="6615090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9" name="Arrow: Bent 348">
              <a:extLst>
                <a:ext uri="{FF2B5EF4-FFF2-40B4-BE49-F238E27FC236}">
                  <a16:creationId xmlns:a16="http://schemas.microsoft.com/office/drawing/2014/main" id="{878CE84F-77BF-EDCB-44F1-2C94C3785B21}"/>
                </a:ext>
              </a:extLst>
            </p:cNvPr>
            <p:cNvSpPr/>
            <p:nvPr/>
          </p:nvSpPr>
          <p:spPr>
            <a:xfrm rot="5400000">
              <a:off x="79146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0742956-EBD8-A3CB-6B6B-7BF8C2464CF6}"/>
              </a:ext>
            </a:extLst>
          </p:cNvPr>
          <p:cNvGrpSpPr/>
          <p:nvPr/>
        </p:nvGrpSpPr>
        <p:grpSpPr>
          <a:xfrm>
            <a:off x="3289154" y="5751474"/>
            <a:ext cx="762000" cy="1066800"/>
            <a:chOff x="3289154" y="5751474"/>
            <a:chExt cx="762000" cy="10668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7569C9D-AE7A-0F95-0F3A-58E006ADA330}"/>
                </a:ext>
              </a:extLst>
            </p:cNvPr>
            <p:cNvGrpSpPr/>
            <p:nvPr/>
          </p:nvGrpSpPr>
          <p:grpSpPr>
            <a:xfrm>
              <a:off x="3289154" y="5751474"/>
              <a:ext cx="762000" cy="1066800"/>
              <a:chOff x="3289154" y="5761865"/>
              <a:chExt cx="762000" cy="106680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A3C065A-4B07-C6F0-69B1-DCE56BAA3CA3}"/>
                  </a:ext>
                </a:extLst>
              </p:cNvPr>
              <p:cNvSpPr/>
              <p:nvPr/>
            </p:nvSpPr>
            <p:spPr>
              <a:xfrm>
                <a:off x="3289154" y="6219065"/>
                <a:ext cx="762000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32859CF-D73B-A02A-A99C-C6C07200A7B1}"/>
                  </a:ext>
                </a:extLst>
              </p:cNvPr>
              <p:cNvSpPr txBox="1"/>
              <p:nvPr/>
            </p:nvSpPr>
            <p:spPr>
              <a:xfrm>
                <a:off x="3507742" y="5761865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A</a:t>
                </a:r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CCD3F7-2070-085C-CCFC-A71544AF3369}"/>
                </a:ext>
              </a:extLst>
            </p:cNvPr>
            <p:cNvSpPr/>
            <p:nvPr/>
          </p:nvSpPr>
          <p:spPr>
            <a:xfrm>
              <a:off x="3300674" y="6203773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8D36587-A8D9-595E-C01F-EED686234510}"/>
              </a:ext>
            </a:extLst>
          </p:cNvPr>
          <p:cNvSpPr txBox="1">
            <a:spLocks/>
          </p:cNvSpPr>
          <p:nvPr/>
        </p:nvSpPr>
        <p:spPr>
          <a:xfrm>
            <a:off x="8745220" y="524049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00"/>
              <a:t>12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49327-70C8-1438-CB28-D5F38FC92A0F}"/>
              </a:ext>
            </a:extLst>
          </p:cNvPr>
          <p:cNvSpPr/>
          <p:nvPr/>
        </p:nvSpPr>
        <p:spPr>
          <a:xfrm>
            <a:off x="3315914" y="5087918"/>
            <a:ext cx="8778240" cy="6096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 KB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872D862-B482-9B67-143A-06C9D0A15418}"/>
              </a:ext>
            </a:extLst>
          </p:cNvPr>
          <p:cNvGrpSpPr/>
          <p:nvPr/>
        </p:nvGrpSpPr>
        <p:grpSpPr>
          <a:xfrm>
            <a:off x="1545939" y="1095062"/>
            <a:ext cx="2181534" cy="528536"/>
            <a:chOff x="7246279" y="1508565"/>
            <a:chExt cx="2246022" cy="528536"/>
          </a:xfrm>
        </p:grpSpPr>
        <p:sp>
          <p:nvSpPr>
            <p:cNvPr id="52" name="Rectangle 13">
              <a:extLst>
                <a:ext uri="{FF2B5EF4-FFF2-40B4-BE49-F238E27FC236}">
                  <a16:creationId xmlns:a16="http://schemas.microsoft.com/office/drawing/2014/main" id="{9B4BA5ED-9C76-5773-7A11-F3B3391B4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8810" y="1508565"/>
              <a:ext cx="1373433" cy="52853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L_buddy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DE1F0517-CAD6-0A83-CD95-85850CF5F946}"/>
                </a:ext>
              </a:extLst>
            </p:cNvPr>
            <p:cNvSpPr/>
            <p:nvPr/>
          </p:nvSpPr>
          <p:spPr>
            <a:xfrm>
              <a:off x="7246279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4" name="Arrow: Bent 53">
              <a:extLst>
                <a:ext uri="{FF2B5EF4-FFF2-40B4-BE49-F238E27FC236}">
                  <a16:creationId xmlns:a16="http://schemas.microsoft.com/office/drawing/2014/main" id="{928C3AA9-EED7-3EB5-94D7-0E28CEE473E5}"/>
                </a:ext>
              </a:extLst>
            </p:cNvPr>
            <p:cNvSpPr/>
            <p:nvPr/>
          </p:nvSpPr>
          <p:spPr>
            <a:xfrm rot="5400000">
              <a:off x="91342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9137120-46CF-191A-2325-6EDBD990B36E}"/>
              </a:ext>
            </a:extLst>
          </p:cNvPr>
          <p:cNvGrpSpPr/>
          <p:nvPr/>
        </p:nvGrpSpPr>
        <p:grpSpPr>
          <a:xfrm>
            <a:off x="7705034" y="6193382"/>
            <a:ext cx="4389120" cy="609600"/>
            <a:chOff x="7705034" y="6197239"/>
            <a:chExt cx="4389120" cy="60960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6CB3F21-6966-2318-F8AB-AC555C7AFAED}"/>
                </a:ext>
              </a:extLst>
            </p:cNvPr>
            <p:cNvSpPr/>
            <p:nvPr/>
          </p:nvSpPr>
          <p:spPr>
            <a:xfrm>
              <a:off x="7705034" y="6197239"/>
              <a:ext cx="438912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287E1E3-6FC6-0E5C-2BB4-41C5DC62331C}"/>
                </a:ext>
              </a:extLst>
            </p:cNvPr>
            <p:cNvSpPr/>
            <p:nvPr/>
          </p:nvSpPr>
          <p:spPr>
            <a:xfrm>
              <a:off x="7721358" y="6199916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762C380-955D-00B9-D551-112424C38EB0}"/>
              </a:ext>
            </a:extLst>
          </p:cNvPr>
          <p:cNvGrpSpPr/>
          <p:nvPr/>
        </p:nvGrpSpPr>
        <p:grpSpPr>
          <a:xfrm>
            <a:off x="5502854" y="6185412"/>
            <a:ext cx="2194560" cy="613457"/>
            <a:chOff x="5495234" y="6203773"/>
            <a:chExt cx="2194560" cy="613457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A7E9126-3B0E-D883-7C66-88DFC5ACCDBB}"/>
                </a:ext>
              </a:extLst>
            </p:cNvPr>
            <p:cNvSpPr/>
            <p:nvPr/>
          </p:nvSpPr>
          <p:spPr>
            <a:xfrm>
              <a:off x="5495234" y="6203773"/>
              <a:ext cx="219456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1 KB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2F5F25A-A5C6-498D-D3CC-9D7DADA044CF}"/>
                </a:ext>
              </a:extLst>
            </p:cNvPr>
            <p:cNvSpPr/>
            <p:nvPr/>
          </p:nvSpPr>
          <p:spPr>
            <a:xfrm>
              <a:off x="5516016" y="6214164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F53D238-0E96-6D9A-1DAC-3DAA645E7859}"/>
              </a:ext>
            </a:extLst>
          </p:cNvPr>
          <p:cNvGrpSpPr/>
          <p:nvPr/>
        </p:nvGrpSpPr>
        <p:grpSpPr>
          <a:xfrm>
            <a:off x="4409384" y="6185412"/>
            <a:ext cx="1097280" cy="623848"/>
            <a:chOff x="4409384" y="6204169"/>
            <a:chExt cx="1097280" cy="62384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0ACFA0F-4FEE-A270-25B8-355700E1DCAF}"/>
                </a:ext>
              </a:extLst>
            </p:cNvPr>
            <p:cNvSpPr/>
            <p:nvPr/>
          </p:nvSpPr>
          <p:spPr>
            <a:xfrm>
              <a:off x="4409384" y="6204169"/>
              <a:ext cx="109728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512 B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BB93818-C61F-2167-447F-B58E3A068456}"/>
                </a:ext>
              </a:extLst>
            </p:cNvPr>
            <p:cNvSpPr/>
            <p:nvPr/>
          </p:nvSpPr>
          <p:spPr>
            <a:xfrm>
              <a:off x="4419775" y="6224951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FED0E2E-9FDA-042B-C6B3-70C6D75BC83E}"/>
              </a:ext>
            </a:extLst>
          </p:cNvPr>
          <p:cNvGrpSpPr/>
          <p:nvPr/>
        </p:nvGrpSpPr>
        <p:grpSpPr>
          <a:xfrm>
            <a:off x="7685396" y="5740039"/>
            <a:ext cx="3897004" cy="1066800"/>
            <a:chOff x="7685396" y="5740039"/>
            <a:chExt cx="3897004" cy="1066800"/>
          </a:xfrm>
        </p:grpSpPr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96B7A566-F8D3-0093-C3C2-3F4BC137E742}"/>
                </a:ext>
              </a:extLst>
            </p:cNvPr>
            <p:cNvGrpSpPr/>
            <p:nvPr/>
          </p:nvGrpSpPr>
          <p:grpSpPr>
            <a:xfrm>
              <a:off x="7685396" y="5740039"/>
              <a:ext cx="3897004" cy="1066800"/>
              <a:chOff x="5518094" y="3814784"/>
              <a:chExt cx="1676400" cy="1066800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DE6459AC-278B-A9ED-FF19-802491B8E69B}"/>
                  </a:ext>
                </a:extLst>
              </p:cNvPr>
              <p:cNvSpPr/>
              <p:nvPr/>
            </p:nvSpPr>
            <p:spPr>
              <a:xfrm>
                <a:off x="5518094" y="4271984"/>
                <a:ext cx="1676400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47CA495B-D638-3367-069D-505BCBFAC1B5}"/>
                  </a:ext>
                </a:extLst>
              </p:cNvPr>
              <p:cNvSpPr txBox="1"/>
              <p:nvPr/>
            </p:nvSpPr>
            <p:spPr>
              <a:xfrm>
                <a:off x="6127694" y="3814784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B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A66B355-61E7-EBF1-F1D7-83EFCBBC51E4}"/>
                </a:ext>
              </a:extLst>
            </p:cNvPr>
            <p:cNvSpPr/>
            <p:nvPr/>
          </p:nvSpPr>
          <p:spPr>
            <a:xfrm>
              <a:off x="7718829" y="6197239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2A6A5A2-5580-E675-5788-C50C6C9BC545}"/>
              </a:ext>
            </a:extLst>
          </p:cNvPr>
          <p:cNvGrpSpPr/>
          <p:nvPr/>
        </p:nvGrpSpPr>
        <p:grpSpPr>
          <a:xfrm>
            <a:off x="3308294" y="5087918"/>
            <a:ext cx="4389120" cy="609600"/>
            <a:chOff x="3308294" y="5087918"/>
            <a:chExt cx="4389120" cy="6096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E4081B7-F0C1-91CA-7473-17E894B734C3}"/>
                </a:ext>
              </a:extLst>
            </p:cNvPr>
            <p:cNvSpPr/>
            <p:nvPr/>
          </p:nvSpPr>
          <p:spPr>
            <a:xfrm>
              <a:off x="3308294" y="5087918"/>
              <a:ext cx="4389120" cy="6096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5D32EA8-E653-EDA0-9857-E4B81F2F9CC4}"/>
                </a:ext>
              </a:extLst>
            </p:cNvPr>
            <p:cNvSpPr/>
            <p:nvPr/>
          </p:nvSpPr>
          <p:spPr>
            <a:xfrm>
              <a:off x="3308294" y="5091185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7848BDE-7216-D68A-D4A7-94BFB3E98AE6}"/>
              </a:ext>
            </a:extLst>
          </p:cNvPr>
          <p:cNvGrpSpPr/>
          <p:nvPr/>
        </p:nvGrpSpPr>
        <p:grpSpPr>
          <a:xfrm>
            <a:off x="3266730" y="4644028"/>
            <a:ext cx="2549648" cy="1066800"/>
            <a:chOff x="7643831" y="5740039"/>
            <a:chExt cx="2549648" cy="106680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786ED83-5F95-8838-3D27-57A825604786}"/>
                </a:ext>
              </a:extLst>
            </p:cNvPr>
            <p:cNvGrpSpPr/>
            <p:nvPr/>
          </p:nvGrpSpPr>
          <p:grpSpPr>
            <a:xfrm>
              <a:off x="7643831" y="5740039"/>
              <a:ext cx="2549648" cy="1066800"/>
              <a:chOff x="5500214" y="3814784"/>
              <a:chExt cx="1096799" cy="10668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3BA0E64-F798-19E9-CD25-6FB2D5FDD953}"/>
                  </a:ext>
                </a:extLst>
              </p:cNvPr>
              <p:cNvSpPr/>
              <p:nvPr/>
            </p:nvSpPr>
            <p:spPr>
              <a:xfrm>
                <a:off x="5500214" y="4271984"/>
                <a:ext cx="1096799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294988-8962-2714-7506-B770E5262495}"/>
                  </a:ext>
                </a:extLst>
              </p:cNvPr>
              <p:cNvSpPr txBox="1"/>
              <p:nvPr/>
            </p:nvSpPr>
            <p:spPr>
              <a:xfrm>
                <a:off x="6127694" y="3814784"/>
                <a:ext cx="1614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C</a:t>
                </a: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3DE2077-2FCB-3D7F-6ADD-D0AF80DE23CA}"/>
                </a:ext>
              </a:extLst>
            </p:cNvPr>
            <p:cNvSpPr/>
            <p:nvPr/>
          </p:nvSpPr>
          <p:spPr>
            <a:xfrm>
              <a:off x="7677265" y="6197239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9F73CF5-480A-A189-2950-2AB363E6D9EE}"/>
              </a:ext>
            </a:extLst>
          </p:cNvPr>
          <p:cNvGrpSpPr/>
          <p:nvPr/>
        </p:nvGrpSpPr>
        <p:grpSpPr>
          <a:xfrm>
            <a:off x="7695787" y="5098309"/>
            <a:ext cx="4389120" cy="609600"/>
            <a:chOff x="7695787" y="5098309"/>
            <a:chExt cx="4389120" cy="609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BC47CEE-21EC-A017-D38D-B192F9012AAC}"/>
                </a:ext>
              </a:extLst>
            </p:cNvPr>
            <p:cNvSpPr/>
            <p:nvPr/>
          </p:nvSpPr>
          <p:spPr>
            <a:xfrm>
              <a:off x="7695787" y="5098309"/>
              <a:ext cx="4389120" cy="6096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CA860E8-BB80-92E5-BE39-F0B73E1065F6}"/>
                </a:ext>
              </a:extLst>
            </p:cNvPr>
            <p:cNvSpPr/>
            <p:nvPr/>
          </p:nvSpPr>
          <p:spPr>
            <a:xfrm>
              <a:off x="7718829" y="5101228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A8CF679-4F9C-BB30-4B6B-5C77A32618D9}"/>
              </a:ext>
            </a:extLst>
          </p:cNvPr>
          <p:cNvGrpSpPr/>
          <p:nvPr/>
        </p:nvGrpSpPr>
        <p:grpSpPr>
          <a:xfrm>
            <a:off x="7695788" y="4652840"/>
            <a:ext cx="2310658" cy="1066800"/>
            <a:chOff x="7643832" y="5740039"/>
            <a:chExt cx="2310658" cy="1066800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3D606557-E187-C521-E5CE-9101B6CAD6A3}"/>
                </a:ext>
              </a:extLst>
            </p:cNvPr>
            <p:cNvGrpSpPr/>
            <p:nvPr/>
          </p:nvGrpSpPr>
          <p:grpSpPr>
            <a:xfrm>
              <a:off x="7643832" y="5740039"/>
              <a:ext cx="2310658" cy="1066800"/>
              <a:chOff x="5500214" y="3814784"/>
              <a:chExt cx="993991" cy="1066800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790547F-A6C9-2104-B1EF-C0AA1AB717C7}"/>
                  </a:ext>
                </a:extLst>
              </p:cNvPr>
              <p:cNvSpPr/>
              <p:nvPr/>
            </p:nvSpPr>
            <p:spPr>
              <a:xfrm>
                <a:off x="5500214" y="4271984"/>
                <a:ext cx="993991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58B3B680-2B1B-45BF-B28F-0FA73FD1421D}"/>
                  </a:ext>
                </a:extLst>
              </p:cNvPr>
              <p:cNvSpPr txBox="1"/>
              <p:nvPr/>
            </p:nvSpPr>
            <p:spPr>
              <a:xfrm>
                <a:off x="6127694" y="3814784"/>
                <a:ext cx="17666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D</a:t>
                </a:r>
              </a:p>
            </p:txBody>
          </p:sp>
        </p:grp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C7D84045-984C-1A10-389F-D6A85F2110B1}"/>
                </a:ext>
              </a:extLst>
            </p:cNvPr>
            <p:cNvSpPr/>
            <p:nvPr/>
          </p:nvSpPr>
          <p:spPr>
            <a:xfrm>
              <a:off x="7677265" y="6197239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F7109F-4664-9FA3-0178-2E8B088EE54F}"/>
              </a:ext>
            </a:extLst>
          </p:cNvPr>
          <p:cNvSpPr/>
          <p:nvPr/>
        </p:nvSpPr>
        <p:spPr>
          <a:xfrm>
            <a:off x="-13021" y="5846238"/>
            <a:ext cx="2828234" cy="956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Free(C)</a:t>
            </a:r>
            <a:endParaRPr lang="en-AE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Level#11 – Allocated</a:t>
            </a: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Its buddy is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allocated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AA16A3-6534-0AD0-DF08-6858BEC0388E}"/>
              </a:ext>
            </a:extLst>
          </p:cNvPr>
          <p:cNvGrpSpPr/>
          <p:nvPr/>
        </p:nvGrpSpPr>
        <p:grpSpPr>
          <a:xfrm>
            <a:off x="3167790" y="3608273"/>
            <a:ext cx="1119024" cy="1492955"/>
            <a:chOff x="-797656" y="4094684"/>
            <a:chExt cx="1119024" cy="149295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7B777CC-470A-83D5-88B6-2F0674567736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A41CD1C2-4581-D27F-CF2A-16A3188705FC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DF7114B0-6530-EB4F-E697-C69D57491483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L11</a:t>
                  </a:r>
                </a:p>
                <a:p>
                  <a:pPr algn="ctr"/>
                  <a:r>
                    <a:rPr lang="en-US" b="1" dirty="0"/>
                    <a:t>0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7" name="Rectangle 36">
                      <a:extLst>
                        <a:ext uri="{FF2B5EF4-FFF2-40B4-BE49-F238E27FC236}">
                          <a16:creationId xmlns:a16="http://schemas.microsoft.com/office/drawing/2014/main" id="{7FEF2549-B907-9749-AC61-82D6EAC905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37" name="Rectangle 36">
                      <a:extLst>
                        <a:ext uri="{FF2B5EF4-FFF2-40B4-BE49-F238E27FC236}">
                          <a16:creationId xmlns:a16="http://schemas.microsoft.com/office/drawing/2014/main" id="{7FEF2549-B907-9749-AC61-82D6EAC9056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413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A2B56BCA-526A-300A-47F1-B49E634912B3}"/>
                  </a:ext>
                </a:extLst>
              </p:cNvPr>
              <p:cNvCxnSpPr>
                <a:cxnSpLocks/>
                <a:endCxn id="36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D1A6D9A-052D-D2E1-3CA6-D849159A11ED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09F60AF-4141-AEA5-A811-9D709595C3BF}"/>
              </a:ext>
            </a:extLst>
          </p:cNvPr>
          <p:cNvGrpSpPr/>
          <p:nvPr/>
        </p:nvGrpSpPr>
        <p:grpSpPr>
          <a:xfrm>
            <a:off x="3165051" y="3614163"/>
            <a:ext cx="1119024" cy="1492955"/>
            <a:chOff x="-797656" y="4094684"/>
            <a:chExt cx="1119024" cy="149295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D04821E-2838-FFAE-52CB-80AE61FD752D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B5A959A-3BD1-BB83-92BB-E25758F93A8D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72F037C4-48B5-1329-1BBC-BB985AB7B2BA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L11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F1E9B6E9-1892-1ABC-D7C1-2FB422279D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F1E9B6E9-1892-1ABC-D7C1-2FB422279DB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0CC01C32-0325-22C4-784F-44C803B78073}"/>
                  </a:ext>
                </a:extLst>
              </p:cNvPr>
              <p:cNvCxnSpPr>
                <a:cxnSpLocks/>
                <a:endCxn id="63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DE85860-B8BB-1121-124D-745FCFF4D9BE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474C097-E1FF-0CFD-003D-86BFBE3941D0}"/>
              </a:ext>
            </a:extLst>
          </p:cNvPr>
          <p:cNvGrpSpPr/>
          <p:nvPr/>
        </p:nvGrpSpPr>
        <p:grpSpPr>
          <a:xfrm>
            <a:off x="7617620" y="3614408"/>
            <a:ext cx="1119024" cy="1492955"/>
            <a:chOff x="-797656" y="4094684"/>
            <a:chExt cx="1119024" cy="1492955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A5906406-AED2-CEE2-D37D-F50797405F52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5C17C8DE-58E8-69D2-3CD2-C9B296E301A3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D6831C93-FFE8-628D-48BB-086A97F8B911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L11</a:t>
                  </a:r>
                </a:p>
                <a:p>
                  <a:pPr algn="ctr"/>
                  <a:r>
                    <a:rPr lang="en-US" b="1" dirty="0"/>
                    <a:t>0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CD0D0588-D0AD-ADEE-9DA4-B6D3E5F093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CD0D0588-D0AD-ADEE-9DA4-B6D3E5F0935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000" r="-3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CD71B95F-C986-A4F2-6936-568B460DB8EC}"/>
                  </a:ext>
                </a:extLst>
              </p:cNvPr>
              <p:cNvCxnSpPr>
                <a:cxnSpLocks/>
                <a:endCxn id="70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C3F5B06-45DC-18AE-9292-83E6703D3028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9912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3" grpId="0" uiExpand="1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4441E-43E2-2269-50FE-773D4D683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6D75A-0EC0-170C-CE93-74FBCA6E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00"/>
              <a:t>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03007-D3CB-01E9-BB17-8EBF4E653A01}"/>
              </a:ext>
            </a:extLst>
          </p:cNvPr>
          <p:cNvSpPr txBox="1">
            <a:spLocks/>
          </p:cNvSpPr>
          <p:nvPr/>
        </p:nvSpPr>
        <p:spPr>
          <a:xfrm>
            <a:off x="0" y="6005"/>
            <a:ext cx="6874569" cy="953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Dynamic Allocator </a:t>
            </a:r>
            <a:r>
              <a:rPr lang="en-US" b="1" dirty="0"/>
              <a:t>– Free</a:t>
            </a:r>
            <a:endParaRPr lang="en-AE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4D2CCDC-2BA8-65C9-794B-664C4E2002AF}"/>
              </a:ext>
            </a:extLst>
          </p:cNvPr>
          <p:cNvCxnSpPr>
            <a:cxnSpLocks/>
          </p:cNvCxnSpPr>
          <p:nvPr/>
        </p:nvCxnSpPr>
        <p:spPr>
          <a:xfrm>
            <a:off x="407250" y="1574370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F2A27BB-9157-0D12-CAC7-A749287FF446}"/>
              </a:ext>
            </a:extLst>
          </p:cNvPr>
          <p:cNvCxnSpPr>
            <a:cxnSpLocks/>
          </p:cNvCxnSpPr>
          <p:nvPr/>
        </p:nvCxnSpPr>
        <p:spPr>
          <a:xfrm flipV="1">
            <a:off x="1260334" y="2337443"/>
            <a:ext cx="0" cy="3692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08B42BD-FE6E-B866-516F-48ECF08A2FB7}"/>
              </a:ext>
            </a:extLst>
          </p:cNvPr>
          <p:cNvCxnSpPr>
            <a:cxnSpLocks/>
          </p:cNvCxnSpPr>
          <p:nvPr/>
        </p:nvCxnSpPr>
        <p:spPr>
          <a:xfrm>
            <a:off x="407250" y="2360518"/>
            <a:ext cx="0" cy="346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tangle 13">
            <a:extLst>
              <a:ext uri="{FF2B5EF4-FFF2-40B4-BE49-F238E27FC236}">
                <a16:creationId xmlns:a16="http://schemas.microsoft.com/office/drawing/2014/main" id="{F6967C85-9AF5-6969-26A5-E79C1639A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2709680"/>
            <a:ext cx="1350604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9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AF78C60-6B9D-4FEA-37B1-DAE0E0D57932}"/>
              </a:ext>
            </a:extLst>
          </p:cNvPr>
          <p:cNvCxnSpPr>
            <a:cxnSpLocks/>
          </p:cNvCxnSpPr>
          <p:nvPr/>
        </p:nvCxnSpPr>
        <p:spPr>
          <a:xfrm flipV="1">
            <a:off x="1260334" y="1574370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Rectangle 13">
            <a:extLst>
              <a:ext uri="{FF2B5EF4-FFF2-40B4-BE49-F238E27FC236}">
                <a16:creationId xmlns:a16="http://schemas.microsoft.com/office/drawing/2014/main" id="{C217F63D-0676-705D-8DA9-AD867E3BB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93" y="1111193"/>
            <a:ext cx="1334002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11</a:t>
            </a:r>
          </a:p>
        </p:txBody>
      </p:sp>
      <p:sp>
        <p:nvSpPr>
          <p:cNvPr id="99" name="Rectangle 13">
            <a:extLst>
              <a:ext uri="{FF2B5EF4-FFF2-40B4-BE49-F238E27FC236}">
                <a16:creationId xmlns:a16="http://schemas.microsoft.com/office/drawing/2014/main" id="{D8351908-D8BC-D202-B995-60537D229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67" y="1888005"/>
            <a:ext cx="134223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10</a:t>
            </a:r>
          </a:p>
        </p:txBody>
      </p:sp>
      <p:sp>
        <p:nvSpPr>
          <p:cNvPr id="83" name="Rectangle 13">
            <a:extLst>
              <a:ext uri="{FF2B5EF4-FFF2-40B4-BE49-F238E27FC236}">
                <a16:creationId xmlns:a16="http://schemas.microsoft.com/office/drawing/2014/main" id="{58F61DF7-ECFC-26E7-B372-03EBB38B1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3925671"/>
            <a:ext cx="135582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4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42F00E7-9BFF-4E2D-2898-A5E343A48A44}"/>
              </a:ext>
            </a:extLst>
          </p:cNvPr>
          <p:cNvCxnSpPr>
            <a:cxnSpLocks/>
            <a:stCxn id="93" idx="2"/>
            <a:endCxn id="83" idx="0"/>
          </p:cNvCxnSpPr>
          <p:nvPr/>
        </p:nvCxnSpPr>
        <p:spPr>
          <a:xfrm>
            <a:off x="884121" y="3180408"/>
            <a:ext cx="2610" cy="74526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Arrow: Bent 78">
            <a:extLst>
              <a:ext uri="{FF2B5EF4-FFF2-40B4-BE49-F238E27FC236}">
                <a16:creationId xmlns:a16="http://schemas.microsoft.com/office/drawing/2014/main" id="{CD12BBAE-C477-D7CA-BA32-DE92C36465AF}"/>
              </a:ext>
            </a:extLst>
          </p:cNvPr>
          <p:cNvSpPr/>
          <p:nvPr/>
        </p:nvSpPr>
        <p:spPr>
          <a:xfrm rot="5400000">
            <a:off x="1728590" y="3936739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401F5EE-A89E-86D8-80BF-591D2BC1752A}"/>
              </a:ext>
            </a:extLst>
          </p:cNvPr>
          <p:cNvSpPr/>
          <p:nvPr/>
        </p:nvSpPr>
        <p:spPr>
          <a:xfrm>
            <a:off x="11022591" y="3388989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57B0D9D-1DD6-8662-4729-D6A89AE572C7}"/>
              </a:ext>
            </a:extLst>
          </p:cNvPr>
          <p:cNvSpPr/>
          <p:nvPr/>
        </p:nvSpPr>
        <p:spPr>
          <a:xfrm>
            <a:off x="11022591" y="2815571"/>
            <a:ext cx="1075373" cy="57765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A5ED150-2996-0DFE-A018-FB4377EA71FA}"/>
              </a:ext>
            </a:extLst>
          </p:cNvPr>
          <p:cNvSpPr/>
          <p:nvPr/>
        </p:nvSpPr>
        <p:spPr>
          <a:xfrm>
            <a:off x="11022591" y="569215"/>
            <a:ext cx="1075373" cy="5776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488D311-0AD2-E8FE-81A5-78B3562B1CA6}"/>
              </a:ext>
            </a:extLst>
          </p:cNvPr>
          <p:cNvSpPr/>
          <p:nvPr/>
        </p:nvSpPr>
        <p:spPr>
          <a:xfrm>
            <a:off x="11022591" y="1693737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6851B38-BBA8-0355-023D-E9595B6A5C40}"/>
              </a:ext>
            </a:extLst>
          </p:cNvPr>
          <p:cNvSpPr/>
          <p:nvPr/>
        </p:nvSpPr>
        <p:spPr>
          <a:xfrm>
            <a:off x="11022591" y="1144659"/>
            <a:ext cx="1075373" cy="57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AF9BB82-E227-21E5-C77E-DBB1C0AF04D0}"/>
              </a:ext>
            </a:extLst>
          </p:cNvPr>
          <p:cNvSpPr/>
          <p:nvPr/>
        </p:nvSpPr>
        <p:spPr>
          <a:xfrm>
            <a:off x="11022591" y="227448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12EE5C5-135E-0D56-C8B6-D610DE63D4CB}"/>
              </a:ext>
            </a:extLst>
          </p:cNvPr>
          <p:cNvSpPr/>
          <p:nvPr/>
        </p:nvSpPr>
        <p:spPr>
          <a:xfrm>
            <a:off x="11022591" y="1591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D709DD-3393-B5ED-F76F-6372C97AF6AA}"/>
              </a:ext>
            </a:extLst>
          </p:cNvPr>
          <p:cNvCxnSpPr>
            <a:cxnSpLocks/>
          </p:cNvCxnSpPr>
          <p:nvPr/>
        </p:nvCxnSpPr>
        <p:spPr>
          <a:xfrm>
            <a:off x="417904" y="3629188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FBE132B6-FB80-A566-F32F-9C768E5855A8}"/>
              </a:ext>
            </a:extLst>
          </p:cNvPr>
          <p:cNvCxnSpPr>
            <a:cxnSpLocks/>
          </p:cNvCxnSpPr>
          <p:nvPr/>
        </p:nvCxnSpPr>
        <p:spPr>
          <a:xfrm flipV="1">
            <a:off x="1270988" y="3598708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28E87F5-9F07-6EDC-7426-55BE98280D8D}"/>
              </a:ext>
            </a:extLst>
          </p:cNvPr>
          <p:cNvGrpSpPr/>
          <p:nvPr/>
        </p:nvGrpSpPr>
        <p:grpSpPr>
          <a:xfrm>
            <a:off x="208820" y="4396399"/>
            <a:ext cx="1350604" cy="1006903"/>
            <a:chOff x="208820" y="4396399"/>
            <a:chExt cx="1350604" cy="1006903"/>
          </a:xfrm>
        </p:grpSpPr>
        <p:sp>
          <p:nvSpPr>
            <p:cNvPr id="138" name="Rectangle 13" descr="N&#10;">
              <a:extLst>
                <a:ext uri="{FF2B5EF4-FFF2-40B4-BE49-F238E27FC236}">
                  <a16:creationId xmlns:a16="http://schemas.microsoft.com/office/drawing/2014/main" id="{AE76311B-A374-715C-D250-85C977D1C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20" y="4932574"/>
              <a:ext cx="1350604" cy="4707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b="0" dirty="0">
                  <a:solidFill>
                    <a:prstClr val="black"/>
                  </a:solidFill>
                </a:rPr>
                <a:t>Not used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485EABC9-949C-B329-4379-CFA0DB889678}"/>
                </a:ext>
              </a:extLst>
            </p:cNvPr>
            <p:cNvCxnSpPr>
              <a:cxnSpLocks/>
              <a:stCxn id="83" idx="2"/>
              <a:endCxn id="138" idx="0"/>
            </p:cNvCxnSpPr>
            <p:nvPr/>
          </p:nvCxnSpPr>
          <p:spPr>
            <a:xfrm flipH="1">
              <a:off x="884122" y="4396399"/>
              <a:ext cx="2609" cy="53617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62E0EB2D-E8B2-0563-12EA-909B82BB5D65}"/>
                </a:ext>
              </a:extLst>
            </p:cNvPr>
            <p:cNvCxnSpPr>
              <a:cxnSpLocks/>
            </p:cNvCxnSpPr>
            <p:nvPr/>
          </p:nvCxnSpPr>
          <p:spPr>
            <a:xfrm>
              <a:off x="399723" y="4693920"/>
              <a:ext cx="0" cy="2386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E82A20F8-E466-2403-4E76-D58ACCE9D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003" y="4693920"/>
              <a:ext cx="0" cy="2122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0537C57-F0FC-5567-0047-8BD12E8CE956}"/>
              </a:ext>
            </a:extLst>
          </p:cNvPr>
          <p:cNvSpPr/>
          <p:nvPr/>
        </p:nvSpPr>
        <p:spPr>
          <a:xfrm>
            <a:off x="3308294" y="6203773"/>
            <a:ext cx="877824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 KB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EC92248-66EF-2EB5-FAB0-157FCDF53C91}"/>
              </a:ext>
            </a:extLst>
          </p:cNvPr>
          <p:cNvSpPr/>
          <p:nvPr/>
        </p:nvSpPr>
        <p:spPr>
          <a:xfrm>
            <a:off x="3308294" y="6197239"/>
            <a:ext cx="438912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 KB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1220FA34-565A-394C-D5D6-A08EB15ECADF}"/>
              </a:ext>
            </a:extLst>
          </p:cNvPr>
          <p:cNvSpPr/>
          <p:nvPr/>
        </p:nvSpPr>
        <p:spPr>
          <a:xfrm>
            <a:off x="3300674" y="6203773"/>
            <a:ext cx="219456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 KB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5C2C21F-6E9C-398D-6E4B-5AE16710DEBC}"/>
              </a:ext>
            </a:extLst>
          </p:cNvPr>
          <p:cNvSpPr/>
          <p:nvPr/>
        </p:nvSpPr>
        <p:spPr>
          <a:xfrm>
            <a:off x="3308294" y="6204169"/>
            <a:ext cx="109728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512 B</a:t>
            </a:r>
          </a:p>
        </p:txBody>
      </p: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C07A0003-7024-6ADD-14F1-271EC5E7D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52" y="0"/>
            <a:ext cx="4243411" cy="3966642"/>
          </a:xfrm>
          <a:solidFill>
            <a:schemeClr val="bg1"/>
          </a:solidFill>
        </p:spPr>
        <p:txBody>
          <a:bodyPr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For</a:t>
            </a:r>
            <a:r>
              <a:rPr lang="en-US" sz="1600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 the given address, </a:t>
            </a: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find its level &amp; status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Add 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it to the corresponding list &amp; update DS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Find </a:t>
            </a:r>
            <a:r>
              <a:rPr lang="en-US" sz="1600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it’s buddy (using its VA)</a:t>
            </a:r>
            <a:endParaRPr lang="en-US" sz="1600" b="1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CASE1: </a:t>
            </a: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if Buddy allocated /not in same level</a:t>
            </a:r>
            <a:endParaRPr lang="en-US" sz="1600" b="1" dirty="0">
              <a:solidFill>
                <a:srgbClr val="5C5962"/>
              </a:solidFill>
              <a:latin typeface="+mj-lt"/>
              <a:ea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1600" b="1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Do</a:t>
            </a: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 nothing</a:t>
            </a:r>
          </a:p>
          <a:p>
            <a:pPr marL="0" lv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CASE2: if its Buddy is FREE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Remove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 both buddies from the list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Collapse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 them into a single buddy &amp; update DS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If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 it’s last level, free the entire page 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Else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, add it to the upper level &amp; repeat from 3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endParaRPr lang="en-US" sz="1600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1600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DBE319E-0AF5-B542-1EF5-A7F7BE31702C}"/>
              </a:ext>
            </a:extLst>
          </p:cNvPr>
          <p:cNvGrpSpPr/>
          <p:nvPr/>
        </p:nvGrpSpPr>
        <p:grpSpPr>
          <a:xfrm>
            <a:off x="1555674" y="1851861"/>
            <a:ext cx="1880196" cy="528536"/>
            <a:chOff x="6871843" y="1508565"/>
            <a:chExt cx="1935777" cy="528536"/>
          </a:xfrm>
        </p:grpSpPr>
        <p:sp>
          <p:nvSpPr>
            <p:cNvPr id="195" name="Rectangle 13">
              <a:extLst>
                <a:ext uri="{FF2B5EF4-FFF2-40B4-BE49-F238E27FC236}">
                  <a16:creationId xmlns:a16="http://schemas.microsoft.com/office/drawing/2014/main" id="{837EB9A9-4C71-3517-B8F3-77EFF48C6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375" y="1508565"/>
              <a:ext cx="1016344" cy="52853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800" dirty="0" err="1">
                  <a:solidFill>
                    <a:prstClr val="black"/>
                  </a:solidFill>
                </a:rPr>
                <a:t>R_buddy</a:t>
              </a: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96" name="Arrow: Right 195">
              <a:extLst>
                <a:ext uri="{FF2B5EF4-FFF2-40B4-BE49-F238E27FC236}">
                  <a16:creationId xmlns:a16="http://schemas.microsoft.com/office/drawing/2014/main" id="{DD67B15E-6C33-7AC9-2F41-519F9FE121C2}"/>
                </a:ext>
              </a:extLst>
            </p:cNvPr>
            <p:cNvSpPr/>
            <p:nvPr/>
          </p:nvSpPr>
          <p:spPr>
            <a:xfrm>
              <a:off x="6871843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7" name="Arrow: Bent 196">
              <a:extLst>
                <a:ext uri="{FF2B5EF4-FFF2-40B4-BE49-F238E27FC236}">
                  <a16:creationId xmlns:a16="http://schemas.microsoft.com/office/drawing/2014/main" id="{85073BF6-DE78-7A72-A4C8-23DC69B1CB26}"/>
                </a:ext>
              </a:extLst>
            </p:cNvPr>
            <p:cNvSpPr/>
            <p:nvPr/>
          </p:nvSpPr>
          <p:spPr>
            <a:xfrm rot="5400000">
              <a:off x="8449569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F6FB76BD-9B15-190A-7897-BC734CA6E21B}"/>
              </a:ext>
            </a:extLst>
          </p:cNvPr>
          <p:cNvGrpSpPr/>
          <p:nvPr/>
        </p:nvGrpSpPr>
        <p:grpSpPr>
          <a:xfrm>
            <a:off x="1563621" y="2648017"/>
            <a:ext cx="1610014" cy="528536"/>
            <a:chOff x="6615090" y="1508565"/>
            <a:chExt cx="1657611" cy="528536"/>
          </a:xfrm>
        </p:grpSpPr>
        <p:sp>
          <p:nvSpPr>
            <p:cNvPr id="347" name="Rectangle 13">
              <a:extLst>
                <a:ext uri="{FF2B5EF4-FFF2-40B4-BE49-F238E27FC236}">
                  <a16:creationId xmlns:a16="http://schemas.microsoft.com/office/drawing/2014/main" id="{87770EEE-F352-88EB-11DF-1394AD28C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622" y="1508565"/>
              <a:ext cx="750938" cy="5285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400" dirty="0" err="1">
                  <a:solidFill>
                    <a:prstClr val="black"/>
                  </a:solidFill>
                </a:rPr>
                <a:t>R_buddy</a:t>
              </a:r>
              <a:endParaRPr lang="en-US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348" name="Arrow: Right 347">
              <a:extLst>
                <a:ext uri="{FF2B5EF4-FFF2-40B4-BE49-F238E27FC236}">
                  <a16:creationId xmlns:a16="http://schemas.microsoft.com/office/drawing/2014/main" id="{4AA701D9-CF6B-7509-C74E-4953A60AB2F8}"/>
                </a:ext>
              </a:extLst>
            </p:cNvPr>
            <p:cNvSpPr/>
            <p:nvPr/>
          </p:nvSpPr>
          <p:spPr>
            <a:xfrm>
              <a:off x="6615090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9" name="Arrow: Bent 348">
              <a:extLst>
                <a:ext uri="{FF2B5EF4-FFF2-40B4-BE49-F238E27FC236}">
                  <a16:creationId xmlns:a16="http://schemas.microsoft.com/office/drawing/2014/main" id="{372701B9-C442-6423-51C6-1E6F4E466212}"/>
                </a:ext>
              </a:extLst>
            </p:cNvPr>
            <p:cNvSpPr/>
            <p:nvPr/>
          </p:nvSpPr>
          <p:spPr>
            <a:xfrm rot="5400000">
              <a:off x="79146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30986BA-B131-77FE-3AD4-15F0AB4FAD63}"/>
              </a:ext>
            </a:extLst>
          </p:cNvPr>
          <p:cNvGrpSpPr/>
          <p:nvPr/>
        </p:nvGrpSpPr>
        <p:grpSpPr>
          <a:xfrm>
            <a:off x="3289154" y="5751474"/>
            <a:ext cx="762000" cy="1066800"/>
            <a:chOff x="3289154" y="5751474"/>
            <a:chExt cx="762000" cy="10668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C525080-6C4A-0562-8AF7-E2AC3AF860A5}"/>
                </a:ext>
              </a:extLst>
            </p:cNvPr>
            <p:cNvGrpSpPr/>
            <p:nvPr/>
          </p:nvGrpSpPr>
          <p:grpSpPr>
            <a:xfrm>
              <a:off x="3289154" y="5751474"/>
              <a:ext cx="762000" cy="1066800"/>
              <a:chOff x="3289154" y="5761865"/>
              <a:chExt cx="762000" cy="106680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48AADD8-3BEA-2522-C017-CB1511A6E5A2}"/>
                  </a:ext>
                </a:extLst>
              </p:cNvPr>
              <p:cNvSpPr/>
              <p:nvPr/>
            </p:nvSpPr>
            <p:spPr>
              <a:xfrm>
                <a:off x="3289154" y="6219065"/>
                <a:ext cx="762000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AB51216-C55D-A09E-B976-279922217877}"/>
                  </a:ext>
                </a:extLst>
              </p:cNvPr>
              <p:cNvSpPr txBox="1"/>
              <p:nvPr/>
            </p:nvSpPr>
            <p:spPr>
              <a:xfrm>
                <a:off x="3507742" y="5761865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A</a:t>
                </a:r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990E3B1-76BC-C4BD-70FC-C605A67914EB}"/>
                </a:ext>
              </a:extLst>
            </p:cNvPr>
            <p:cNvSpPr/>
            <p:nvPr/>
          </p:nvSpPr>
          <p:spPr>
            <a:xfrm>
              <a:off x="3300674" y="6203773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71B8EAD0-8FEF-EE73-BF9C-EA6CE000547A}"/>
              </a:ext>
            </a:extLst>
          </p:cNvPr>
          <p:cNvSpPr txBox="1">
            <a:spLocks/>
          </p:cNvSpPr>
          <p:nvPr/>
        </p:nvSpPr>
        <p:spPr>
          <a:xfrm>
            <a:off x="8745220" y="524049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00"/>
              <a:t>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2F015A-0608-ED27-1DFD-FDCDD7D4EA99}"/>
              </a:ext>
            </a:extLst>
          </p:cNvPr>
          <p:cNvSpPr/>
          <p:nvPr/>
        </p:nvSpPr>
        <p:spPr>
          <a:xfrm>
            <a:off x="3315914" y="5087918"/>
            <a:ext cx="8778240" cy="6096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 KB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51D63C3-EB54-BCDB-B9F2-8A182DE7A5E0}"/>
              </a:ext>
            </a:extLst>
          </p:cNvPr>
          <p:cNvGrpSpPr/>
          <p:nvPr/>
        </p:nvGrpSpPr>
        <p:grpSpPr>
          <a:xfrm>
            <a:off x="1545939" y="1095062"/>
            <a:ext cx="2181534" cy="528536"/>
            <a:chOff x="7246279" y="1508565"/>
            <a:chExt cx="2246022" cy="528536"/>
          </a:xfrm>
        </p:grpSpPr>
        <p:sp>
          <p:nvSpPr>
            <p:cNvPr id="52" name="Rectangle 13">
              <a:extLst>
                <a:ext uri="{FF2B5EF4-FFF2-40B4-BE49-F238E27FC236}">
                  <a16:creationId xmlns:a16="http://schemas.microsoft.com/office/drawing/2014/main" id="{20F457F7-EA9F-F783-4F61-1C6D56796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8810" y="1508565"/>
              <a:ext cx="1373433" cy="52853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L_buddy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F96EE1D1-7E68-4D11-C9FD-2DCDD493A4B4}"/>
                </a:ext>
              </a:extLst>
            </p:cNvPr>
            <p:cNvSpPr/>
            <p:nvPr/>
          </p:nvSpPr>
          <p:spPr>
            <a:xfrm>
              <a:off x="7246279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4" name="Arrow: Bent 53">
              <a:extLst>
                <a:ext uri="{FF2B5EF4-FFF2-40B4-BE49-F238E27FC236}">
                  <a16:creationId xmlns:a16="http://schemas.microsoft.com/office/drawing/2014/main" id="{EFDB0749-F43D-964A-AB88-D96D3AAAE567}"/>
                </a:ext>
              </a:extLst>
            </p:cNvPr>
            <p:cNvSpPr/>
            <p:nvPr/>
          </p:nvSpPr>
          <p:spPr>
            <a:xfrm rot="5400000">
              <a:off x="91342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E9AA15F-BAC8-5615-FA90-13E7A9B032FA}"/>
              </a:ext>
            </a:extLst>
          </p:cNvPr>
          <p:cNvGrpSpPr/>
          <p:nvPr/>
        </p:nvGrpSpPr>
        <p:grpSpPr>
          <a:xfrm>
            <a:off x="7705034" y="6193382"/>
            <a:ext cx="4389120" cy="609600"/>
            <a:chOff x="7705034" y="6197239"/>
            <a:chExt cx="4389120" cy="60960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901F8AD-A6D6-CFEC-7F5E-9BACEDDE02A9}"/>
                </a:ext>
              </a:extLst>
            </p:cNvPr>
            <p:cNvSpPr/>
            <p:nvPr/>
          </p:nvSpPr>
          <p:spPr>
            <a:xfrm>
              <a:off x="7705034" y="6197239"/>
              <a:ext cx="438912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14B66B2-D5A5-C8A4-E505-3E3C6D7EEE34}"/>
                </a:ext>
              </a:extLst>
            </p:cNvPr>
            <p:cNvSpPr/>
            <p:nvPr/>
          </p:nvSpPr>
          <p:spPr>
            <a:xfrm>
              <a:off x="7721358" y="6199916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9B64209-23AE-F17E-7169-3C854151CB3D}"/>
              </a:ext>
            </a:extLst>
          </p:cNvPr>
          <p:cNvGrpSpPr/>
          <p:nvPr/>
        </p:nvGrpSpPr>
        <p:grpSpPr>
          <a:xfrm>
            <a:off x="5502854" y="6185412"/>
            <a:ext cx="2194560" cy="613457"/>
            <a:chOff x="5495234" y="6203773"/>
            <a:chExt cx="2194560" cy="613457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F759270-6551-8DD9-8432-23DBD3E3816F}"/>
                </a:ext>
              </a:extLst>
            </p:cNvPr>
            <p:cNvSpPr/>
            <p:nvPr/>
          </p:nvSpPr>
          <p:spPr>
            <a:xfrm>
              <a:off x="5495234" y="6203773"/>
              <a:ext cx="219456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1 KB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028645C-9FB1-0840-14E1-98414E993606}"/>
                </a:ext>
              </a:extLst>
            </p:cNvPr>
            <p:cNvSpPr/>
            <p:nvPr/>
          </p:nvSpPr>
          <p:spPr>
            <a:xfrm>
              <a:off x="5516016" y="6214164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257465F-0FE1-21DA-5E56-43E916C63A8E}"/>
              </a:ext>
            </a:extLst>
          </p:cNvPr>
          <p:cNvGrpSpPr/>
          <p:nvPr/>
        </p:nvGrpSpPr>
        <p:grpSpPr>
          <a:xfrm>
            <a:off x="4409384" y="6185412"/>
            <a:ext cx="1097280" cy="623848"/>
            <a:chOff x="4409384" y="6204169"/>
            <a:chExt cx="1097280" cy="62384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34F3667-6E0E-0040-72CA-55E649A1A14C}"/>
                </a:ext>
              </a:extLst>
            </p:cNvPr>
            <p:cNvSpPr/>
            <p:nvPr/>
          </p:nvSpPr>
          <p:spPr>
            <a:xfrm>
              <a:off x="4409384" y="6204169"/>
              <a:ext cx="109728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512 B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400A1DF-98A1-0362-F384-8339891A3D97}"/>
                </a:ext>
              </a:extLst>
            </p:cNvPr>
            <p:cNvSpPr/>
            <p:nvPr/>
          </p:nvSpPr>
          <p:spPr>
            <a:xfrm>
              <a:off x="4419775" y="6224951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E7B8B3C-7FF6-0301-489C-B261ED6BF50F}"/>
              </a:ext>
            </a:extLst>
          </p:cNvPr>
          <p:cNvGrpSpPr/>
          <p:nvPr/>
        </p:nvGrpSpPr>
        <p:grpSpPr>
          <a:xfrm>
            <a:off x="7685396" y="5740039"/>
            <a:ext cx="3897004" cy="1066800"/>
            <a:chOff x="7685396" y="5740039"/>
            <a:chExt cx="3897004" cy="1066800"/>
          </a:xfrm>
        </p:grpSpPr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9811C80B-C46A-31DF-32CA-CB361F11E4F5}"/>
                </a:ext>
              </a:extLst>
            </p:cNvPr>
            <p:cNvGrpSpPr/>
            <p:nvPr/>
          </p:nvGrpSpPr>
          <p:grpSpPr>
            <a:xfrm>
              <a:off x="7685396" y="5740039"/>
              <a:ext cx="3897004" cy="1066800"/>
              <a:chOff x="5518094" y="3814784"/>
              <a:chExt cx="1676400" cy="1066800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602A0047-53ED-5087-78A6-C500719285DD}"/>
                  </a:ext>
                </a:extLst>
              </p:cNvPr>
              <p:cNvSpPr/>
              <p:nvPr/>
            </p:nvSpPr>
            <p:spPr>
              <a:xfrm>
                <a:off x="5518094" y="4271984"/>
                <a:ext cx="1676400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19F724A-7F87-CBF7-4AAB-E7D186C5C5B5}"/>
                  </a:ext>
                </a:extLst>
              </p:cNvPr>
              <p:cNvSpPr txBox="1"/>
              <p:nvPr/>
            </p:nvSpPr>
            <p:spPr>
              <a:xfrm>
                <a:off x="6127694" y="3814784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B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71F6419-1AAD-AFE3-B1B9-5303373CFA48}"/>
                </a:ext>
              </a:extLst>
            </p:cNvPr>
            <p:cNvSpPr/>
            <p:nvPr/>
          </p:nvSpPr>
          <p:spPr>
            <a:xfrm>
              <a:off x="7718829" y="6197239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581FD5D-6A07-7BB3-F0B9-F2BB1537A46D}"/>
              </a:ext>
            </a:extLst>
          </p:cNvPr>
          <p:cNvGrpSpPr/>
          <p:nvPr/>
        </p:nvGrpSpPr>
        <p:grpSpPr>
          <a:xfrm>
            <a:off x="3308294" y="5098309"/>
            <a:ext cx="4389120" cy="609600"/>
            <a:chOff x="3308294" y="5087918"/>
            <a:chExt cx="4389120" cy="6096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1F185D-44B4-0BA3-9288-FD143BCB506F}"/>
                </a:ext>
              </a:extLst>
            </p:cNvPr>
            <p:cNvSpPr/>
            <p:nvPr/>
          </p:nvSpPr>
          <p:spPr>
            <a:xfrm>
              <a:off x="3308294" y="5087918"/>
              <a:ext cx="4389120" cy="6096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6C299D5-596E-0706-E244-364C0F5EFCFF}"/>
                </a:ext>
              </a:extLst>
            </p:cNvPr>
            <p:cNvSpPr/>
            <p:nvPr/>
          </p:nvSpPr>
          <p:spPr>
            <a:xfrm>
              <a:off x="3308294" y="5091185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698779F-7482-79E2-91FB-809CF40DE124}"/>
              </a:ext>
            </a:extLst>
          </p:cNvPr>
          <p:cNvGrpSpPr/>
          <p:nvPr/>
        </p:nvGrpSpPr>
        <p:grpSpPr>
          <a:xfrm>
            <a:off x="7695787" y="5098309"/>
            <a:ext cx="4389120" cy="609600"/>
            <a:chOff x="7695787" y="5098309"/>
            <a:chExt cx="4389120" cy="609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C65C9E-6397-B13F-9474-D5F51A9A370D}"/>
                </a:ext>
              </a:extLst>
            </p:cNvPr>
            <p:cNvSpPr/>
            <p:nvPr/>
          </p:nvSpPr>
          <p:spPr>
            <a:xfrm>
              <a:off x="7695787" y="5098309"/>
              <a:ext cx="4389120" cy="6096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8AE3924-AF3B-236F-CDC2-E16871704394}"/>
                </a:ext>
              </a:extLst>
            </p:cNvPr>
            <p:cNvSpPr/>
            <p:nvPr/>
          </p:nvSpPr>
          <p:spPr>
            <a:xfrm>
              <a:off x="7718829" y="5101228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BDB49B6-1409-AD40-94E8-49088172FB4F}"/>
              </a:ext>
            </a:extLst>
          </p:cNvPr>
          <p:cNvGrpSpPr/>
          <p:nvPr/>
        </p:nvGrpSpPr>
        <p:grpSpPr>
          <a:xfrm>
            <a:off x="7695788" y="4652840"/>
            <a:ext cx="2310658" cy="1066800"/>
            <a:chOff x="7643832" y="5740039"/>
            <a:chExt cx="2310658" cy="1066800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A9D9E77C-0F20-2BE5-C3AD-B2A5D1EEAAF9}"/>
                </a:ext>
              </a:extLst>
            </p:cNvPr>
            <p:cNvGrpSpPr/>
            <p:nvPr/>
          </p:nvGrpSpPr>
          <p:grpSpPr>
            <a:xfrm>
              <a:off x="7643832" y="5740039"/>
              <a:ext cx="2310658" cy="1066800"/>
              <a:chOff x="5500214" y="3814784"/>
              <a:chExt cx="993991" cy="1066800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4B7387D8-7204-43D8-A1F4-089C9ACB6F2E}"/>
                  </a:ext>
                </a:extLst>
              </p:cNvPr>
              <p:cNvSpPr/>
              <p:nvPr/>
            </p:nvSpPr>
            <p:spPr>
              <a:xfrm>
                <a:off x="5500214" y="4271984"/>
                <a:ext cx="993991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01E0BCFD-A9C4-0D97-4242-85F9CBC06B21}"/>
                  </a:ext>
                </a:extLst>
              </p:cNvPr>
              <p:cNvSpPr txBox="1"/>
              <p:nvPr/>
            </p:nvSpPr>
            <p:spPr>
              <a:xfrm>
                <a:off x="6127694" y="3814784"/>
                <a:ext cx="17666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D</a:t>
                </a:r>
              </a:p>
            </p:txBody>
          </p:sp>
        </p:grp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647DDCF-C90C-5A1C-6B37-21FDC5875BB5}"/>
                </a:ext>
              </a:extLst>
            </p:cNvPr>
            <p:cNvSpPr/>
            <p:nvPr/>
          </p:nvSpPr>
          <p:spPr>
            <a:xfrm>
              <a:off x="7677265" y="6197239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879D11-8182-0C2D-B88A-EFF8348C433D}"/>
              </a:ext>
            </a:extLst>
          </p:cNvPr>
          <p:cNvSpPr/>
          <p:nvPr/>
        </p:nvSpPr>
        <p:spPr>
          <a:xfrm>
            <a:off x="-13021" y="5846238"/>
            <a:ext cx="2828234" cy="956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Free(D)</a:t>
            </a:r>
            <a:endParaRPr lang="en-AE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Level#11 – Allocated</a:t>
            </a: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Its buddy is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FREE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C3AC8D5-0716-4D81-E84D-F005D7410765}"/>
              </a:ext>
            </a:extLst>
          </p:cNvPr>
          <p:cNvGrpSpPr/>
          <p:nvPr/>
        </p:nvGrpSpPr>
        <p:grpSpPr>
          <a:xfrm>
            <a:off x="7617620" y="3614408"/>
            <a:ext cx="1119024" cy="1492955"/>
            <a:chOff x="-797656" y="4094684"/>
            <a:chExt cx="1119024" cy="1492955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C3CC8A9-77E9-9007-2251-A994B5D6504A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A01BB4AB-0BA8-C4D3-7340-3E86696480AE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2C100D47-A263-6639-8673-EE77512B33C5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L11</a:t>
                  </a:r>
                </a:p>
                <a:p>
                  <a:pPr algn="ctr"/>
                  <a:r>
                    <a:rPr lang="en-US" b="1" dirty="0"/>
                    <a:t>0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A8DAC7DA-D83A-7A36-7EF5-B72D8AB509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A8DAC7DA-D83A-7A36-7EF5-B72D8AB5094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5000" r="-3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26975801-8AF9-1B25-D14C-84C11F336DAB}"/>
                  </a:ext>
                </a:extLst>
              </p:cNvPr>
              <p:cNvCxnSpPr>
                <a:cxnSpLocks/>
                <a:endCxn id="70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914AAED-E950-A26E-B663-3AEAA3CE9FEB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C93FA47-DAD5-ED64-52CD-D1D857494956}"/>
              </a:ext>
            </a:extLst>
          </p:cNvPr>
          <p:cNvGrpSpPr/>
          <p:nvPr/>
        </p:nvGrpSpPr>
        <p:grpSpPr>
          <a:xfrm>
            <a:off x="1524165" y="1092502"/>
            <a:ext cx="4002346" cy="541487"/>
            <a:chOff x="5371642" y="1508565"/>
            <a:chExt cx="4120659" cy="541487"/>
          </a:xfrm>
        </p:grpSpPr>
        <p:sp>
          <p:nvSpPr>
            <p:cNvPr id="5" name="Rectangle 13">
              <a:extLst>
                <a:ext uri="{FF2B5EF4-FFF2-40B4-BE49-F238E27FC236}">
                  <a16:creationId xmlns:a16="http://schemas.microsoft.com/office/drawing/2014/main" id="{D669C1B4-E469-E0CE-84BE-29B9C505F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3509" y="1521516"/>
              <a:ext cx="1373433" cy="52853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R_buddy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D0E537D9-172C-99C7-D5C2-8CB63D415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8810" y="1508565"/>
              <a:ext cx="1373433" cy="52853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L_buddy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A63D801D-24CD-E62E-8203-36278F7A4EAE}"/>
                </a:ext>
              </a:extLst>
            </p:cNvPr>
            <p:cNvSpPr/>
            <p:nvPr/>
          </p:nvSpPr>
          <p:spPr>
            <a:xfrm>
              <a:off x="7246279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" name="Arrow: Bent 12">
              <a:extLst>
                <a:ext uri="{FF2B5EF4-FFF2-40B4-BE49-F238E27FC236}">
                  <a16:creationId xmlns:a16="http://schemas.microsoft.com/office/drawing/2014/main" id="{FA90797A-0C6E-89FE-630C-274B9FECABF4}"/>
                </a:ext>
              </a:extLst>
            </p:cNvPr>
            <p:cNvSpPr/>
            <p:nvPr/>
          </p:nvSpPr>
          <p:spPr>
            <a:xfrm rot="5400000">
              <a:off x="91342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FB4E5BEA-75AF-BF3F-45C5-0855D2488904}"/>
                </a:ext>
              </a:extLst>
            </p:cNvPr>
            <p:cNvSpPr/>
            <p:nvPr/>
          </p:nvSpPr>
          <p:spPr>
            <a:xfrm>
              <a:off x="5371642" y="1757511"/>
              <a:ext cx="452109" cy="511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8661A1E-4DE7-8EAD-7845-059427E73630}"/>
              </a:ext>
            </a:extLst>
          </p:cNvPr>
          <p:cNvGrpSpPr/>
          <p:nvPr/>
        </p:nvGrpSpPr>
        <p:grpSpPr>
          <a:xfrm>
            <a:off x="7614000" y="3614408"/>
            <a:ext cx="1119024" cy="1492955"/>
            <a:chOff x="-797656" y="4094684"/>
            <a:chExt cx="1119024" cy="149295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BA1D58A-19F9-F231-86F0-CC5F64E337B2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0895BF32-751F-BFCA-013C-2DF2E299C018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75F82444-B820-6AB7-F577-EBD459E551DB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L11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ABE0245D-390B-4D5B-B978-2D23661906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ABE0245D-390B-4D5B-B978-2D236619064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4A559FB6-6983-33F4-201D-0066065E021F}"/>
                  </a:ext>
                </a:extLst>
              </p:cNvPr>
              <p:cNvCxnSpPr>
                <a:cxnSpLocks/>
                <a:endCxn id="63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10B4A07-C8BC-2A75-2E91-3DC93AF26DC9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3BFDBA2-4B8F-9C90-F4B5-3AA58FFA74CF}"/>
              </a:ext>
            </a:extLst>
          </p:cNvPr>
          <p:cNvGrpSpPr/>
          <p:nvPr/>
        </p:nvGrpSpPr>
        <p:grpSpPr>
          <a:xfrm>
            <a:off x="3160872" y="3590062"/>
            <a:ext cx="1119024" cy="1492955"/>
            <a:chOff x="-797656" y="4094684"/>
            <a:chExt cx="1119024" cy="149295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F80CCAF-AAF9-B737-F794-DC2007B36494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42241AB-FF5A-8618-76DF-62521AFE8F8E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812F9AE3-1017-99FE-37BB-224E2C3094A8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L11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E493D924-EF36-DBD8-1566-728E7C3CF8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E493D924-EF36-DBD8-1566-728E7C3CF83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763B9D-E0B4-3516-99EA-F3D2703DF1DB}"/>
                  </a:ext>
                </a:extLst>
              </p:cNvPr>
              <p:cNvCxnSpPr>
                <a:cxnSpLocks/>
                <a:endCxn id="44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480F31E-0DDB-AF0A-0EFB-2E7E6DC4ACE8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sp>
        <p:nvSpPr>
          <p:cNvPr id="47" name="Arrow: Bent 46">
            <a:extLst>
              <a:ext uri="{FF2B5EF4-FFF2-40B4-BE49-F238E27FC236}">
                <a16:creationId xmlns:a16="http://schemas.microsoft.com/office/drawing/2014/main" id="{586F7FB5-AFF4-605E-9DB6-C94E95C4197E}"/>
              </a:ext>
            </a:extLst>
          </p:cNvPr>
          <p:cNvSpPr/>
          <p:nvPr/>
        </p:nvSpPr>
        <p:spPr>
          <a:xfrm rot="5400000">
            <a:off x="1716150" y="1117794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02FA511E-EA85-F5F8-6FAF-9FFE075D3F81}"/>
              </a:ext>
            </a:extLst>
          </p:cNvPr>
          <p:cNvCxnSpPr>
            <a:cxnSpLocks/>
            <a:stCxn id="10" idx="0"/>
            <a:endCxn id="131" idx="1"/>
          </p:cNvCxnSpPr>
          <p:nvPr/>
        </p:nvCxnSpPr>
        <p:spPr>
          <a:xfrm rot="5400000" flipH="1" flipV="1">
            <a:off x="8336336" y="2412054"/>
            <a:ext cx="4240267" cy="1132244"/>
          </a:xfrm>
          <a:prstGeom prst="curvedConnector2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91B2E8A-CA23-D5CA-A69A-03F82CCD3437}"/>
              </a:ext>
            </a:extLst>
          </p:cNvPr>
          <p:cNvSpPr/>
          <p:nvPr/>
        </p:nvSpPr>
        <p:spPr>
          <a:xfrm>
            <a:off x="6694115" y="-10390"/>
            <a:ext cx="4077818" cy="970254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0160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50"/>
                            </p:stCondLst>
                            <p:childTnLst>
                              <p:par>
                                <p:cTn id="106" presetID="1" presetClass="emph" presetSubtype="2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7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08" dur="7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7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1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3" grpId="0" uiExpand="1" build="allAtOnce" animBg="1"/>
      <p:bldP spid="47" grpId="0" animBg="1"/>
      <p:bldP spid="73" grpId="0" animBg="1"/>
      <p:bldP spid="73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ADE68-C72B-BE4A-4341-F461B2ED3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22309-0133-864A-95F2-F8971A3A1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00"/>
              <a:t>14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96502-C5AA-C275-049C-35D61A5A2DE3}"/>
              </a:ext>
            </a:extLst>
          </p:cNvPr>
          <p:cNvSpPr txBox="1">
            <a:spLocks/>
          </p:cNvSpPr>
          <p:nvPr/>
        </p:nvSpPr>
        <p:spPr>
          <a:xfrm>
            <a:off x="0" y="6005"/>
            <a:ext cx="6874569" cy="953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Dynamic Allocator </a:t>
            </a:r>
            <a:r>
              <a:rPr lang="en-US" b="1" dirty="0"/>
              <a:t>– Free</a:t>
            </a:r>
            <a:endParaRPr lang="en-AE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73ED1EF-AF8A-8F5E-A2C1-CD4C18449213}"/>
              </a:ext>
            </a:extLst>
          </p:cNvPr>
          <p:cNvCxnSpPr>
            <a:cxnSpLocks/>
          </p:cNvCxnSpPr>
          <p:nvPr/>
        </p:nvCxnSpPr>
        <p:spPr>
          <a:xfrm>
            <a:off x="407250" y="1574370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A48E5B4-98C4-876C-9A4C-0F8B185AB519}"/>
              </a:ext>
            </a:extLst>
          </p:cNvPr>
          <p:cNvCxnSpPr>
            <a:cxnSpLocks/>
          </p:cNvCxnSpPr>
          <p:nvPr/>
        </p:nvCxnSpPr>
        <p:spPr>
          <a:xfrm flipV="1">
            <a:off x="1260334" y="2337443"/>
            <a:ext cx="0" cy="3692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E65E2F7-D932-18AB-7A1D-238AED87819E}"/>
              </a:ext>
            </a:extLst>
          </p:cNvPr>
          <p:cNvCxnSpPr>
            <a:cxnSpLocks/>
          </p:cNvCxnSpPr>
          <p:nvPr/>
        </p:nvCxnSpPr>
        <p:spPr>
          <a:xfrm>
            <a:off x="407250" y="2360518"/>
            <a:ext cx="0" cy="346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tangle 13">
            <a:extLst>
              <a:ext uri="{FF2B5EF4-FFF2-40B4-BE49-F238E27FC236}">
                <a16:creationId xmlns:a16="http://schemas.microsoft.com/office/drawing/2014/main" id="{2C79D3B6-80AA-4323-0966-7300570C8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2709680"/>
            <a:ext cx="1350604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9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12C822D-705C-13F0-83A7-79A12875B74E}"/>
              </a:ext>
            </a:extLst>
          </p:cNvPr>
          <p:cNvCxnSpPr>
            <a:cxnSpLocks/>
          </p:cNvCxnSpPr>
          <p:nvPr/>
        </p:nvCxnSpPr>
        <p:spPr>
          <a:xfrm flipV="1">
            <a:off x="1260334" y="1574370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Rectangle 13">
            <a:extLst>
              <a:ext uri="{FF2B5EF4-FFF2-40B4-BE49-F238E27FC236}">
                <a16:creationId xmlns:a16="http://schemas.microsoft.com/office/drawing/2014/main" id="{026E34FE-244A-8CF9-B6CB-12029A0B7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93" y="1111193"/>
            <a:ext cx="1334002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11</a:t>
            </a:r>
          </a:p>
        </p:txBody>
      </p:sp>
      <p:sp>
        <p:nvSpPr>
          <p:cNvPr id="99" name="Rectangle 13">
            <a:extLst>
              <a:ext uri="{FF2B5EF4-FFF2-40B4-BE49-F238E27FC236}">
                <a16:creationId xmlns:a16="http://schemas.microsoft.com/office/drawing/2014/main" id="{2A9A79AC-F1E2-D0B8-07D4-014B205CD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67" y="1888005"/>
            <a:ext cx="134223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10</a:t>
            </a:r>
          </a:p>
        </p:txBody>
      </p:sp>
      <p:sp>
        <p:nvSpPr>
          <p:cNvPr id="83" name="Rectangle 13">
            <a:extLst>
              <a:ext uri="{FF2B5EF4-FFF2-40B4-BE49-F238E27FC236}">
                <a16:creationId xmlns:a16="http://schemas.microsoft.com/office/drawing/2014/main" id="{53CBF048-59A8-DCFD-60CE-47FF0E448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3925671"/>
            <a:ext cx="135582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4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4407D33-0758-C6F2-1F1E-AC7E2DA69C94}"/>
              </a:ext>
            </a:extLst>
          </p:cNvPr>
          <p:cNvCxnSpPr>
            <a:cxnSpLocks/>
            <a:stCxn id="93" idx="2"/>
            <a:endCxn id="83" idx="0"/>
          </p:cNvCxnSpPr>
          <p:nvPr/>
        </p:nvCxnSpPr>
        <p:spPr>
          <a:xfrm>
            <a:off x="884121" y="3180408"/>
            <a:ext cx="2610" cy="74526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Arrow: Bent 78">
            <a:extLst>
              <a:ext uri="{FF2B5EF4-FFF2-40B4-BE49-F238E27FC236}">
                <a16:creationId xmlns:a16="http://schemas.microsoft.com/office/drawing/2014/main" id="{4C5B0F09-967F-82B7-59CB-0EDAAC905882}"/>
              </a:ext>
            </a:extLst>
          </p:cNvPr>
          <p:cNvSpPr/>
          <p:nvPr/>
        </p:nvSpPr>
        <p:spPr>
          <a:xfrm rot="5400000">
            <a:off x="1728590" y="3936739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36CDDCE-9497-BBA2-EE1D-282E96A05291}"/>
              </a:ext>
            </a:extLst>
          </p:cNvPr>
          <p:cNvSpPr/>
          <p:nvPr/>
        </p:nvSpPr>
        <p:spPr>
          <a:xfrm>
            <a:off x="11022591" y="3388989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AD16417-BE3F-4450-95EE-A0CDB8E63DF3}"/>
              </a:ext>
            </a:extLst>
          </p:cNvPr>
          <p:cNvSpPr/>
          <p:nvPr/>
        </p:nvSpPr>
        <p:spPr>
          <a:xfrm>
            <a:off x="11022591" y="2815571"/>
            <a:ext cx="1075373" cy="57765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9CCCE78-2B17-1165-F6AC-5F1708329A3E}"/>
              </a:ext>
            </a:extLst>
          </p:cNvPr>
          <p:cNvSpPr/>
          <p:nvPr/>
        </p:nvSpPr>
        <p:spPr>
          <a:xfrm>
            <a:off x="11022591" y="569215"/>
            <a:ext cx="1075373" cy="57765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01DC8CCD-8B55-1866-E506-64DB881A877E}"/>
              </a:ext>
            </a:extLst>
          </p:cNvPr>
          <p:cNvSpPr/>
          <p:nvPr/>
        </p:nvSpPr>
        <p:spPr>
          <a:xfrm>
            <a:off x="11022591" y="1693737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5270041-C014-D7C0-270F-757DE674737B}"/>
              </a:ext>
            </a:extLst>
          </p:cNvPr>
          <p:cNvSpPr/>
          <p:nvPr/>
        </p:nvSpPr>
        <p:spPr>
          <a:xfrm>
            <a:off x="11022591" y="1144659"/>
            <a:ext cx="1075373" cy="57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6D0DBF2-A9F4-0F20-050E-BCD4F894F539}"/>
              </a:ext>
            </a:extLst>
          </p:cNvPr>
          <p:cNvSpPr/>
          <p:nvPr/>
        </p:nvSpPr>
        <p:spPr>
          <a:xfrm>
            <a:off x="11022591" y="227448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9C229AE-281E-FE37-3E2A-B4DDE135ABB0}"/>
              </a:ext>
            </a:extLst>
          </p:cNvPr>
          <p:cNvSpPr/>
          <p:nvPr/>
        </p:nvSpPr>
        <p:spPr>
          <a:xfrm>
            <a:off x="11022591" y="1591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2EA42A5-73C1-487E-4B06-8B83C18A9D51}"/>
              </a:ext>
            </a:extLst>
          </p:cNvPr>
          <p:cNvCxnSpPr>
            <a:cxnSpLocks/>
          </p:cNvCxnSpPr>
          <p:nvPr/>
        </p:nvCxnSpPr>
        <p:spPr>
          <a:xfrm>
            <a:off x="417904" y="3629188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DE90D29-1B96-A1FC-60DC-48FD1849BCE1}"/>
              </a:ext>
            </a:extLst>
          </p:cNvPr>
          <p:cNvCxnSpPr>
            <a:cxnSpLocks/>
          </p:cNvCxnSpPr>
          <p:nvPr/>
        </p:nvCxnSpPr>
        <p:spPr>
          <a:xfrm flipV="1">
            <a:off x="1270988" y="3598708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C63BBE5-D4DE-EC3E-FD3B-0B94AC09E8F9}"/>
              </a:ext>
            </a:extLst>
          </p:cNvPr>
          <p:cNvGrpSpPr/>
          <p:nvPr/>
        </p:nvGrpSpPr>
        <p:grpSpPr>
          <a:xfrm>
            <a:off x="208820" y="4396399"/>
            <a:ext cx="1350604" cy="1006903"/>
            <a:chOff x="208820" y="4396399"/>
            <a:chExt cx="1350604" cy="1006903"/>
          </a:xfrm>
        </p:grpSpPr>
        <p:sp>
          <p:nvSpPr>
            <p:cNvPr id="138" name="Rectangle 13" descr="N&#10;">
              <a:extLst>
                <a:ext uri="{FF2B5EF4-FFF2-40B4-BE49-F238E27FC236}">
                  <a16:creationId xmlns:a16="http://schemas.microsoft.com/office/drawing/2014/main" id="{EA8987EA-9F6D-A4E1-98B5-BEF39A50F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20" y="4932574"/>
              <a:ext cx="1350604" cy="4707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b="0" dirty="0">
                  <a:solidFill>
                    <a:prstClr val="black"/>
                  </a:solidFill>
                </a:rPr>
                <a:t>Not used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DA4DC625-3295-F4D3-F6D6-65ABE1E0974C}"/>
                </a:ext>
              </a:extLst>
            </p:cNvPr>
            <p:cNvCxnSpPr>
              <a:cxnSpLocks/>
              <a:stCxn id="83" idx="2"/>
              <a:endCxn id="138" idx="0"/>
            </p:cNvCxnSpPr>
            <p:nvPr/>
          </p:nvCxnSpPr>
          <p:spPr>
            <a:xfrm flipH="1">
              <a:off x="884122" y="4396399"/>
              <a:ext cx="2609" cy="53617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323BAE99-D70D-8FDA-5B95-C7160D0688C0}"/>
                </a:ext>
              </a:extLst>
            </p:cNvPr>
            <p:cNvCxnSpPr>
              <a:cxnSpLocks/>
            </p:cNvCxnSpPr>
            <p:nvPr/>
          </p:nvCxnSpPr>
          <p:spPr>
            <a:xfrm>
              <a:off x="399723" y="4693920"/>
              <a:ext cx="0" cy="2386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116EFC10-879A-E03D-D94D-372A31ECAB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003" y="4693920"/>
              <a:ext cx="0" cy="2122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E9D537A-C8F8-E90A-C224-CB7A441DA069}"/>
              </a:ext>
            </a:extLst>
          </p:cNvPr>
          <p:cNvSpPr/>
          <p:nvPr/>
        </p:nvSpPr>
        <p:spPr>
          <a:xfrm>
            <a:off x="3308294" y="6203773"/>
            <a:ext cx="877824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 KB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9D9D9363-A256-168B-6777-981576703DDC}"/>
              </a:ext>
            </a:extLst>
          </p:cNvPr>
          <p:cNvSpPr/>
          <p:nvPr/>
        </p:nvSpPr>
        <p:spPr>
          <a:xfrm>
            <a:off x="3308294" y="6197239"/>
            <a:ext cx="438912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 KB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1F1A344-F7C1-C8C8-9D9A-E0DD936EC74B}"/>
              </a:ext>
            </a:extLst>
          </p:cNvPr>
          <p:cNvSpPr/>
          <p:nvPr/>
        </p:nvSpPr>
        <p:spPr>
          <a:xfrm>
            <a:off x="3300674" y="6203773"/>
            <a:ext cx="219456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 KB</a:t>
            </a:r>
          </a:p>
        </p:txBody>
      </p: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88AFF9C4-D927-9F34-ED89-812FEAAE1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52" y="0"/>
            <a:ext cx="4243411" cy="3388989"/>
          </a:xfrm>
          <a:solidFill>
            <a:schemeClr val="bg1"/>
          </a:solidFill>
        </p:spPr>
        <p:txBody>
          <a:bodyPr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For</a:t>
            </a:r>
            <a:r>
              <a:rPr lang="en-US" sz="1600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 the given address, </a:t>
            </a: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find its level &amp; status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Add 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it to the corresponding list &amp; update DS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Find </a:t>
            </a:r>
            <a:r>
              <a:rPr lang="en-US" sz="1600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it’s buddy (using its VA)</a:t>
            </a:r>
            <a:endParaRPr lang="en-US" sz="1600" b="1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CASE1: if Buddy allocated</a:t>
            </a: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 /not in same level</a:t>
            </a:r>
            <a:endParaRPr lang="en-US" sz="1600" b="1" dirty="0">
              <a:solidFill>
                <a:srgbClr val="5C5962"/>
              </a:solidFill>
              <a:latin typeface="+mj-lt"/>
              <a:ea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1600" b="1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Do</a:t>
            </a: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 nothing</a:t>
            </a:r>
          </a:p>
          <a:p>
            <a:pPr marL="0" lv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CASE2: if its Buddy is FREE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Remove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 both buddies from the list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Collapse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 them into a single buddy &amp; update DS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If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 it’s last level, free the entire page 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Else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, add it to the upper level &amp; repeat from 3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endParaRPr lang="en-US" sz="1600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1600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6F811BD5-B2EC-0A26-3B77-D5D8113EC6C1}"/>
              </a:ext>
            </a:extLst>
          </p:cNvPr>
          <p:cNvGrpSpPr/>
          <p:nvPr/>
        </p:nvGrpSpPr>
        <p:grpSpPr>
          <a:xfrm>
            <a:off x="1555674" y="1851861"/>
            <a:ext cx="1880196" cy="528536"/>
            <a:chOff x="6871843" y="1508565"/>
            <a:chExt cx="1935777" cy="528536"/>
          </a:xfrm>
        </p:grpSpPr>
        <p:sp>
          <p:nvSpPr>
            <p:cNvPr id="195" name="Rectangle 13">
              <a:extLst>
                <a:ext uri="{FF2B5EF4-FFF2-40B4-BE49-F238E27FC236}">
                  <a16:creationId xmlns:a16="http://schemas.microsoft.com/office/drawing/2014/main" id="{0D8D49C1-0907-A558-6CEC-F3C6A721E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375" y="1508565"/>
              <a:ext cx="1016344" cy="52853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800" dirty="0" err="1">
                  <a:solidFill>
                    <a:prstClr val="black"/>
                  </a:solidFill>
                </a:rPr>
                <a:t>R_buddy</a:t>
              </a: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96" name="Arrow: Right 195">
              <a:extLst>
                <a:ext uri="{FF2B5EF4-FFF2-40B4-BE49-F238E27FC236}">
                  <a16:creationId xmlns:a16="http://schemas.microsoft.com/office/drawing/2014/main" id="{610D4938-6B4F-13C9-64E8-5D04C8C4C719}"/>
                </a:ext>
              </a:extLst>
            </p:cNvPr>
            <p:cNvSpPr/>
            <p:nvPr/>
          </p:nvSpPr>
          <p:spPr>
            <a:xfrm>
              <a:off x="6871843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7" name="Arrow: Bent 196">
              <a:extLst>
                <a:ext uri="{FF2B5EF4-FFF2-40B4-BE49-F238E27FC236}">
                  <a16:creationId xmlns:a16="http://schemas.microsoft.com/office/drawing/2014/main" id="{C82965DD-5EAD-DAC7-C95B-87A2982F042F}"/>
                </a:ext>
              </a:extLst>
            </p:cNvPr>
            <p:cNvSpPr/>
            <p:nvPr/>
          </p:nvSpPr>
          <p:spPr>
            <a:xfrm rot="5400000">
              <a:off x="8449569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6631F7F6-B862-D4C1-22B1-939BF91B183E}"/>
              </a:ext>
            </a:extLst>
          </p:cNvPr>
          <p:cNvGrpSpPr/>
          <p:nvPr/>
        </p:nvGrpSpPr>
        <p:grpSpPr>
          <a:xfrm>
            <a:off x="1563621" y="2648017"/>
            <a:ext cx="1610014" cy="528536"/>
            <a:chOff x="6615090" y="1508565"/>
            <a:chExt cx="1657611" cy="528536"/>
          </a:xfrm>
        </p:grpSpPr>
        <p:sp>
          <p:nvSpPr>
            <p:cNvPr id="347" name="Rectangle 13">
              <a:extLst>
                <a:ext uri="{FF2B5EF4-FFF2-40B4-BE49-F238E27FC236}">
                  <a16:creationId xmlns:a16="http://schemas.microsoft.com/office/drawing/2014/main" id="{433A435D-7571-1A0C-D9A8-04D5A4B39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622" y="1508565"/>
              <a:ext cx="750938" cy="5285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400" dirty="0" err="1">
                  <a:solidFill>
                    <a:prstClr val="black"/>
                  </a:solidFill>
                </a:rPr>
                <a:t>R_buddy</a:t>
              </a:r>
              <a:endParaRPr lang="en-US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348" name="Arrow: Right 347">
              <a:extLst>
                <a:ext uri="{FF2B5EF4-FFF2-40B4-BE49-F238E27FC236}">
                  <a16:creationId xmlns:a16="http://schemas.microsoft.com/office/drawing/2014/main" id="{8F33A7DE-46AD-8481-1AFE-0E47A9C97FD3}"/>
                </a:ext>
              </a:extLst>
            </p:cNvPr>
            <p:cNvSpPr/>
            <p:nvPr/>
          </p:nvSpPr>
          <p:spPr>
            <a:xfrm>
              <a:off x="6615090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9" name="Arrow: Bent 348">
              <a:extLst>
                <a:ext uri="{FF2B5EF4-FFF2-40B4-BE49-F238E27FC236}">
                  <a16:creationId xmlns:a16="http://schemas.microsoft.com/office/drawing/2014/main" id="{D9F5C6BF-A27D-EB59-DB78-1CC476C6FBF5}"/>
                </a:ext>
              </a:extLst>
            </p:cNvPr>
            <p:cNvSpPr/>
            <p:nvPr/>
          </p:nvSpPr>
          <p:spPr>
            <a:xfrm rot="5400000">
              <a:off x="79146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E516FDE-68B4-5A1F-2767-1EC0160C9328}"/>
              </a:ext>
            </a:extLst>
          </p:cNvPr>
          <p:cNvGrpSpPr/>
          <p:nvPr/>
        </p:nvGrpSpPr>
        <p:grpSpPr>
          <a:xfrm>
            <a:off x="7705034" y="6193382"/>
            <a:ext cx="4389120" cy="609600"/>
            <a:chOff x="7705034" y="6197239"/>
            <a:chExt cx="4389120" cy="60960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07CBE63-6E37-C282-D9A6-5D026A5A7D6C}"/>
                </a:ext>
              </a:extLst>
            </p:cNvPr>
            <p:cNvSpPr/>
            <p:nvPr/>
          </p:nvSpPr>
          <p:spPr>
            <a:xfrm>
              <a:off x="7705034" y="6197239"/>
              <a:ext cx="438912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7F6DD40-758E-C7EE-1B3B-03D2D937051A}"/>
                </a:ext>
              </a:extLst>
            </p:cNvPr>
            <p:cNvSpPr/>
            <p:nvPr/>
          </p:nvSpPr>
          <p:spPr>
            <a:xfrm>
              <a:off x="7721358" y="6199916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5B23A2E-9516-2FF6-44EF-728F8C9FCD12}"/>
              </a:ext>
            </a:extLst>
          </p:cNvPr>
          <p:cNvGrpSpPr/>
          <p:nvPr/>
        </p:nvGrpSpPr>
        <p:grpSpPr>
          <a:xfrm>
            <a:off x="5502854" y="6185412"/>
            <a:ext cx="2194560" cy="613457"/>
            <a:chOff x="5495234" y="6203773"/>
            <a:chExt cx="2194560" cy="613457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65A49C8-174A-A00E-88B4-FB062B642E5A}"/>
                </a:ext>
              </a:extLst>
            </p:cNvPr>
            <p:cNvSpPr/>
            <p:nvPr/>
          </p:nvSpPr>
          <p:spPr>
            <a:xfrm>
              <a:off x="5495234" y="6203773"/>
              <a:ext cx="219456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1 KB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CE3EA82-5F0A-100A-ACE8-027D27666720}"/>
                </a:ext>
              </a:extLst>
            </p:cNvPr>
            <p:cNvSpPr/>
            <p:nvPr/>
          </p:nvSpPr>
          <p:spPr>
            <a:xfrm>
              <a:off x="5516016" y="6214164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13D9D17-96B6-B5EC-005F-646A1863D711}"/>
              </a:ext>
            </a:extLst>
          </p:cNvPr>
          <p:cNvGrpSpPr/>
          <p:nvPr/>
        </p:nvGrpSpPr>
        <p:grpSpPr>
          <a:xfrm>
            <a:off x="4409384" y="6185412"/>
            <a:ext cx="1097280" cy="623848"/>
            <a:chOff x="4409384" y="6204169"/>
            <a:chExt cx="1097280" cy="62384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F226D11-0018-6EDA-0585-E9A5F831B66D}"/>
                </a:ext>
              </a:extLst>
            </p:cNvPr>
            <p:cNvSpPr/>
            <p:nvPr/>
          </p:nvSpPr>
          <p:spPr>
            <a:xfrm>
              <a:off x="4409384" y="6204169"/>
              <a:ext cx="109728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512 B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8A50085-EEB3-FDD6-18AE-0758F879BA94}"/>
                </a:ext>
              </a:extLst>
            </p:cNvPr>
            <p:cNvSpPr/>
            <p:nvPr/>
          </p:nvSpPr>
          <p:spPr>
            <a:xfrm>
              <a:off x="4419775" y="6224951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920CAC3-E3D7-89D6-4826-63FC3C224EBF}"/>
              </a:ext>
            </a:extLst>
          </p:cNvPr>
          <p:cNvGrpSpPr/>
          <p:nvPr/>
        </p:nvGrpSpPr>
        <p:grpSpPr>
          <a:xfrm>
            <a:off x="7685396" y="5740039"/>
            <a:ext cx="3897004" cy="1066800"/>
            <a:chOff x="7685396" y="5740039"/>
            <a:chExt cx="3897004" cy="1066800"/>
          </a:xfrm>
        </p:grpSpPr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472D30C4-0704-2BF5-CE12-AE94B09452DF}"/>
                </a:ext>
              </a:extLst>
            </p:cNvPr>
            <p:cNvGrpSpPr/>
            <p:nvPr/>
          </p:nvGrpSpPr>
          <p:grpSpPr>
            <a:xfrm>
              <a:off x="7685396" y="5740039"/>
              <a:ext cx="3897004" cy="1066800"/>
              <a:chOff x="5518094" y="3814784"/>
              <a:chExt cx="1676400" cy="1066800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7F97375C-C82D-1E28-933F-71A9400FF6F7}"/>
                  </a:ext>
                </a:extLst>
              </p:cNvPr>
              <p:cNvSpPr/>
              <p:nvPr/>
            </p:nvSpPr>
            <p:spPr>
              <a:xfrm>
                <a:off x="5518094" y="4271984"/>
                <a:ext cx="1676400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51E8C187-92AD-5B62-0483-3AE17C33EF3C}"/>
                  </a:ext>
                </a:extLst>
              </p:cNvPr>
              <p:cNvSpPr txBox="1"/>
              <p:nvPr/>
            </p:nvSpPr>
            <p:spPr>
              <a:xfrm>
                <a:off x="6127694" y="3814784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B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CE857AB-4446-B4BD-F90F-D0B156C42B41}"/>
                </a:ext>
              </a:extLst>
            </p:cNvPr>
            <p:cNvSpPr/>
            <p:nvPr/>
          </p:nvSpPr>
          <p:spPr>
            <a:xfrm>
              <a:off x="7718829" y="6197239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47" name="Arrow: Bent 46">
            <a:extLst>
              <a:ext uri="{FF2B5EF4-FFF2-40B4-BE49-F238E27FC236}">
                <a16:creationId xmlns:a16="http://schemas.microsoft.com/office/drawing/2014/main" id="{ADB6AB37-B9F1-554C-2FC1-21DAE5B4D429}"/>
              </a:ext>
            </a:extLst>
          </p:cNvPr>
          <p:cNvSpPr/>
          <p:nvPr/>
        </p:nvSpPr>
        <p:spPr>
          <a:xfrm rot="5400000">
            <a:off x="1716150" y="1117794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1382ED25-5AAF-E9BF-264B-70A306382A2E}"/>
              </a:ext>
            </a:extLst>
          </p:cNvPr>
          <p:cNvSpPr/>
          <p:nvPr/>
        </p:nvSpPr>
        <p:spPr>
          <a:xfrm>
            <a:off x="6694115" y="-10390"/>
            <a:ext cx="4077818" cy="970254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892717-8FA6-0403-992A-BDC30BEA51C0}"/>
              </a:ext>
            </a:extLst>
          </p:cNvPr>
          <p:cNvSpPr/>
          <p:nvPr/>
        </p:nvSpPr>
        <p:spPr>
          <a:xfrm>
            <a:off x="-14201" y="5905018"/>
            <a:ext cx="2828234" cy="9538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 =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Alloc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(256 B)</a:t>
            </a:r>
            <a:endParaRPr lang="en-AE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Need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266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Byte </a:t>
            </a: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it should reside in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Level#9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B661FB2-79D7-538E-3E32-55C4BB556585}"/>
              </a:ext>
            </a:extLst>
          </p:cNvPr>
          <p:cNvGrpSpPr/>
          <p:nvPr/>
        </p:nvGrpSpPr>
        <p:grpSpPr>
          <a:xfrm>
            <a:off x="4429849" y="5730692"/>
            <a:ext cx="619384" cy="1076147"/>
            <a:chOff x="3289154" y="5751474"/>
            <a:chExt cx="619384" cy="107614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24897B5-9AAB-4BE2-C2F6-574E3861455A}"/>
                </a:ext>
              </a:extLst>
            </p:cNvPr>
            <p:cNvGrpSpPr/>
            <p:nvPr/>
          </p:nvGrpSpPr>
          <p:grpSpPr>
            <a:xfrm>
              <a:off x="3289154" y="5751474"/>
              <a:ext cx="619384" cy="1066800"/>
              <a:chOff x="3289154" y="5761865"/>
              <a:chExt cx="619384" cy="10668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76A2179-13A7-1254-3E95-D8A30991C4D5}"/>
                  </a:ext>
                </a:extLst>
              </p:cNvPr>
              <p:cNvSpPr/>
              <p:nvPr/>
            </p:nvSpPr>
            <p:spPr>
              <a:xfrm>
                <a:off x="3289154" y="6219065"/>
                <a:ext cx="619384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E8D7B7B-A78F-F6A3-A7B2-296FC8CEF398}"/>
                  </a:ext>
                </a:extLst>
              </p:cNvPr>
              <p:cNvSpPr txBox="1"/>
              <p:nvPr/>
            </p:nvSpPr>
            <p:spPr>
              <a:xfrm>
                <a:off x="3507742" y="5761865"/>
                <a:ext cx="3593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E</a:t>
                </a: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D9AB07D-836F-9A03-3701-4467ECF422FB}"/>
                </a:ext>
              </a:extLst>
            </p:cNvPr>
            <p:cNvSpPr/>
            <p:nvPr/>
          </p:nvSpPr>
          <p:spPr>
            <a:xfrm>
              <a:off x="3300674" y="6224555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41380115-4351-9825-31F1-D43C86A1FBA5}"/>
              </a:ext>
            </a:extLst>
          </p:cNvPr>
          <p:cNvSpPr/>
          <p:nvPr/>
        </p:nvSpPr>
        <p:spPr>
          <a:xfrm>
            <a:off x="-5315" y="5884907"/>
            <a:ext cx="2828234" cy="956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Free(A)</a:t>
            </a:r>
            <a:endParaRPr lang="en-AE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Level#9 – Allocated</a:t>
            </a: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Buddy is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allocated</a:t>
            </a:r>
          </a:p>
        </p:txBody>
      </p:sp>
      <p:sp>
        <p:nvSpPr>
          <p:cNvPr id="81" name="Arrow: Bent 80">
            <a:extLst>
              <a:ext uri="{FF2B5EF4-FFF2-40B4-BE49-F238E27FC236}">
                <a16:creationId xmlns:a16="http://schemas.microsoft.com/office/drawing/2014/main" id="{9E7FE8B0-3386-8BB0-4B14-6DE7FC383A08}"/>
              </a:ext>
            </a:extLst>
          </p:cNvPr>
          <p:cNvSpPr/>
          <p:nvPr/>
        </p:nvSpPr>
        <p:spPr>
          <a:xfrm rot="5400000">
            <a:off x="1749644" y="2661849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F8423BE-9AB9-8003-EE6F-F974A0496562}"/>
              </a:ext>
            </a:extLst>
          </p:cNvPr>
          <p:cNvGrpSpPr/>
          <p:nvPr/>
        </p:nvGrpSpPr>
        <p:grpSpPr>
          <a:xfrm>
            <a:off x="3146660" y="4699383"/>
            <a:ext cx="1119024" cy="1492955"/>
            <a:chOff x="-797656" y="4094684"/>
            <a:chExt cx="1119024" cy="1492955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C4D1D98B-8EC4-4FA0-F7E1-D3D0F33A0C32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3B01F195-4594-7A9C-51FA-48799A13EE56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1B8930F6-6D82-FE68-06E6-B12A4F742D7D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L9</a:t>
                  </a:r>
                </a:p>
                <a:p>
                  <a:pPr algn="ctr"/>
                  <a:r>
                    <a:rPr lang="en-US" b="1" dirty="0"/>
                    <a:t>0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0" name="Rectangle 109">
                      <a:extLst>
                        <a:ext uri="{FF2B5EF4-FFF2-40B4-BE49-F238E27FC236}">
                          <a16:creationId xmlns:a16="http://schemas.microsoft.com/office/drawing/2014/main" id="{5912B127-2D9E-3A17-17F6-96F1E3FCCA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110" name="Rectangle 109">
                      <a:extLst>
                        <a:ext uri="{FF2B5EF4-FFF2-40B4-BE49-F238E27FC236}">
                          <a16:creationId xmlns:a16="http://schemas.microsoft.com/office/drawing/2014/main" id="{5912B127-2D9E-3A17-17F6-96F1E3FCCA0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D6587E48-0060-2D5D-9490-00E8EC897266}"/>
                  </a:ext>
                </a:extLst>
              </p:cNvPr>
              <p:cNvCxnSpPr>
                <a:cxnSpLocks/>
                <a:endCxn id="107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B7423FF-3F2E-333C-95FF-09A2B33CDDD1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11B538F-4D90-6CB5-2FD2-DD49585F1F14}"/>
              </a:ext>
            </a:extLst>
          </p:cNvPr>
          <p:cNvGrpSpPr/>
          <p:nvPr/>
        </p:nvGrpSpPr>
        <p:grpSpPr>
          <a:xfrm>
            <a:off x="4298368" y="4708338"/>
            <a:ext cx="1119024" cy="1492955"/>
            <a:chOff x="-797656" y="4094684"/>
            <a:chExt cx="1119024" cy="1492955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7033D466-3060-51B6-0198-5F8C05457ADA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64AD2DE1-D279-05B4-7915-98B872773D13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FF5F3BEE-30CA-9D06-ABA6-210CC02F38D0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L9</a:t>
                  </a:r>
                </a:p>
                <a:p>
                  <a:pPr algn="ctr"/>
                  <a:r>
                    <a:rPr lang="en-US" b="1" dirty="0"/>
                    <a:t>0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2" name="Rectangle 121">
                      <a:extLst>
                        <a:ext uri="{FF2B5EF4-FFF2-40B4-BE49-F238E27FC236}">
                          <a16:creationId xmlns:a16="http://schemas.microsoft.com/office/drawing/2014/main" id="{6B00E63A-4C60-7E58-D0CC-41EE33C6A9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122" name="Rectangle 121">
                      <a:extLst>
                        <a:ext uri="{FF2B5EF4-FFF2-40B4-BE49-F238E27FC236}">
                          <a16:creationId xmlns:a16="http://schemas.microsoft.com/office/drawing/2014/main" id="{6B00E63A-4C60-7E58-D0CC-41EE33C6A9B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6BDC317A-669D-D574-24D4-2A2047D14594}"/>
                  </a:ext>
                </a:extLst>
              </p:cNvPr>
              <p:cNvCxnSpPr>
                <a:cxnSpLocks/>
                <a:endCxn id="121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7DD671B-19D7-7E2E-4DF7-FFD7C65B878E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BD395B9-AEBB-AE7F-7500-52DE1979311A}"/>
              </a:ext>
            </a:extLst>
          </p:cNvPr>
          <p:cNvGrpSpPr/>
          <p:nvPr/>
        </p:nvGrpSpPr>
        <p:grpSpPr>
          <a:xfrm>
            <a:off x="3146044" y="4704904"/>
            <a:ext cx="1119024" cy="1492955"/>
            <a:chOff x="-797656" y="4094684"/>
            <a:chExt cx="1119024" cy="1492955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D4CEDBDF-8633-477A-B0B2-D49507F3EC43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1F614935-3BD9-8A29-4DF2-5A009DEB6B08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DB8CF0C8-E4C8-A523-EE9F-903B7E7ADB3C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L9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7" name="Rectangle 76">
                      <a:extLst>
                        <a:ext uri="{FF2B5EF4-FFF2-40B4-BE49-F238E27FC236}">
                          <a16:creationId xmlns:a16="http://schemas.microsoft.com/office/drawing/2014/main" id="{B1574D00-CA66-EBD5-9120-73F9F49B89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77" name="Rectangle 76">
                      <a:extLst>
                        <a:ext uri="{FF2B5EF4-FFF2-40B4-BE49-F238E27FC236}">
                          <a16:creationId xmlns:a16="http://schemas.microsoft.com/office/drawing/2014/main" id="{B1574D00-CA66-EBD5-9120-73F9F49B890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A4E6EDA2-BE60-D7D3-ADC5-FF4B057DA3D0}"/>
                  </a:ext>
                </a:extLst>
              </p:cNvPr>
              <p:cNvCxnSpPr>
                <a:cxnSpLocks/>
                <a:endCxn id="76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348E9F0-F89D-E597-055A-BDC870EABD82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8C67532-65A1-E5A1-D3A3-6A7AB51C33A5}"/>
              </a:ext>
            </a:extLst>
          </p:cNvPr>
          <p:cNvGrpSpPr/>
          <p:nvPr/>
        </p:nvGrpSpPr>
        <p:grpSpPr>
          <a:xfrm>
            <a:off x="1561052" y="2665595"/>
            <a:ext cx="1610014" cy="528536"/>
            <a:chOff x="6615090" y="1508565"/>
            <a:chExt cx="1657611" cy="528536"/>
          </a:xfrm>
        </p:grpSpPr>
        <p:sp>
          <p:nvSpPr>
            <p:cNvPr id="124" name="Rectangle 13">
              <a:extLst>
                <a:ext uri="{FF2B5EF4-FFF2-40B4-BE49-F238E27FC236}">
                  <a16:creationId xmlns:a16="http://schemas.microsoft.com/office/drawing/2014/main" id="{AEEA4D99-0DD3-B72C-CAE6-20DB7EA69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622" y="1508565"/>
              <a:ext cx="750938" cy="5285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400" dirty="0" err="1">
                  <a:solidFill>
                    <a:prstClr val="black"/>
                  </a:solidFill>
                </a:rPr>
                <a:t>L_buddy</a:t>
              </a:r>
              <a:endParaRPr lang="en-US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125" name="Arrow: Right 124">
              <a:extLst>
                <a:ext uri="{FF2B5EF4-FFF2-40B4-BE49-F238E27FC236}">
                  <a16:creationId xmlns:a16="http://schemas.microsoft.com/office/drawing/2014/main" id="{64466C67-A3E1-324A-2FD1-C8D36037D281}"/>
                </a:ext>
              </a:extLst>
            </p:cNvPr>
            <p:cNvSpPr/>
            <p:nvPr/>
          </p:nvSpPr>
          <p:spPr>
            <a:xfrm>
              <a:off x="6615090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6" name="Arrow: Bent 125">
              <a:extLst>
                <a:ext uri="{FF2B5EF4-FFF2-40B4-BE49-F238E27FC236}">
                  <a16:creationId xmlns:a16="http://schemas.microsoft.com/office/drawing/2014/main" id="{1194467A-8158-4E87-4963-1DCF665CE63B}"/>
                </a:ext>
              </a:extLst>
            </p:cNvPr>
            <p:cNvSpPr/>
            <p:nvPr/>
          </p:nvSpPr>
          <p:spPr>
            <a:xfrm rot="5400000">
              <a:off x="79146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B5EF120C-9130-1E08-084A-621BF816271D}"/>
              </a:ext>
            </a:extLst>
          </p:cNvPr>
          <p:cNvSpPr/>
          <p:nvPr/>
        </p:nvSpPr>
        <p:spPr>
          <a:xfrm>
            <a:off x="6694115" y="972108"/>
            <a:ext cx="4077818" cy="60960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62CA2C4-FA1C-AC8A-2105-90ABBA04CE59}"/>
              </a:ext>
            </a:extLst>
          </p:cNvPr>
          <p:cNvGrpSpPr/>
          <p:nvPr/>
        </p:nvGrpSpPr>
        <p:grpSpPr>
          <a:xfrm>
            <a:off x="3300674" y="6203773"/>
            <a:ext cx="1104900" cy="609996"/>
            <a:chOff x="3300674" y="6203773"/>
            <a:chExt cx="1104900" cy="609996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7E2FBCD-2847-23CD-91AA-C60283368DA1}"/>
                </a:ext>
              </a:extLst>
            </p:cNvPr>
            <p:cNvSpPr/>
            <p:nvPr/>
          </p:nvSpPr>
          <p:spPr>
            <a:xfrm>
              <a:off x="3308294" y="6204169"/>
              <a:ext cx="109728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512 B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E6DDA53-DCFA-8306-6701-5CFCECD5FBE9}"/>
                </a:ext>
              </a:extLst>
            </p:cNvPr>
            <p:cNvSpPr/>
            <p:nvPr/>
          </p:nvSpPr>
          <p:spPr>
            <a:xfrm>
              <a:off x="3300674" y="6203773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989E04A-BD19-EE53-7142-6E3013E4D263}"/>
              </a:ext>
            </a:extLst>
          </p:cNvPr>
          <p:cNvGrpSpPr/>
          <p:nvPr/>
        </p:nvGrpSpPr>
        <p:grpSpPr>
          <a:xfrm>
            <a:off x="3298145" y="5749679"/>
            <a:ext cx="762000" cy="1066800"/>
            <a:chOff x="3289154" y="5751474"/>
            <a:chExt cx="762000" cy="10668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D4A11BF-4CF9-FC58-18AF-BD7358D5356B}"/>
                </a:ext>
              </a:extLst>
            </p:cNvPr>
            <p:cNvGrpSpPr/>
            <p:nvPr/>
          </p:nvGrpSpPr>
          <p:grpSpPr>
            <a:xfrm>
              <a:off x="3289154" y="5751474"/>
              <a:ext cx="762000" cy="1066800"/>
              <a:chOff x="3289154" y="5761865"/>
              <a:chExt cx="762000" cy="106680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0C96CB5-6DC4-6796-12CA-5FF7FF65D1EC}"/>
                  </a:ext>
                </a:extLst>
              </p:cNvPr>
              <p:cNvSpPr/>
              <p:nvPr/>
            </p:nvSpPr>
            <p:spPr>
              <a:xfrm>
                <a:off x="3289154" y="6219065"/>
                <a:ext cx="762000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F50F9BF-6FB2-1DE8-3E4B-98B7DC3AD8FB}"/>
                  </a:ext>
                </a:extLst>
              </p:cNvPr>
              <p:cNvSpPr txBox="1"/>
              <p:nvPr/>
            </p:nvSpPr>
            <p:spPr>
              <a:xfrm>
                <a:off x="3507742" y="5761865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A</a:t>
                </a:r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822B5E9-0044-2710-FCD7-31004ABC9C98}"/>
                </a:ext>
              </a:extLst>
            </p:cNvPr>
            <p:cNvSpPr/>
            <p:nvPr/>
          </p:nvSpPr>
          <p:spPr>
            <a:xfrm>
              <a:off x="3300674" y="6203773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</p:spTree>
    <p:extLst>
      <p:ext uri="{BB962C8B-B14F-4D97-AF65-F5344CB8AC3E}">
        <p14:creationId xmlns:p14="http://schemas.microsoft.com/office/powerpoint/2010/main" val="136027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16" grpId="0" animBg="1"/>
      <p:bldP spid="16" grpId="1" animBg="1"/>
      <p:bldP spid="78" grpId="0" uiExpand="1" build="allAtOnce" animBg="1"/>
      <p:bldP spid="81" grpId="0" animBg="1"/>
      <p:bldP spid="81" grpId="1" animBg="1"/>
      <p:bldP spid="1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BF003-9F92-E5E3-5EA8-D5A028D7F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780A4-81C7-A73E-1412-89AEAA9A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00"/>
              <a:t>15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9CE08-AA23-BA73-9B1B-C59971BFC7EA}"/>
              </a:ext>
            </a:extLst>
          </p:cNvPr>
          <p:cNvSpPr txBox="1">
            <a:spLocks/>
          </p:cNvSpPr>
          <p:nvPr/>
        </p:nvSpPr>
        <p:spPr>
          <a:xfrm>
            <a:off x="0" y="6005"/>
            <a:ext cx="6874569" cy="953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Dynamic Allocator </a:t>
            </a:r>
            <a:r>
              <a:rPr lang="en-US" b="1" dirty="0"/>
              <a:t>– Free</a:t>
            </a:r>
            <a:endParaRPr lang="en-AE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F968D54-05CB-4F81-B66A-4DC9AD0C2575}"/>
              </a:ext>
            </a:extLst>
          </p:cNvPr>
          <p:cNvCxnSpPr>
            <a:cxnSpLocks/>
          </p:cNvCxnSpPr>
          <p:nvPr/>
        </p:nvCxnSpPr>
        <p:spPr>
          <a:xfrm>
            <a:off x="407250" y="1574370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5687B94-9118-A68B-876C-C40A3A7E2412}"/>
              </a:ext>
            </a:extLst>
          </p:cNvPr>
          <p:cNvCxnSpPr>
            <a:cxnSpLocks/>
          </p:cNvCxnSpPr>
          <p:nvPr/>
        </p:nvCxnSpPr>
        <p:spPr>
          <a:xfrm flipV="1">
            <a:off x="1260334" y="2337443"/>
            <a:ext cx="0" cy="3692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26A0B68-3DE0-6ED4-AB21-3EC1C7F63B1C}"/>
              </a:ext>
            </a:extLst>
          </p:cNvPr>
          <p:cNvCxnSpPr>
            <a:cxnSpLocks/>
          </p:cNvCxnSpPr>
          <p:nvPr/>
        </p:nvCxnSpPr>
        <p:spPr>
          <a:xfrm>
            <a:off x="407250" y="2360518"/>
            <a:ext cx="0" cy="346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tangle 13">
            <a:extLst>
              <a:ext uri="{FF2B5EF4-FFF2-40B4-BE49-F238E27FC236}">
                <a16:creationId xmlns:a16="http://schemas.microsoft.com/office/drawing/2014/main" id="{DD3D619A-4462-9783-54B7-265B88B91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2709680"/>
            <a:ext cx="1350604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9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BBC4D18-5E53-9F9A-53D1-0468C3B44604}"/>
              </a:ext>
            </a:extLst>
          </p:cNvPr>
          <p:cNvCxnSpPr>
            <a:cxnSpLocks/>
          </p:cNvCxnSpPr>
          <p:nvPr/>
        </p:nvCxnSpPr>
        <p:spPr>
          <a:xfrm flipV="1">
            <a:off x="1260334" y="1574370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Rectangle 13">
            <a:extLst>
              <a:ext uri="{FF2B5EF4-FFF2-40B4-BE49-F238E27FC236}">
                <a16:creationId xmlns:a16="http://schemas.microsoft.com/office/drawing/2014/main" id="{8EF13C44-2697-33F4-7817-AD5FCA3E0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93" y="1111193"/>
            <a:ext cx="1334002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11</a:t>
            </a:r>
          </a:p>
        </p:txBody>
      </p:sp>
      <p:sp>
        <p:nvSpPr>
          <p:cNvPr id="99" name="Rectangle 13">
            <a:extLst>
              <a:ext uri="{FF2B5EF4-FFF2-40B4-BE49-F238E27FC236}">
                <a16:creationId xmlns:a16="http://schemas.microsoft.com/office/drawing/2014/main" id="{2EC98803-490F-3EF2-8EAC-278A876A6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67" y="1888005"/>
            <a:ext cx="134223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10</a:t>
            </a:r>
          </a:p>
        </p:txBody>
      </p:sp>
      <p:sp>
        <p:nvSpPr>
          <p:cNvPr id="83" name="Rectangle 13">
            <a:extLst>
              <a:ext uri="{FF2B5EF4-FFF2-40B4-BE49-F238E27FC236}">
                <a16:creationId xmlns:a16="http://schemas.microsoft.com/office/drawing/2014/main" id="{9CBF9756-1B08-1C8C-C5AC-63E735922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3925671"/>
            <a:ext cx="135582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4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994FD8A-25BA-FA52-EF7D-BB44EF256F88}"/>
              </a:ext>
            </a:extLst>
          </p:cNvPr>
          <p:cNvCxnSpPr>
            <a:cxnSpLocks/>
            <a:stCxn id="93" idx="2"/>
            <a:endCxn id="83" idx="0"/>
          </p:cNvCxnSpPr>
          <p:nvPr/>
        </p:nvCxnSpPr>
        <p:spPr>
          <a:xfrm>
            <a:off x="884121" y="3180408"/>
            <a:ext cx="2610" cy="74526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Arrow: Bent 78">
            <a:extLst>
              <a:ext uri="{FF2B5EF4-FFF2-40B4-BE49-F238E27FC236}">
                <a16:creationId xmlns:a16="http://schemas.microsoft.com/office/drawing/2014/main" id="{4B871C07-839B-3F1E-0B06-3CE209BDC7A9}"/>
              </a:ext>
            </a:extLst>
          </p:cNvPr>
          <p:cNvSpPr/>
          <p:nvPr/>
        </p:nvSpPr>
        <p:spPr>
          <a:xfrm rot="5400000">
            <a:off x="1728590" y="3936739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B9A1B7F-1C76-4502-1737-C4AA6B5A9386}"/>
              </a:ext>
            </a:extLst>
          </p:cNvPr>
          <p:cNvSpPr/>
          <p:nvPr/>
        </p:nvSpPr>
        <p:spPr>
          <a:xfrm>
            <a:off x="11022591" y="3388989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0936D4B-37F1-B1E0-18CE-775AC2B1BB3D}"/>
              </a:ext>
            </a:extLst>
          </p:cNvPr>
          <p:cNvSpPr/>
          <p:nvPr/>
        </p:nvSpPr>
        <p:spPr>
          <a:xfrm>
            <a:off x="11022591" y="2815571"/>
            <a:ext cx="1075373" cy="57765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42AED64-461B-B97E-C921-875784368106}"/>
              </a:ext>
            </a:extLst>
          </p:cNvPr>
          <p:cNvSpPr/>
          <p:nvPr/>
        </p:nvSpPr>
        <p:spPr>
          <a:xfrm>
            <a:off x="11022591" y="569215"/>
            <a:ext cx="1075373" cy="57765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0F5761D-17BF-4DE0-3E77-781FBD6330E4}"/>
              </a:ext>
            </a:extLst>
          </p:cNvPr>
          <p:cNvSpPr/>
          <p:nvPr/>
        </p:nvSpPr>
        <p:spPr>
          <a:xfrm>
            <a:off x="11022591" y="1693737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1F26BD5-73F5-29E7-9A7A-9CAF6E228AD7}"/>
              </a:ext>
            </a:extLst>
          </p:cNvPr>
          <p:cNvSpPr/>
          <p:nvPr/>
        </p:nvSpPr>
        <p:spPr>
          <a:xfrm>
            <a:off x="11022591" y="1144659"/>
            <a:ext cx="1075373" cy="57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2C4EA9B-3C43-54BC-C3F4-067CBEDA6E96}"/>
              </a:ext>
            </a:extLst>
          </p:cNvPr>
          <p:cNvSpPr/>
          <p:nvPr/>
        </p:nvSpPr>
        <p:spPr>
          <a:xfrm>
            <a:off x="11022591" y="227448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715B1C8-C4A5-98AE-07AD-5E8AE92DE001}"/>
              </a:ext>
            </a:extLst>
          </p:cNvPr>
          <p:cNvSpPr/>
          <p:nvPr/>
        </p:nvSpPr>
        <p:spPr>
          <a:xfrm>
            <a:off x="11022591" y="1591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46E057A-C5AD-17FC-6343-96011A586CE3}"/>
              </a:ext>
            </a:extLst>
          </p:cNvPr>
          <p:cNvCxnSpPr>
            <a:cxnSpLocks/>
          </p:cNvCxnSpPr>
          <p:nvPr/>
        </p:nvCxnSpPr>
        <p:spPr>
          <a:xfrm>
            <a:off x="417904" y="3629188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D31FD50B-3F0C-B820-C67B-CD5AFD46B726}"/>
              </a:ext>
            </a:extLst>
          </p:cNvPr>
          <p:cNvCxnSpPr>
            <a:cxnSpLocks/>
          </p:cNvCxnSpPr>
          <p:nvPr/>
        </p:nvCxnSpPr>
        <p:spPr>
          <a:xfrm flipV="1">
            <a:off x="1270988" y="3598708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1963009-863E-06B6-3910-D1030C6840AC}"/>
              </a:ext>
            </a:extLst>
          </p:cNvPr>
          <p:cNvGrpSpPr/>
          <p:nvPr/>
        </p:nvGrpSpPr>
        <p:grpSpPr>
          <a:xfrm>
            <a:off x="208820" y="4396399"/>
            <a:ext cx="1350604" cy="1006903"/>
            <a:chOff x="208820" y="4396399"/>
            <a:chExt cx="1350604" cy="1006903"/>
          </a:xfrm>
        </p:grpSpPr>
        <p:sp>
          <p:nvSpPr>
            <p:cNvPr id="138" name="Rectangle 13" descr="N&#10;">
              <a:extLst>
                <a:ext uri="{FF2B5EF4-FFF2-40B4-BE49-F238E27FC236}">
                  <a16:creationId xmlns:a16="http://schemas.microsoft.com/office/drawing/2014/main" id="{C9F9D007-2A32-34AE-2F6D-B29F2465B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20" y="4932574"/>
              <a:ext cx="1350604" cy="4707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b="0" dirty="0">
                  <a:solidFill>
                    <a:prstClr val="black"/>
                  </a:solidFill>
                </a:rPr>
                <a:t>Not used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02484F09-28CC-F4CA-C2D3-CA1761745D93}"/>
                </a:ext>
              </a:extLst>
            </p:cNvPr>
            <p:cNvCxnSpPr>
              <a:cxnSpLocks/>
              <a:stCxn id="83" idx="2"/>
              <a:endCxn id="138" idx="0"/>
            </p:cNvCxnSpPr>
            <p:nvPr/>
          </p:nvCxnSpPr>
          <p:spPr>
            <a:xfrm flipH="1">
              <a:off x="884122" y="4396399"/>
              <a:ext cx="2609" cy="53617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4F3738AC-DA0A-31AD-5326-E603FA1FD16C}"/>
                </a:ext>
              </a:extLst>
            </p:cNvPr>
            <p:cNvCxnSpPr>
              <a:cxnSpLocks/>
            </p:cNvCxnSpPr>
            <p:nvPr/>
          </p:nvCxnSpPr>
          <p:spPr>
            <a:xfrm>
              <a:off x="399723" y="4693920"/>
              <a:ext cx="0" cy="2386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43B57416-E6AB-FA27-E564-359B182A9A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003" y="4693920"/>
              <a:ext cx="0" cy="2122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2FC2783-8D8C-9FA6-630F-445C430597E7}"/>
              </a:ext>
            </a:extLst>
          </p:cNvPr>
          <p:cNvSpPr/>
          <p:nvPr/>
        </p:nvSpPr>
        <p:spPr>
          <a:xfrm>
            <a:off x="3308294" y="6203773"/>
            <a:ext cx="877824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 KB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A99F636-FAE8-E044-E0DF-A42E0F51D817}"/>
              </a:ext>
            </a:extLst>
          </p:cNvPr>
          <p:cNvSpPr/>
          <p:nvPr/>
        </p:nvSpPr>
        <p:spPr>
          <a:xfrm>
            <a:off x="3308294" y="6197239"/>
            <a:ext cx="438912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 KB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1090F411-1115-D7C2-44C8-F60D69244D54}"/>
              </a:ext>
            </a:extLst>
          </p:cNvPr>
          <p:cNvSpPr/>
          <p:nvPr/>
        </p:nvSpPr>
        <p:spPr>
          <a:xfrm>
            <a:off x="3300674" y="6203773"/>
            <a:ext cx="2194560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 KB</a:t>
            </a:r>
          </a:p>
        </p:txBody>
      </p: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C98D956E-38F8-BD7C-B85E-D9997B38A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52" y="0"/>
            <a:ext cx="4243411" cy="3388989"/>
          </a:xfrm>
          <a:solidFill>
            <a:schemeClr val="bg1"/>
          </a:solidFill>
        </p:spPr>
        <p:txBody>
          <a:bodyPr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For</a:t>
            </a:r>
            <a:r>
              <a:rPr lang="en-US" sz="1600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 the given address, </a:t>
            </a: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find its level &amp; status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Add 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it to the corresponding list &amp; update DS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Find </a:t>
            </a:r>
            <a:r>
              <a:rPr lang="en-US" sz="1600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it’s buddy (using its VA)</a:t>
            </a:r>
            <a:endParaRPr lang="en-US" sz="1600" b="1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CASE1: if its Buddy allocated/not in same level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1600" b="1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Do</a:t>
            </a: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 nothing</a:t>
            </a:r>
          </a:p>
          <a:p>
            <a:pPr marL="0" lv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CASE2: if its Buddy is FREE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Remove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 both buddies from the list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Collapse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 them into a single buddy &amp; update DS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If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 it’s last level, free the entire page 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Else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, add it to the upper level &amp; repeat from 3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endParaRPr lang="en-US" sz="1600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1600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24B79131-2738-8751-F4A8-DE161EF1564C}"/>
              </a:ext>
            </a:extLst>
          </p:cNvPr>
          <p:cNvGrpSpPr/>
          <p:nvPr/>
        </p:nvGrpSpPr>
        <p:grpSpPr>
          <a:xfrm>
            <a:off x="1555674" y="1851861"/>
            <a:ext cx="1880196" cy="528536"/>
            <a:chOff x="6871843" y="1508565"/>
            <a:chExt cx="1935777" cy="528536"/>
          </a:xfrm>
        </p:grpSpPr>
        <p:sp>
          <p:nvSpPr>
            <p:cNvPr id="195" name="Rectangle 13">
              <a:extLst>
                <a:ext uri="{FF2B5EF4-FFF2-40B4-BE49-F238E27FC236}">
                  <a16:creationId xmlns:a16="http://schemas.microsoft.com/office/drawing/2014/main" id="{B9F31C94-69F1-7D3B-5090-B026B04B0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375" y="1508565"/>
              <a:ext cx="1016344" cy="52853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800" dirty="0" err="1">
                  <a:solidFill>
                    <a:prstClr val="black"/>
                  </a:solidFill>
                </a:rPr>
                <a:t>R_buddy</a:t>
              </a: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96" name="Arrow: Right 195">
              <a:extLst>
                <a:ext uri="{FF2B5EF4-FFF2-40B4-BE49-F238E27FC236}">
                  <a16:creationId xmlns:a16="http://schemas.microsoft.com/office/drawing/2014/main" id="{45FC0F3E-E55A-9018-2822-EA14145BA7E4}"/>
                </a:ext>
              </a:extLst>
            </p:cNvPr>
            <p:cNvSpPr/>
            <p:nvPr/>
          </p:nvSpPr>
          <p:spPr>
            <a:xfrm>
              <a:off x="6871843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7" name="Arrow: Bent 196">
              <a:extLst>
                <a:ext uri="{FF2B5EF4-FFF2-40B4-BE49-F238E27FC236}">
                  <a16:creationId xmlns:a16="http://schemas.microsoft.com/office/drawing/2014/main" id="{A84A759F-5735-E300-FE73-4A68036307E6}"/>
                </a:ext>
              </a:extLst>
            </p:cNvPr>
            <p:cNvSpPr/>
            <p:nvPr/>
          </p:nvSpPr>
          <p:spPr>
            <a:xfrm rot="5400000">
              <a:off x="8449569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EA6F1E2-0EC1-2625-2FF3-18A0223D4D6D}"/>
              </a:ext>
            </a:extLst>
          </p:cNvPr>
          <p:cNvGrpSpPr/>
          <p:nvPr/>
        </p:nvGrpSpPr>
        <p:grpSpPr>
          <a:xfrm>
            <a:off x="7705034" y="6193382"/>
            <a:ext cx="4389120" cy="609600"/>
            <a:chOff x="7705034" y="6197239"/>
            <a:chExt cx="4389120" cy="60960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D101A50-48E8-A3F7-1B1C-09447F47DF61}"/>
                </a:ext>
              </a:extLst>
            </p:cNvPr>
            <p:cNvSpPr/>
            <p:nvPr/>
          </p:nvSpPr>
          <p:spPr>
            <a:xfrm>
              <a:off x="7705034" y="6197239"/>
              <a:ext cx="438912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520380C-5D47-84E9-107F-395A2ED45B79}"/>
                </a:ext>
              </a:extLst>
            </p:cNvPr>
            <p:cNvSpPr/>
            <p:nvPr/>
          </p:nvSpPr>
          <p:spPr>
            <a:xfrm>
              <a:off x="7721358" y="6199916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B4E73ED-A077-71A4-C92F-FE8362B1FBDC}"/>
              </a:ext>
            </a:extLst>
          </p:cNvPr>
          <p:cNvGrpSpPr/>
          <p:nvPr/>
        </p:nvGrpSpPr>
        <p:grpSpPr>
          <a:xfrm>
            <a:off x="5502854" y="6185412"/>
            <a:ext cx="2194560" cy="613457"/>
            <a:chOff x="5495234" y="6203773"/>
            <a:chExt cx="2194560" cy="613457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171ABCC-2FCD-03F6-BD7E-BA4E776BA57F}"/>
                </a:ext>
              </a:extLst>
            </p:cNvPr>
            <p:cNvSpPr/>
            <p:nvPr/>
          </p:nvSpPr>
          <p:spPr>
            <a:xfrm>
              <a:off x="5495234" y="6203773"/>
              <a:ext cx="219456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1 KB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1A7C708-5F0F-586C-3136-C8B4F25E0BC6}"/>
                </a:ext>
              </a:extLst>
            </p:cNvPr>
            <p:cNvSpPr/>
            <p:nvPr/>
          </p:nvSpPr>
          <p:spPr>
            <a:xfrm>
              <a:off x="5516016" y="6214164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7C75CEF-F88A-CBCA-3025-CE965B9F4B80}"/>
              </a:ext>
            </a:extLst>
          </p:cNvPr>
          <p:cNvGrpSpPr/>
          <p:nvPr/>
        </p:nvGrpSpPr>
        <p:grpSpPr>
          <a:xfrm>
            <a:off x="4409384" y="6185412"/>
            <a:ext cx="1097280" cy="623848"/>
            <a:chOff x="4409384" y="6204169"/>
            <a:chExt cx="1097280" cy="62384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A23C2FDB-488B-48F4-8418-9CFA9277C085}"/>
                </a:ext>
              </a:extLst>
            </p:cNvPr>
            <p:cNvSpPr/>
            <p:nvPr/>
          </p:nvSpPr>
          <p:spPr>
            <a:xfrm>
              <a:off x="4409384" y="6204169"/>
              <a:ext cx="109728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512 B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BA39296-B3B8-D09B-59E8-487843817B65}"/>
                </a:ext>
              </a:extLst>
            </p:cNvPr>
            <p:cNvSpPr/>
            <p:nvPr/>
          </p:nvSpPr>
          <p:spPr>
            <a:xfrm>
              <a:off x="4419775" y="6224951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7F3819C-F745-7309-4B4F-C050CDB27CF2}"/>
              </a:ext>
            </a:extLst>
          </p:cNvPr>
          <p:cNvGrpSpPr/>
          <p:nvPr/>
        </p:nvGrpSpPr>
        <p:grpSpPr>
          <a:xfrm>
            <a:off x="7685396" y="5740039"/>
            <a:ext cx="3897004" cy="1066800"/>
            <a:chOff x="7685396" y="5740039"/>
            <a:chExt cx="3897004" cy="1066800"/>
          </a:xfrm>
        </p:grpSpPr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572D643B-89CB-CFD0-ACF4-730A2E9489BF}"/>
                </a:ext>
              </a:extLst>
            </p:cNvPr>
            <p:cNvGrpSpPr/>
            <p:nvPr/>
          </p:nvGrpSpPr>
          <p:grpSpPr>
            <a:xfrm>
              <a:off x="7685396" y="5740039"/>
              <a:ext cx="3897004" cy="1066800"/>
              <a:chOff x="5518094" y="3814784"/>
              <a:chExt cx="1676400" cy="1066800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8777670B-FED9-1DB2-7B1F-A271F2F9949D}"/>
                  </a:ext>
                </a:extLst>
              </p:cNvPr>
              <p:cNvSpPr/>
              <p:nvPr/>
            </p:nvSpPr>
            <p:spPr>
              <a:xfrm>
                <a:off x="5518094" y="4271984"/>
                <a:ext cx="1676400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978E40E-D580-3B87-3A29-7BB1F3E4CB20}"/>
                  </a:ext>
                </a:extLst>
              </p:cNvPr>
              <p:cNvSpPr txBox="1"/>
              <p:nvPr/>
            </p:nvSpPr>
            <p:spPr>
              <a:xfrm>
                <a:off x="6127694" y="3814784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B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DACF929-4107-E270-40B8-DAC28F336F29}"/>
                </a:ext>
              </a:extLst>
            </p:cNvPr>
            <p:cNvSpPr/>
            <p:nvPr/>
          </p:nvSpPr>
          <p:spPr>
            <a:xfrm>
              <a:off x="7718829" y="6197239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47" name="Arrow: Bent 46">
            <a:extLst>
              <a:ext uri="{FF2B5EF4-FFF2-40B4-BE49-F238E27FC236}">
                <a16:creationId xmlns:a16="http://schemas.microsoft.com/office/drawing/2014/main" id="{A1E8421C-2BE5-25B7-E6E1-72C8808E70F8}"/>
              </a:ext>
            </a:extLst>
          </p:cNvPr>
          <p:cNvSpPr/>
          <p:nvPr/>
        </p:nvSpPr>
        <p:spPr>
          <a:xfrm rot="5400000">
            <a:off x="1716150" y="1117794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BE2B7027-008F-B131-7645-0BC8CDDCCDE6}"/>
              </a:ext>
            </a:extLst>
          </p:cNvPr>
          <p:cNvSpPr/>
          <p:nvPr/>
        </p:nvSpPr>
        <p:spPr>
          <a:xfrm>
            <a:off x="6694115" y="-10390"/>
            <a:ext cx="4077818" cy="970254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C093DEF-DF19-0E00-2C54-A5D0EBF848A3}"/>
              </a:ext>
            </a:extLst>
          </p:cNvPr>
          <p:cNvGrpSpPr/>
          <p:nvPr/>
        </p:nvGrpSpPr>
        <p:grpSpPr>
          <a:xfrm>
            <a:off x="4429849" y="5730692"/>
            <a:ext cx="619384" cy="1076147"/>
            <a:chOff x="3289154" y="5751474"/>
            <a:chExt cx="619384" cy="107614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94843FE-DDB2-2D32-5088-BD33767A9480}"/>
                </a:ext>
              </a:extLst>
            </p:cNvPr>
            <p:cNvGrpSpPr/>
            <p:nvPr/>
          </p:nvGrpSpPr>
          <p:grpSpPr>
            <a:xfrm>
              <a:off x="3289154" y="5751474"/>
              <a:ext cx="619384" cy="1066800"/>
              <a:chOff x="3289154" y="5761865"/>
              <a:chExt cx="619384" cy="10668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1F376A8-20D6-EA6E-7595-D2DD31CD2E8A}"/>
                  </a:ext>
                </a:extLst>
              </p:cNvPr>
              <p:cNvSpPr/>
              <p:nvPr/>
            </p:nvSpPr>
            <p:spPr>
              <a:xfrm>
                <a:off x="3289154" y="6219065"/>
                <a:ext cx="619384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52BEEEF-03A1-71CA-60A7-ED7861EFE427}"/>
                  </a:ext>
                </a:extLst>
              </p:cNvPr>
              <p:cNvSpPr txBox="1"/>
              <p:nvPr/>
            </p:nvSpPr>
            <p:spPr>
              <a:xfrm>
                <a:off x="3507742" y="5761865"/>
                <a:ext cx="3593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E</a:t>
                </a: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3E094EF-A738-1EC6-7D69-BBFC34897860}"/>
                </a:ext>
              </a:extLst>
            </p:cNvPr>
            <p:cNvSpPr/>
            <p:nvPr/>
          </p:nvSpPr>
          <p:spPr>
            <a:xfrm>
              <a:off x="3300674" y="6224555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CDEFF22-24EC-FB90-8C2E-6FFA62C03B17}"/>
              </a:ext>
            </a:extLst>
          </p:cNvPr>
          <p:cNvGrpSpPr/>
          <p:nvPr/>
        </p:nvGrpSpPr>
        <p:grpSpPr>
          <a:xfrm>
            <a:off x="7557747" y="4710422"/>
            <a:ext cx="1119024" cy="1486817"/>
            <a:chOff x="-797656" y="4094684"/>
            <a:chExt cx="1119024" cy="148681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FC7A381-D9FA-EE97-C288-7310D7CF93EC}"/>
                </a:ext>
              </a:extLst>
            </p:cNvPr>
            <p:cNvGrpSpPr/>
            <p:nvPr/>
          </p:nvGrpSpPr>
          <p:grpSpPr>
            <a:xfrm>
              <a:off x="-568975" y="4443366"/>
              <a:ext cx="569073" cy="1138135"/>
              <a:chOff x="-568975" y="4443366"/>
              <a:chExt cx="569073" cy="113813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FBE03BA-08D4-8681-EA59-D2F3102481E1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D717539-7B55-0D28-40BF-81B6289AE9DF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L11</a:t>
                  </a:r>
                </a:p>
                <a:p>
                  <a:pPr algn="ctr"/>
                  <a:r>
                    <a:rPr lang="en-US" b="1" dirty="0"/>
                    <a:t>0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6C1A2AE4-3237-22A9-8742-6A5390B4DD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6C1A2AE4-3237-22A9-8742-6A5390B4DDF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E757CCD3-9991-DCA4-5640-7072C92438BC}"/>
                  </a:ext>
                </a:extLst>
              </p:cNvPr>
              <p:cNvCxnSpPr>
                <a:cxnSpLocks/>
                <a:stCxn id="14" idx="0"/>
                <a:endCxn id="37" idx="2"/>
              </p:cNvCxnSpPr>
              <p:nvPr/>
            </p:nvCxnSpPr>
            <p:spPr>
              <a:xfrm flipV="1">
                <a:off x="-568975" y="5065807"/>
                <a:ext cx="251471" cy="51569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5E78CAF-4B8F-F7A2-F2B1-E42F1498C071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8043733-68DC-0618-31B3-A5C4FAC3D558}"/>
              </a:ext>
            </a:extLst>
          </p:cNvPr>
          <p:cNvGrpSpPr/>
          <p:nvPr/>
        </p:nvGrpSpPr>
        <p:grpSpPr>
          <a:xfrm>
            <a:off x="7553112" y="4715295"/>
            <a:ext cx="1119024" cy="1492955"/>
            <a:chOff x="-797656" y="4094684"/>
            <a:chExt cx="1119024" cy="1492955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D8DBEFE-1ED4-B635-056A-0F41D152D989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681FF2EF-BF24-60C9-7977-556999B8A4CF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7DE9D805-1A9D-146B-315A-82D28D5B7289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L11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C1F32B85-4E25-7ADD-5147-473FF66367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C1F32B85-4E25-7ADD-5147-473FF663673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6A38FCB7-A8BA-855B-B97B-D78AFC6CA0A2}"/>
                  </a:ext>
                </a:extLst>
              </p:cNvPr>
              <p:cNvCxnSpPr>
                <a:cxnSpLocks/>
                <a:endCxn id="59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1FAABF1-6CB9-3B57-48EC-C42ACAE65206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71096C-4BF8-EF3D-DA2C-601500902104}"/>
              </a:ext>
            </a:extLst>
          </p:cNvPr>
          <p:cNvSpPr/>
          <p:nvPr/>
        </p:nvSpPr>
        <p:spPr>
          <a:xfrm>
            <a:off x="19344" y="5901254"/>
            <a:ext cx="2828234" cy="956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Free(B)</a:t>
            </a:r>
            <a:endParaRPr lang="en-AE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Level#11 – Allocated</a:t>
            </a: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buddy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FREE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but Level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DIFFER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A117B43-859C-2A86-29CC-8E41B76ED6F3}"/>
              </a:ext>
            </a:extLst>
          </p:cNvPr>
          <p:cNvGrpSpPr/>
          <p:nvPr/>
        </p:nvGrpSpPr>
        <p:grpSpPr>
          <a:xfrm>
            <a:off x="3154691" y="4713239"/>
            <a:ext cx="1119024" cy="1492955"/>
            <a:chOff x="-797656" y="4094684"/>
            <a:chExt cx="1119024" cy="1492955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3906A51-ACB5-660F-793B-3B40ECCE1DB9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C9BB4C7-D211-19B4-AE27-AD13B3D0EC6D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F7AC2C82-9CF1-4F51-9DAF-89DB81B79859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L9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7" name="Rectangle 76">
                      <a:extLst>
                        <a:ext uri="{FF2B5EF4-FFF2-40B4-BE49-F238E27FC236}">
                          <a16:creationId xmlns:a16="http://schemas.microsoft.com/office/drawing/2014/main" id="{58B04DD0-F222-6D9D-DD5B-0E37F6D872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77" name="Rectangle 76">
                      <a:extLst>
                        <a:ext uri="{FF2B5EF4-FFF2-40B4-BE49-F238E27FC236}">
                          <a16:creationId xmlns:a16="http://schemas.microsoft.com/office/drawing/2014/main" id="{58B04DD0-F222-6D9D-DD5B-0E37F6D8721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B9D3B0FB-899A-81E6-7387-E42960CF8222}"/>
                  </a:ext>
                </a:extLst>
              </p:cNvPr>
              <p:cNvCxnSpPr>
                <a:cxnSpLocks/>
                <a:endCxn id="76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2A95CDF-E9D2-D656-29D1-837F6BE462E2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924C03B-0CC0-ED52-E359-AE5828B2C77B}"/>
              </a:ext>
            </a:extLst>
          </p:cNvPr>
          <p:cNvGrpSpPr/>
          <p:nvPr/>
        </p:nvGrpSpPr>
        <p:grpSpPr>
          <a:xfrm>
            <a:off x="1562033" y="2699337"/>
            <a:ext cx="1610014" cy="528536"/>
            <a:chOff x="6615090" y="1508565"/>
            <a:chExt cx="1657611" cy="528536"/>
          </a:xfrm>
        </p:grpSpPr>
        <p:sp>
          <p:nvSpPr>
            <p:cNvPr id="124" name="Rectangle 13">
              <a:extLst>
                <a:ext uri="{FF2B5EF4-FFF2-40B4-BE49-F238E27FC236}">
                  <a16:creationId xmlns:a16="http://schemas.microsoft.com/office/drawing/2014/main" id="{125BC52C-D2D8-5093-858A-2B8DF8089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622" y="1508565"/>
              <a:ext cx="750938" cy="5285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400" dirty="0" err="1">
                  <a:solidFill>
                    <a:prstClr val="black"/>
                  </a:solidFill>
                </a:rPr>
                <a:t>L_buddy</a:t>
              </a:r>
              <a:endParaRPr lang="en-US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125" name="Arrow: Right 124">
              <a:extLst>
                <a:ext uri="{FF2B5EF4-FFF2-40B4-BE49-F238E27FC236}">
                  <a16:creationId xmlns:a16="http://schemas.microsoft.com/office/drawing/2014/main" id="{397AA0C1-B4BA-0EB5-080B-A8A578C52D6F}"/>
                </a:ext>
              </a:extLst>
            </p:cNvPr>
            <p:cNvSpPr/>
            <p:nvPr/>
          </p:nvSpPr>
          <p:spPr>
            <a:xfrm>
              <a:off x="6615090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6" name="Arrow: Bent 125">
              <a:extLst>
                <a:ext uri="{FF2B5EF4-FFF2-40B4-BE49-F238E27FC236}">
                  <a16:creationId xmlns:a16="http://schemas.microsoft.com/office/drawing/2014/main" id="{5EECCB1A-A968-3B8C-EFB0-4FB5FD91F11D}"/>
                </a:ext>
              </a:extLst>
            </p:cNvPr>
            <p:cNvSpPr/>
            <p:nvPr/>
          </p:nvSpPr>
          <p:spPr>
            <a:xfrm rot="5400000">
              <a:off x="79146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8C7D685C-A868-8858-AD68-E64761A07A32}"/>
              </a:ext>
            </a:extLst>
          </p:cNvPr>
          <p:cNvSpPr/>
          <p:nvPr/>
        </p:nvSpPr>
        <p:spPr>
          <a:xfrm>
            <a:off x="6694115" y="972108"/>
            <a:ext cx="4077818" cy="60960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1677BA-DF6A-D9BD-5AEA-01EA61893FA0}"/>
              </a:ext>
            </a:extLst>
          </p:cNvPr>
          <p:cNvGrpSpPr/>
          <p:nvPr/>
        </p:nvGrpSpPr>
        <p:grpSpPr>
          <a:xfrm>
            <a:off x="1545939" y="1095062"/>
            <a:ext cx="2181534" cy="528536"/>
            <a:chOff x="7246279" y="1508565"/>
            <a:chExt cx="2246022" cy="528536"/>
          </a:xfrm>
        </p:grpSpPr>
        <p:sp>
          <p:nvSpPr>
            <p:cNvPr id="5" name="Rectangle 13">
              <a:extLst>
                <a:ext uri="{FF2B5EF4-FFF2-40B4-BE49-F238E27FC236}">
                  <a16:creationId xmlns:a16="http://schemas.microsoft.com/office/drawing/2014/main" id="{0D032473-8F4C-2D90-DB76-91A3D82C2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8810" y="1508565"/>
              <a:ext cx="1373433" cy="52853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R_buddy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485DCF78-1FDE-A37D-964B-24532417848C}"/>
                </a:ext>
              </a:extLst>
            </p:cNvPr>
            <p:cNvSpPr/>
            <p:nvPr/>
          </p:nvSpPr>
          <p:spPr>
            <a:xfrm>
              <a:off x="7246279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Arrow: Bent 7">
              <a:extLst>
                <a:ext uri="{FF2B5EF4-FFF2-40B4-BE49-F238E27FC236}">
                  <a16:creationId xmlns:a16="http://schemas.microsoft.com/office/drawing/2014/main" id="{2247E729-D2A0-096B-A4DA-4165808651FD}"/>
                </a:ext>
              </a:extLst>
            </p:cNvPr>
            <p:cNvSpPr/>
            <p:nvPr/>
          </p:nvSpPr>
          <p:spPr>
            <a:xfrm rot="5400000">
              <a:off x="91342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D8F6654-DF20-8904-8350-30CD81BFE5F1}"/>
              </a:ext>
            </a:extLst>
          </p:cNvPr>
          <p:cNvGrpSpPr/>
          <p:nvPr/>
        </p:nvGrpSpPr>
        <p:grpSpPr>
          <a:xfrm>
            <a:off x="3300674" y="6203773"/>
            <a:ext cx="1104900" cy="609996"/>
            <a:chOff x="3300674" y="6203773"/>
            <a:chExt cx="1104900" cy="60999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11CD4C-A37C-281A-CA33-3BFDEF0ECD13}"/>
                </a:ext>
              </a:extLst>
            </p:cNvPr>
            <p:cNvSpPr/>
            <p:nvPr/>
          </p:nvSpPr>
          <p:spPr>
            <a:xfrm>
              <a:off x="3308294" y="6204169"/>
              <a:ext cx="109728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512 B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8F400F-48FF-3ECF-8210-920E31F095DF}"/>
                </a:ext>
              </a:extLst>
            </p:cNvPr>
            <p:cNvSpPr/>
            <p:nvPr/>
          </p:nvSpPr>
          <p:spPr>
            <a:xfrm>
              <a:off x="3300674" y="6203773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</p:spTree>
    <p:extLst>
      <p:ext uri="{BB962C8B-B14F-4D97-AF65-F5344CB8AC3E}">
        <p14:creationId xmlns:p14="http://schemas.microsoft.com/office/powerpoint/2010/main" val="62590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73" grpId="0" animBg="1"/>
      <p:bldP spid="3" grpId="0" uiExpand="1" build="allAtOnce" animBg="1"/>
      <p:bldP spid="1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1144B-86D1-7E0A-DEA4-40553ECCC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52E48-3685-9E74-CAE1-F1F95155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00"/>
              <a:t>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25009-8D69-AB5E-90BD-72165A554113}"/>
              </a:ext>
            </a:extLst>
          </p:cNvPr>
          <p:cNvSpPr txBox="1">
            <a:spLocks/>
          </p:cNvSpPr>
          <p:nvPr/>
        </p:nvSpPr>
        <p:spPr>
          <a:xfrm>
            <a:off x="0" y="6005"/>
            <a:ext cx="6874569" cy="953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Dynamic Allocator </a:t>
            </a:r>
            <a:r>
              <a:rPr lang="en-US" b="1" dirty="0"/>
              <a:t>– Free</a:t>
            </a:r>
            <a:endParaRPr lang="en-AE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340B66A-1458-E655-CD34-E4527DE790C7}"/>
              </a:ext>
            </a:extLst>
          </p:cNvPr>
          <p:cNvCxnSpPr>
            <a:cxnSpLocks/>
          </p:cNvCxnSpPr>
          <p:nvPr/>
        </p:nvCxnSpPr>
        <p:spPr>
          <a:xfrm>
            <a:off x="407250" y="1574370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9DFD3C5-66C0-5FD3-8740-43231C1E9962}"/>
              </a:ext>
            </a:extLst>
          </p:cNvPr>
          <p:cNvCxnSpPr>
            <a:cxnSpLocks/>
          </p:cNvCxnSpPr>
          <p:nvPr/>
        </p:nvCxnSpPr>
        <p:spPr>
          <a:xfrm flipV="1">
            <a:off x="1260334" y="2337443"/>
            <a:ext cx="0" cy="3692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F256483-F825-0C2F-8250-E7D96BC08A79}"/>
              </a:ext>
            </a:extLst>
          </p:cNvPr>
          <p:cNvCxnSpPr>
            <a:cxnSpLocks/>
          </p:cNvCxnSpPr>
          <p:nvPr/>
        </p:nvCxnSpPr>
        <p:spPr>
          <a:xfrm>
            <a:off x="407250" y="2360518"/>
            <a:ext cx="0" cy="346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tangle 13">
            <a:extLst>
              <a:ext uri="{FF2B5EF4-FFF2-40B4-BE49-F238E27FC236}">
                <a16:creationId xmlns:a16="http://schemas.microsoft.com/office/drawing/2014/main" id="{CE710EEB-71AF-4654-71F1-36F02D69E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2709680"/>
            <a:ext cx="1350604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9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7756A29-8696-C2D7-A639-372A265F26A6}"/>
              </a:ext>
            </a:extLst>
          </p:cNvPr>
          <p:cNvCxnSpPr>
            <a:cxnSpLocks/>
          </p:cNvCxnSpPr>
          <p:nvPr/>
        </p:nvCxnSpPr>
        <p:spPr>
          <a:xfrm flipV="1">
            <a:off x="1260334" y="1574370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Rectangle 13">
            <a:extLst>
              <a:ext uri="{FF2B5EF4-FFF2-40B4-BE49-F238E27FC236}">
                <a16:creationId xmlns:a16="http://schemas.microsoft.com/office/drawing/2014/main" id="{FCEEBC47-9F08-82A1-E5EF-728FE7884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93" y="1111193"/>
            <a:ext cx="1334002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11</a:t>
            </a:r>
          </a:p>
        </p:txBody>
      </p:sp>
      <p:sp>
        <p:nvSpPr>
          <p:cNvPr id="99" name="Rectangle 13">
            <a:extLst>
              <a:ext uri="{FF2B5EF4-FFF2-40B4-BE49-F238E27FC236}">
                <a16:creationId xmlns:a16="http://schemas.microsoft.com/office/drawing/2014/main" id="{653A1B74-8451-E02B-B63A-653EDA96C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67" y="1888005"/>
            <a:ext cx="134223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10</a:t>
            </a:r>
          </a:p>
        </p:txBody>
      </p:sp>
      <p:sp>
        <p:nvSpPr>
          <p:cNvPr id="83" name="Rectangle 13">
            <a:extLst>
              <a:ext uri="{FF2B5EF4-FFF2-40B4-BE49-F238E27FC236}">
                <a16:creationId xmlns:a16="http://schemas.microsoft.com/office/drawing/2014/main" id="{E16583D8-A647-6009-D0B8-7B5AE3840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9" y="3925671"/>
            <a:ext cx="1355823" cy="470728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/>
            <a:r>
              <a:rPr lang="en-US" altLang="en-US" dirty="0">
                <a:solidFill>
                  <a:prstClr val="black"/>
                </a:solidFill>
              </a:rPr>
              <a:t>List 4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EEB4090-42A0-C8EB-4299-FAD9B661BBF8}"/>
              </a:ext>
            </a:extLst>
          </p:cNvPr>
          <p:cNvCxnSpPr>
            <a:cxnSpLocks/>
            <a:stCxn id="93" idx="2"/>
            <a:endCxn id="83" idx="0"/>
          </p:cNvCxnSpPr>
          <p:nvPr/>
        </p:nvCxnSpPr>
        <p:spPr>
          <a:xfrm>
            <a:off x="884121" y="3180408"/>
            <a:ext cx="2610" cy="74526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Arrow: Bent 78">
            <a:extLst>
              <a:ext uri="{FF2B5EF4-FFF2-40B4-BE49-F238E27FC236}">
                <a16:creationId xmlns:a16="http://schemas.microsoft.com/office/drawing/2014/main" id="{70CF4484-5BB3-5A60-DD8D-CC139CD840C9}"/>
              </a:ext>
            </a:extLst>
          </p:cNvPr>
          <p:cNvSpPr/>
          <p:nvPr/>
        </p:nvSpPr>
        <p:spPr>
          <a:xfrm rot="5400000">
            <a:off x="1728590" y="3936739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8217A32-51C6-426A-CF2F-2B463BA2BD9E}"/>
              </a:ext>
            </a:extLst>
          </p:cNvPr>
          <p:cNvSpPr/>
          <p:nvPr/>
        </p:nvSpPr>
        <p:spPr>
          <a:xfrm>
            <a:off x="11022591" y="3388989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97E2A44-64AE-2B10-DA51-CCFF4CF3DC8E}"/>
              </a:ext>
            </a:extLst>
          </p:cNvPr>
          <p:cNvSpPr/>
          <p:nvPr/>
        </p:nvSpPr>
        <p:spPr>
          <a:xfrm>
            <a:off x="11022591" y="2815571"/>
            <a:ext cx="1075373" cy="57765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68F6831-DB71-7CF0-AD44-6C791059BB93}"/>
              </a:ext>
            </a:extLst>
          </p:cNvPr>
          <p:cNvSpPr/>
          <p:nvPr/>
        </p:nvSpPr>
        <p:spPr>
          <a:xfrm>
            <a:off x="11022591" y="569215"/>
            <a:ext cx="1075373" cy="57765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DC7F4D5-8D89-57D9-D060-9DD2FE3EB70C}"/>
              </a:ext>
            </a:extLst>
          </p:cNvPr>
          <p:cNvSpPr/>
          <p:nvPr/>
        </p:nvSpPr>
        <p:spPr>
          <a:xfrm>
            <a:off x="11022591" y="1693737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9C69F77-A430-CDEC-709F-12A9FD4AB919}"/>
              </a:ext>
            </a:extLst>
          </p:cNvPr>
          <p:cNvSpPr/>
          <p:nvPr/>
        </p:nvSpPr>
        <p:spPr>
          <a:xfrm>
            <a:off x="11022591" y="1144659"/>
            <a:ext cx="1075373" cy="57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AC1BE76-8CF6-8065-BF30-27DF8CD0C508}"/>
              </a:ext>
            </a:extLst>
          </p:cNvPr>
          <p:cNvSpPr/>
          <p:nvPr/>
        </p:nvSpPr>
        <p:spPr>
          <a:xfrm>
            <a:off x="11022591" y="227448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92688B2-DE60-495C-D3FF-55101C2783D1}"/>
              </a:ext>
            </a:extLst>
          </p:cNvPr>
          <p:cNvSpPr/>
          <p:nvPr/>
        </p:nvSpPr>
        <p:spPr>
          <a:xfrm>
            <a:off x="11022591" y="15913"/>
            <a:ext cx="1075373" cy="5776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endParaRPr lang="en-AE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15228E3A-85A8-2F64-3EBB-6A0DA9F5F21F}"/>
              </a:ext>
            </a:extLst>
          </p:cNvPr>
          <p:cNvCxnSpPr>
            <a:cxnSpLocks/>
          </p:cNvCxnSpPr>
          <p:nvPr/>
        </p:nvCxnSpPr>
        <p:spPr>
          <a:xfrm>
            <a:off x="417904" y="3629188"/>
            <a:ext cx="0" cy="297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E613B519-F1F1-8FFD-30DE-DDFE6D493B94}"/>
              </a:ext>
            </a:extLst>
          </p:cNvPr>
          <p:cNvCxnSpPr>
            <a:cxnSpLocks/>
          </p:cNvCxnSpPr>
          <p:nvPr/>
        </p:nvCxnSpPr>
        <p:spPr>
          <a:xfrm flipV="1">
            <a:off x="1270988" y="3598708"/>
            <a:ext cx="0" cy="337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982B2170-01D5-0CAC-F241-DDD218AD8B82}"/>
              </a:ext>
            </a:extLst>
          </p:cNvPr>
          <p:cNvGrpSpPr/>
          <p:nvPr/>
        </p:nvGrpSpPr>
        <p:grpSpPr>
          <a:xfrm>
            <a:off x="208820" y="4396399"/>
            <a:ext cx="1350604" cy="1006903"/>
            <a:chOff x="208820" y="4396399"/>
            <a:chExt cx="1350604" cy="1006903"/>
          </a:xfrm>
        </p:grpSpPr>
        <p:sp>
          <p:nvSpPr>
            <p:cNvPr id="138" name="Rectangle 13" descr="N&#10;">
              <a:extLst>
                <a:ext uri="{FF2B5EF4-FFF2-40B4-BE49-F238E27FC236}">
                  <a16:creationId xmlns:a16="http://schemas.microsoft.com/office/drawing/2014/main" id="{21FADA8A-07EE-8ADB-6377-533324CD8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20" y="4932574"/>
              <a:ext cx="1350604" cy="4707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b="0" dirty="0">
                  <a:solidFill>
                    <a:prstClr val="black"/>
                  </a:solidFill>
                </a:rPr>
                <a:t>Not used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C2DB74D6-FB0B-6363-243F-89741FA6504B}"/>
                </a:ext>
              </a:extLst>
            </p:cNvPr>
            <p:cNvCxnSpPr>
              <a:cxnSpLocks/>
              <a:stCxn id="83" idx="2"/>
              <a:endCxn id="138" idx="0"/>
            </p:cNvCxnSpPr>
            <p:nvPr/>
          </p:nvCxnSpPr>
          <p:spPr>
            <a:xfrm flipH="1">
              <a:off x="884122" y="4396399"/>
              <a:ext cx="2609" cy="53617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EA0DE175-A7C6-F5F6-F07C-7B7FE20960F7}"/>
                </a:ext>
              </a:extLst>
            </p:cNvPr>
            <p:cNvCxnSpPr>
              <a:cxnSpLocks/>
            </p:cNvCxnSpPr>
            <p:nvPr/>
          </p:nvCxnSpPr>
          <p:spPr>
            <a:xfrm>
              <a:off x="399723" y="4693920"/>
              <a:ext cx="0" cy="2386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A5A28A38-172A-A5B4-6060-931D012ABE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003" y="4693920"/>
              <a:ext cx="0" cy="2122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1F665A5D-19DF-37ED-7252-6D6FF45E8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52" y="0"/>
            <a:ext cx="4243411" cy="3388989"/>
          </a:xfrm>
          <a:solidFill>
            <a:schemeClr val="bg1"/>
          </a:solidFill>
        </p:spPr>
        <p:txBody>
          <a:bodyPr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For</a:t>
            </a:r>
            <a:r>
              <a:rPr lang="en-US" sz="1600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 the given address, </a:t>
            </a: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find its level &amp; status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Add 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it to the corresponding list &amp; update DS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Find </a:t>
            </a:r>
            <a:r>
              <a:rPr lang="en-US" sz="1600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it’s buddy (using its VA)</a:t>
            </a:r>
            <a:endParaRPr lang="en-US" sz="1600" b="1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latin typeface="+mj-lt"/>
                <a:ea typeface="Calibri" panose="020F0502020204030204" pitchFamily="34" charset="0"/>
              </a:rPr>
              <a:t>CASE1: if its Buddy allocated/not in same level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1600" b="1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Do</a:t>
            </a:r>
            <a:r>
              <a:rPr lang="en-US" sz="1600" dirty="0">
                <a:solidFill>
                  <a:srgbClr val="5C5962"/>
                </a:solidFill>
                <a:effectLst/>
                <a:latin typeface="+mj-lt"/>
                <a:ea typeface="Calibri" panose="020F0502020204030204" pitchFamily="34" charset="0"/>
              </a:rPr>
              <a:t> nothing</a:t>
            </a:r>
          </a:p>
          <a:p>
            <a:pPr marL="0" lv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CASE2: if its Buddy is FREE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Remove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 both buddies from the list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Collapse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 them into a single buddy &amp; update DS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If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 it’s last level, free the entire page 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600" b="1" dirty="0">
                <a:solidFill>
                  <a:srgbClr val="5C5962"/>
                </a:solidFill>
                <a:ea typeface="Calibri" panose="020F0502020204030204" pitchFamily="34" charset="0"/>
              </a:rPr>
              <a:t>Else</a:t>
            </a:r>
            <a:r>
              <a:rPr lang="en-US" sz="1600" dirty="0">
                <a:solidFill>
                  <a:srgbClr val="5C5962"/>
                </a:solidFill>
                <a:ea typeface="Calibri" panose="020F0502020204030204" pitchFamily="34" charset="0"/>
              </a:rPr>
              <a:t>, add it to the upper level &amp; repeat from 3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endParaRPr lang="en-US" sz="1600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1600" dirty="0">
              <a:solidFill>
                <a:srgbClr val="5C5962"/>
              </a:solidFill>
              <a:effectLst/>
              <a:latin typeface="+mj-lt"/>
              <a:ea typeface="Calibri" panose="020F0502020204030204" pitchFamily="34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38782241-5629-7959-9A08-1F20516CF47F}"/>
              </a:ext>
            </a:extLst>
          </p:cNvPr>
          <p:cNvGrpSpPr/>
          <p:nvPr/>
        </p:nvGrpSpPr>
        <p:grpSpPr>
          <a:xfrm>
            <a:off x="1555674" y="1851861"/>
            <a:ext cx="1880196" cy="528536"/>
            <a:chOff x="6871843" y="1508565"/>
            <a:chExt cx="1935777" cy="528536"/>
          </a:xfrm>
        </p:grpSpPr>
        <p:sp>
          <p:nvSpPr>
            <p:cNvPr id="195" name="Rectangle 13">
              <a:extLst>
                <a:ext uri="{FF2B5EF4-FFF2-40B4-BE49-F238E27FC236}">
                  <a16:creationId xmlns:a16="http://schemas.microsoft.com/office/drawing/2014/main" id="{DC949D93-2C06-43A7-E224-B96FA594C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375" y="1508565"/>
              <a:ext cx="1016344" cy="52853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800" dirty="0" err="1">
                  <a:solidFill>
                    <a:prstClr val="black"/>
                  </a:solidFill>
                </a:rPr>
                <a:t>R_buddy</a:t>
              </a: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96" name="Arrow: Right 195">
              <a:extLst>
                <a:ext uri="{FF2B5EF4-FFF2-40B4-BE49-F238E27FC236}">
                  <a16:creationId xmlns:a16="http://schemas.microsoft.com/office/drawing/2014/main" id="{0B5157F2-D6FD-B998-D90F-280E3DDE60F5}"/>
                </a:ext>
              </a:extLst>
            </p:cNvPr>
            <p:cNvSpPr/>
            <p:nvPr/>
          </p:nvSpPr>
          <p:spPr>
            <a:xfrm>
              <a:off x="6871843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7" name="Arrow: Bent 196">
              <a:extLst>
                <a:ext uri="{FF2B5EF4-FFF2-40B4-BE49-F238E27FC236}">
                  <a16:creationId xmlns:a16="http://schemas.microsoft.com/office/drawing/2014/main" id="{9B6A2BA4-92CA-56C3-16F9-582613AD1C1D}"/>
                </a:ext>
              </a:extLst>
            </p:cNvPr>
            <p:cNvSpPr/>
            <p:nvPr/>
          </p:nvSpPr>
          <p:spPr>
            <a:xfrm rot="5400000">
              <a:off x="8449569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C600BA09-45D2-61C7-FF4F-984C53E4FCE8}"/>
              </a:ext>
            </a:extLst>
          </p:cNvPr>
          <p:cNvSpPr/>
          <p:nvPr/>
        </p:nvSpPr>
        <p:spPr>
          <a:xfrm>
            <a:off x="6694115" y="-10390"/>
            <a:ext cx="4077818" cy="970254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378739D-BD8D-30D5-85E0-480359B080E2}"/>
              </a:ext>
            </a:extLst>
          </p:cNvPr>
          <p:cNvGrpSpPr/>
          <p:nvPr/>
        </p:nvGrpSpPr>
        <p:grpSpPr>
          <a:xfrm>
            <a:off x="4269788" y="4706250"/>
            <a:ext cx="1119024" cy="1486817"/>
            <a:chOff x="-797656" y="4094684"/>
            <a:chExt cx="1119024" cy="148681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BF1BE97-E6FB-8533-A489-8A0372E3C1FD}"/>
                </a:ext>
              </a:extLst>
            </p:cNvPr>
            <p:cNvGrpSpPr/>
            <p:nvPr/>
          </p:nvGrpSpPr>
          <p:grpSpPr>
            <a:xfrm>
              <a:off x="-568975" y="4443366"/>
              <a:ext cx="569073" cy="1138135"/>
              <a:chOff x="-568975" y="4443366"/>
              <a:chExt cx="569073" cy="113813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825AF08-9A9F-4DDE-DD8E-0A55F226119C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37B908A2-4387-BFC8-7F2B-ED97D46A2CA8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L9</a:t>
                  </a:r>
                </a:p>
                <a:p>
                  <a:pPr algn="ctr"/>
                  <a:r>
                    <a:rPr lang="en-US" b="1" dirty="0"/>
                    <a:t>0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553761C9-8CAF-13A3-8818-3AAC4131AF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553761C9-8CAF-13A3-8818-3AAC4131AF4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E6E8533E-AA71-8B40-EC04-40514D8341A2}"/>
                  </a:ext>
                </a:extLst>
              </p:cNvPr>
              <p:cNvCxnSpPr>
                <a:cxnSpLocks/>
                <a:endCxn id="37" idx="2"/>
              </p:cNvCxnSpPr>
              <p:nvPr/>
            </p:nvCxnSpPr>
            <p:spPr>
              <a:xfrm flipV="1">
                <a:off x="-568975" y="5065807"/>
                <a:ext cx="251471" cy="51569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ADDF954-5151-E1CE-8A8D-7277C3AD1348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3D71CB-E9F9-DF11-96F9-1AE81059FF79}"/>
              </a:ext>
            </a:extLst>
          </p:cNvPr>
          <p:cNvSpPr/>
          <p:nvPr/>
        </p:nvSpPr>
        <p:spPr>
          <a:xfrm>
            <a:off x="19344" y="5901254"/>
            <a:ext cx="2828234" cy="956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Free(E)</a:t>
            </a:r>
            <a:endParaRPr lang="en-AE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Level#9 – Allocated</a:t>
            </a:r>
          </a:p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buddy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FREE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C807EAB-418E-C07C-5A1A-8274283AADCE}"/>
              </a:ext>
            </a:extLst>
          </p:cNvPr>
          <p:cNvGrpSpPr/>
          <p:nvPr/>
        </p:nvGrpSpPr>
        <p:grpSpPr>
          <a:xfrm>
            <a:off x="4268622" y="4700981"/>
            <a:ext cx="1119024" cy="1492955"/>
            <a:chOff x="-797656" y="4094684"/>
            <a:chExt cx="1119024" cy="1492955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C2E377E-A52A-3D41-8996-93F9C6A028D5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E1C4275-1B41-0DE0-9042-43A0B8FAE2CC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83215ECF-E0A8-DC61-1425-EB1F210FD539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L9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7" name="Rectangle 76">
                      <a:extLst>
                        <a:ext uri="{FF2B5EF4-FFF2-40B4-BE49-F238E27FC236}">
                          <a16:creationId xmlns:a16="http://schemas.microsoft.com/office/drawing/2014/main" id="{77B23381-EC13-4AD4-B17E-6C557F8079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77" name="Rectangle 76">
                      <a:extLst>
                        <a:ext uri="{FF2B5EF4-FFF2-40B4-BE49-F238E27FC236}">
                          <a16:creationId xmlns:a16="http://schemas.microsoft.com/office/drawing/2014/main" id="{77B23381-EC13-4AD4-B17E-6C557F80794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925C77DC-8DA6-50F9-79A1-09CAB78EF0AA}"/>
                  </a:ext>
                </a:extLst>
              </p:cNvPr>
              <p:cNvCxnSpPr>
                <a:cxnSpLocks/>
                <a:endCxn id="76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8F821D8-B675-06FD-DDD1-BE31A818E2AD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5B43529-242B-9CA3-DAC4-466776242BB9}"/>
              </a:ext>
            </a:extLst>
          </p:cNvPr>
          <p:cNvGrpSpPr/>
          <p:nvPr/>
        </p:nvGrpSpPr>
        <p:grpSpPr>
          <a:xfrm>
            <a:off x="1562033" y="2699337"/>
            <a:ext cx="1610014" cy="528536"/>
            <a:chOff x="6615090" y="1508565"/>
            <a:chExt cx="1657611" cy="528536"/>
          </a:xfrm>
        </p:grpSpPr>
        <p:sp>
          <p:nvSpPr>
            <p:cNvPr id="124" name="Rectangle 13">
              <a:extLst>
                <a:ext uri="{FF2B5EF4-FFF2-40B4-BE49-F238E27FC236}">
                  <a16:creationId xmlns:a16="http://schemas.microsoft.com/office/drawing/2014/main" id="{0822BC55-237B-E97B-47B1-37050C13B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622" y="1508565"/>
              <a:ext cx="750938" cy="5285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400" dirty="0" err="1">
                  <a:solidFill>
                    <a:prstClr val="black"/>
                  </a:solidFill>
                </a:rPr>
                <a:t>L_buddy</a:t>
              </a:r>
              <a:endParaRPr lang="en-US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125" name="Arrow: Right 124">
              <a:extLst>
                <a:ext uri="{FF2B5EF4-FFF2-40B4-BE49-F238E27FC236}">
                  <a16:creationId xmlns:a16="http://schemas.microsoft.com/office/drawing/2014/main" id="{3DF36D33-3134-FB9F-A34F-02877966D4BA}"/>
                </a:ext>
              </a:extLst>
            </p:cNvPr>
            <p:cNvSpPr/>
            <p:nvPr/>
          </p:nvSpPr>
          <p:spPr>
            <a:xfrm>
              <a:off x="6615090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6" name="Arrow: Bent 125">
              <a:extLst>
                <a:ext uri="{FF2B5EF4-FFF2-40B4-BE49-F238E27FC236}">
                  <a16:creationId xmlns:a16="http://schemas.microsoft.com/office/drawing/2014/main" id="{4B5CBE81-C1EF-5CCA-181B-41BBBC4FCF42}"/>
                </a:ext>
              </a:extLst>
            </p:cNvPr>
            <p:cNvSpPr/>
            <p:nvPr/>
          </p:nvSpPr>
          <p:spPr>
            <a:xfrm rot="5400000">
              <a:off x="79146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92CEF94-5194-2EC6-0BD0-777F77EBE49B}"/>
              </a:ext>
            </a:extLst>
          </p:cNvPr>
          <p:cNvGrpSpPr/>
          <p:nvPr/>
        </p:nvGrpSpPr>
        <p:grpSpPr>
          <a:xfrm>
            <a:off x="1545939" y="1095062"/>
            <a:ext cx="2181534" cy="528536"/>
            <a:chOff x="7246279" y="1508565"/>
            <a:chExt cx="2246022" cy="528536"/>
          </a:xfrm>
        </p:grpSpPr>
        <p:sp>
          <p:nvSpPr>
            <p:cNvPr id="5" name="Rectangle 13">
              <a:extLst>
                <a:ext uri="{FF2B5EF4-FFF2-40B4-BE49-F238E27FC236}">
                  <a16:creationId xmlns:a16="http://schemas.microsoft.com/office/drawing/2014/main" id="{CC506BB4-BB55-3E1E-9310-C64827BE2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8810" y="1508565"/>
              <a:ext cx="1373433" cy="52853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R_buddy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8CE273D6-3C6F-2F82-45E9-CD59BEB598B2}"/>
                </a:ext>
              </a:extLst>
            </p:cNvPr>
            <p:cNvSpPr/>
            <p:nvPr/>
          </p:nvSpPr>
          <p:spPr>
            <a:xfrm>
              <a:off x="7246279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Arrow: Bent 7">
              <a:extLst>
                <a:ext uri="{FF2B5EF4-FFF2-40B4-BE49-F238E27FC236}">
                  <a16:creationId xmlns:a16="http://schemas.microsoft.com/office/drawing/2014/main" id="{69F4542C-9E15-3E18-E5D5-11BAD7A17C65}"/>
                </a:ext>
              </a:extLst>
            </p:cNvPr>
            <p:cNvSpPr/>
            <p:nvPr/>
          </p:nvSpPr>
          <p:spPr>
            <a:xfrm rot="5400000">
              <a:off x="91342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CB494A9-CB99-857D-EE5C-228EDD491985}"/>
              </a:ext>
            </a:extLst>
          </p:cNvPr>
          <p:cNvGrpSpPr/>
          <p:nvPr/>
        </p:nvGrpSpPr>
        <p:grpSpPr>
          <a:xfrm>
            <a:off x="3152635" y="4692457"/>
            <a:ext cx="1119024" cy="1492955"/>
            <a:chOff x="-797656" y="4094684"/>
            <a:chExt cx="1119024" cy="149295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399932-8AF1-5030-74E9-3496EA820A92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BE9BE3D-36E9-2635-49CC-BAC6DFF0C9AF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A1645AA2-8067-F114-722E-BC7C333D233D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L9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28B6CE2B-2D96-EA01-259D-D6BF9F41DB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28B6CE2B-2D96-EA01-259D-D6BF9F41DBA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9CAE67A-CB20-8B72-CCE6-43BCF8AD3B8C}"/>
                  </a:ext>
                </a:extLst>
              </p:cNvPr>
              <p:cNvCxnSpPr>
                <a:cxnSpLocks/>
                <a:endCxn id="15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BFFA50-E92A-5B8F-1BA3-4CB792690D60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09ED167-5D2A-A3CF-C150-4B62396FA853}"/>
              </a:ext>
            </a:extLst>
          </p:cNvPr>
          <p:cNvGrpSpPr/>
          <p:nvPr/>
        </p:nvGrpSpPr>
        <p:grpSpPr>
          <a:xfrm>
            <a:off x="1534195" y="2680022"/>
            <a:ext cx="2817757" cy="541487"/>
            <a:chOff x="5371642" y="1508565"/>
            <a:chExt cx="2901059" cy="541487"/>
          </a:xfrm>
        </p:grpSpPr>
        <p:sp>
          <p:nvSpPr>
            <p:cNvPr id="38" name="Rectangle 13">
              <a:extLst>
                <a:ext uri="{FF2B5EF4-FFF2-40B4-BE49-F238E27FC236}">
                  <a16:creationId xmlns:a16="http://schemas.microsoft.com/office/drawing/2014/main" id="{50D190DA-50BD-F8A6-585B-CFA543A19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3510" y="1521516"/>
              <a:ext cx="750938" cy="5285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400" dirty="0" err="1">
                  <a:solidFill>
                    <a:prstClr val="black"/>
                  </a:solidFill>
                </a:rPr>
                <a:t>R_buddy</a:t>
              </a:r>
              <a:endParaRPr lang="en-US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111BBD2-A389-558C-2365-47EF3D421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622" y="1508565"/>
              <a:ext cx="750938" cy="5285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400" dirty="0" err="1">
                  <a:solidFill>
                    <a:prstClr val="black"/>
                  </a:solidFill>
                </a:rPr>
                <a:t>L_buddy</a:t>
              </a:r>
              <a:endParaRPr lang="en-US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0AD77E96-83EF-C44C-E193-0514436E2227}"/>
                </a:ext>
              </a:extLst>
            </p:cNvPr>
            <p:cNvSpPr/>
            <p:nvPr/>
          </p:nvSpPr>
          <p:spPr>
            <a:xfrm>
              <a:off x="6615090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1" name="Arrow: Bent 40">
              <a:extLst>
                <a:ext uri="{FF2B5EF4-FFF2-40B4-BE49-F238E27FC236}">
                  <a16:creationId xmlns:a16="http://schemas.microsoft.com/office/drawing/2014/main" id="{F0CC2F4E-0E5E-8794-4143-B3AAC5179A7E}"/>
                </a:ext>
              </a:extLst>
            </p:cNvPr>
            <p:cNvSpPr/>
            <p:nvPr/>
          </p:nvSpPr>
          <p:spPr>
            <a:xfrm rot="5400000">
              <a:off x="79146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D9D482C5-CCDB-7789-FEFE-7DF9083825BE}"/>
                </a:ext>
              </a:extLst>
            </p:cNvPr>
            <p:cNvSpPr/>
            <p:nvPr/>
          </p:nvSpPr>
          <p:spPr>
            <a:xfrm>
              <a:off x="5371642" y="1757511"/>
              <a:ext cx="452109" cy="511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ACF1016-EDFD-F1C4-C775-9F2BEEE1C4C7}"/>
              </a:ext>
            </a:extLst>
          </p:cNvPr>
          <p:cNvSpPr/>
          <p:nvPr/>
        </p:nvSpPr>
        <p:spPr>
          <a:xfrm>
            <a:off x="6694114" y="1551836"/>
            <a:ext cx="4303247" cy="162857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F41D76F-44AD-4320-7292-CC784D189512}"/>
              </a:ext>
            </a:extLst>
          </p:cNvPr>
          <p:cNvGrpSpPr/>
          <p:nvPr/>
        </p:nvGrpSpPr>
        <p:grpSpPr>
          <a:xfrm>
            <a:off x="1522531" y="1824458"/>
            <a:ext cx="3337322" cy="541487"/>
            <a:chOff x="5371642" y="1508565"/>
            <a:chExt cx="3435978" cy="541487"/>
          </a:xfrm>
        </p:grpSpPr>
        <p:sp>
          <p:nvSpPr>
            <p:cNvPr id="45" name="Rectangle 13">
              <a:extLst>
                <a:ext uri="{FF2B5EF4-FFF2-40B4-BE49-F238E27FC236}">
                  <a16:creationId xmlns:a16="http://schemas.microsoft.com/office/drawing/2014/main" id="{459C858F-4C2A-C48F-B2AD-F8767D6E2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3510" y="1521516"/>
              <a:ext cx="1016344" cy="52853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800" dirty="0" err="1">
                  <a:solidFill>
                    <a:prstClr val="black"/>
                  </a:solidFill>
                </a:rPr>
                <a:t>L_buddy</a:t>
              </a: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48" name="Rectangle 13">
              <a:extLst>
                <a:ext uri="{FF2B5EF4-FFF2-40B4-BE49-F238E27FC236}">
                  <a16:creationId xmlns:a16="http://schemas.microsoft.com/office/drawing/2014/main" id="{83758FD4-1F68-165A-4295-282609AC3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375" y="1508565"/>
              <a:ext cx="1016344" cy="52853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sz="1800" dirty="0" err="1">
                  <a:solidFill>
                    <a:prstClr val="black"/>
                  </a:solidFill>
                </a:rPr>
                <a:t>R_buddy</a:t>
              </a: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CA10A42E-0779-B924-46FA-0EB5AAFBBB82}"/>
                </a:ext>
              </a:extLst>
            </p:cNvPr>
            <p:cNvSpPr/>
            <p:nvPr/>
          </p:nvSpPr>
          <p:spPr>
            <a:xfrm>
              <a:off x="6871843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1" name="Arrow: Bent 50">
              <a:extLst>
                <a:ext uri="{FF2B5EF4-FFF2-40B4-BE49-F238E27FC236}">
                  <a16:creationId xmlns:a16="http://schemas.microsoft.com/office/drawing/2014/main" id="{E0E0780C-5CA0-9ED3-C11B-59B3EFD4E6B3}"/>
                </a:ext>
              </a:extLst>
            </p:cNvPr>
            <p:cNvSpPr/>
            <p:nvPr/>
          </p:nvSpPr>
          <p:spPr>
            <a:xfrm rot="5400000">
              <a:off x="8449569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7B97C5B2-68CD-B3B5-D608-35DC76A6CB44}"/>
                </a:ext>
              </a:extLst>
            </p:cNvPr>
            <p:cNvSpPr/>
            <p:nvPr/>
          </p:nvSpPr>
          <p:spPr>
            <a:xfrm>
              <a:off x="5371642" y="1757511"/>
              <a:ext cx="452109" cy="511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6A69DFE-E09E-B87E-A10E-DEE4721A266D}"/>
              </a:ext>
            </a:extLst>
          </p:cNvPr>
          <p:cNvSpPr/>
          <p:nvPr/>
        </p:nvSpPr>
        <p:spPr>
          <a:xfrm>
            <a:off x="6694114" y="2895042"/>
            <a:ext cx="4303247" cy="285366"/>
          </a:xfrm>
          <a:prstGeom prst="roundRect">
            <a:avLst/>
          </a:prstGeom>
          <a:solidFill>
            <a:srgbClr val="F79646">
              <a:alpha val="40000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A3417341-C49A-BD8B-DAA1-52852743A1C0}"/>
              </a:ext>
            </a:extLst>
          </p:cNvPr>
          <p:cNvSpPr/>
          <p:nvPr/>
        </p:nvSpPr>
        <p:spPr>
          <a:xfrm>
            <a:off x="6151418" y="706582"/>
            <a:ext cx="571500" cy="2369127"/>
          </a:xfrm>
          <a:custGeom>
            <a:avLst/>
            <a:gdLst>
              <a:gd name="csX0" fmla="*/ 519546 w 571500"/>
              <a:gd name="csY0" fmla="*/ 2369127 h 2369127"/>
              <a:gd name="csX1" fmla="*/ 280555 w 571500"/>
              <a:gd name="csY1" fmla="*/ 2348345 h 2369127"/>
              <a:gd name="csX2" fmla="*/ 218209 w 571500"/>
              <a:gd name="csY2" fmla="*/ 2275609 h 2369127"/>
              <a:gd name="csX3" fmla="*/ 135082 w 571500"/>
              <a:gd name="csY3" fmla="*/ 2130136 h 2369127"/>
              <a:gd name="csX4" fmla="*/ 93518 w 571500"/>
              <a:gd name="csY4" fmla="*/ 2057400 h 2369127"/>
              <a:gd name="csX5" fmla="*/ 51955 w 571500"/>
              <a:gd name="csY5" fmla="*/ 1880754 h 2369127"/>
              <a:gd name="csX6" fmla="*/ 31173 w 571500"/>
              <a:gd name="csY6" fmla="*/ 1797627 h 2369127"/>
              <a:gd name="csX7" fmla="*/ 20782 w 571500"/>
              <a:gd name="csY7" fmla="*/ 1641763 h 2369127"/>
              <a:gd name="csX8" fmla="*/ 10391 w 571500"/>
              <a:gd name="csY8" fmla="*/ 1433945 h 2369127"/>
              <a:gd name="csX9" fmla="*/ 0 w 571500"/>
              <a:gd name="csY9" fmla="*/ 1319645 h 2369127"/>
              <a:gd name="csX10" fmla="*/ 20782 w 571500"/>
              <a:gd name="csY10" fmla="*/ 571500 h 2369127"/>
              <a:gd name="csX11" fmla="*/ 31173 w 571500"/>
              <a:gd name="csY11" fmla="*/ 519545 h 2369127"/>
              <a:gd name="csX12" fmla="*/ 51955 w 571500"/>
              <a:gd name="csY12" fmla="*/ 467591 h 2369127"/>
              <a:gd name="csX13" fmla="*/ 72737 w 571500"/>
              <a:gd name="csY13" fmla="*/ 405245 h 2369127"/>
              <a:gd name="csX14" fmla="*/ 114300 w 571500"/>
              <a:gd name="csY14" fmla="*/ 332509 h 2369127"/>
              <a:gd name="csX15" fmla="*/ 135082 w 571500"/>
              <a:gd name="csY15" fmla="*/ 280554 h 2369127"/>
              <a:gd name="csX16" fmla="*/ 145473 w 571500"/>
              <a:gd name="csY16" fmla="*/ 228600 h 2369127"/>
              <a:gd name="csX17" fmla="*/ 176646 w 571500"/>
              <a:gd name="csY17" fmla="*/ 197427 h 2369127"/>
              <a:gd name="csX18" fmla="*/ 187037 w 571500"/>
              <a:gd name="csY18" fmla="*/ 166254 h 2369127"/>
              <a:gd name="csX19" fmla="*/ 332509 w 571500"/>
              <a:gd name="csY19" fmla="*/ 31173 h 2369127"/>
              <a:gd name="csX20" fmla="*/ 374073 w 571500"/>
              <a:gd name="csY20" fmla="*/ 10391 h 2369127"/>
              <a:gd name="csX21" fmla="*/ 457200 w 571500"/>
              <a:gd name="csY21" fmla="*/ 0 h 2369127"/>
              <a:gd name="csX22" fmla="*/ 571500 w 571500"/>
              <a:gd name="csY22" fmla="*/ 20782 h 2369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71500" h="2369127">
                <a:moveTo>
                  <a:pt x="519546" y="2369127"/>
                </a:moveTo>
                <a:cubicBezTo>
                  <a:pt x="439882" y="2362200"/>
                  <a:pt x="356926" y="2372046"/>
                  <a:pt x="280555" y="2348345"/>
                </a:cubicBezTo>
                <a:cubicBezTo>
                  <a:pt x="250057" y="2338880"/>
                  <a:pt x="237679" y="2300920"/>
                  <a:pt x="218209" y="2275609"/>
                </a:cubicBezTo>
                <a:cubicBezTo>
                  <a:pt x="170657" y="2213791"/>
                  <a:pt x="173930" y="2202975"/>
                  <a:pt x="135082" y="2130136"/>
                </a:cubicBezTo>
                <a:cubicBezTo>
                  <a:pt x="121941" y="2105497"/>
                  <a:pt x="107373" y="2081645"/>
                  <a:pt x="93518" y="2057400"/>
                </a:cubicBezTo>
                <a:cubicBezTo>
                  <a:pt x="54225" y="1841278"/>
                  <a:pt x="93238" y="2025245"/>
                  <a:pt x="51955" y="1880754"/>
                </a:cubicBezTo>
                <a:cubicBezTo>
                  <a:pt x="44108" y="1853291"/>
                  <a:pt x="31173" y="1797627"/>
                  <a:pt x="31173" y="1797627"/>
                </a:cubicBezTo>
                <a:cubicBezTo>
                  <a:pt x="27709" y="1745672"/>
                  <a:pt x="23753" y="1693748"/>
                  <a:pt x="20782" y="1641763"/>
                </a:cubicBezTo>
                <a:cubicBezTo>
                  <a:pt x="16825" y="1572517"/>
                  <a:pt x="14857" y="1503160"/>
                  <a:pt x="10391" y="1433945"/>
                </a:cubicBezTo>
                <a:cubicBezTo>
                  <a:pt x="7928" y="1395767"/>
                  <a:pt x="3464" y="1357745"/>
                  <a:pt x="0" y="1319645"/>
                </a:cubicBezTo>
                <a:cubicBezTo>
                  <a:pt x="6927" y="1070263"/>
                  <a:pt x="11069" y="820789"/>
                  <a:pt x="20782" y="571500"/>
                </a:cubicBezTo>
                <a:cubicBezTo>
                  <a:pt x="21470" y="553852"/>
                  <a:pt x="26098" y="536461"/>
                  <a:pt x="31173" y="519545"/>
                </a:cubicBezTo>
                <a:cubicBezTo>
                  <a:pt x="36533" y="501680"/>
                  <a:pt x="45581" y="485120"/>
                  <a:pt x="51955" y="467591"/>
                </a:cubicBezTo>
                <a:cubicBezTo>
                  <a:pt x="59441" y="447004"/>
                  <a:pt x="63557" y="425135"/>
                  <a:pt x="72737" y="405245"/>
                </a:cubicBezTo>
                <a:cubicBezTo>
                  <a:pt x="84439" y="379891"/>
                  <a:pt x="101812" y="357485"/>
                  <a:pt x="114300" y="332509"/>
                </a:cubicBezTo>
                <a:cubicBezTo>
                  <a:pt x="122642" y="315826"/>
                  <a:pt x="129722" y="298420"/>
                  <a:pt x="135082" y="280554"/>
                </a:cubicBezTo>
                <a:cubicBezTo>
                  <a:pt x="140157" y="263638"/>
                  <a:pt x="137575" y="244396"/>
                  <a:pt x="145473" y="228600"/>
                </a:cubicBezTo>
                <a:cubicBezTo>
                  <a:pt x="152045" y="215456"/>
                  <a:pt x="166255" y="207818"/>
                  <a:pt x="176646" y="197427"/>
                </a:cubicBezTo>
                <a:cubicBezTo>
                  <a:pt x="180110" y="187036"/>
                  <a:pt x="181402" y="175646"/>
                  <a:pt x="187037" y="166254"/>
                </a:cubicBezTo>
                <a:cubicBezTo>
                  <a:pt x="230473" y="93859"/>
                  <a:pt x="252291" y="71282"/>
                  <a:pt x="332509" y="31173"/>
                </a:cubicBezTo>
                <a:cubicBezTo>
                  <a:pt x="346364" y="24246"/>
                  <a:pt x="359046" y="14148"/>
                  <a:pt x="374073" y="10391"/>
                </a:cubicBezTo>
                <a:cubicBezTo>
                  <a:pt x="401164" y="3618"/>
                  <a:pt x="429491" y="3464"/>
                  <a:pt x="457200" y="0"/>
                </a:cubicBezTo>
                <a:cubicBezTo>
                  <a:pt x="558416" y="11246"/>
                  <a:pt x="522665" y="-3636"/>
                  <a:pt x="571500" y="20782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8B535FB-B0AD-7907-CE15-0145CB9EAE73}"/>
              </a:ext>
            </a:extLst>
          </p:cNvPr>
          <p:cNvGrpSpPr/>
          <p:nvPr/>
        </p:nvGrpSpPr>
        <p:grpSpPr>
          <a:xfrm>
            <a:off x="5418539" y="4688600"/>
            <a:ext cx="1119024" cy="1492955"/>
            <a:chOff x="-797656" y="4094684"/>
            <a:chExt cx="1119024" cy="1492955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2DE6A37C-59C8-0C00-F809-00C6522C4501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F6B00D9C-D4C3-C175-6614-62AF00726048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E874A403-3C0C-3EA8-102D-DAE3A68D881F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L10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7" name="Rectangle 106">
                      <a:extLst>
                        <a:ext uri="{FF2B5EF4-FFF2-40B4-BE49-F238E27FC236}">
                          <a16:creationId xmlns:a16="http://schemas.microsoft.com/office/drawing/2014/main" id="{641580AD-F5F6-A32F-AA17-1B2DDA6C97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107" name="Rectangle 106">
                      <a:extLst>
                        <a:ext uri="{FF2B5EF4-FFF2-40B4-BE49-F238E27FC236}">
                          <a16:creationId xmlns:a16="http://schemas.microsoft.com/office/drawing/2014/main" id="{641580AD-F5F6-A32F-AA17-1B2DDA6C972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DC67D98-A9A2-E0F5-CA13-783819BAB9AB}"/>
                  </a:ext>
                </a:extLst>
              </p:cNvPr>
              <p:cNvCxnSpPr>
                <a:cxnSpLocks/>
                <a:endCxn id="106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F715ABA-16B6-07E9-A372-1C51D1C93D5B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0BF5EF0-5DF8-8C2E-E36E-4146353A7952}"/>
              </a:ext>
            </a:extLst>
          </p:cNvPr>
          <p:cNvGrpSpPr/>
          <p:nvPr/>
        </p:nvGrpSpPr>
        <p:grpSpPr>
          <a:xfrm>
            <a:off x="3149757" y="4692511"/>
            <a:ext cx="1119024" cy="1492955"/>
            <a:chOff x="-797656" y="4094684"/>
            <a:chExt cx="1119024" cy="1492955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526B50F-12F7-C709-B1CC-5DC1BFDAF782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CA2012CF-9816-7208-C018-4C35BCD1D2E7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789A3F99-8F36-790B-BB31-F6A8BD57E9E1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L10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4" name="Rectangle 113">
                      <a:extLst>
                        <a:ext uri="{FF2B5EF4-FFF2-40B4-BE49-F238E27FC236}">
                          <a16:creationId xmlns:a16="http://schemas.microsoft.com/office/drawing/2014/main" id="{874E4DBA-0FC9-5758-401F-57EAA7026E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114" name="Rectangle 113">
                      <a:extLst>
                        <a:ext uri="{FF2B5EF4-FFF2-40B4-BE49-F238E27FC236}">
                          <a16:creationId xmlns:a16="http://schemas.microsoft.com/office/drawing/2014/main" id="{874E4DBA-0FC9-5758-401F-57EAA7026E9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413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A1FFFD59-3E8C-C70F-CC25-07B372B9BB1D}"/>
                  </a:ext>
                </a:extLst>
              </p:cNvPr>
              <p:cNvCxnSpPr>
                <a:cxnSpLocks/>
                <a:endCxn id="113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B44F4D1-13DB-3E56-0D50-9DE561508EB2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sp>
        <p:nvSpPr>
          <p:cNvPr id="119" name="Arrow: Bent 118">
            <a:extLst>
              <a:ext uri="{FF2B5EF4-FFF2-40B4-BE49-F238E27FC236}">
                <a16:creationId xmlns:a16="http://schemas.microsoft.com/office/drawing/2014/main" id="{8D818024-DC1F-5417-5A61-16F4CE8BA774}"/>
              </a:ext>
            </a:extLst>
          </p:cNvPr>
          <p:cNvSpPr/>
          <p:nvPr/>
        </p:nvSpPr>
        <p:spPr>
          <a:xfrm rot="5400000">
            <a:off x="1744960" y="2706831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0" name="Arrow: Bent 119">
            <a:extLst>
              <a:ext uri="{FF2B5EF4-FFF2-40B4-BE49-F238E27FC236}">
                <a16:creationId xmlns:a16="http://schemas.microsoft.com/office/drawing/2014/main" id="{DA092C15-1DE3-2150-6E7A-0F372880058D}"/>
              </a:ext>
            </a:extLst>
          </p:cNvPr>
          <p:cNvSpPr/>
          <p:nvPr/>
        </p:nvSpPr>
        <p:spPr>
          <a:xfrm rot="5400000">
            <a:off x="1710644" y="1870916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1ACABBA8-068C-D022-12A6-F68FCB247C6B}"/>
              </a:ext>
            </a:extLst>
          </p:cNvPr>
          <p:cNvGrpSpPr/>
          <p:nvPr/>
        </p:nvGrpSpPr>
        <p:grpSpPr>
          <a:xfrm>
            <a:off x="3155513" y="4700031"/>
            <a:ext cx="1119024" cy="1492955"/>
            <a:chOff x="-797656" y="4094684"/>
            <a:chExt cx="1119024" cy="1492955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1EFF2903-F754-4E63-C5C0-D26DFFB0F2B6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ECF49FEA-AD03-3844-897A-A5E538364D20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E1934EB4-9BD3-D34B-0F63-59306ED7B7B6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L11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7" name="Rectangle 146">
                      <a:extLst>
                        <a:ext uri="{FF2B5EF4-FFF2-40B4-BE49-F238E27FC236}">
                          <a16:creationId xmlns:a16="http://schemas.microsoft.com/office/drawing/2014/main" id="{897B6E25-7139-29E5-AE96-E39438ED43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147" name="Rectangle 146">
                      <a:extLst>
                        <a:ext uri="{FF2B5EF4-FFF2-40B4-BE49-F238E27FC236}">
                          <a16:creationId xmlns:a16="http://schemas.microsoft.com/office/drawing/2014/main" id="{897B6E25-7139-29E5-AE96-E39438ED437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413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9F908AD8-5DF5-2CAE-5E9D-1EF5A0E44489}"/>
                  </a:ext>
                </a:extLst>
              </p:cNvPr>
              <p:cNvCxnSpPr>
                <a:cxnSpLocks/>
                <a:endCxn id="146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A244FD9-6AC6-936E-D79B-F414176EA265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8BA541B2-8DC0-B7F3-E782-09904E0780D0}"/>
              </a:ext>
            </a:extLst>
          </p:cNvPr>
          <p:cNvGrpSpPr/>
          <p:nvPr/>
        </p:nvGrpSpPr>
        <p:grpSpPr>
          <a:xfrm>
            <a:off x="1534195" y="1079422"/>
            <a:ext cx="4002346" cy="541487"/>
            <a:chOff x="5371642" y="1508565"/>
            <a:chExt cx="4120659" cy="541487"/>
          </a:xfrm>
        </p:grpSpPr>
        <p:sp>
          <p:nvSpPr>
            <p:cNvPr id="149" name="Rectangle 13">
              <a:extLst>
                <a:ext uri="{FF2B5EF4-FFF2-40B4-BE49-F238E27FC236}">
                  <a16:creationId xmlns:a16="http://schemas.microsoft.com/office/drawing/2014/main" id="{D44BE78A-DDE1-842E-90D9-09B5EEEAE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3509" y="1521516"/>
              <a:ext cx="1373433" cy="52853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L_buddy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150" name="Rectangle 13">
              <a:extLst>
                <a:ext uri="{FF2B5EF4-FFF2-40B4-BE49-F238E27FC236}">
                  <a16:creationId xmlns:a16="http://schemas.microsoft.com/office/drawing/2014/main" id="{0540EB9B-1FC3-1ACC-6EC9-253554567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8810" y="1508565"/>
              <a:ext cx="1373433" cy="52853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914400"/>
              <a:r>
                <a:rPr lang="en-US" altLang="en-US" dirty="0" err="1">
                  <a:solidFill>
                    <a:prstClr val="black"/>
                  </a:solidFill>
                </a:rPr>
                <a:t>R_buddy</a:t>
              </a:r>
              <a:endParaRPr lang="en-US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151" name="Arrow: Right 150">
              <a:extLst>
                <a:ext uri="{FF2B5EF4-FFF2-40B4-BE49-F238E27FC236}">
                  <a16:creationId xmlns:a16="http://schemas.microsoft.com/office/drawing/2014/main" id="{30183203-4578-BBA7-FB10-B4C0063B7659}"/>
                </a:ext>
              </a:extLst>
            </p:cNvPr>
            <p:cNvSpPr/>
            <p:nvPr/>
          </p:nvSpPr>
          <p:spPr>
            <a:xfrm>
              <a:off x="7246279" y="1723585"/>
              <a:ext cx="422350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2" name="Arrow: Bent 151">
              <a:extLst>
                <a:ext uri="{FF2B5EF4-FFF2-40B4-BE49-F238E27FC236}">
                  <a16:creationId xmlns:a16="http://schemas.microsoft.com/office/drawing/2014/main" id="{3E5820F2-5D9C-4827-ED8A-9E521813F0A1}"/>
                </a:ext>
              </a:extLst>
            </p:cNvPr>
            <p:cNvSpPr/>
            <p:nvPr/>
          </p:nvSpPr>
          <p:spPr>
            <a:xfrm rot="5400000">
              <a:off x="9134250" y="1651644"/>
              <a:ext cx="286110" cy="429993"/>
            </a:xfrm>
            <a:prstGeom prst="bent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4" name="Arrow: Right 153">
              <a:extLst>
                <a:ext uri="{FF2B5EF4-FFF2-40B4-BE49-F238E27FC236}">
                  <a16:creationId xmlns:a16="http://schemas.microsoft.com/office/drawing/2014/main" id="{3D98CC4A-23B1-A7A7-6ABE-CAA9674ECFC0}"/>
                </a:ext>
              </a:extLst>
            </p:cNvPr>
            <p:cNvSpPr/>
            <p:nvPr/>
          </p:nvSpPr>
          <p:spPr>
            <a:xfrm>
              <a:off x="5371642" y="1757511"/>
              <a:ext cx="452109" cy="511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3E2FB7D-503A-0AE8-445C-33EA91F47F66}"/>
              </a:ext>
            </a:extLst>
          </p:cNvPr>
          <p:cNvGrpSpPr/>
          <p:nvPr/>
        </p:nvGrpSpPr>
        <p:grpSpPr>
          <a:xfrm>
            <a:off x="7577634" y="4696192"/>
            <a:ext cx="1119024" cy="1492955"/>
            <a:chOff x="-797656" y="4094684"/>
            <a:chExt cx="1119024" cy="1492955"/>
          </a:xfrm>
        </p:grpSpPr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DE3E3C31-7188-DAFB-26FB-F18AD679A1B9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B438D0A2-F922-3870-091D-7A7F146AE5C9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C2588DA6-B013-0C36-5835-6719D7E78C6E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L11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66" name="Rectangle 165">
                      <a:extLst>
                        <a:ext uri="{FF2B5EF4-FFF2-40B4-BE49-F238E27FC236}">
                          <a16:creationId xmlns:a16="http://schemas.microsoft.com/office/drawing/2014/main" id="{59A010CF-3A43-779B-B05A-C3A5DFA827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166" name="Rectangle 165">
                      <a:extLst>
                        <a:ext uri="{FF2B5EF4-FFF2-40B4-BE49-F238E27FC236}">
                          <a16:creationId xmlns:a16="http://schemas.microsoft.com/office/drawing/2014/main" id="{59A010CF-3A43-779B-B05A-C3A5DFA8272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63" name="Straight Arrow Connector 162">
                <a:extLst>
                  <a:ext uri="{FF2B5EF4-FFF2-40B4-BE49-F238E27FC236}">
                    <a16:creationId xmlns:a16="http://schemas.microsoft.com/office/drawing/2014/main" id="{1B222C7F-B26B-F3A1-1EBA-CA0208C902DA}"/>
                  </a:ext>
                </a:extLst>
              </p:cNvPr>
              <p:cNvCxnSpPr>
                <a:cxnSpLocks/>
                <a:endCxn id="165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C665331E-3CD5-0B27-0407-40F99DBA288C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sp>
        <p:nvSpPr>
          <p:cNvPr id="167" name="Arrow: Bent 166">
            <a:extLst>
              <a:ext uri="{FF2B5EF4-FFF2-40B4-BE49-F238E27FC236}">
                <a16:creationId xmlns:a16="http://schemas.microsoft.com/office/drawing/2014/main" id="{40AEAD14-2123-927E-1FF8-274FA80A77C9}"/>
              </a:ext>
            </a:extLst>
          </p:cNvPr>
          <p:cNvSpPr/>
          <p:nvPr/>
        </p:nvSpPr>
        <p:spPr>
          <a:xfrm rot="5400000">
            <a:off x="1735902" y="1110224"/>
            <a:ext cx="376421" cy="729379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F8F2F9F7-943D-6134-BF74-31D4B49C7A07}"/>
              </a:ext>
            </a:extLst>
          </p:cNvPr>
          <p:cNvSpPr/>
          <p:nvPr/>
        </p:nvSpPr>
        <p:spPr>
          <a:xfrm>
            <a:off x="6706730" y="2563309"/>
            <a:ext cx="4303247" cy="285366"/>
          </a:xfrm>
          <a:prstGeom prst="roundRect">
            <a:avLst/>
          </a:prstGeom>
          <a:solidFill>
            <a:srgbClr val="F79646">
              <a:alpha val="40000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cxnSp>
        <p:nvCxnSpPr>
          <p:cNvPr id="169" name="Connector: Curved 168">
            <a:extLst>
              <a:ext uri="{FF2B5EF4-FFF2-40B4-BE49-F238E27FC236}">
                <a16:creationId xmlns:a16="http://schemas.microsoft.com/office/drawing/2014/main" id="{D48BE08A-376A-7FDD-EE21-13D92DE7356C}"/>
              </a:ext>
            </a:extLst>
          </p:cNvPr>
          <p:cNvCxnSpPr>
            <a:cxnSpLocks/>
            <a:stCxn id="88" idx="0"/>
            <a:endCxn id="130" idx="1"/>
          </p:cNvCxnSpPr>
          <p:nvPr/>
        </p:nvCxnSpPr>
        <p:spPr>
          <a:xfrm rot="5400000" flipH="1" flipV="1">
            <a:off x="8922870" y="4076373"/>
            <a:ext cx="3071696" cy="1127746"/>
          </a:xfrm>
          <a:prstGeom prst="curvedConnector2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02550FE7-0BE9-21C1-797F-FDF582AF2591}"/>
              </a:ext>
            </a:extLst>
          </p:cNvPr>
          <p:cNvGrpSpPr/>
          <p:nvPr/>
        </p:nvGrpSpPr>
        <p:grpSpPr>
          <a:xfrm>
            <a:off x="3309826" y="6176094"/>
            <a:ext cx="8778240" cy="614364"/>
            <a:chOff x="3308294" y="6203773"/>
            <a:chExt cx="8778240" cy="614364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8D19C8A-FF0D-0672-25FD-8748D12D3601}"/>
                </a:ext>
              </a:extLst>
            </p:cNvPr>
            <p:cNvSpPr/>
            <p:nvPr/>
          </p:nvSpPr>
          <p:spPr>
            <a:xfrm>
              <a:off x="3308294" y="6203773"/>
              <a:ext cx="877824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4 KB</a:t>
              </a: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9F67613-BD72-50D8-6D7B-DFA00411C0D4}"/>
                </a:ext>
              </a:extLst>
            </p:cNvPr>
            <p:cNvSpPr/>
            <p:nvPr/>
          </p:nvSpPr>
          <p:spPr>
            <a:xfrm>
              <a:off x="3319204" y="6215071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63DAF93-0BA1-E69C-0AD5-9F37E79B3668}"/>
              </a:ext>
            </a:extLst>
          </p:cNvPr>
          <p:cNvGrpSpPr/>
          <p:nvPr/>
        </p:nvGrpSpPr>
        <p:grpSpPr>
          <a:xfrm>
            <a:off x="7700285" y="6176094"/>
            <a:ext cx="4389120" cy="609600"/>
            <a:chOff x="7705034" y="6197239"/>
            <a:chExt cx="4389120" cy="60960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9FC729F-8649-B98F-2E53-8E53A92848D5}"/>
                </a:ext>
              </a:extLst>
            </p:cNvPr>
            <p:cNvSpPr/>
            <p:nvPr/>
          </p:nvSpPr>
          <p:spPr>
            <a:xfrm>
              <a:off x="7705034" y="6197239"/>
              <a:ext cx="438912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22B7A61-9827-CB04-68ED-E3EEB4737B09}"/>
                </a:ext>
              </a:extLst>
            </p:cNvPr>
            <p:cNvSpPr/>
            <p:nvPr/>
          </p:nvSpPr>
          <p:spPr>
            <a:xfrm>
              <a:off x="7721358" y="6199916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B5BA138-8FF1-A710-5876-8A63EC2B3112}"/>
              </a:ext>
            </a:extLst>
          </p:cNvPr>
          <p:cNvGrpSpPr/>
          <p:nvPr/>
        </p:nvGrpSpPr>
        <p:grpSpPr>
          <a:xfrm>
            <a:off x="3303545" y="6176094"/>
            <a:ext cx="4389120" cy="613056"/>
            <a:chOff x="3308294" y="3609901"/>
            <a:chExt cx="4389120" cy="613056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2CA197B-52FD-5E78-043F-6EB898BA7071}"/>
                </a:ext>
              </a:extLst>
            </p:cNvPr>
            <p:cNvSpPr/>
            <p:nvPr/>
          </p:nvSpPr>
          <p:spPr>
            <a:xfrm>
              <a:off x="3308294" y="3609901"/>
              <a:ext cx="438912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D72AE71-DD7C-B419-2699-8D1F13FE23EF}"/>
                </a:ext>
              </a:extLst>
            </p:cNvPr>
            <p:cNvSpPr/>
            <p:nvPr/>
          </p:nvSpPr>
          <p:spPr>
            <a:xfrm>
              <a:off x="3315955" y="3619891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133FD41-E997-4302-4566-61C42443FA09}"/>
              </a:ext>
            </a:extLst>
          </p:cNvPr>
          <p:cNvGrpSpPr/>
          <p:nvPr/>
        </p:nvGrpSpPr>
        <p:grpSpPr>
          <a:xfrm>
            <a:off x="5492604" y="6176094"/>
            <a:ext cx="2194560" cy="613457"/>
            <a:chOff x="5495234" y="6203773"/>
            <a:chExt cx="2194560" cy="613457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6F0269B-3223-200E-8AED-5AA722C58D10}"/>
                </a:ext>
              </a:extLst>
            </p:cNvPr>
            <p:cNvSpPr/>
            <p:nvPr/>
          </p:nvSpPr>
          <p:spPr>
            <a:xfrm>
              <a:off x="5495234" y="6203773"/>
              <a:ext cx="219456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1 KB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6C16ABD-8923-7CB9-EE4E-697354AF5BFA}"/>
                </a:ext>
              </a:extLst>
            </p:cNvPr>
            <p:cNvSpPr/>
            <p:nvPr/>
          </p:nvSpPr>
          <p:spPr>
            <a:xfrm>
              <a:off x="5516016" y="6214164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E62C1EE-340A-92E9-5BD5-2F54B9044AD7}"/>
              </a:ext>
            </a:extLst>
          </p:cNvPr>
          <p:cNvGrpSpPr/>
          <p:nvPr/>
        </p:nvGrpSpPr>
        <p:grpSpPr>
          <a:xfrm>
            <a:off x="3302695" y="6176094"/>
            <a:ext cx="2194560" cy="609600"/>
            <a:chOff x="3300674" y="6203773"/>
            <a:chExt cx="2194560" cy="609600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0607FE8A-0DBD-5B70-0B99-F36666302E0C}"/>
                </a:ext>
              </a:extLst>
            </p:cNvPr>
            <p:cNvSpPr/>
            <p:nvPr/>
          </p:nvSpPr>
          <p:spPr>
            <a:xfrm>
              <a:off x="3300674" y="6203773"/>
              <a:ext cx="219456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1 KB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3033426-1A8A-2D4D-3E3A-5BC3E27C63F5}"/>
                </a:ext>
              </a:extLst>
            </p:cNvPr>
            <p:cNvSpPr/>
            <p:nvPr/>
          </p:nvSpPr>
          <p:spPr>
            <a:xfrm>
              <a:off x="3300674" y="6203773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FD4D2F-F730-B069-54FA-FEDCAF36F4BE}"/>
              </a:ext>
            </a:extLst>
          </p:cNvPr>
          <p:cNvGrpSpPr/>
          <p:nvPr/>
        </p:nvGrpSpPr>
        <p:grpSpPr>
          <a:xfrm>
            <a:off x="3300815" y="6176094"/>
            <a:ext cx="1104900" cy="609996"/>
            <a:chOff x="3300674" y="6203773"/>
            <a:chExt cx="1104900" cy="609996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9D478A56-13AE-5831-BA4F-02554B72AA92}"/>
                </a:ext>
              </a:extLst>
            </p:cNvPr>
            <p:cNvSpPr/>
            <p:nvPr/>
          </p:nvSpPr>
          <p:spPr>
            <a:xfrm>
              <a:off x="3308294" y="6204169"/>
              <a:ext cx="109728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512 B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FC9734D-93B2-0E6F-9C61-5AB3A551C043}"/>
                </a:ext>
              </a:extLst>
            </p:cNvPr>
            <p:cNvSpPr/>
            <p:nvPr/>
          </p:nvSpPr>
          <p:spPr>
            <a:xfrm>
              <a:off x="3300674" y="6203773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C37D055-9CB8-0509-EE5C-679D52C07F88}"/>
              </a:ext>
            </a:extLst>
          </p:cNvPr>
          <p:cNvGrpSpPr/>
          <p:nvPr/>
        </p:nvGrpSpPr>
        <p:grpSpPr>
          <a:xfrm>
            <a:off x="4409525" y="6176094"/>
            <a:ext cx="1097280" cy="623848"/>
            <a:chOff x="4409384" y="6204169"/>
            <a:chExt cx="1097280" cy="62384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0C792DE-931A-81A1-EEBD-4353C80E5933}"/>
                </a:ext>
              </a:extLst>
            </p:cNvPr>
            <p:cNvSpPr/>
            <p:nvPr/>
          </p:nvSpPr>
          <p:spPr>
            <a:xfrm>
              <a:off x="4409384" y="6204169"/>
              <a:ext cx="109728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512 B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A5A8B20-C65E-DDA5-677C-B0448B6FB74F}"/>
                </a:ext>
              </a:extLst>
            </p:cNvPr>
            <p:cNvSpPr/>
            <p:nvPr/>
          </p:nvSpPr>
          <p:spPr>
            <a:xfrm>
              <a:off x="4419775" y="6224951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26FBAC9-58C8-3F79-474A-13BAFB04C8D5}"/>
              </a:ext>
            </a:extLst>
          </p:cNvPr>
          <p:cNvGrpSpPr/>
          <p:nvPr/>
        </p:nvGrpSpPr>
        <p:grpSpPr>
          <a:xfrm>
            <a:off x="4429849" y="5730692"/>
            <a:ext cx="619384" cy="1076147"/>
            <a:chOff x="3289154" y="5751474"/>
            <a:chExt cx="619384" cy="107614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20E225A-7A03-41CF-DB0F-22D3061F3CF9}"/>
                </a:ext>
              </a:extLst>
            </p:cNvPr>
            <p:cNvGrpSpPr/>
            <p:nvPr/>
          </p:nvGrpSpPr>
          <p:grpSpPr>
            <a:xfrm>
              <a:off x="3289154" y="5751474"/>
              <a:ext cx="619384" cy="1066800"/>
              <a:chOff x="3289154" y="5761865"/>
              <a:chExt cx="619384" cy="10668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2BD798F-56CD-0E08-6D65-D4F944A66453}"/>
                  </a:ext>
                </a:extLst>
              </p:cNvPr>
              <p:cNvSpPr/>
              <p:nvPr/>
            </p:nvSpPr>
            <p:spPr>
              <a:xfrm>
                <a:off x="3289154" y="6219065"/>
                <a:ext cx="619384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7D07C46-43D9-92B0-63A2-01F0E5E6DF60}"/>
                  </a:ext>
                </a:extLst>
              </p:cNvPr>
              <p:cNvSpPr txBox="1"/>
              <p:nvPr/>
            </p:nvSpPr>
            <p:spPr>
              <a:xfrm>
                <a:off x="3507742" y="5761865"/>
                <a:ext cx="3593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E</a:t>
                </a: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5F903C1-3EE6-24BA-A27A-06493146B2E4}"/>
                </a:ext>
              </a:extLst>
            </p:cNvPr>
            <p:cNvSpPr/>
            <p:nvPr/>
          </p:nvSpPr>
          <p:spPr>
            <a:xfrm>
              <a:off x="3300674" y="6224555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</p:spTree>
    <p:extLst>
      <p:ext uri="{BB962C8B-B14F-4D97-AF65-F5344CB8AC3E}">
        <p14:creationId xmlns:p14="http://schemas.microsoft.com/office/powerpoint/2010/main" val="18031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6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4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8" dur="10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0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75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000"/>
                            </p:stCondLst>
                            <p:childTnLst>
                              <p:par>
                                <p:cTn id="19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7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98" dur="7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7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1" dur="75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3" grpId="0" uiExpand="1" build="allAtOnce" animBg="1"/>
      <p:bldP spid="43" grpId="0" animBg="1"/>
      <p:bldP spid="43" grpId="1" animBg="1"/>
      <p:bldP spid="53" grpId="0" animBg="1"/>
      <p:bldP spid="53" grpId="1" animBg="1"/>
      <p:bldP spid="82" grpId="0" animBg="1"/>
      <p:bldP spid="119" grpId="0" animBg="1"/>
      <p:bldP spid="120" grpId="0" animBg="1"/>
      <p:bldP spid="167" grpId="0" animBg="1"/>
      <p:bldP spid="16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EE84F-415C-18B7-6161-682423DB3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391E3-FAD2-AF7B-CA53-A58DE1B4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8182" y="5608205"/>
            <a:ext cx="2844800" cy="365125"/>
          </a:xfrm>
        </p:spPr>
        <p:txBody>
          <a:bodyPr/>
          <a:lstStyle/>
          <a:p>
            <a:pPr defTabSz="914400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00"/>
              <a:t>17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73E780-6D51-53AB-0047-A091DFE19775}"/>
              </a:ext>
            </a:extLst>
          </p:cNvPr>
          <p:cNvSpPr txBox="1">
            <a:spLocks/>
          </p:cNvSpPr>
          <p:nvPr/>
        </p:nvSpPr>
        <p:spPr>
          <a:xfrm>
            <a:off x="0" y="6005"/>
            <a:ext cx="6874569" cy="953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Dynamic Allocator </a:t>
            </a:r>
            <a:r>
              <a:rPr lang="en-US" b="1" dirty="0"/>
              <a:t>– Free</a:t>
            </a:r>
            <a:endParaRPr lang="en-AE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48B5645-7E49-7AA0-B7B5-27B88B452FE7}"/>
              </a:ext>
            </a:extLst>
          </p:cNvPr>
          <p:cNvGrpSpPr/>
          <p:nvPr/>
        </p:nvGrpSpPr>
        <p:grpSpPr>
          <a:xfrm>
            <a:off x="2690370" y="3958104"/>
            <a:ext cx="1119024" cy="1486817"/>
            <a:chOff x="-797656" y="4094684"/>
            <a:chExt cx="1119024" cy="148681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C9CEC1D-15BA-8DB5-ADB6-FF58DAE10E72}"/>
                </a:ext>
              </a:extLst>
            </p:cNvPr>
            <p:cNvGrpSpPr/>
            <p:nvPr/>
          </p:nvGrpSpPr>
          <p:grpSpPr>
            <a:xfrm>
              <a:off x="-568975" y="4443366"/>
              <a:ext cx="569073" cy="1138135"/>
              <a:chOff x="-568975" y="4443366"/>
              <a:chExt cx="569073" cy="113813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35C4EDE-79A6-BFF9-7E0E-8FFA25962F71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A35CB92E-55EC-153E-29C7-83014B2408A8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L9</a:t>
                  </a:r>
                </a:p>
                <a:p>
                  <a:pPr algn="ctr"/>
                  <a:r>
                    <a:rPr lang="en-US" b="1" dirty="0"/>
                    <a:t>0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7000C5F1-86AB-A3B6-851D-24EE390DB6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7000C5F1-86AB-A3B6-851D-24EE390DB68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852D5CC-A306-D906-2C2B-2C9EC28832D1}"/>
                  </a:ext>
                </a:extLst>
              </p:cNvPr>
              <p:cNvCxnSpPr>
                <a:cxnSpLocks/>
                <a:endCxn id="37" idx="2"/>
              </p:cNvCxnSpPr>
              <p:nvPr/>
            </p:nvCxnSpPr>
            <p:spPr>
              <a:xfrm flipV="1">
                <a:off x="-568975" y="5065807"/>
                <a:ext cx="251471" cy="51569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A3564C2-D67A-6843-801B-0AF06DB13556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D028D2-69BB-EBE0-4664-B9FD3CA2F37C}"/>
              </a:ext>
            </a:extLst>
          </p:cNvPr>
          <p:cNvGrpSpPr/>
          <p:nvPr/>
        </p:nvGrpSpPr>
        <p:grpSpPr>
          <a:xfrm>
            <a:off x="1573217" y="3944311"/>
            <a:ext cx="1119024" cy="1492955"/>
            <a:chOff x="-797656" y="4094684"/>
            <a:chExt cx="1119024" cy="149295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B8AFF58-D792-9CFE-F4CB-FBC6EB948957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38C9D4A-4566-4023-421D-F7B17BFB06EB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0A252DE8-23DB-1B98-8C1D-8AE8AA93B89D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L9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380C76D3-5AE0-1CFA-28CF-110958CA6B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380C76D3-5AE0-1CFA-28CF-110958CA6B5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76C8C36-F2C9-05D6-EEA0-7A74762E75B8}"/>
                  </a:ext>
                </a:extLst>
              </p:cNvPr>
              <p:cNvCxnSpPr>
                <a:cxnSpLocks/>
                <a:endCxn id="15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845D9A1-E783-3139-78B5-5E7953BC6741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C63E1EC-FDC9-D897-9F00-DF7918B7CCB6}"/>
              </a:ext>
            </a:extLst>
          </p:cNvPr>
          <p:cNvGrpSpPr/>
          <p:nvPr/>
        </p:nvGrpSpPr>
        <p:grpSpPr>
          <a:xfrm>
            <a:off x="3831440" y="3974990"/>
            <a:ext cx="1119024" cy="1492955"/>
            <a:chOff x="-797656" y="4094684"/>
            <a:chExt cx="1119024" cy="1492955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E88A15F1-62E0-95EC-985D-1656D2A0AC82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D57620FB-5B60-3961-6766-B64818DEC505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F49675C2-1E52-AD43-8980-A95311B5BF5D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L10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7" name="Rectangle 106">
                      <a:extLst>
                        <a:ext uri="{FF2B5EF4-FFF2-40B4-BE49-F238E27FC236}">
                          <a16:creationId xmlns:a16="http://schemas.microsoft.com/office/drawing/2014/main" id="{C116DF0E-6281-1BA9-6CCD-78AA4C2745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107" name="Rectangle 106">
                      <a:extLst>
                        <a:ext uri="{FF2B5EF4-FFF2-40B4-BE49-F238E27FC236}">
                          <a16:creationId xmlns:a16="http://schemas.microsoft.com/office/drawing/2014/main" id="{C116DF0E-6281-1BA9-6CCD-78AA4C27454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5000" r="-3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72755CCE-065E-18FC-8D03-D5D5C16B6967}"/>
                  </a:ext>
                </a:extLst>
              </p:cNvPr>
              <p:cNvCxnSpPr>
                <a:cxnSpLocks/>
                <a:endCxn id="106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5954EA9-AA06-AD33-736E-6AFB1CCE71B1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15DD762-1D24-1D7F-C973-5D80231A2F48}"/>
              </a:ext>
            </a:extLst>
          </p:cNvPr>
          <p:cNvGrpSpPr/>
          <p:nvPr/>
        </p:nvGrpSpPr>
        <p:grpSpPr>
          <a:xfrm>
            <a:off x="1578107" y="3940615"/>
            <a:ext cx="1119024" cy="1492955"/>
            <a:chOff x="-797656" y="4094684"/>
            <a:chExt cx="1119024" cy="1492955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37B4D107-6D37-CA14-6407-6228EA5D7C79}"/>
                </a:ext>
              </a:extLst>
            </p:cNvPr>
            <p:cNvGrpSpPr/>
            <p:nvPr/>
          </p:nvGrpSpPr>
          <p:grpSpPr>
            <a:xfrm>
              <a:off x="-597683" y="4443366"/>
              <a:ext cx="597781" cy="1144273"/>
              <a:chOff x="-597683" y="4443366"/>
              <a:chExt cx="597781" cy="1144273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0FAF31A3-1D81-31A6-6FF0-A3B2DC4F3A75}"/>
                  </a:ext>
                </a:extLst>
              </p:cNvPr>
              <p:cNvGrpSpPr/>
              <p:nvPr/>
            </p:nvGrpSpPr>
            <p:grpSpPr>
              <a:xfrm>
                <a:off x="-505536" y="4443366"/>
                <a:ext cx="505634" cy="627702"/>
                <a:chOff x="-329150" y="5992819"/>
                <a:chExt cx="505634" cy="627702"/>
              </a:xfrm>
            </p:grpSpPr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7B830AF8-5A0B-2172-281A-A02A4A4892CA}"/>
                    </a:ext>
                  </a:extLst>
                </p:cNvPr>
                <p:cNvSpPr/>
                <p:nvPr/>
              </p:nvSpPr>
              <p:spPr>
                <a:xfrm>
                  <a:off x="-329150" y="5992819"/>
                  <a:ext cx="376064" cy="62244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b="1" dirty="0"/>
                    <a:t>L10</a:t>
                  </a:r>
                </a:p>
                <a:p>
                  <a:pPr algn="ctr"/>
                  <a:r>
                    <a:rPr lang="en-US" b="1" dirty="0"/>
                    <a:t>1</a:t>
                  </a:r>
                  <a:endParaRPr lang="en-AE" b="1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4" name="Rectangle 113">
                      <a:extLst>
                        <a:ext uri="{FF2B5EF4-FFF2-40B4-BE49-F238E27FC236}">
                          <a16:creationId xmlns:a16="http://schemas.microsoft.com/office/drawing/2014/main" id="{AFD748E7-0A58-01A4-7B5E-3906A4EC76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AE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oMath>
                        </m:oMathPara>
                      </a14:m>
                      <a:endParaRPr lang="en-AE" sz="1400" dirty="0"/>
                    </a:p>
                  </p:txBody>
                </p:sp>
              </mc:Choice>
              <mc:Fallback>
                <p:sp>
                  <p:nvSpPr>
                    <p:cNvPr id="114" name="Rectangle 113">
                      <a:extLst>
                        <a:ext uri="{FF2B5EF4-FFF2-40B4-BE49-F238E27FC236}">
                          <a16:creationId xmlns:a16="http://schemas.microsoft.com/office/drawing/2014/main" id="{AFD748E7-0A58-01A4-7B5E-3906A4EC76D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04" y="5998080"/>
                      <a:ext cx="151680" cy="62244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0690"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FDB716B0-771D-8EBF-F363-CFA9BCB38F0F}"/>
                  </a:ext>
                </a:extLst>
              </p:cNvPr>
              <p:cNvCxnSpPr>
                <a:cxnSpLocks/>
                <a:endCxn id="113" idx="2"/>
              </p:cNvCxnSpPr>
              <p:nvPr/>
            </p:nvCxnSpPr>
            <p:spPr>
              <a:xfrm flipV="1">
                <a:off x="-597683" y="5065807"/>
                <a:ext cx="280179" cy="5218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875EB7A-D554-411B-B794-CD0A6D4408AB}"/>
                </a:ext>
              </a:extLst>
            </p:cNvPr>
            <p:cNvSpPr txBox="1"/>
            <p:nvPr/>
          </p:nvSpPr>
          <p:spPr>
            <a:xfrm>
              <a:off x="-797656" y="4094684"/>
              <a:ext cx="1119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Metadata</a:t>
              </a:r>
              <a:endParaRPr lang="en-AE" b="1" dirty="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2235FEE6-5791-F343-810B-1AB0AE8D825C}"/>
              </a:ext>
            </a:extLst>
          </p:cNvPr>
          <p:cNvGrpSpPr/>
          <p:nvPr/>
        </p:nvGrpSpPr>
        <p:grpSpPr>
          <a:xfrm>
            <a:off x="1730408" y="5427948"/>
            <a:ext cx="8778240" cy="614364"/>
            <a:chOff x="3308294" y="6203773"/>
            <a:chExt cx="8778240" cy="614364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9B6B6DEA-2EF5-B087-FE6A-474C96546E34}"/>
                </a:ext>
              </a:extLst>
            </p:cNvPr>
            <p:cNvSpPr/>
            <p:nvPr/>
          </p:nvSpPr>
          <p:spPr>
            <a:xfrm>
              <a:off x="3308294" y="6203773"/>
              <a:ext cx="877824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4 KB</a:t>
              </a: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B4EFD358-22E8-4627-1E43-DAE07DE3196E}"/>
                </a:ext>
              </a:extLst>
            </p:cNvPr>
            <p:cNvSpPr/>
            <p:nvPr/>
          </p:nvSpPr>
          <p:spPr>
            <a:xfrm>
              <a:off x="3319204" y="6215071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EB51C3C-DD4D-DD1D-18F8-04F274130B1C}"/>
              </a:ext>
            </a:extLst>
          </p:cNvPr>
          <p:cNvGrpSpPr/>
          <p:nvPr/>
        </p:nvGrpSpPr>
        <p:grpSpPr>
          <a:xfrm>
            <a:off x="6120867" y="5427948"/>
            <a:ext cx="4389120" cy="609600"/>
            <a:chOff x="7705034" y="6197239"/>
            <a:chExt cx="4389120" cy="60960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A57F7C7-CB65-45A0-C0DE-348861563BB5}"/>
                </a:ext>
              </a:extLst>
            </p:cNvPr>
            <p:cNvSpPr/>
            <p:nvPr/>
          </p:nvSpPr>
          <p:spPr>
            <a:xfrm>
              <a:off x="7705034" y="6197239"/>
              <a:ext cx="438912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09C7BAC-62D2-F191-51ED-2D14303EF15B}"/>
                </a:ext>
              </a:extLst>
            </p:cNvPr>
            <p:cNvSpPr/>
            <p:nvPr/>
          </p:nvSpPr>
          <p:spPr>
            <a:xfrm>
              <a:off x="7721358" y="6199916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CC5BEE1-3AC9-833C-A6E6-C522856A384F}"/>
              </a:ext>
            </a:extLst>
          </p:cNvPr>
          <p:cNvGrpSpPr/>
          <p:nvPr/>
        </p:nvGrpSpPr>
        <p:grpSpPr>
          <a:xfrm>
            <a:off x="1724127" y="5427948"/>
            <a:ext cx="4389120" cy="613056"/>
            <a:chOff x="3308294" y="3609901"/>
            <a:chExt cx="4389120" cy="613056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5A99EC19-818C-C047-22D6-9970EEFB5F27}"/>
                </a:ext>
              </a:extLst>
            </p:cNvPr>
            <p:cNvSpPr/>
            <p:nvPr/>
          </p:nvSpPr>
          <p:spPr>
            <a:xfrm>
              <a:off x="3308294" y="3609901"/>
              <a:ext cx="438912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 KB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0F1ED811-E248-2A06-0E80-6920CA2F8E7B}"/>
                </a:ext>
              </a:extLst>
            </p:cNvPr>
            <p:cNvSpPr/>
            <p:nvPr/>
          </p:nvSpPr>
          <p:spPr>
            <a:xfrm>
              <a:off x="3315955" y="3619891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E57EEB5-5988-CFD7-FC50-E9C3145AC018}"/>
              </a:ext>
            </a:extLst>
          </p:cNvPr>
          <p:cNvGrpSpPr/>
          <p:nvPr/>
        </p:nvGrpSpPr>
        <p:grpSpPr>
          <a:xfrm>
            <a:off x="3913186" y="5427948"/>
            <a:ext cx="2194560" cy="613457"/>
            <a:chOff x="5495234" y="6203773"/>
            <a:chExt cx="2194560" cy="613457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066A9DD-7440-DEC4-389A-36C7E14D8FD8}"/>
                </a:ext>
              </a:extLst>
            </p:cNvPr>
            <p:cNvSpPr/>
            <p:nvPr/>
          </p:nvSpPr>
          <p:spPr>
            <a:xfrm>
              <a:off x="5495234" y="6203773"/>
              <a:ext cx="219456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1 KB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8EF5B49-33CA-1724-C6AE-2BBC18EC34A2}"/>
                </a:ext>
              </a:extLst>
            </p:cNvPr>
            <p:cNvSpPr/>
            <p:nvPr/>
          </p:nvSpPr>
          <p:spPr>
            <a:xfrm>
              <a:off x="5516016" y="6214164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31E6397-48E8-76F5-318B-45D1A4794C69}"/>
              </a:ext>
            </a:extLst>
          </p:cNvPr>
          <p:cNvGrpSpPr/>
          <p:nvPr/>
        </p:nvGrpSpPr>
        <p:grpSpPr>
          <a:xfrm>
            <a:off x="1723277" y="5427948"/>
            <a:ext cx="2194560" cy="609600"/>
            <a:chOff x="3300674" y="6203773"/>
            <a:chExt cx="2194560" cy="609600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63FC3C2-5589-7E1C-B179-0572DD3AD53F}"/>
                </a:ext>
              </a:extLst>
            </p:cNvPr>
            <p:cNvSpPr/>
            <p:nvPr/>
          </p:nvSpPr>
          <p:spPr>
            <a:xfrm>
              <a:off x="3300674" y="6203773"/>
              <a:ext cx="219456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1 KB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15153430-9EA3-15CF-4AAF-F4CACB3C6420}"/>
                </a:ext>
              </a:extLst>
            </p:cNvPr>
            <p:cNvSpPr/>
            <p:nvPr/>
          </p:nvSpPr>
          <p:spPr>
            <a:xfrm>
              <a:off x="3300674" y="6203773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7F74DAB-600C-BB46-0C3F-25BA574A3000}"/>
              </a:ext>
            </a:extLst>
          </p:cNvPr>
          <p:cNvGrpSpPr/>
          <p:nvPr/>
        </p:nvGrpSpPr>
        <p:grpSpPr>
          <a:xfrm>
            <a:off x="1721397" y="5427948"/>
            <a:ext cx="1104900" cy="609996"/>
            <a:chOff x="3300674" y="6203773"/>
            <a:chExt cx="1104900" cy="609996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680D3A1B-A236-FFAA-A61E-B78B50C176B2}"/>
                </a:ext>
              </a:extLst>
            </p:cNvPr>
            <p:cNvSpPr/>
            <p:nvPr/>
          </p:nvSpPr>
          <p:spPr>
            <a:xfrm>
              <a:off x="3308294" y="6204169"/>
              <a:ext cx="109728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512 B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4DFDD49-B5AB-BB98-262C-17E609997BD5}"/>
                </a:ext>
              </a:extLst>
            </p:cNvPr>
            <p:cNvSpPr/>
            <p:nvPr/>
          </p:nvSpPr>
          <p:spPr>
            <a:xfrm>
              <a:off x="3300674" y="6203773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9110E89-0305-6EA8-EDA5-58B29B60D756}"/>
              </a:ext>
            </a:extLst>
          </p:cNvPr>
          <p:cNvGrpSpPr/>
          <p:nvPr/>
        </p:nvGrpSpPr>
        <p:grpSpPr>
          <a:xfrm>
            <a:off x="2830107" y="5427948"/>
            <a:ext cx="1097280" cy="623848"/>
            <a:chOff x="4409384" y="6204169"/>
            <a:chExt cx="1097280" cy="62384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A3CE51DA-D008-0A03-4822-627688DD5600}"/>
                </a:ext>
              </a:extLst>
            </p:cNvPr>
            <p:cNvSpPr/>
            <p:nvPr/>
          </p:nvSpPr>
          <p:spPr>
            <a:xfrm>
              <a:off x="4409384" y="6204169"/>
              <a:ext cx="109728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512 B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7B4FA9C-0C1B-04DB-0828-49F35D33738F}"/>
                </a:ext>
              </a:extLst>
            </p:cNvPr>
            <p:cNvSpPr/>
            <p:nvPr/>
          </p:nvSpPr>
          <p:spPr>
            <a:xfrm>
              <a:off x="4419775" y="6224951"/>
              <a:ext cx="135197" cy="60306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4A73F9E-9DB3-E65C-FBA4-B3657DE4502D}"/>
              </a:ext>
            </a:extLst>
          </p:cNvPr>
          <p:cNvGrpSpPr/>
          <p:nvPr/>
        </p:nvGrpSpPr>
        <p:grpSpPr>
          <a:xfrm>
            <a:off x="2850431" y="4982546"/>
            <a:ext cx="619384" cy="1076147"/>
            <a:chOff x="3289154" y="5751474"/>
            <a:chExt cx="619384" cy="107614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B2BDBFC-2104-C0E6-BEB6-7FCB7BD18CB7}"/>
                </a:ext>
              </a:extLst>
            </p:cNvPr>
            <p:cNvGrpSpPr/>
            <p:nvPr/>
          </p:nvGrpSpPr>
          <p:grpSpPr>
            <a:xfrm>
              <a:off x="3289154" y="5751474"/>
              <a:ext cx="619384" cy="1066800"/>
              <a:chOff x="3289154" y="5761865"/>
              <a:chExt cx="619384" cy="10668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24D7BCE-B948-A07C-048C-D638F4FFFE6B}"/>
                  </a:ext>
                </a:extLst>
              </p:cNvPr>
              <p:cNvSpPr/>
              <p:nvPr/>
            </p:nvSpPr>
            <p:spPr>
              <a:xfrm>
                <a:off x="3289154" y="6219065"/>
                <a:ext cx="619384" cy="609600"/>
              </a:xfrm>
              <a:prstGeom prst="rect">
                <a:avLst/>
              </a:prstGeom>
              <a:solidFill>
                <a:srgbClr val="FCD5B5">
                  <a:alpha val="65882"/>
                </a:srgbClr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7A757B-C67A-20E6-DFE9-09224469A7FE}"/>
                  </a:ext>
                </a:extLst>
              </p:cNvPr>
              <p:cNvSpPr txBox="1"/>
              <p:nvPr/>
            </p:nvSpPr>
            <p:spPr>
              <a:xfrm>
                <a:off x="3507742" y="5761865"/>
                <a:ext cx="3593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E</a:t>
                </a: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B9633D-5A59-ACB9-64D0-0DD539CA3A1F}"/>
                </a:ext>
              </a:extLst>
            </p:cNvPr>
            <p:cNvSpPr/>
            <p:nvPr/>
          </p:nvSpPr>
          <p:spPr>
            <a:xfrm>
              <a:off x="3300674" y="6224555"/>
              <a:ext cx="135197" cy="60306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4591C75-578C-0349-331B-9A5801489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44" y="1007921"/>
            <a:ext cx="12162265" cy="159917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How</a:t>
            </a:r>
            <a:r>
              <a:rPr lang="en-US" sz="3600" b="1" dirty="0"/>
              <a:t> to know/get your buddy?</a:t>
            </a:r>
          </a:p>
          <a:p>
            <a:pPr marL="0" indent="0" algn="ctr">
              <a:buNone/>
            </a:pPr>
            <a:r>
              <a:rPr lang="en-US" sz="3600" dirty="0"/>
              <a:t>U</a:t>
            </a:r>
            <a:r>
              <a:rPr lang="en-AE" sz="3600" dirty="0"/>
              <a:t>sing block’s </a:t>
            </a:r>
            <a:r>
              <a:rPr lang="en-AE" sz="3600" b="1" dirty="0"/>
              <a:t>VA</a:t>
            </a:r>
            <a:r>
              <a:rPr lang="en-AE" sz="3600" dirty="0"/>
              <a:t> &amp; </a:t>
            </a:r>
            <a:r>
              <a:rPr lang="en-AE" sz="3600" b="1" dirty="0"/>
              <a:t>SIZE</a:t>
            </a:r>
          </a:p>
          <a:p>
            <a:pPr marL="0" indent="0" algn="ctr">
              <a:buNone/>
            </a:pPr>
            <a:r>
              <a:rPr lang="en-US" sz="3600" b="1" dirty="0"/>
              <a:t>{Hint</a:t>
            </a:r>
            <a:r>
              <a:rPr lang="en-AE" sz="3600" b="1" dirty="0"/>
              <a:t>: </a:t>
            </a:r>
            <a:r>
              <a:rPr lang="en-AE" sz="3600" dirty="0"/>
              <a:t>think of bitwise operations</a:t>
            </a:r>
            <a:r>
              <a:rPr lang="en-AE" sz="3600" b="1" dirty="0"/>
              <a:t>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6B1628-5315-B88F-F641-0CB21AF6CA8E}"/>
              </a:ext>
            </a:extLst>
          </p:cNvPr>
          <p:cNvSpPr txBox="1"/>
          <p:nvPr/>
        </p:nvSpPr>
        <p:spPr>
          <a:xfrm>
            <a:off x="2698" y="5775415"/>
            <a:ext cx="16146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Page Start VA</a:t>
            </a:r>
          </a:p>
          <a:p>
            <a:pPr algn="ctr"/>
            <a:r>
              <a:rPr lang="en-US" sz="2000" b="1" dirty="0"/>
              <a:t>(e.g. </a:t>
            </a:r>
            <a:r>
              <a:rPr lang="en-US" sz="2000" b="1" dirty="0">
                <a:solidFill>
                  <a:srgbClr val="FF0000"/>
                </a:solidFill>
              </a:rPr>
              <a:t>4096</a:t>
            </a:r>
            <a:r>
              <a:rPr lang="en-US" sz="2000" b="1" dirty="0"/>
              <a:t>)</a:t>
            </a:r>
            <a:endParaRPr lang="en-AE" sz="2000" b="1" dirty="0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DC19422-6E33-4E4D-D0EA-5EB8659F58AA}"/>
              </a:ext>
            </a:extLst>
          </p:cNvPr>
          <p:cNvCxnSpPr>
            <a:stCxn id="24" idx="0"/>
            <a:endCxn id="18" idx="1"/>
          </p:cNvCxnSpPr>
          <p:nvPr/>
        </p:nvCxnSpPr>
        <p:spPr>
          <a:xfrm rot="5400000" flipH="1" flipV="1">
            <a:off x="1242749" y="5296767"/>
            <a:ext cx="45934" cy="91136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C254CAC-A1D4-2C44-8A21-A35063822AA2}"/>
              </a:ext>
            </a:extLst>
          </p:cNvPr>
          <p:cNvGrpSpPr/>
          <p:nvPr/>
        </p:nvGrpSpPr>
        <p:grpSpPr>
          <a:xfrm>
            <a:off x="2197305" y="6058693"/>
            <a:ext cx="1452642" cy="738296"/>
            <a:chOff x="2197305" y="6058693"/>
            <a:chExt cx="1452642" cy="73829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01059B9-2BC1-DE79-ECB5-175154AB275A}"/>
                </a:ext>
              </a:extLst>
            </p:cNvPr>
            <p:cNvSpPr txBox="1"/>
            <p:nvPr/>
          </p:nvSpPr>
          <p:spPr>
            <a:xfrm>
              <a:off x="2197305" y="6396879"/>
              <a:ext cx="14526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@4096+512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3C1356D-FCB8-EECE-7D45-4846BA64BA75}"/>
                </a:ext>
              </a:extLst>
            </p:cNvPr>
            <p:cNvCxnSpPr>
              <a:stCxn id="28" idx="0"/>
              <a:endCxn id="23" idx="2"/>
            </p:cNvCxnSpPr>
            <p:nvPr/>
          </p:nvCxnSpPr>
          <p:spPr>
            <a:xfrm flipV="1">
              <a:off x="2923626" y="6058693"/>
              <a:ext cx="5924" cy="3381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A53C9CC-FA57-2190-A9B7-EE3C7515A593}"/>
              </a:ext>
            </a:extLst>
          </p:cNvPr>
          <p:cNvGrpSpPr/>
          <p:nvPr/>
        </p:nvGrpSpPr>
        <p:grpSpPr>
          <a:xfrm>
            <a:off x="1316020" y="6031014"/>
            <a:ext cx="934871" cy="761954"/>
            <a:chOff x="2440454" y="6035035"/>
            <a:chExt cx="934871" cy="76195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4670092-78B4-2923-0F5F-B7EE552347FE}"/>
                </a:ext>
              </a:extLst>
            </p:cNvPr>
            <p:cNvSpPr txBox="1"/>
            <p:nvPr/>
          </p:nvSpPr>
          <p:spPr>
            <a:xfrm>
              <a:off x="2440454" y="6396879"/>
              <a:ext cx="9348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@4096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B5D9B50-93D5-C434-C43B-F32212597BF6}"/>
                </a:ext>
              </a:extLst>
            </p:cNvPr>
            <p:cNvCxnSpPr>
              <a:cxnSpLocks/>
              <a:stCxn id="58" idx="0"/>
              <a:endCxn id="18" idx="2"/>
            </p:cNvCxnSpPr>
            <p:nvPr/>
          </p:nvCxnSpPr>
          <p:spPr>
            <a:xfrm flipV="1">
              <a:off x="2907890" y="6035035"/>
              <a:ext cx="5540" cy="36184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586B112-F7A7-1040-9125-DA932FC6788B}"/>
              </a:ext>
            </a:extLst>
          </p:cNvPr>
          <p:cNvGrpSpPr/>
          <p:nvPr/>
        </p:nvGrpSpPr>
        <p:grpSpPr>
          <a:xfrm>
            <a:off x="3260084" y="6060418"/>
            <a:ext cx="1431802" cy="738296"/>
            <a:chOff x="2197305" y="6058693"/>
            <a:chExt cx="1431802" cy="738296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4544BD8-A8C1-DFA2-FD1D-B0A4D4CEDCB0}"/>
                </a:ext>
              </a:extLst>
            </p:cNvPr>
            <p:cNvSpPr txBox="1"/>
            <p:nvPr/>
          </p:nvSpPr>
          <p:spPr>
            <a:xfrm>
              <a:off x="2197305" y="6396879"/>
              <a:ext cx="14318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@4096 + 1k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C3DCF342-DD62-1DCD-5089-341CAE3838D1}"/>
                </a:ext>
              </a:extLst>
            </p:cNvPr>
            <p:cNvCxnSpPr>
              <a:stCxn id="64" idx="0"/>
            </p:cNvCxnSpPr>
            <p:nvPr/>
          </p:nvCxnSpPr>
          <p:spPr>
            <a:xfrm flipV="1">
              <a:off x="2913206" y="6058693"/>
              <a:ext cx="16344" cy="3381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477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20A7-767A-B475-D3B4-2C1661089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Allocator </a:t>
            </a:r>
            <a:r>
              <a:rPr lang="en-US" b="1" dirty="0"/>
              <a:t>– Pros &amp; Cons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8F879-C14E-46AB-6205-B56CF3FE0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1094720" cy="5012266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B050"/>
                </a:solidFill>
              </a:rPr>
              <a:t>PROS: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Allocate</a:t>
            </a:r>
            <a:r>
              <a:rPr lang="en-US" dirty="0"/>
              <a:t> has a </a:t>
            </a:r>
            <a:r>
              <a:rPr lang="en-US" b="1" dirty="0">
                <a:solidFill>
                  <a:srgbClr val="00B050"/>
                </a:solidFill>
              </a:rPr>
              <a:t>BEST</a:t>
            </a:r>
            <a:r>
              <a:rPr lang="en-US" b="1" dirty="0"/>
              <a:t> case </a:t>
            </a:r>
            <a:r>
              <a:rPr lang="en-US" dirty="0"/>
              <a:t>of </a:t>
            </a:r>
            <a:r>
              <a:rPr lang="en-US" b="1" dirty="0"/>
              <a:t>O(1)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BOUNDED</a:t>
            </a:r>
            <a:r>
              <a:rPr lang="en-US" b="1" dirty="0"/>
              <a:t> </a:t>
            </a:r>
            <a:r>
              <a:rPr lang="en-US" dirty="0"/>
              <a:t>by </a:t>
            </a:r>
            <a:r>
              <a:rPr lang="en-US" b="1" dirty="0"/>
              <a:t>O(log</a:t>
            </a:r>
            <a:r>
              <a:rPr lang="en-US" b="1" baseline="-25000" dirty="0"/>
              <a:t>2</a:t>
            </a:r>
            <a:r>
              <a:rPr lang="en-US" b="1" dirty="0"/>
              <a:t>(</a:t>
            </a:r>
            <a:r>
              <a:rPr lang="en-US" b="1" dirty="0" err="1"/>
              <a:t>PageSize</a:t>
            </a:r>
            <a:r>
              <a:rPr lang="en-US" b="1" dirty="0"/>
              <a:t>)) </a:t>
            </a:r>
            <a:r>
              <a:rPr lang="en-US" dirty="0"/>
              <a:t>splits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Free</a:t>
            </a:r>
            <a:r>
              <a:rPr lang="en-US" dirty="0"/>
              <a:t> has a </a:t>
            </a:r>
            <a:r>
              <a:rPr lang="en-US" b="1" dirty="0">
                <a:solidFill>
                  <a:srgbClr val="00B050"/>
                </a:solidFill>
              </a:rPr>
              <a:t>BEST</a:t>
            </a:r>
            <a:r>
              <a:rPr lang="en-US" b="1" dirty="0"/>
              <a:t> case </a:t>
            </a:r>
            <a:r>
              <a:rPr lang="en-US" dirty="0"/>
              <a:t>of </a:t>
            </a:r>
            <a:r>
              <a:rPr lang="en-US" b="1" dirty="0"/>
              <a:t>O(1)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BOUNDED</a:t>
            </a:r>
            <a:r>
              <a:rPr lang="en-US" b="1" dirty="0"/>
              <a:t> </a:t>
            </a:r>
            <a:r>
              <a:rPr lang="en-US" dirty="0"/>
              <a:t>by </a:t>
            </a:r>
            <a:r>
              <a:rPr lang="en-US" b="1" dirty="0"/>
              <a:t>O(log</a:t>
            </a:r>
            <a:r>
              <a:rPr lang="en-US" b="1" baseline="-25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2 </a:t>
            </a:r>
            <a:r>
              <a:rPr lang="en-US" b="1" dirty="0"/>
              <a:t>(</a:t>
            </a:r>
            <a:r>
              <a:rPr lang="en-US" b="1" dirty="0" err="1"/>
              <a:t>PageSize</a:t>
            </a:r>
            <a:r>
              <a:rPr lang="en-US" b="1" dirty="0"/>
              <a:t>)) </a:t>
            </a:r>
            <a:r>
              <a:rPr lang="en-US" dirty="0"/>
              <a:t>merges</a:t>
            </a:r>
          </a:p>
          <a:p>
            <a:pPr marL="457200" indent="-457200">
              <a:buFont typeface="+mj-lt"/>
              <a:buAutoNum type="arabicPeriod"/>
            </a:pPr>
            <a:r>
              <a:rPr lang="en-AE" b="1" dirty="0"/>
              <a:t>Allows</a:t>
            </a:r>
            <a:r>
              <a:rPr lang="en-AE" dirty="0"/>
              <a:t> memory to be </a:t>
            </a:r>
            <a:r>
              <a:rPr lang="en-AE" b="1" dirty="0"/>
              <a:t>reused </a:t>
            </a:r>
            <a:r>
              <a:rPr lang="en-AE" dirty="0"/>
              <a:t>for buffers of a different size (via </a:t>
            </a:r>
            <a:r>
              <a:rPr lang="en-AE" b="1" dirty="0"/>
              <a:t>merging</a:t>
            </a:r>
            <a:r>
              <a:rPr lang="en-AE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AE" b="1" dirty="0"/>
              <a:t>Easy exchange </a:t>
            </a:r>
            <a:r>
              <a:rPr lang="en-AE" dirty="0"/>
              <a:t>of memory between the </a:t>
            </a:r>
            <a:r>
              <a:rPr lang="en-AE" b="1" dirty="0"/>
              <a:t>allocator </a:t>
            </a:r>
            <a:r>
              <a:rPr lang="en-AE" dirty="0"/>
              <a:t>and the </a:t>
            </a:r>
            <a:r>
              <a:rPr lang="en-AE" b="1" dirty="0"/>
              <a:t>paging </a:t>
            </a:r>
            <a:r>
              <a:rPr lang="en-AE" dirty="0"/>
              <a:t>system </a:t>
            </a:r>
            <a:endParaRPr lang="en-US" b="1" dirty="0"/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CONS: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Metadata </a:t>
            </a:r>
            <a:r>
              <a:rPr lang="en-US" dirty="0"/>
              <a:t>overhead (10 Bytes per block)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Internal fragmentation </a:t>
            </a:r>
            <a:r>
              <a:rPr lang="en-US" dirty="0"/>
              <a:t>if required size is NOT power-of-two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AE" b="1" dirty="0"/>
              <a:t>Poor performance </a:t>
            </a:r>
            <a:r>
              <a:rPr lang="en-AE" dirty="0"/>
              <a:t>when </a:t>
            </a:r>
            <a:r>
              <a:rPr lang="en-AE" b="1" dirty="0"/>
              <a:t>allocate</a:t>
            </a:r>
            <a:r>
              <a:rPr lang="en-AE" dirty="0"/>
              <a:t> and </a:t>
            </a:r>
            <a:r>
              <a:rPr lang="en-AE" b="1" dirty="0"/>
              <a:t>release</a:t>
            </a:r>
            <a:r>
              <a:rPr lang="en-AE" dirty="0"/>
              <a:t> requests </a:t>
            </a:r>
            <a:r>
              <a:rPr lang="en-AE" b="1" u="sng" dirty="0"/>
              <a:t>alternate</a:t>
            </a:r>
            <a:r>
              <a:rPr lang="en-AE" b="1" dirty="0"/>
              <a:t>. </a:t>
            </a:r>
          </a:p>
          <a:p>
            <a:pPr marL="292608" lvl="1" indent="0">
              <a:lnSpc>
                <a:spcPct val="100000"/>
              </a:lnSpc>
              <a:buNone/>
            </a:pPr>
            <a:r>
              <a:rPr lang="en-AE" dirty="0"/>
              <a:t>  (release</a:t>
            </a:r>
            <a:r>
              <a:rPr lang="en-AE" dirty="0">
                <a:sym typeface="Wingdings" panose="05000000000000000000" pitchFamily="2" charset="2"/>
              </a:rPr>
              <a:t> </a:t>
            </a:r>
            <a:r>
              <a:rPr lang="en-AE" dirty="0"/>
              <a:t>merge as much as possible </a:t>
            </a:r>
            <a:r>
              <a:rPr lang="en-AE" dirty="0">
                <a:sym typeface="Wingdings" panose="05000000000000000000" pitchFamily="2" charset="2"/>
              </a:rPr>
              <a:t> allocate </a:t>
            </a:r>
            <a:r>
              <a:rPr lang="en-AE" sz="19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split them again immediately </a:t>
            </a:r>
            <a:r>
              <a:rPr lang="en-AE" sz="1900" dirty="0">
                <a:solidFill>
                  <a:prstClr val="black">
                    <a:lumMod val="75000"/>
                    <a:lumOff val="25000"/>
                  </a:prstClr>
                </a:solidFill>
                <a:sym typeface="Wingdings" panose="05000000000000000000" pitchFamily="2" charset="2"/>
              </a:rPr>
              <a:t> </a:t>
            </a:r>
            <a:r>
              <a:rPr lang="en-AE" sz="1900" dirty="0">
                <a:solidFill>
                  <a:prstClr val="black">
                    <a:lumMod val="75000"/>
                    <a:lumOff val="25000"/>
                  </a:prstClr>
                </a:solidFill>
              </a:rPr>
              <a:t>and so on...)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A22F1-43F9-8AF4-94DA-E133F868A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8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Allocator </a:t>
            </a:r>
            <a:r>
              <a:rPr lang="en-US" b="1" dirty="0"/>
              <a:t>–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Data</a:t>
            </a: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928817" cy="501226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C5962"/>
                </a:solidFill>
                <a:latin typeface="+mj-lt"/>
              </a:rPr>
              <a:t>Dynamic Allocator Constants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rgbClr val="5C5962"/>
              </a:solidFill>
              <a:latin typeface="+mj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AE" sz="105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AE" dirty="0">
                <a:latin typeface="+mj-lt"/>
              </a:rPr>
              <a:t>Metadata: </a:t>
            </a:r>
            <a:r>
              <a:rPr lang="en-US" dirty="0">
                <a:solidFill>
                  <a:srgbClr val="5C5962"/>
                </a:solidFill>
              </a:rPr>
              <a:t>contain block info with the </a:t>
            </a:r>
            <a:r>
              <a:rPr lang="en-US" b="1" dirty="0" err="1">
                <a:solidFill>
                  <a:srgbClr val="5C5962"/>
                </a:solidFill>
              </a:rPr>
              <a:t>prev</a:t>
            </a:r>
            <a:r>
              <a:rPr lang="en-US" b="1" dirty="0">
                <a:solidFill>
                  <a:srgbClr val="5C5962"/>
                </a:solidFill>
              </a:rPr>
              <a:t>-next pointer </a:t>
            </a:r>
            <a:r>
              <a:rPr lang="en-US" dirty="0">
                <a:solidFill>
                  <a:srgbClr val="5C5962"/>
                </a:solidFill>
              </a:rPr>
              <a:t>(to be used as list element)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rgbClr val="5C5962"/>
              </a:solidFill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rgbClr val="5C5962"/>
              </a:solidFill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600" dirty="0">
              <a:solidFill>
                <a:srgbClr val="5C5962"/>
              </a:solidFill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AE" dirty="0">
                <a:latin typeface="+mj-lt"/>
              </a:rPr>
              <a:t>Size of Metadata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AE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B4E54E-B902-CBD6-4B20-DDBD1CECE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298" y="2381104"/>
            <a:ext cx="9726382" cy="1047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C9BBE1-E5DA-CF0E-0C37-FD1B79E77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982" y="3964370"/>
            <a:ext cx="8869013" cy="16480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020FAA-640B-ECD8-6DD4-E4B53882C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836" y="5871531"/>
            <a:ext cx="6601746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8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8221A-F944-C77F-E5EC-9E47B1E8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75F6C-24DB-3037-0274-0FF7F89E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Allocator </a:t>
            </a:r>
            <a:r>
              <a:rPr lang="en-US" b="1" dirty="0"/>
              <a:t>–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Data</a:t>
            </a: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E176-B33C-54DE-4CA5-B3D92D272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928817" cy="501226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AE" dirty="0"/>
              <a:t>Free Block List of ALL sizes that holds elements of type </a:t>
            </a:r>
            <a:r>
              <a:rPr lang="en-A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BlockMetaData</a:t>
            </a:r>
            <a:endParaRPr lang="en-AE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endParaRPr lang="en-AE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07B4-BB99-A6D4-7236-A0FD6D19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20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A20394-CB16-0668-3FF2-FEE73D57E4F6}"/>
              </a:ext>
            </a:extLst>
          </p:cNvPr>
          <p:cNvGrpSpPr/>
          <p:nvPr/>
        </p:nvGrpSpPr>
        <p:grpSpPr>
          <a:xfrm>
            <a:off x="8982224" y="116702"/>
            <a:ext cx="3148491" cy="968297"/>
            <a:chOff x="8575842" y="86548"/>
            <a:chExt cx="3148491" cy="96829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584BAE-0382-18C6-4860-0CB8CF453C68}"/>
                </a:ext>
              </a:extLst>
            </p:cNvPr>
            <p:cNvSpPr txBox="1"/>
            <p:nvPr/>
          </p:nvSpPr>
          <p:spPr>
            <a:xfrm>
              <a:off x="8575842" y="86548"/>
              <a:ext cx="314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Refer to </a:t>
              </a:r>
              <a:r>
                <a:rPr lang="en-US" sz="2000" b="1" dirty="0">
                  <a:hlinkClick r:id="rId2" action="ppaction://hlinkfile"/>
                </a:rPr>
                <a:t>APPENDICES</a:t>
              </a:r>
              <a:r>
                <a:rPr lang="en-US" sz="2000" b="1" dirty="0"/>
                <a:t> for:</a:t>
              </a:r>
              <a:endParaRPr lang="en-AE" sz="20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255B2A8-3FFB-6F02-BC7A-9A152EB11B4D}"/>
                </a:ext>
              </a:extLst>
            </p:cNvPr>
            <p:cNvSpPr txBox="1"/>
            <p:nvPr/>
          </p:nvSpPr>
          <p:spPr>
            <a:xfrm>
              <a:off x="9097050" y="604298"/>
              <a:ext cx="24604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LISTS Helper Macros</a:t>
              </a:r>
              <a:endParaRPr lang="en-AE" sz="2000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59B6DDD-6263-DAE0-7F4D-A59089ED3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5842" y="553860"/>
              <a:ext cx="500985" cy="500985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F173450-30D8-EE3E-74CE-4F3F91950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045" y="2445094"/>
            <a:ext cx="9735909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51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91862-4EFF-8CA6-D6A6-C1BD76A1F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5FE70-EC33-CA4D-003E-25746131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Allocator </a:t>
            </a:r>
            <a:r>
              <a:rPr lang="en-US" b="1" dirty="0"/>
              <a:t>–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Functions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AE0F3-8173-1562-16C2-F6D391998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1094721" cy="409630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5C5962"/>
                </a:solidFill>
                <a:latin typeface="+mj-lt"/>
              </a:rPr>
              <a:t>Initialize </a:t>
            </a:r>
            <a:r>
              <a:rPr lang="en-US" dirty="0">
                <a:solidFill>
                  <a:srgbClr val="5C5962"/>
                </a:solidFill>
                <a:latin typeface="+mj-lt"/>
              </a:rPr>
              <a:t>the free block lists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buddy_init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()</a:t>
            </a:r>
            <a:endParaRPr lang="en-US" dirty="0">
              <a:solidFill>
                <a:srgbClr val="5C5962"/>
              </a:solidFill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en-US" b="1" dirty="0">
                <a:solidFill>
                  <a:srgbClr val="5C5962"/>
                </a:solidFill>
              </a:rPr>
              <a:t>Print </a:t>
            </a:r>
            <a:r>
              <a:rPr lang="en-US" dirty="0">
                <a:solidFill>
                  <a:srgbClr val="5C5962"/>
                </a:solidFill>
              </a:rPr>
              <a:t>the size of each list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PrintFreeBlockLists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()</a:t>
            </a:r>
            <a:endParaRPr lang="en-US" dirty="0">
              <a:solidFill>
                <a:srgbClr val="5C596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EF5F0-54B6-7B94-EB01-1559A2D3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5DD44DE-400E-439D-DC09-62395CD95920}"/>
              </a:ext>
            </a:extLst>
          </p:cNvPr>
          <p:cNvGrpSpPr/>
          <p:nvPr/>
        </p:nvGrpSpPr>
        <p:grpSpPr>
          <a:xfrm>
            <a:off x="8982224" y="116702"/>
            <a:ext cx="3148491" cy="968297"/>
            <a:chOff x="8575842" y="86548"/>
            <a:chExt cx="3148491" cy="96829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4C32C94-297B-5EF4-9F67-BD9091D93633}"/>
                </a:ext>
              </a:extLst>
            </p:cNvPr>
            <p:cNvSpPr txBox="1"/>
            <p:nvPr/>
          </p:nvSpPr>
          <p:spPr>
            <a:xfrm>
              <a:off x="8575842" y="86548"/>
              <a:ext cx="314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Refer to </a:t>
              </a:r>
              <a:r>
                <a:rPr lang="en-US" sz="2000" b="1" dirty="0">
                  <a:hlinkClick r:id="rId2" action="ppaction://hlinkfile"/>
                </a:rPr>
                <a:t>APPENDICES</a:t>
              </a:r>
              <a:r>
                <a:rPr lang="en-US" sz="2000" b="1" dirty="0"/>
                <a:t> for:</a:t>
              </a:r>
              <a:endParaRPr lang="en-AE" sz="20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4BC88C-C7DC-CF9F-1DB0-530915BB6E24}"/>
                </a:ext>
              </a:extLst>
            </p:cNvPr>
            <p:cNvSpPr txBox="1"/>
            <p:nvPr/>
          </p:nvSpPr>
          <p:spPr>
            <a:xfrm>
              <a:off x="9097050" y="604298"/>
              <a:ext cx="24604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LISTS Helper Macros</a:t>
              </a:r>
              <a:endParaRPr lang="en-AE" sz="2000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D177C97-32DC-2BF9-5DFF-5206867BB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5842" y="553860"/>
              <a:ext cx="500985" cy="500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186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#1:</a:t>
            </a:r>
            <a:r>
              <a:rPr lang="en-US" dirty="0"/>
              <a:t> Get Block Size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115203" cy="501226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get_block_size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va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A36622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/>
              <a:t>Description: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Get the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block size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at the given VA from its corresponding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BlockMetaData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22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581554D-ADE0-D699-9F8A-FD4AF9D18D1C}"/>
              </a:ext>
            </a:extLst>
          </p:cNvPr>
          <p:cNvGrpSpPr/>
          <p:nvPr/>
        </p:nvGrpSpPr>
        <p:grpSpPr>
          <a:xfrm>
            <a:off x="8982224" y="116702"/>
            <a:ext cx="3148491" cy="968297"/>
            <a:chOff x="8575842" y="86548"/>
            <a:chExt cx="3148491" cy="96829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6F75C9E-720D-FE17-FFC6-40C22BAD8B1F}"/>
                </a:ext>
              </a:extLst>
            </p:cNvPr>
            <p:cNvSpPr txBox="1"/>
            <p:nvPr/>
          </p:nvSpPr>
          <p:spPr>
            <a:xfrm>
              <a:off x="8575842" y="86548"/>
              <a:ext cx="314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Refer to </a:t>
              </a:r>
              <a:r>
                <a:rPr lang="en-US" sz="2000" b="1" dirty="0">
                  <a:hlinkClick r:id="rId2" action="ppaction://hlinkfile"/>
                </a:rPr>
                <a:t>APPENDICES</a:t>
              </a:r>
              <a:r>
                <a:rPr lang="en-US" sz="2000" b="1" dirty="0"/>
                <a:t> for:</a:t>
              </a:r>
              <a:endParaRPr lang="en-AE" sz="2000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88481F-18B2-9119-AB57-2B9EAE73E36E}"/>
                </a:ext>
              </a:extLst>
            </p:cNvPr>
            <p:cNvSpPr txBox="1"/>
            <p:nvPr/>
          </p:nvSpPr>
          <p:spPr>
            <a:xfrm>
              <a:off x="9097050" y="604298"/>
              <a:ext cx="24604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LISTS Helper Macros</a:t>
              </a:r>
              <a:endParaRPr lang="en-AE" sz="2000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51B0035-0266-9E0B-F19A-0734C0768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5842" y="553860"/>
              <a:ext cx="500985" cy="500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0189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#2:</a:t>
            </a:r>
            <a:r>
              <a:rPr lang="en-US" dirty="0"/>
              <a:t> Allocate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115203" cy="5012266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alloc_block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required_size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Description: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Allocate new block with the given size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For the actual size (given size + metadata), </a:t>
            </a:r>
            <a:r>
              <a:rPr lang="en-US" sz="2000" b="1" dirty="0">
                <a:solidFill>
                  <a:schemeClr val="tx1"/>
                </a:solidFill>
              </a:rPr>
              <a:t>find</a:t>
            </a:r>
            <a:r>
              <a:rPr lang="en-US" sz="2000" dirty="0">
                <a:solidFill>
                  <a:schemeClr val="tx1"/>
                </a:solidFill>
              </a:rPr>
              <a:t> its </a:t>
            </a:r>
            <a:r>
              <a:rPr lang="en-US" sz="2000" b="1" dirty="0">
                <a:solidFill>
                  <a:schemeClr val="tx1"/>
                </a:solidFill>
              </a:rPr>
              <a:t>nearest</a:t>
            </a:r>
            <a:r>
              <a:rPr lang="en-US" sz="2000" dirty="0">
                <a:solidFill>
                  <a:schemeClr val="tx1"/>
                </a:solidFill>
              </a:rPr>
              <a:t> pow-of-two</a:t>
            </a:r>
          </a:p>
          <a:p>
            <a:pPr lvl="1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Allocate</a:t>
            </a:r>
            <a:r>
              <a:rPr lang="en-US" sz="2000" dirty="0">
                <a:solidFill>
                  <a:schemeClr val="tx1"/>
                </a:solidFill>
              </a:rPr>
              <a:t> new block according to the </a:t>
            </a:r>
            <a:r>
              <a:rPr lang="en-US" sz="2000" dirty="0">
                <a:solidFill>
                  <a:schemeClr val="tx1"/>
                </a:solidFill>
                <a:hlinkClick r:id="rId2" action="ppaction://hlinksldjump"/>
              </a:rPr>
              <a:t>previously explained cases</a:t>
            </a:r>
            <a:endParaRPr lang="en-US" sz="20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On success: </a:t>
            </a:r>
            <a:r>
              <a:rPr lang="en-US" sz="2000" dirty="0">
                <a:solidFill>
                  <a:schemeClr val="tx1"/>
                </a:solidFill>
              </a:rPr>
              <a:t>return the </a:t>
            </a:r>
            <a:r>
              <a:rPr lang="en-US" sz="2000" b="1" dirty="0">
                <a:solidFill>
                  <a:schemeClr val="tx1"/>
                </a:solidFill>
              </a:rPr>
              <a:t>start address </a:t>
            </a:r>
            <a:r>
              <a:rPr lang="en-US" sz="2000" dirty="0">
                <a:solidFill>
                  <a:schemeClr val="tx1"/>
                </a:solidFill>
              </a:rPr>
              <a:t>of the allocated block (address </a:t>
            </a:r>
            <a:r>
              <a:rPr lang="en-US" sz="2000" b="1" dirty="0">
                <a:solidFill>
                  <a:schemeClr val="tx1"/>
                </a:solidFill>
              </a:rPr>
              <a:t>after </a:t>
            </a:r>
            <a:r>
              <a:rPr lang="en-US" sz="2000" dirty="0">
                <a:solidFill>
                  <a:schemeClr val="tx1"/>
                </a:solidFill>
              </a:rPr>
              <a:t>its metadata)</a:t>
            </a:r>
          </a:p>
          <a:p>
            <a:pPr lvl="1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On failure </a:t>
            </a:r>
            <a:r>
              <a:rPr lang="en-US" sz="2000" dirty="0">
                <a:solidFill>
                  <a:schemeClr val="tx1"/>
                </a:solidFill>
              </a:rPr>
              <a:t>(or </a:t>
            </a:r>
            <a:r>
              <a:rPr lang="en-US" sz="2000" dirty="0">
                <a:solidFill>
                  <a:prstClr val="black"/>
                </a:solidFill>
              </a:rPr>
              <a:t>the </a:t>
            </a:r>
            <a:r>
              <a:rPr lang="en-US" sz="2000" b="1" dirty="0">
                <a:solidFill>
                  <a:prstClr val="black"/>
                </a:solidFill>
              </a:rPr>
              <a:t>requested size is 0</a:t>
            </a:r>
            <a:r>
              <a:rPr lang="en-US" sz="2000" dirty="0">
                <a:solidFill>
                  <a:prstClr val="black"/>
                </a:solidFill>
              </a:rPr>
              <a:t>)</a:t>
            </a:r>
            <a:r>
              <a:rPr lang="en-US" sz="2000" dirty="0">
                <a:solidFill>
                  <a:schemeClr val="tx1"/>
                </a:solidFill>
              </a:rPr>
              <a:t>: return </a:t>
            </a:r>
            <a:r>
              <a:rPr lang="en-US" sz="2000" b="1" dirty="0">
                <a:solidFill>
                  <a:schemeClr val="tx1"/>
                </a:solidFill>
              </a:rPr>
              <a:t>NULL </a:t>
            </a:r>
            <a:endParaRPr lang="en-AE" sz="2000" dirty="0"/>
          </a:p>
          <a:p>
            <a:pPr lvl="1" algn="just">
              <a:lnSpc>
                <a:spcPct val="15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01168" lvl="1" indent="0" algn="just">
              <a:lnSpc>
                <a:spcPct val="150000"/>
              </a:lnSpc>
              <a:buNone/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23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89700AD-F3DE-49F2-630F-F127E54819F2}"/>
              </a:ext>
            </a:extLst>
          </p:cNvPr>
          <p:cNvGrpSpPr/>
          <p:nvPr/>
        </p:nvGrpSpPr>
        <p:grpSpPr>
          <a:xfrm>
            <a:off x="8982224" y="116702"/>
            <a:ext cx="3148491" cy="968297"/>
            <a:chOff x="8575842" y="86548"/>
            <a:chExt cx="3148491" cy="96829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636C57-8B92-FD90-B599-FBC6A182430F}"/>
                </a:ext>
              </a:extLst>
            </p:cNvPr>
            <p:cNvSpPr txBox="1"/>
            <p:nvPr/>
          </p:nvSpPr>
          <p:spPr>
            <a:xfrm>
              <a:off x="8575842" y="86548"/>
              <a:ext cx="314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Refer to </a:t>
              </a:r>
              <a:r>
                <a:rPr lang="en-US" sz="2000" b="1" dirty="0">
                  <a:hlinkClick r:id="rId3" action="ppaction://hlinkfile"/>
                </a:rPr>
                <a:t>APPENDICES</a:t>
              </a:r>
              <a:r>
                <a:rPr lang="en-US" sz="2000" b="1" dirty="0"/>
                <a:t> for:</a:t>
              </a:r>
              <a:endParaRPr lang="en-AE" sz="20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871CD6-2D9C-A8EB-9E67-501F72967083}"/>
                </a:ext>
              </a:extLst>
            </p:cNvPr>
            <p:cNvSpPr txBox="1"/>
            <p:nvPr/>
          </p:nvSpPr>
          <p:spPr>
            <a:xfrm>
              <a:off x="9097050" y="604298"/>
              <a:ext cx="24604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LISTS Helper Macros</a:t>
              </a:r>
              <a:endParaRPr lang="en-AE" sz="2000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E389A4F-9735-3106-1C47-AD7C087A1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75842" y="553860"/>
              <a:ext cx="500985" cy="500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676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4CC80-1CEF-931B-79F8-00889A45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BBD13-45F5-9DF7-4841-D432E3CA8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#2:</a:t>
            </a:r>
            <a:r>
              <a:rPr lang="en-US" dirty="0"/>
              <a:t> Allocate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6E28F-60A7-E2CD-B9D2-0F226EF6E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115203" cy="5012266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alloc_block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required_size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Description: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Suggested pseudocode for “Get block” step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If failure: call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create_buddy_space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</a:p>
          <a:p>
            <a:pPr marL="201168" lvl="1" indent="0" algn="just">
              <a:lnSpc>
                <a:spcPct val="150000"/>
              </a:lnSpc>
              <a:buNone/>
            </a:pPr>
            <a:r>
              <a:rPr lang="en-US" sz="2000" dirty="0"/>
              <a:t>to </a:t>
            </a:r>
            <a:r>
              <a:rPr lang="en-US" sz="2000" b="1" dirty="0"/>
              <a:t>allocate</a:t>
            </a:r>
            <a:r>
              <a:rPr lang="en-US" sz="2000" dirty="0"/>
              <a:t> new page from Page Allocator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F08CF-2560-968B-3D77-B3111D141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24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DEB68F-C631-685F-F6BC-85CC3239FCA1}"/>
              </a:ext>
            </a:extLst>
          </p:cNvPr>
          <p:cNvGrpSpPr/>
          <p:nvPr/>
        </p:nvGrpSpPr>
        <p:grpSpPr>
          <a:xfrm>
            <a:off x="8982224" y="116702"/>
            <a:ext cx="3148491" cy="968297"/>
            <a:chOff x="8575842" y="86548"/>
            <a:chExt cx="3148491" cy="96829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2E3FE9-6733-34E2-FDCA-50DF5B2DC201}"/>
                </a:ext>
              </a:extLst>
            </p:cNvPr>
            <p:cNvSpPr txBox="1"/>
            <p:nvPr/>
          </p:nvSpPr>
          <p:spPr>
            <a:xfrm>
              <a:off x="8575842" y="86548"/>
              <a:ext cx="314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Refer to </a:t>
              </a:r>
              <a:r>
                <a:rPr lang="en-US" sz="2000" b="1" dirty="0">
                  <a:hlinkClick r:id="rId2" action="ppaction://hlinkfile"/>
                </a:rPr>
                <a:t>APPENDICES</a:t>
              </a:r>
              <a:r>
                <a:rPr lang="en-US" sz="2000" b="1" dirty="0"/>
                <a:t> for:</a:t>
              </a:r>
              <a:endParaRPr lang="en-AE" sz="20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F98BD1-D40E-95A3-4542-A204588D4BB8}"/>
                </a:ext>
              </a:extLst>
            </p:cNvPr>
            <p:cNvSpPr txBox="1"/>
            <p:nvPr/>
          </p:nvSpPr>
          <p:spPr>
            <a:xfrm>
              <a:off x="9097050" y="604298"/>
              <a:ext cx="24604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LISTS Helper Macros</a:t>
              </a:r>
              <a:endParaRPr lang="en-AE" sz="2000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E0C822-37BB-FC32-9B88-330C47114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5842" y="553860"/>
              <a:ext cx="500985" cy="500985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3EE9B71-BAE4-A3C4-EFAF-5646E41C105B}"/>
              </a:ext>
            </a:extLst>
          </p:cNvPr>
          <p:cNvSpPr txBox="1"/>
          <p:nvPr/>
        </p:nvSpPr>
        <p:spPr>
          <a:xfrm>
            <a:off x="6157791" y="2670464"/>
            <a:ext cx="5054692" cy="31393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</a:rPr>
              <a:t>get_hole</a:t>
            </a:r>
            <a:r>
              <a:rPr lang="en-US" b="1" dirty="0"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 { </a:t>
            </a:r>
          </a:p>
          <a:p>
            <a:r>
              <a:rPr lang="en-US" dirty="0">
                <a:latin typeface="Consolas" panose="020B0609020204030204" pitchFamily="49" charset="0"/>
              </a:rPr>
              <a:t>	if 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== (U + 1) &lt;failure&gt;; </a:t>
            </a:r>
          </a:p>
          <a:p>
            <a:r>
              <a:rPr lang="en-US" dirty="0">
                <a:latin typeface="Consolas" panose="020B0609020204030204" pitchFamily="49" charset="0"/>
              </a:rPr>
              <a:t>	if (&lt;</a:t>
            </a:r>
            <a:r>
              <a:rPr lang="en-US" dirty="0" err="1">
                <a:latin typeface="Consolas" panose="020B0609020204030204" pitchFamily="49" charset="0"/>
              </a:rPr>
              <a:t>i_list</a:t>
            </a:r>
            <a:r>
              <a:rPr lang="en-US" dirty="0">
                <a:latin typeface="Consolas" panose="020B0609020204030204" pitchFamily="49" charset="0"/>
              </a:rPr>
              <a:t> empty&gt;) </a:t>
            </a:r>
          </a:p>
          <a:p>
            <a:r>
              <a:rPr lang="en-US" dirty="0">
                <a:latin typeface="Consolas" panose="020B0609020204030204" pitchFamily="49" charset="0"/>
              </a:rPr>
              <a:t> 	{ </a:t>
            </a:r>
          </a:p>
          <a:p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b="1" dirty="0" err="1">
                <a:latin typeface="Consolas" panose="020B0609020204030204" pitchFamily="49" charset="0"/>
              </a:rPr>
              <a:t>get_hole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+ 1); </a:t>
            </a:r>
          </a:p>
          <a:p>
            <a:r>
              <a:rPr lang="en-US" dirty="0">
                <a:latin typeface="Consolas" panose="020B0609020204030204" pitchFamily="49" charset="0"/>
              </a:rPr>
              <a:t>		&lt;split hole into buddies&gt;;</a:t>
            </a:r>
          </a:p>
          <a:p>
            <a:r>
              <a:rPr lang="en-US" dirty="0">
                <a:latin typeface="Consolas" panose="020B0609020204030204" pitchFamily="49" charset="0"/>
              </a:rPr>
              <a:t> 		&lt;put buddies on i_list&gt;; </a:t>
            </a:r>
          </a:p>
          <a:p>
            <a:r>
              <a:rPr lang="en-US" dirty="0">
                <a:latin typeface="Consolas" panose="020B0609020204030204" pitchFamily="49" charset="0"/>
              </a:rPr>
              <a:t>	} </a:t>
            </a:r>
          </a:p>
          <a:p>
            <a:r>
              <a:rPr lang="en-US" dirty="0">
                <a:latin typeface="Consolas" panose="020B0609020204030204" pitchFamily="49" charset="0"/>
              </a:rPr>
              <a:t>	&lt;take first hole on i_list&gt;; </a:t>
            </a:r>
          </a:p>
          <a:p>
            <a:r>
              <a:rPr lang="en-US" dirty="0">
                <a:latin typeface="Consolas" panose="020B0609020204030204" pitchFamily="49" charset="0"/>
              </a:rPr>
              <a:t>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39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#3:</a:t>
            </a:r>
            <a:r>
              <a:rPr lang="en-US" dirty="0"/>
              <a:t> Free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1845734"/>
            <a:ext cx="10058400" cy="4725663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free_block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va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A36622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/>
              <a:t>Description:</a:t>
            </a:r>
          </a:p>
          <a:p>
            <a:pPr lvl="1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Free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the previously allocated block at the given address “</a:t>
            </a:r>
            <a:r>
              <a:rPr lang="en-US" sz="20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va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”</a:t>
            </a:r>
          </a:p>
          <a:p>
            <a:pPr lvl="1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Follow </a:t>
            </a:r>
            <a:r>
              <a:rPr lang="en-US" sz="2000" dirty="0">
                <a:solidFill>
                  <a:schemeClr val="tx1"/>
                </a:solidFill>
              </a:rPr>
              <a:t>the </a:t>
            </a:r>
            <a:r>
              <a:rPr lang="en-US" sz="2000" dirty="0">
                <a:solidFill>
                  <a:schemeClr val="tx1"/>
                </a:solidFill>
                <a:hlinkClick r:id="rId2" action="ppaction://hlinksldjump"/>
              </a:rPr>
              <a:t>previously explained steps</a:t>
            </a:r>
            <a:endParaRPr lang="en-US" sz="20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If page becomes empty: call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delete_buddy_space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va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/>
              <a:t>to </a:t>
            </a:r>
            <a:r>
              <a:rPr lang="en-US" sz="2000" b="1" dirty="0"/>
              <a:t>return</a:t>
            </a:r>
            <a:r>
              <a:rPr lang="en-US" sz="2000" dirty="0"/>
              <a:t> the page to the Page Allocator</a:t>
            </a:r>
          </a:p>
          <a:p>
            <a:pPr lvl="1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lvl="1" algn="just">
              <a:lnSpc>
                <a:spcPct val="150000"/>
              </a:lnSpc>
            </a:pPr>
            <a:endParaRPr lang="en-AE" sz="18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</a:endParaRPr>
          </a:p>
          <a:p>
            <a:pPr lvl="1" algn="just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326862-CC3B-80C0-A2CD-245FEC585927}"/>
              </a:ext>
            </a:extLst>
          </p:cNvPr>
          <p:cNvGrpSpPr/>
          <p:nvPr/>
        </p:nvGrpSpPr>
        <p:grpSpPr>
          <a:xfrm>
            <a:off x="8982224" y="116702"/>
            <a:ext cx="3148491" cy="968297"/>
            <a:chOff x="8575842" y="86548"/>
            <a:chExt cx="3148491" cy="96829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7FCBB7E-D51C-BF1F-5446-9E158291A813}"/>
                </a:ext>
              </a:extLst>
            </p:cNvPr>
            <p:cNvSpPr txBox="1"/>
            <p:nvPr/>
          </p:nvSpPr>
          <p:spPr>
            <a:xfrm>
              <a:off x="8575842" y="86548"/>
              <a:ext cx="314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Refer to </a:t>
              </a:r>
              <a:r>
                <a:rPr lang="en-US" sz="2000" b="1" dirty="0">
                  <a:hlinkClick r:id="rId3" action="ppaction://hlinkfile"/>
                </a:rPr>
                <a:t>APPENDICES</a:t>
              </a:r>
              <a:r>
                <a:rPr lang="en-US" sz="2000" b="1" dirty="0"/>
                <a:t> for:</a:t>
              </a:r>
              <a:endParaRPr lang="en-AE" sz="20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46D8A6-863F-0917-EB3A-0EC74252A5E0}"/>
                </a:ext>
              </a:extLst>
            </p:cNvPr>
            <p:cNvSpPr txBox="1"/>
            <p:nvPr/>
          </p:nvSpPr>
          <p:spPr>
            <a:xfrm>
              <a:off x="9097050" y="604298"/>
              <a:ext cx="24604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LISTS Helper Macros</a:t>
              </a:r>
              <a:endParaRPr lang="en-AE" sz="2000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B40351D-44BA-0FE3-3226-A6AEB150C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75842" y="553860"/>
              <a:ext cx="500985" cy="500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339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C8D7F9-4BC9-DCF5-DA37-887FE454D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Heap</a:t>
            </a:r>
            <a:endParaRPr lang="en-A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0E736-AB6F-216C-1931-A35FD64C7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II: group modules</a:t>
            </a:r>
            <a:endParaRPr lang="en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38FA3-02BC-C0B3-00E7-931D9D6E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663F85-21FB-0C02-B67B-64172B92C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0"/>
            <a:ext cx="12192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24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52049-FEF9-7537-181A-B2C0B638B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93FB-1383-AFA6-F26F-60A4E6257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7D1955CB-464C-ADEA-1B6A-4E0718B47E69}"/>
              </a:ext>
            </a:extLst>
          </p:cNvPr>
          <p:cNvSpPr/>
          <p:nvPr/>
        </p:nvSpPr>
        <p:spPr>
          <a:xfrm>
            <a:off x="1154084" y="2270926"/>
            <a:ext cx="10058400" cy="2924072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/>
              <a:t>Allow the kernel to </a:t>
            </a:r>
            <a:r>
              <a:rPr lang="en-US" sz="2200" b="1" u="sng" dirty="0">
                <a:solidFill>
                  <a:srgbClr val="FF0000"/>
                </a:solidFill>
              </a:rPr>
              <a:t>dynamically</a:t>
            </a:r>
            <a:r>
              <a:rPr lang="en-US" sz="2200" dirty="0"/>
              <a:t> </a:t>
            </a:r>
            <a:r>
              <a:rPr lang="en-US" sz="2200" b="1" dirty="0"/>
              <a:t>allocate/free </a:t>
            </a:r>
            <a:r>
              <a:rPr lang="en-US" sz="2200" dirty="0"/>
              <a:t>data of </a:t>
            </a:r>
            <a:r>
              <a:rPr lang="en-US" sz="2200" b="1" dirty="0"/>
              <a:t>different sizes</a:t>
            </a:r>
            <a:r>
              <a:rPr lang="en-US" sz="2200" dirty="0"/>
              <a:t> in run-time</a:t>
            </a:r>
            <a:endParaRPr lang="en-US" sz="22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96220-A9FC-89AD-7908-6E592DCE3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56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CA6DD-1F89-6392-626F-50DF156FB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Kernel Heap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F7507-F1C5-6382-D783-B4D5FBD6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28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7A916B-B13D-9BC7-E80A-FF312099249B}"/>
              </a:ext>
            </a:extLst>
          </p:cNvPr>
          <p:cNvSpPr/>
          <p:nvPr/>
        </p:nvSpPr>
        <p:spPr>
          <a:xfrm>
            <a:off x="893618" y="1944139"/>
            <a:ext cx="10726882" cy="21503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rgbClr val="FF0000"/>
                </a:solidFill>
              </a:rPr>
              <a:t>IMPORTANT NOTES</a:t>
            </a:r>
            <a:endParaRPr lang="en-US" sz="3400" b="1" dirty="0"/>
          </a:p>
          <a:p>
            <a:pPr>
              <a:lnSpc>
                <a:spcPct val="150000"/>
              </a:lnSpc>
            </a:pPr>
            <a:r>
              <a:rPr lang="en-US" sz="2800" dirty="0"/>
              <a:t>Enable the KERNEL HEAP: </a:t>
            </a:r>
            <a:r>
              <a:rPr lang="en-US" sz="2600" dirty="0"/>
              <a:t>'</a:t>
            </a:r>
            <a:r>
              <a:rPr lang="en-US" sz="2600" b="1" dirty="0" err="1">
                <a:solidFill>
                  <a:srgbClr val="00B0F0"/>
                </a:solidFill>
              </a:rPr>
              <a:t>inc</a:t>
            </a:r>
            <a:r>
              <a:rPr lang="en-US" sz="2600" b="1" dirty="0">
                <a:solidFill>
                  <a:srgbClr val="00B0F0"/>
                </a:solidFill>
              </a:rPr>
              <a:t>/</a:t>
            </a:r>
            <a:r>
              <a:rPr lang="en-US" sz="2600" b="1" dirty="0" err="1">
                <a:solidFill>
                  <a:srgbClr val="00B0F0"/>
                </a:solidFill>
              </a:rPr>
              <a:t>memlayout.h</a:t>
            </a:r>
            <a:r>
              <a:rPr lang="en-US" sz="2600" dirty="0"/>
              <a:t>' set 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USE_KHEAP </a:t>
            </a:r>
            <a:r>
              <a:rPr lang="en-US" sz="2600" dirty="0"/>
              <a:t>by </a:t>
            </a:r>
            <a:r>
              <a:rPr lang="en-US" sz="2600" b="1" dirty="0">
                <a:solidFill>
                  <a:srgbClr val="0070C0"/>
                </a:solidFill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AE" sz="2800" dirty="0"/>
              <a:t>This module is </a:t>
            </a:r>
            <a:r>
              <a:rPr lang="en-AE" sz="2800" b="1" dirty="0"/>
              <a:t>ESSENTIAL</a:t>
            </a:r>
            <a:r>
              <a:rPr lang="en-AE" sz="2800" dirty="0"/>
              <a:t> for all other modules</a:t>
            </a:r>
            <a:r>
              <a:rPr lang="en-AE" sz="2800" b="1" dirty="0"/>
              <a:t>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B962C93-3ED8-4857-6A83-433BA78D1CB8}"/>
              </a:ext>
            </a:extLst>
          </p:cNvPr>
          <p:cNvSpPr/>
          <p:nvPr/>
        </p:nvSpPr>
        <p:spPr>
          <a:xfrm>
            <a:off x="893618" y="4184285"/>
            <a:ext cx="10726882" cy="21503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000" b="1" u="sng" dirty="0">
                <a:solidFill>
                  <a:srgbClr val="FF0000"/>
                </a:solidFill>
              </a:rPr>
              <a:t>CAUTION</a:t>
            </a: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sz="2800" b="1" dirty="0"/>
              <a:t>During your solution, any SHARED data MUST be PROTECTED by critical section via LOCKS</a:t>
            </a:r>
            <a:endParaRPr lang="en-AE" sz="2800" b="1" dirty="0"/>
          </a:p>
        </p:txBody>
      </p:sp>
    </p:spTree>
    <p:extLst>
      <p:ext uri="{BB962C8B-B14F-4D97-AF65-F5344CB8AC3E}">
        <p14:creationId xmlns:p14="http://schemas.microsoft.com/office/powerpoint/2010/main" val="10856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8E9F-7477-40C4-8B93-7CEFF71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/>
          <a:lstStyle/>
          <a:p>
            <a:r>
              <a:rPr lang="en-US" sz="4800" dirty="0"/>
              <a:t>Kernel Heap – </a:t>
            </a:r>
            <a:r>
              <a:rPr lang="en-US" sz="4800" b="1" dirty="0"/>
              <a:t>Functions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3B4CD-FA65-7FC5-E1E6-C7593B7AC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functions required to handle “</a:t>
            </a:r>
            <a:r>
              <a:rPr lang="en-US" sz="2000" b="1" dirty="0"/>
              <a:t>Kernel Heap</a:t>
            </a:r>
            <a:r>
              <a:rPr lang="en-US" dirty="0"/>
              <a:t>” are: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24B4C-0DDB-3DB5-39C9-38870873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B3F582C-50B4-3B50-7B6B-4D91F3DED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991894"/>
              </p:ext>
            </p:extLst>
          </p:nvPr>
        </p:nvGraphicFramePr>
        <p:xfrm>
          <a:off x="1307939" y="2486082"/>
          <a:ext cx="9904544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6836">
                  <a:extLst>
                    <a:ext uri="{9D8B030D-6E8A-4147-A177-3AD203B41FA5}">
                      <a16:colId xmlns:a16="http://schemas.microsoft.com/office/drawing/2014/main" val="422314023"/>
                    </a:ext>
                  </a:extLst>
                </a:gridCol>
                <a:gridCol w="5156193">
                  <a:extLst>
                    <a:ext uri="{9D8B030D-6E8A-4147-A177-3AD203B41FA5}">
                      <a16:colId xmlns:a16="http://schemas.microsoft.com/office/drawing/2014/main" val="1877600023"/>
                    </a:ext>
                  </a:extLst>
                </a:gridCol>
                <a:gridCol w="3301515">
                  <a:extLst>
                    <a:ext uri="{9D8B030D-6E8A-4147-A177-3AD203B41FA5}">
                      <a16:colId xmlns:a16="http://schemas.microsoft.com/office/drawing/2014/main" val="2719033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24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create_buddy_space</a:t>
                      </a:r>
                      <a:endParaRPr lang="en-US" sz="1800" b="1" kern="1200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u="none" dirty="0"/>
                        <a:t>All essential declarations in:</a:t>
                      </a:r>
                    </a:p>
                    <a:p>
                      <a:pPr algn="ctr"/>
                      <a:r>
                        <a:rPr lang="en-US" u="none" dirty="0"/>
                        <a:t>Kern/mem/</a:t>
                      </a:r>
                      <a:r>
                        <a:rPr lang="en-US" u="none" dirty="0" err="1"/>
                        <a:t>kheap.h</a:t>
                      </a:r>
                      <a:endParaRPr lang="en-US" u="none" dirty="0"/>
                    </a:p>
                    <a:p>
                      <a:pPr algn="ctr"/>
                      <a:endParaRPr lang="en-US" u="none" dirty="0"/>
                    </a:p>
                    <a:p>
                      <a:pPr algn="ctr"/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Functions definitions </a:t>
                      </a:r>
                      <a:r>
                        <a:rPr lang="en-US" b="1" u="sng" dirty="0">
                          <a:solidFill>
                            <a:srgbClr val="C00000"/>
                          </a:solidFill>
                        </a:rPr>
                        <a:t>TO DO </a:t>
                      </a: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in: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Kern/mem/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kheap.c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3117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delete_buddy_space</a:t>
                      </a:r>
                      <a:endParaRPr lang="en-US" sz="1800" b="1" kern="1200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225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kmalloc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88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kfree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365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none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kheap_virtual_address</a:t>
                      </a:r>
                      <a:endParaRPr lang="en-US" b="1" u="non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u="non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48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kheap_physical_address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u="non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458353"/>
                  </a:ext>
                </a:extLst>
              </a:tr>
              <a:tr h="3127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BONUS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krealloc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u="non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038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004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4594" y="1259504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dirty="0"/>
              <a:t>Current: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6888" name="Rectangle 2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887" name="AutoShape 23"/>
          <p:cNvSpPr>
            <a:spLocks noChangeAspect="1" noChangeArrowheads="1"/>
          </p:cNvSpPr>
          <p:nvPr/>
        </p:nvSpPr>
        <p:spPr bwMode="auto">
          <a:xfrm>
            <a:off x="3276600" y="2667000"/>
            <a:ext cx="5410200" cy="35814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368961" y="3359830"/>
            <a:ext cx="743207" cy="2592404"/>
          </a:xfrm>
          <a:prstGeom prst="rect">
            <a:avLst/>
          </a:prstGeom>
          <a:solidFill>
            <a:srgbClr val="FFFFFF"/>
          </a:solidFill>
          <a:ln w="25400">
            <a:solidFill>
              <a:srgbClr val="E36C0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85" name="Rectangle 2"/>
          <p:cNvSpPr>
            <a:spLocks noChangeArrowheads="1"/>
          </p:cNvSpPr>
          <p:nvPr/>
        </p:nvSpPr>
        <p:spPr bwMode="auto">
          <a:xfrm>
            <a:off x="4368961" y="3347649"/>
            <a:ext cx="743207" cy="813124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rgbClr val="92CDDC"/>
            </a:solidFill>
            <a:miter lim="800000"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914400" rtl="1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>
                <a:latin typeface="Calibri" pitchFamily="34" charset="0"/>
                <a:ea typeface="Times New Roman" pitchFamily="18" charset="0"/>
                <a:cs typeface="Arial" pitchFamily="34" charset="0"/>
              </a:rPr>
              <a:t>FOS</a:t>
            </a: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6884" name="Text Box 6"/>
          <p:cNvSpPr txBox="1">
            <a:spLocks noChangeArrowheads="1"/>
          </p:cNvSpPr>
          <p:nvPr/>
        </p:nvSpPr>
        <p:spPr bwMode="auto">
          <a:xfrm>
            <a:off x="4220855" y="3965105"/>
            <a:ext cx="1015292" cy="229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latin typeface="Calibri" pitchFamily="34" charset="0"/>
                <a:ea typeface="Calibri" pitchFamily="34" charset="0"/>
                <a:cs typeface="Calibri" pitchFamily="34" charset="0"/>
              </a:rPr>
              <a:t>KERNEL_BASE</a:t>
            </a: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36883" name="Rectangle 6"/>
          <p:cNvSpPr>
            <a:spLocks noChangeArrowheads="1"/>
          </p:cNvSpPr>
          <p:nvPr/>
        </p:nvSpPr>
        <p:spPr bwMode="auto">
          <a:xfrm>
            <a:off x="6913557" y="3622498"/>
            <a:ext cx="753260" cy="2536825"/>
          </a:xfrm>
          <a:prstGeom prst="rect">
            <a:avLst/>
          </a:prstGeom>
          <a:gradFill rotWithShape="1">
            <a:gsLst>
              <a:gs pos="0">
                <a:srgbClr val="BCBCBC"/>
              </a:gs>
              <a:gs pos="35001">
                <a:srgbClr val="D0D0D0"/>
              </a:gs>
              <a:gs pos="100000">
                <a:srgbClr val="EDEDED"/>
              </a:gs>
            </a:gsLst>
            <a:lin ang="162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914400" rtl="1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>
                <a:solidFill>
                  <a:srgbClr val="C00000"/>
                </a:solidFill>
                <a:latin typeface="Calibri" pitchFamily="34" charset="0"/>
                <a:ea typeface="Times New Roman" pitchFamily="18" charset="0"/>
                <a:cs typeface="Arial" pitchFamily="34" charset="0"/>
              </a:rPr>
              <a:t>RAM</a:t>
            </a: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Left Brace 7"/>
          <p:cNvSpPr>
            <a:spLocks/>
          </p:cNvSpPr>
          <p:nvPr/>
        </p:nvSpPr>
        <p:spPr bwMode="auto">
          <a:xfrm>
            <a:off x="4168583" y="3382672"/>
            <a:ext cx="134032" cy="755261"/>
          </a:xfrm>
          <a:prstGeom prst="leftBrace">
            <a:avLst>
              <a:gd name="adj1" fmla="val 8313"/>
              <a:gd name="adj2" fmla="val 50000"/>
            </a:avLst>
          </a:prstGeom>
          <a:solidFill>
            <a:srgbClr val="D99594"/>
          </a:solidFill>
          <a:ln w="25400">
            <a:solidFill>
              <a:srgbClr val="4F81BD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81" name="Text Box 6"/>
          <p:cNvSpPr txBox="1">
            <a:spLocks noChangeArrowheads="1"/>
          </p:cNvSpPr>
          <p:nvPr/>
        </p:nvSpPr>
        <p:spPr bwMode="auto">
          <a:xfrm>
            <a:off x="3510487" y="3622498"/>
            <a:ext cx="757281" cy="285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solidFill>
                  <a:srgbClr val="4F81B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256 MB</a:t>
            </a:r>
            <a:endParaRPr lang="en-US" sz="320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Straight Connector 9"/>
          <p:cNvSpPr>
            <a:spLocks noChangeShapeType="1"/>
          </p:cNvSpPr>
          <p:nvPr/>
        </p:nvSpPr>
        <p:spPr bwMode="auto">
          <a:xfrm flipH="1">
            <a:off x="3276600" y="4182091"/>
            <a:ext cx="2658524" cy="0"/>
          </a:xfrm>
          <a:prstGeom prst="line">
            <a:avLst/>
          </a:prstGeom>
          <a:noFill/>
          <a:ln w="28575">
            <a:solidFill>
              <a:srgbClr val="31849B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Straight Connector 10"/>
          <p:cNvSpPr>
            <a:spLocks noChangeShapeType="1"/>
          </p:cNvSpPr>
          <p:nvPr/>
        </p:nvSpPr>
        <p:spPr bwMode="auto">
          <a:xfrm flipH="1">
            <a:off x="3287323" y="3347649"/>
            <a:ext cx="2657854" cy="0"/>
          </a:xfrm>
          <a:prstGeom prst="line">
            <a:avLst/>
          </a:prstGeom>
          <a:noFill/>
          <a:ln w="28575">
            <a:solidFill>
              <a:srgbClr val="31849B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Straight Connector 11"/>
          <p:cNvSpPr>
            <a:spLocks noChangeShapeType="1"/>
          </p:cNvSpPr>
          <p:nvPr/>
        </p:nvSpPr>
        <p:spPr bwMode="auto">
          <a:xfrm>
            <a:off x="5126911" y="4182092"/>
            <a:ext cx="1786646" cy="1977231"/>
          </a:xfrm>
          <a:prstGeom prst="line">
            <a:avLst/>
          </a:prstGeom>
          <a:noFill/>
          <a:ln w="38100">
            <a:solidFill>
              <a:srgbClr val="F79646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Straight Connector 12"/>
          <p:cNvSpPr>
            <a:spLocks noChangeShapeType="1"/>
          </p:cNvSpPr>
          <p:nvPr/>
        </p:nvSpPr>
        <p:spPr bwMode="auto">
          <a:xfrm>
            <a:off x="5112168" y="3382671"/>
            <a:ext cx="1801390" cy="1969618"/>
          </a:xfrm>
          <a:prstGeom prst="line">
            <a:avLst/>
          </a:prstGeom>
          <a:noFill/>
          <a:ln w="38100">
            <a:solidFill>
              <a:srgbClr val="F79646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76" name="Text Box 13"/>
          <p:cNvSpPr txBox="1">
            <a:spLocks noChangeArrowheads="1"/>
          </p:cNvSpPr>
          <p:nvPr/>
        </p:nvSpPr>
        <p:spPr bwMode="auto">
          <a:xfrm>
            <a:off x="5126911" y="5762658"/>
            <a:ext cx="301572" cy="29692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6875" name="Text Box 15"/>
          <p:cNvSpPr txBox="1">
            <a:spLocks noChangeArrowheads="1"/>
          </p:cNvSpPr>
          <p:nvPr/>
        </p:nvSpPr>
        <p:spPr bwMode="auto">
          <a:xfrm>
            <a:off x="4340814" y="2689079"/>
            <a:ext cx="779396" cy="6372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rtl="1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>
                <a:latin typeface="Calibri" pitchFamily="34" charset="0"/>
                <a:ea typeface="Times New Roman" pitchFamily="18" charset="0"/>
                <a:cs typeface="Arial" pitchFamily="34" charset="0"/>
              </a:rPr>
              <a:t>Virtual Memory</a:t>
            </a: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6874" name="Text Box 249"/>
          <p:cNvSpPr txBox="1">
            <a:spLocks noChangeArrowheads="1"/>
          </p:cNvSpPr>
          <p:nvPr/>
        </p:nvSpPr>
        <p:spPr bwMode="auto">
          <a:xfrm>
            <a:off x="7704346" y="5952234"/>
            <a:ext cx="301572" cy="29616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>
                <a:latin typeface="Calibri" pitchFamily="34" charset="0"/>
                <a:ea typeface="Calibri" pitchFamily="34" charset="0"/>
                <a:cs typeface="Calibri" pitchFamily="34" charset="0"/>
              </a:rPr>
              <a:t>0</a:t>
            </a: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6873" name="Text Box 249"/>
          <p:cNvSpPr txBox="1">
            <a:spLocks noChangeArrowheads="1"/>
          </p:cNvSpPr>
          <p:nvPr/>
        </p:nvSpPr>
        <p:spPr bwMode="auto">
          <a:xfrm>
            <a:off x="7528095" y="3407035"/>
            <a:ext cx="593091" cy="29540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Straight Arrow Connector 18"/>
          <p:cNvSpPr>
            <a:spLocks noChangeShapeType="1"/>
          </p:cNvSpPr>
          <p:nvPr/>
        </p:nvSpPr>
        <p:spPr bwMode="auto">
          <a:xfrm flipV="1">
            <a:off x="5372860" y="3407035"/>
            <a:ext cx="670" cy="2228477"/>
          </a:xfrm>
          <a:prstGeom prst="straightConnector1">
            <a:avLst/>
          </a:prstGeom>
          <a:noFill/>
          <a:ln w="9525">
            <a:solidFill>
              <a:srgbClr val="4579B8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71" name="Text Box 6"/>
          <p:cNvSpPr txBox="1">
            <a:spLocks noChangeArrowheads="1"/>
          </p:cNvSpPr>
          <p:nvPr/>
        </p:nvSpPr>
        <p:spPr bwMode="auto">
          <a:xfrm>
            <a:off x="7607174" y="3489261"/>
            <a:ext cx="1155827" cy="285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UP TO</a:t>
            </a:r>
            <a:r>
              <a:rPr lang="en-US">
                <a:solidFill>
                  <a:srgbClr val="C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lang="en-US" sz="1600" b="1">
                <a:latin typeface="Calibri" pitchFamily="34" charset="0"/>
                <a:ea typeface="Calibri" pitchFamily="34" charset="0"/>
                <a:cs typeface="Calibri" pitchFamily="34" charset="0"/>
              </a:rPr>
              <a:t>4 GB</a:t>
            </a:r>
            <a:endParaRPr lang="en-US" sz="1600"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6870" name="Text Box 250"/>
          <p:cNvSpPr txBox="1">
            <a:spLocks noChangeArrowheads="1"/>
          </p:cNvSpPr>
          <p:nvPr/>
        </p:nvSpPr>
        <p:spPr bwMode="auto">
          <a:xfrm>
            <a:off x="6913557" y="3005040"/>
            <a:ext cx="778726" cy="5245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>
                <a:latin typeface="Calibri" pitchFamily="34" charset="0"/>
                <a:ea typeface="Calibri" pitchFamily="34" charset="0"/>
                <a:cs typeface="Calibri" pitchFamily="34" charset="0"/>
              </a:rPr>
              <a:t>Physical Memory</a:t>
            </a: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Left Brace 7"/>
          <p:cNvSpPr>
            <a:spLocks/>
          </p:cNvSpPr>
          <p:nvPr/>
        </p:nvSpPr>
        <p:spPr bwMode="auto">
          <a:xfrm flipH="1">
            <a:off x="7692283" y="5367517"/>
            <a:ext cx="134032" cy="755261"/>
          </a:xfrm>
          <a:prstGeom prst="leftBrace">
            <a:avLst>
              <a:gd name="adj1" fmla="val 8313"/>
              <a:gd name="adj2" fmla="val 50000"/>
            </a:avLst>
          </a:prstGeom>
          <a:solidFill>
            <a:srgbClr val="D99594"/>
          </a:solidFill>
          <a:ln w="25400">
            <a:solidFill>
              <a:srgbClr val="4F81BD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68" name="Text Box 249"/>
          <p:cNvSpPr txBox="1">
            <a:spLocks noChangeArrowheads="1"/>
          </p:cNvSpPr>
          <p:nvPr/>
        </p:nvSpPr>
        <p:spPr bwMode="auto">
          <a:xfrm>
            <a:off x="7704346" y="5184791"/>
            <a:ext cx="1058654" cy="29616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latin typeface="Calibri" pitchFamily="34" charset="0"/>
                <a:ea typeface="Calibri" pitchFamily="34" charset="0"/>
                <a:cs typeface="Calibri" pitchFamily="34" charset="0"/>
              </a:rPr>
              <a:t>256 MB</a:t>
            </a:r>
            <a:endParaRPr lang="en-US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traight Connector 10"/>
          <p:cNvSpPr>
            <a:spLocks noChangeShapeType="1"/>
          </p:cNvSpPr>
          <p:nvPr/>
        </p:nvSpPr>
        <p:spPr bwMode="auto">
          <a:xfrm flipH="1">
            <a:off x="6920259" y="5352290"/>
            <a:ext cx="748568" cy="761"/>
          </a:xfrm>
          <a:prstGeom prst="line">
            <a:avLst/>
          </a:prstGeom>
          <a:noFill/>
          <a:ln w="28575">
            <a:solidFill>
              <a:srgbClr val="31849B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5010974" y="3120004"/>
            <a:ext cx="627826" cy="336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latin typeface="Calibri" pitchFamily="34" charset="0"/>
                <a:ea typeface="Times New Roman" pitchFamily="18" charset="0"/>
                <a:cs typeface="Arial" pitchFamily="34" charset="0"/>
              </a:rPr>
              <a:t>4 GB</a:t>
            </a: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3370994" y="1271696"/>
            <a:ext cx="6934200" cy="533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342900" indent="-342900" algn="ctr" defTabSz="914400">
              <a:spcBef>
                <a:spcPct val="20000"/>
              </a:spcBef>
              <a:defRPr/>
            </a:pPr>
            <a:r>
              <a:rPr lang="en-US" sz="2800"/>
              <a:t>Kernel is </a:t>
            </a:r>
            <a:r>
              <a:rPr lang="en-US" sz="2800" b="1"/>
              <a:t>one-to-one </a:t>
            </a:r>
            <a:r>
              <a:rPr lang="en-US" sz="2800"/>
              <a:t>mapped to 256 MB RAM</a:t>
            </a:r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1694594" y="1770518"/>
            <a:ext cx="8229600" cy="4919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defTabSz="914400">
              <a:spcBef>
                <a:spcPct val="20000"/>
              </a:spcBef>
              <a:defRPr/>
            </a:pPr>
            <a:r>
              <a:rPr lang="en-US" sz="3200"/>
              <a:t>Problem: </a:t>
            </a: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3382471" y="1749812"/>
            <a:ext cx="7793182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ctr" defTabSz="914400">
              <a:spcBef>
                <a:spcPct val="20000"/>
              </a:spcBef>
              <a:defRPr/>
            </a:pPr>
            <a:r>
              <a:rPr lang="en-US" sz="2800" dirty="0"/>
              <a:t>Kernel can’t directly access beyond 256 MB RAM</a:t>
            </a:r>
          </a:p>
        </p:txBody>
      </p:sp>
      <p:pic>
        <p:nvPicPr>
          <p:cNvPr id="63" name="Picture 63" descr="074499-simple-red-glossy-icon-alphanumeric-x-styl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4191000"/>
            <a:ext cx="990600" cy="990600"/>
          </a:xfrm>
          <a:prstGeom prst="rect">
            <a:avLst/>
          </a:prstGeom>
          <a:noFill/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A0A58CC-8B1D-F3A6-C29D-A1EA28795C4C}"/>
              </a:ext>
            </a:extLst>
          </p:cNvPr>
          <p:cNvSpPr txBox="1">
            <a:spLocks/>
          </p:cNvSpPr>
          <p:nvPr/>
        </p:nvSpPr>
        <p:spPr>
          <a:xfrm>
            <a:off x="0" y="-15797"/>
            <a:ext cx="12055514" cy="73946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Kernel Heap – W</a:t>
            </a:r>
            <a:r>
              <a:rPr lang="en-US" dirty="0"/>
              <a:t>hat is new? </a:t>
            </a:r>
            <a:endParaRPr lang="en-US" sz="3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8" grpId="0"/>
      <p:bldP spid="29" grpId="0"/>
      <p:bldP spid="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6888" name="Rectangle 2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1516789" y="690293"/>
            <a:ext cx="8229600" cy="533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 defTabSz="9144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/>
              <a:t>Example: </a:t>
            </a: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3340312" y="766089"/>
            <a:ext cx="6934200" cy="533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342900" indent="-342900" algn="ctr" defTabSz="914400">
              <a:spcBef>
                <a:spcPct val="20000"/>
              </a:spcBef>
              <a:defRPr/>
            </a:pPr>
            <a:r>
              <a:rPr lang="en-US" sz="2800" dirty="0"/>
              <a:t>Kernel can’t directly access beyond 256 MB RAM</a:t>
            </a:r>
          </a:p>
        </p:txBody>
      </p:sp>
      <p:sp>
        <p:nvSpPr>
          <p:cNvPr id="130083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0082" name="AutoShape 34"/>
          <p:cNvSpPr>
            <a:spLocks noChangeAspect="1" noChangeArrowheads="1"/>
          </p:cNvSpPr>
          <p:nvPr/>
        </p:nvSpPr>
        <p:spPr bwMode="auto">
          <a:xfrm>
            <a:off x="2737658" y="1361015"/>
            <a:ext cx="7162800" cy="4800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4207721" y="2317034"/>
            <a:ext cx="924205" cy="377437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4207721" y="2269707"/>
            <a:ext cx="924205" cy="2224399"/>
          </a:xfrm>
          <a:prstGeom prst="rect">
            <a:avLst/>
          </a:prstGeom>
          <a:solidFill>
            <a:srgbClr val="DAEEF3"/>
          </a:solidFill>
          <a:ln w="254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7522025" y="2317034"/>
            <a:ext cx="936706" cy="377437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8" name="Group 67"/>
          <p:cNvGrpSpPr/>
          <p:nvPr/>
        </p:nvGrpSpPr>
        <p:grpSpPr>
          <a:xfrm>
            <a:off x="7522026" y="5134606"/>
            <a:ext cx="1584233" cy="268979"/>
            <a:chOff x="5698767" y="5754790"/>
            <a:chExt cx="1584233" cy="268979"/>
          </a:xfrm>
        </p:grpSpPr>
        <p:sp>
          <p:nvSpPr>
            <p:cNvPr id="130078" name="Rounded Rectangle 24"/>
            <p:cNvSpPr>
              <a:spLocks noChangeArrowheads="1"/>
            </p:cNvSpPr>
            <p:nvPr/>
          </p:nvSpPr>
          <p:spPr bwMode="auto">
            <a:xfrm>
              <a:off x="5698767" y="5754790"/>
              <a:ext cx="936706" cy="260302"/>
            </a:xfrm>
            <a:prstGeom prst="roundRect">
              <a:avLst>
                <a:gd name="adj" fmla="val 16667"/>
              </a:avLst>
            </a:prstGeom>
            <a:solidFill>
              <a:srgbClr val="FABF8F"/>
            </a:solidFill>
            <a:ln w="9525">
              <a:solidFill>
                <a:srgbClr val="FFFF00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0" tIns="3600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latin typeface="Calibri" pitchFamily="34" charset="0"/>
                  <a:ea typeface="Times New Roman" pitchFamily="18" charset="0"/>
                  <a:cs typeface="Calibri" pitchFamily="34" charset="0"/>
                </a:rPr>
                <a:t>New DIR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077" name="Text Box 25"/>
            <p:cNvSpPr txBox="1">
              <a:spLocks noChangeArrowheads="1"/>
            </p:cNvSpPr>
            <p:nvPr/>
          </p:nvSpPr>
          <p:spPr bwMode="auto">
            <a:xfrm>
              <a:off x="6695475" y="5798963"/>
              <a:ext cx="587525" cy="224806"/>
            </a:xfrm>
            <a:prstGeom prst="rect">
              <a:avLst/>
            </a:prstGeom>
            <a:solidFill>
              <a:srgbClr val="FFFFFF"/>
            </a:solidFill>
            <a:ln w="63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>
                  <a:solidFill>
                    <a:srgbClr val="FF0000"/>
                  </a:solidFill>
                  <a:latin typeface="Calibri" pitchFamily="34" charset="0"/>
                  <a:ea typeface="Times New Roman" pitchFamily="18" charset="0"/>
                  <a:cs typeface="Calibri" pitchFamily="34" charset="0"/>
                </a:rPr>
                <a:t>Frame#4</a:t>
              </a:r>
              <a:endParaRPr lang="en-US" sz="240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4195220" y="3501802"/>
            <a:ext cx="3412643" cy="1915980"/>
            <a:chOff x="2371961" y="4121987"/>
            <a:chExt cx="3412643" cy="1915980"/>
          </a:xfrm>
        </p:grpSpPr>
        <p:grpSp>
          <p:nvGrpSpPr>
            <p:cNvPr id="69" name="Group 68"/>
            <p:cNvGrpSpPr/>
            <p:nvPr/>
          </p:nvGrpSpPr>
          <p:grpSpPr>
            <a:xfrm>
              <a:off x="2371961" y="4121987"/>
              <a:ext cx="3412643" cy="1915980"/>
              <a:chOff x="2371961" y="4121987"/>
              <a:chExt cx="3412643" cy="1915980"/>
            </a:xfrm>
          </p:grpSpPr>
          <p:sp>
            <p:nvSpPr>
              <p:cNvPr id="130074" name="Rounded Rectangle 35"/>
              <p:cNvSpPr>
                <a:spLocks noChangeArrowheads="1"/>
              </p:cNvSpPr>
              <p:nvPr/>
            </p:nvSpPr>
            <p:spPr bwMode="auto">
              <a:xfrm>
                <a:off x="2371961" y="4121987"/>
                <a:ext cx="936706" cy="260302"/>
              </a:xfrm>
              <a:prstGeom prst="roundRect">
                <a:avLst>
                  <a:gd name="adj" fmla="val 16667"/>
                </a:avLst>
              </a:prstGeom>
              <a:solidFill>
                <a:srgbClr val="FABF8F"/>
              </a:solidFill>
              <a:ln w="9525">
                <a:solidFill>
                  <a:srgbClr val="FFFF00"/>
                </a:solidFill>
                <a:round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>
                    <a:latin typeface="Calibri" pitchFamily="34" charset="0"/>
                    <a:ea typeface="Times New Roman" pitchFamily="18" charset="0"/>
                    <a:cs typeface="Calibri" pitchFamily="34" charset="0"/>
                  </a:rPr>
                  <a:t>New </a:t>
                </a:r>
                <a:r>
                  <a:rPr lang="en-US" sz="1200" b="1">
                    <a:latin typeface="Calibri" pitchFamily="34" charset="0"/>
                    <a:ea typeface="Calibri" pitchFamily="34" charset="0"/>
                    <a:cs typeface="Calibri" pitchFamily="34" charset="0"/>
                  </a:rPr>
                  <a:t>DIR</a:t>
                </a:r>
                <a:endParaRPr lang="en-US" sz="360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8" name="Elbow Connector 38"/>
              <p:cNvSpPr>
                <a:spLocks noChangeShapeType="1"/>
              </p:cNvSpPr>
              <p:nvPr/>
            </p:nvSpPr>
            <p:spPr bwMode="auto">
              <a:xfrm>
                <a:off x="3323668" y="4358625"/>
                <a:ext cx="2350098" cy="1644635"/>
              </a:xfrm>
              <a:prstGeom prst="bentConnector3">
                <a:avLst>
                  <a:gd name="adj1" fmla="val 38815"/>
                </a:avLst>
              </a:prstGeom>
              <a:noFill/>
              <a:ln w="28575">
                <a:solidFill>
                  <a:srgbClr val="4579B8"/>
                </a:solidFill>
                <a:prstDash val="dash"/>
                <a:miter lim="800000"/>
                <a:headEnd type="triangle" w="med" len="med"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070" name="Text Box 6"/>
              <p:cNvSpPr txBox="1">
                <a:spLocks noChangeArrowheads="1"/>
              </p:cNvSpPr>
              <p:nvPr/>
            </p:nvSpPr>
            <p:spPr bwMode="auto">
              <a:xfrm>
                <a:off x="4374545" y="5800540"/>
                <a:ext cx="1410059" cy="2374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>
                    <a:latin typeface="Calibri" pitchFamily="34" charset="0"/>
                    <a:ea typeface="Calibri" pitchFamily="34" charset="0"/>
                    <a:cs typeface="Calibri" pitchFamily="34" charset="0"/>
                  </a:rPr>
                  <a:t>PA = 16 KB</a:t>
                </a:r>
                <a:endParaRPr lang="en-US" sz="360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30068" name="Text Box 6"/>
            <p:cNvSpPr txBox="1">
              <a:spLocks noChangeArrowheads="1"/>
            </p:cNvSpPr>
            <p:nvPr/>
          </p:nvSpPr>
          <p:spPr bwMode="auto">
            <a:xfrm>
              <a:off x="3046156" y="4145651"/>
              <a:ext cx="2175924" cy="2508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VA = KERNEL_BASE + 16 KB</a:t>
              </a:r>
              <a:endParaRPr lang="en-US" sz="240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4195219" y="3242289"/>
            <a:ext cx="4923540" cy="1886794"/>
            <a:chOff x="2371961" y="3862474"/>
            <a:chExt cx="4923540" cy="1886794"/>
          </a:xfrm>
        </p:grpSpPr>
        <p:sp>
          <p:nvSpPr>
            <p:cNvPr id="130076" name="Rounded Rectangle 32"/>
            <p:cNvSpPr>
              <a:spLocks noChangeArrowheads="1"/>
            </p:cNvSpPr>
            <p:nvPr/>
          </p:nvSpPr>
          <p:spPr bwMode="auto">
            <a:xfrm>
              <a:off x="5698767" y="5481079"/>
              <a:ext cx="936706" cy="260302"/>
            </a:xfrm>
            <a:prstGeom prst="roundRect">
              <a:avLst>
                <a:gd name="adj" fmla="val 16667"/>
              </a:avLst>
            </a:prstGeom>
            <a:solidFill>
              <a:srgbClr val="CC3399"/>
            </a:solidFill>
            <a:ln w="9525">
              <a:solidFill>
                <a:srgbClr val="FFFF00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latin typeface="Calibri" pitchFamily="34" charset="0"/>
                  <a:ea typeface="Times New Roman" pitchFamily="18" charset="0"/>
                  <a:cs typeface="Calibri" pitchFamily="34" charset="0"/>
                </a:rPr>
                <a:t>New </a:t>
              </a:r>
              <a:r>
                <a:rPr lang="en-US" sz="12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PT0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075" name="Text Box 25"/>
            <p:cNvSpPr txBox="1">
              <a:spLocks noChangeArrowheads="1"/>
            </p:cNvSpPr>
            <p:nvPr/>
          </p:nvSpPr>
          <p:spPr bwMode="auto">
            <a:xfrm>
              <a:off x="6707976" y="5525251"/>
              <a:ext cx="587525" cy="224017"/>
            </a:xfrm>
            <a:prstGeom prst="rect">
              <a:avLst/>
            </a:prstGeom>
            <a:solidFill>
              <a:srgbClr val="FFFFFF"/>
            </a:solidFill>
            <a:ln w="63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>
                  <a:solidFill>
                    <a:srgbClr val="FF0000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Frame#5</a:t>
              </a: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073" name="Rounded Rectangle 36"/>
            <p:cNvSpPr>
              <a:spLocks noChangeArrowheads="1"/>
            </p:cNvSpPr>
            <p:nvPr/>
          </p:nvSpPr>
          <p:spPr bwMode="auto">
            <a:xfrm>
              <a:off x="2371961" y="3862474"/>
              <a:ext cx="936706" cy="259513"/>
            </a:xfrm>
            <a:prstGeom prst="roundRect">
              <a:avLst>
                <a:gd name="adj" fmla="val 16667"/>
              </a:avLst>
            </a:prstGeom>
            <a:solidFill>
              <a:srgbClr val="CC3399"/>
            </a:solidFill>
            <a:ln w="9525">
              <a:solidFill>
                <a:srgbClr val="FFFF00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latin typeface="Calibri" pitchFamily="34" charset="0"/>
                  <a:ea typeface="Times New Roman" pitchFamily="18" charset="0"/>
                  <a:cs typeface="Calibri" pitchFamily="34" charset="0"/>
                </a:rPr>
                <a:t>New </a:t>
              </a:r>
              <a:r>
                <a:rPr lang="en-US" sz="12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PT0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Elbow Connector 37"/>
            <p:cNvSpPr>
              <a:spLocks noChangeShapeType="1"/>
            </p:cNvSpPr>
            <p:nvPr/>
          </p:nvSpPr>
          <p:spPr bwMode="auto">
            <a:xfrm>
              <a:off x="3323668" y="4110155"/>
              <a:ext cx="2335931" cy="1609140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rgbClr val="4579B8"/>
              </a:solidFill>
              <a:prstDash val="dash"/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069" name="Text Box 6"/>
            <p:cNvSpPr txBox="1">
              <a:spLocks noChangeArrowheads="1"/>
            </p:cNvSpPr>
            <p:nvPr/>
          </p:nvSpPr>
          <p:spPr bwMode="auto">
            <a:xfrm>
              <a:off x="4520384" y="5503165"/>
              <a:ext cx="1098379" cy="237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PA = 20 KB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067" name="Text Box 6"/>
            <p:cNvSpPr txBox="1">
              <a:spLocks noChangeArrowheads="1"/>
            </p:cNvSpPr>
            <p:nvPr/>
          </p:nvSpPr>
          <p:spPr bwMode="auto">
            <a:xfrm>
              <a:off x="3127826" y="3871939"/>
              <a:ext cx="2040919" cy="2500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VA = KERNEL_BASE + 20 KB</a:t>
              </a:r>
              <a:endParaRPr lang="en-US" sz="240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6" name="Left Brace 46"/>
          <p:cNvSpPr>
            <a:spLocks/>
          </p:cNvSpPr>
          <p:nvPr/>
        </p:nvSpPr>
        <p:spPr bwMode="auto">
          <a:xfrm>
            <a:off x="3059339" y="2317034"/>
            <a:ext cx="60003" cy="2107657"/>
          </a:xfrm>
          <a:prstGeom prst="leftBrace">
            <a:avLst>
              <a:gd name="adj1" fmla="val 8419"/>
              <a:gd name="adj2" fmla="val 50000"/>
            </a:avLst>
          </a:prstGeom>
          <a:solidFill>
            <a:srgbClr val="D99594"/>
          </a:solidFill>
          <a:ln w="25400">
            <a:solidFill>
              <a:srgbClr val="4F81BD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064" name="Text Box 6"/>
          <p:cNvSpPr txBox="1">
            <a:spLocks noChangeArrowheads="1"/>
          </p:cNvSpPr>
          <p:nvPr/>
        </p:nvSpPr>
        <p:spPr bwMode="auto">
          <a:xfrm rot="16200000">
            <a:off x="2564045" y="3064121"/>
            <a:ext cx="757242" cy="409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4F81B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256 MB</a:t>
            </a: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Straight Connector 50"/>
          <p:cNvSpPr>
            <a:spLocks noChangeShapeType="1"/>
          </p:cNvSpPr>
          <p:nvPr/>
        </p:nvSpPr>
        <p:spPr bwMode="auto">
          <a:xfrm flipH="1">
            <a:off x="2850163" y="4494105"/>
            <a:ext cx="3305972" cy="0"/>
          </a:xfrm>
          <a:prstGeom prst="line">
            <a:avLst/>
          </a:prstGeom>
          <a:noFill/>
          <a:ln w="28575">
            <a:solidFill>
              <a:srgbClr val="D99594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Straight Connector 51"/>
          <p:cNvSpPr>
            <a:spLocks noChangeShapeType="1"/>
          </p:cNvSpPr>
          <p:nvPr/>
        </p:nvSpPr>
        <p:spPr bwMode="auto">
          <a:xfrm flipH="1">
            <a:off x="2850163" y="2269706"/>
            <a:ext cx="3305138" cy="0"/>
          </a:xfrm>
          <a:prstGeom prst="line">
            <a:avLst/>
          </a:prstGeom>
          <a:noFill/>
          <a:ln w="28575">
            <a:solidFill>
              <a:srgbClr val="D99594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Elbow Connector 53"/>
          <p:cNvSpPr>
            <a:spLocks noChangeShapeType="1"/>
          </p:cNvSpPr>
          <p:nvPr/>
        </p:nvSpPr>
        <p:spPr bwMode="auto">
          <a:xfrm>
            <a:off x="5133593" y="4452299"/>
            <a:ext cx="2349265" cy="1617028"/>
          </a:xfrm>
          <a:prstGeom prst="bentConnector3">
            <a:avLst>
              <a:gd name="adj1" fmla="val 29764"/>
            </a:avLst>
          </a:prstGeom>
          <a:noFill/>
          <a:ln w="28575">
            <a:solidFill>
              <a:srgbClr val="4579B8"/>
            </a:solidFill>
            <a:prstDash val="dash"/>
            <a:miter lim="800000"/>
            <a:headEnd type="triangl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060" name="Text Box 6"/>
          <p:cNvSpPr txBox="1">
            <a:spLocks noChangeArrowheads="1"/>
          </p:cNvSpPr>
          <p:nvPr/>
        </p:nvSpPr>
        <p:spPr bwMode="auto">
          <a:xfrm>
            <a:off x="6214471" y="5853986"/>
            <a:ext cx="1185883" cy="237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latin typeface="Calibri" pitchFamily="34" charset="0"/>
                <a:ea typeface="Calibri" pitchFamily="34" charset="0"/>
                <a:cs typeface="Calibri" pitchFamily="34" charset="0"/>
              </a:rPr>
              <a:t>PA = 0</a:t>
            </a:r>
            <a:endParaRPr lang="en-US" sz="360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2" name="Group 71"/>
          <p:cNvGrpSpPr/>
          <p:nvPr/>
        </p:nvGrpSpPr>
        <p:grpSpPr>
          <a:xfrm>
            <a:off x="6516079" y="3701367"/>
            <a:ext cx="3131036" cy="376254"/>
            <a:chOff x="4692821" y="4321552"/>
            <a:chExt cx="3131036" cy="376254"/>
          </a:xfrm>
        </p:grpSpPr>
        <p:sp>
          <p:nvSpPr>
            <p:cNvPr id="130066" name="Rounded Rectangle 45"/>
            <p:cNvSpPr>
              <a:spLocks noChangeArrowheads="1"/>
            </p:cNvSpPr>
            <p:nvPr/>
          </p:nvSpPr>
          <p:spPr bwMode="auto">
            <a:xfrm>
              <a:off x="5697100" y="4321552"/>
              <a:ext cx="936706" cy="273712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9525">
              <a:solidFill>
                <a:srgbClr val="E36C0A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New PT1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058" name="Text Box 25"/>
            <p:cNvSpPr txBox="1">
              <a:spLocks noChangeArrowheads="1"/>
            </p:cNvSpPr>
            <p:nvPr/>
          </p:nvSpPr>
          <p:spPr bwMode="auto">
            <a:xfrm>
              <a:off x="6736311" y="4402797"/>
              <a:ext cx="1087546" cy="295009"/>
            </a:xfrm>
            <a:prstGeom prst="rect">
              <a:avLst/>
            </a:prstGeom>
            <a:solidFill>
              <a:srgbClr val="FFFFFF"/>
            </a:solidFill>
            <a:ln w="63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>
                  <a:solidFill>
                    <a:srgbClr val="FF0000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Frame#131,072</a:t>
              </a: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056" name="Text Box 6"/>
            <p:cNvSpPr txBox="1">
              <a:spLocks noChangeArrowheads="1"/>
            </p:cNvSpPr>
            <p:nvPr/>
          </p:nvSpPr>
          <p:spPr bwMode="auto">
            <a:xfrm>
              <a:off x="4692821" y="4370457"/>
              <a:ext cx="1098379" cy="237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PA = 512 MB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30052" name="Rectangle 23"/>
          <p:cNvSpPr>
            <a:spLocks noChangeArrowheads="1"/>
          </p:cNvSpPr>
          <p:nvPr/>
        </p:nvSpPr>
        <p:spPr bwMode="auto">
          <a:xfrm>
            <a:off x="7522025" y="3997165"/>
            <a:ext cx="936706" cy="86372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914400" rtl="1" fontAlgn="base">
              <a:spcBef>
                <a:spcPct val="0"/>
              </a:spcBef>
              <a:spcAft>
                <a:spcPct val="0"/>
              </a:spcAft>
            </a:pPr>
            <a:r>
              <a:rPr lang="en-US" sz="1100">
                <a:latin typeface="Calibri" pitchFamily="34" charset="0"/>
                <a:ea typeface="Times New Roman" pitchFamily="18" charset="0"/>
                <a:cs typeface="Arial" pitchFamily="34" charset="0"/>
              </a:rPr>
              <a:t>.</a:t>
            </a:r>
            <a:endParaRPr lang="en-US" sz="1100"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ct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>
                <a:latin typeface="Calibri" pitchFamily="34" charset="0"/>
                <a:ea typeface="Times New Roman" pitchFamily="18" charset="0"/>
                <a:cs typeface="Arial" pitchFamily="34" charset="0"/>
              </a:rPr>
              <a:t>.</a:t>
            </a:r>
            <a:endParaRPr lang="en-US" sz="1100"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ct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>
                <a:latin typeface="Calibri" pitchFamily="34" charset="0"/>
                <a:ea typeface="Times New Roman" pitchFamily="18" charset="0"/>
                <a:cs typeface="Arial" pitchFamily="34" charset="0"/>
              </a:rPr>
              <a:t>.</a:t>
            </a: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30051" name="Text Box 6"/>
          <p:cNvSpPr txBox="1">
            <a:spLocks noChangeArrowheads="1"/>
          </p:cNvSpPr>
          <p:nvPr/>
        </p:nvSpPr>
        <p:spPr bwMode="auto">
          <a:xfrm>
            <a:off x="4019379" y="4259833"/>
            <a:ext cx="1262553" cy="238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800" b="1">
                <a:latin typeface="Calibri" pitchFamily="34" charset="0"/>
                <a:ea typeface="Calibri" pitchFamily="34" charset="0"/>
                <a:cs typeface="Calibri" pitchFamily="34" charset="0"/>
              </a:rPr>
              <a:t>KERNEL_BASE</a:t>
            </a:r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4196886" y="1536128"/>
            <a:ext cx="3300138" cy="2178649"/>
            <a:chOff x="2373628" y="2156312"/>
            <a:chExt cx="3300138" cy="2178649"/>
          </a:xfrm>
        </p:grpSpPr>
        <p:sp>
          <p:nvSpPr>
            <p:cNvPr id="130059" name="Rounded Rectangle 55"/>
            <p:cNvSpPr>
              <a:spLocks noChangeArrowheads="1"/>
            </p:cNvSpPr>
            <p:nvPr/>
          </p:nvSpPr>
          <p:spPr bwMode="auto">
            <a:xfrm>
              <a:off x="2373628" y="2156312"/>
              <a:ext cx="936706" cy="272923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9525">
              <a:solidFill>
                <a:srgbClr val="E36C0A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New_PT1</a:t>
              </a:r>
              <a:endParaRPr lang="en-US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057" name="Text Box 6"/>
            <p:cNvSpPr txBox="1">
              <a:spLocks noChangeArrowheads="1"/>
            </p:cNvSpPr>
            <p:nvPr/>
          </p:nvSpPr>
          <p:spPr bwMode="auto">
            <a:xfrm>
              <a:off x="3197829" y="2203640"/>
              <a:ext cx="2216760" cy="2500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>
                  <a:solidFill>
                    <a:srgbClr val="FF0000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VA = KERNEL_BASE +512 MB!!</a:t>
              </a:r>
              <a:endParaRPr lang="en-US" sz="2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" name="Curved Connector 61"/>
            <p:cNvSpPr>
              <a:spLocks noChangeShapeType="1"/>
            </p:cNvSpPr>
            <p:nvPr/>
          </p:nvSpPr>
          <p:spPr bwMode="auto">
            <a:xfrm>
              <a:off x="3323668" y="2381907"/>
              <a:ext cx="2350098" cy="1953054"/>
            </a:xfrm>
            <a:prstGeom prst="curvedConnector3">
              <a:avLst>
                <a:gd name="adj1" fmla="val 76597"/>
              </a:avLst>
            </a:prstGeom>
            <a:noFill/>
            <a:ln w="38100">
              <a:solidFill>
                <a:srgbClr val="4BACC6"/>
              </a:solidFill>
              <a:round/>
              <a:headEnd type="triangle" w="med" len="med"/>
              <a:tailEnd type="triangle" w="med" len="med"/>
            </a:ln>
            <a:effectLst>
              <a:outerShdw dist="23000" dir="5400000" rotWithShape="0">
                <a:srgbClr val="000000">
                  <a:alpha val="34999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050" name="Text Box 2"/>
            <p:cNvSpPr txBox="1">
              <a:spLocks noChangeArrowheads="1"/>
            </p:cNvSpPr>
            <p:nvPr/>
          </p:nvSpPr>
          <p:spPr bwMode="auto">
            <a:xfrm>
              <a:off x="2717809" y="2385130"/>
              <a:ext cx="328347" cy="693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>
                  <a:latin typeface="Calibri" pitchFamily="34" charset="0"/>
                  <a:ea typeface="Times New Roman" pitchFamily="18" charset="0"/>
                  <a:cs typeface="Arial" pitchFamily="34" charset="0"/>
                </a:rPr>
                <a:t>.</a:t>
              </a:r>
              <a:endParaRPr lang="en-US" sz="1100">
                <a:latin typeface="Calibri" pitchFamily="34" charset="0"/>
                <a:ea typeface="Times New Roman" pitchFamily="18" charset="0"/>
                <a:cs typeface="Calibri" pitchFamily="34" charset="0"/>
              </a:endParaRP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>
                  <a:latin typeface="Calibri" pitchFamily="34" charset="0"/>
                  <a:ea typeface="Times New Roman" pitchFamily="18" charset="0"/>
                  <a:cs typeface="Arial" pitchFamily="34" charset="0"/>
                </a:rPr>
                <a:t>.</a:t>
              </a:r>
              <a:endParaRPr lang="en-US" sz="1100">
                <a:latin typeface="Calibri" pitchFamily="34" charset="0"/>
                <a:ea typeface="Times New Roman" pitchFamily="18" charset="0"/>
                <a:cs typeface="Calibri" pitchFamily="34" charset="0"/>
              </a:endParaRP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>
                  <a:latin typeface="Calibri" pitchFamily="34" charset="0"/>
                  <a:ea typeface="Times New Roman" pitchFamily="18" charset="0"/>
                  <a:cs typeface="Arial" pitchFamily="34" charset="0"/>
                </a:rPr>
                <a:t>.</a:t>
              </a:r>
              <a:endParaRPr lang="en-US" sz="1100">
                <a:latin typeface="Calibri" pitchFamily="34" charset="0"/>
                <a:ea typeface="Times New Roman" pitchFamily="18" charset="0"/>
                <a:cs typeface="Calibri" pitchFamily="34" charset="0"/>
              </a:endParaRP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6421980" y="1361015"/>
            <a:ext cx="2866787" cy="1275480"/>
            <a:chOff x="4598721" y="1981200"/>
            <a:chExt cx="2866787" cy="1275480"/>
          </a:xfrm>
        </p:grpSpPr>
        <p:sp>
          <p:nvSpPr>
            <p:cNvPr id="130053" name="Cloud 64"/>
            <p:cNvSpPr>
              <a:spLocks/>
            </p:cNvSpPr>
            <p:nvPr/>
          </p:nvSpPr>
          <p:spPr bwMode="auto">
            <a:xfrm>
              <a:off x="5247915" y="1981200"/>
              <a:ext cx="2217593" cy="863729"/>
            </a:xfrm>
            <a:custGeom>
              <a:avLst/>
              <a:gdLst>
                <a:gd name="T0" fmla="*/ 183579 w 43200"/>
                <a:gd name="T1" fmla="*/ 421332 h 43200"/>
                <a:gd name="T2" fmla="*/ 84494 w 43200"/>
                <a:gd name="T3" fmla="*/ 408503 h 43200"/>
                <a:gd name="T4" fmla="*/ 271007 w 43200"/>
                <a:gd name="T5" fmla="*/ 561716 h 43200"/>
                <a:gd name="T6" fmla="*/ 227665 w 43200"/>
                <a:gd name="T7" fmla="*/ 567849 h 43200"/>
                <a:gd name="T8" fmla="*/ 644581 w 43200"/>
                <a:gd name="T9" fmla="*/ 629173 h 43200"/>
                <a:gd name="T10" fmla="*/ 618451 w 43200"/>
                <a:gd name="T11" fmla="*/ 601166 h 43200"/>
                <a:gd name="T12" fmla="*/ 1127646 w 43200"/>
                <a:gd name="T13" fmla="*/ 559334 h 43200"/>
                <a:gd name="T14" fmla="*/ 1117201 w 43200"/>
                <a:gd name="T15" fmla="*/ 590061 h 43200"/>
                <a:gd name="T16" fmla="*/ 1335047 w 43200"/>
                <a:gd name="T17" fmla="*/ 369456 h 43200"/>
                <a:gd name="T18" fmla="*/ 1462219 w 43200"/>
                <a:gd name="T19" fmla="*/ 484313 h 43200"/>
                <a:gd name="T20" fmla="*/ 1635041 w 43200"/>
                <a:gd name="T21" fmla="*/ 247130 h 43200"/>
                <a:gd name="T22" fmla="*/ 1578399 w 43200"/>
                <a:gd name="T23" fmla="*/ 290202 h 43200"/>
                <a:gd name="T24" fmla="*/ 1499146 w 43200"/>
                <a:gd name="T25" fmla="*/ 87334 h 43200"/>
                <a:gd name="T26" fmla="*/ 1502119 w 43200"/>
                <a:gd name="T27" fmla="*/ 107679 h 43200"/>
                <a:gd name="T28" fmla="*/ 1137464 w 43200"/>
                <a:gd name="T29" fmla="*/ 63609 h 43200"/>
                <a:gd name="T30" fmla="*/ 1166489 w 43200"/>
                <a:gd name="T31" fmla="*/ 37663 h 43200"/>
                <a:gd name="T32" fmla="*/ 866105 w 43200"/>
                <a:gd name="T33" fmla="*/ 75971 h 43200"/>
                <a:gd name="T34" fmla="*/ 880148 w 43200"/>
                <a:gd name="T35" fmla="*/ 53598 h 43200"/>
                <a:gd name="T36" fmla="*/ 547648 w 43200"/>
                <a:gd name="T37" fmla="*/ 83568 h 43200"/>
                <a:gd name="T38" fmla="*/ 598501 w 43200"/>
                <a:gd name="T39" fmla="*/ 105264 h 43200"/>
                <a:gd name="T40" fmla="*/ 161439 w 43200"/>
                <a:gd name="T41" fmla="*/ 254132 h 43200"/>
                <a:gd name="T42" fmla="*/ 152559 w 43200"/>
                <a:gd name="T43" fmla="*/ 231292 h 4320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200"/>
                <a:gd name="T67" fmla="*/ 0 h 43200"/>
                <a:gd name="T68" fmla="*/ 43200 w 43200"/>
                <a:gd name="T69" fmla="*/ 43200 h 4320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200" h="43200">
                  <a:moveTo>
                    <a:pt x="3900" y="14370"/>
                  </a:moveTo>
                  <a:cubicBezTo>
                    <a:pt x="3629" y="11657"/>
                    <a:pt x="4261" y="8921"/>
                    <a:pt x="5623" y="6907"/>
                  </a:cubicBezTo>
                  <a:cubicBezTo>
                    <a:pt x="7775" y="3726"/>
                    <a:pt x="11264" y="3017"/>
                    <a:pt x="14005" y="5202"/>
                  </a:cubicBezTo>
                  <a:cubicBezTo>
                    <a:pt x="15678" y="909"/>
                    <a:pt x="19914" y="22"/>
                    <a:pt x="22456" y="3432"/>
                  </a:cubicBezTo>
                  <a:cubicBezTo>
                    <a:pt x="23097" y="1683"/>
                    <a:pt x="24328" y="474"/>
                    <a:pt x="25749" y="200"/>
                  </a:cubicBezTo>
                  <a:cubicBezTo>
                    <a:pt x="27313" y="-102"/>
                    <a:pt x="28875" y="770"/>
                    <a:pt x="29833" y="2481"/>
                  </a:cubicBezTo>
                  <a:cubicBezTo>
                    <a:pt x="31215" y="267"/>
                    <a:pt x="33501" y="-460"/>
                    <a:pt x="35463" y="690"/>
                  </a:cubicBezTo>
                  <a:cubicBezTo>
                    <a:pt x="36958" y="1566"/>
                    <a:pt x="38030" y="3400"/>
                    <a:pt x="38318" y="5576"/>
                  </a:cubicBezTo>
                  <a:cubicBezTo>
                    <a:pt x="40046" y="6218"/>
                    <a:pt x="41422" y="7998"/>
                    <a:pt x="41982" y="10318"/>
                  </a:cubicBezTo>
                  <a:cubicBezTo>
                    <a:pt x="42389" y="12002"/>
                    <a:pt x="42331" y="13831"/>
                    <a:pt x="41818" y="15460"/>
                  </a:cubicBezTo>
                  <a:cubicBezTo>
                    <a:pt x="43079" y="17694"/>
                    <a:pt x="43520" y="20590"/>
                    <a:pt x="43016" y="23322"/>
                  </a:cubicBezTo>
                  <a:cubicBezTo>
                    <a:pt x="42346" y="26954"/>
                    <a:pt x="40128" y="29674"/>
                    <a:pt x="37404" y="30204"/>
                  </a:cubicBezTo>
                  <a:cubicBezTo>
                    <a:pt x="37391" y="32471"/>
                    <a:pt x="36658" y="34621"/>
                    <a:pt x="35395" y="36101"/>
                  </a:cubicBezTo>
                  <a:cubicBezTo>
                    <a:pt x="33476" y="38350"/>
                    <a:pt x="30704" y="38639"/>
                    <a:pt x="28555" y="36815"/>
                  </a:cubicBezTo>
                  <a:cubicBezTo>
                    <a:pt x="27860" y="39948"/>
                    <a:pt x="25999" y="42343"/>
                    <a:pt x="23667" y="43106"/>
                  </a:cubicBezTo>
                  <a:cubicBezTo>
                    <a:pt x="20919" y="44005"/>
                    <a:pt x="18051" y="42473"/>
                    <a:pt x="16480" y="39266"/>
                  </a:cubicBezTo>
                  <a:cubicBezTo>
                    <a:pt x="12772" y="42310"/>
                    <a:pt x="7956" y="40599"/>
                    <a:pt x="5804" y="35472"/>
                  </a:cubicBezTo>
                  <a:cubicBezTo>
                    <a:pt x="3690" y="35809"/>
                    <a:pt x="1705" y="34024"/>
                    <a:pt x="1110" y="31250"/>
                  </a:cubicBezTo>
                  <a:cubicBezTo>
                    <a:pt x="679" y="29243"/>
                    <a:pt x="1060" y="27077"/>
                    <a:pt x="2113" y="25551"/>
                  </a:cubicBezTo>
                  <a:cubicBezTo>
                    <a:pt x="619" y="24354"/>
                    <a:pt x="-213" y="22057"/>
                    <a:pt x="-5" y="19704"/>
                  </a:cubicBezTo>
                  <a:cubicBezTo>
                    <a:pt x="239" y="16949"/>
                    <a:pt x="1845" y="14791"/>
                    <a:pt x="3863" y="14507"/>
                  </a:cubicBezTo>
                  <a:cubicBezTo>
                    <a:pt x="3875" y="14461"/>
                    <a:pt x="3888" y="14416"/>
                    <a:pt x="3900" y="14370"/>
                  </a:cubicBezTo>
                  <a:close/>
                </a:path>
                <a:path w="43200" h="43200" fill="none">
                  <a:moveTo>
                    <a:pt x="4693" y="26177"/>
                  </a:moveTo>
                  <a:cubicBezTo>
                    <a:pt x="3809" y="26271"/>
                    <a:pt x="2925" y="25993"/>
                    <a:pt x="2160" y="25380"/>
                  </a:cubicBezTo>
                  <a:moveTo>
                    <a:pt x="6928" y="34899"/>
                  </a:moveTo>
                  <a:cubicBezTo>
                    <a:pt x="6573" y="35092"/>
                    <a:pt x="6200" y="35220"/>
                    <a:pt x="5820" y="35280"/>
                  </a:cubicBezTo>
                  <a:moveTo>
                    <a:pt x="16478" y="39090"/>
                  </a:moveTo>
                  <a:cubicBezTo>
                    <a:pt x="16211" y="38544"/>
                    <a:pt x="15987" y="37961"/>
                    <a:pt x="15810" y="37350"/>
                  </a:cubicBezTo>
                  <a:moveTo>
                    <a:pt x="28827" y="34751"/>
                  </a:moveTo>
                  <a:cubicBezTo>
                    <a:pt x="28788" y="35398"/>
                    <a:pt x="28698" y="36038"/>
                    <a:pt x="28560" y="36660"/>
                  </a:cubicBezTo>
                  <a:moveTo>
                    <a:pt x="34129" y="22954"/>
                  </a:moveTo>
                  <a:cubicBezTo>
                    <a:pt x="36133" y="24282"/>
                    <a:pt x="37398" y="27058"/>
                    <a:pt x="37380" y="30090"/>
                  </a:cubicBezTo>
                  <a:moveTo>
                    <a:pt x="41798" y="15354"/>
                  </a:moveTo>
                  <a:cubicBezTo>
                    <a:pt x="41473" y="16386"/>
                    <a:pt x="40978" y="17302"/>
                    <a:pt x="40350" y="18030"/>
                  </a:cubicBezTo>
                  <a:moveTo>
                    <a:pt x="38324" y="5426"/>
                  </a:moveTo>
                  <a:cubicBezTo>
                    <a:pt x="38379" y="5843"/>
                    <a:pt x="38405" y="6266"/>
                    <a:pt x="38400" y="6690"/>
                  </a:cubicBezTo>
                  <a:moveTo>
                    <a:pt x="29078" y="3952"/>
                  </a:moveTo>
                  <a:cubicBezTo>
                    <a:pt x="29267" y="3369"/>
                    <a:pt x="29516" y="2826"/>
                    <a:pt x="29820" y="2340"/>
                  </a:cubicBezTo>
                  <a:moveTo>
                    <a:pt x="22141" y="4720"/>
                  </a:moveTo>
                  <a:cubicBezTo>
                    <a:pt x="22218" y="4238"/>
                    <a:pt x="22339" y="3771"/>
                    <a:pt x="22500" y="3330"/>
                  </a:cubicBezTo>
                  <a:moveTo>
                    <a:pt x="14000" y="5192"/>
                  </a:moveTo>
                  <a:cubicBezTo>
                    <a:pt x="14472" y="5568"/>
                    <a:pt x="14908" y="6021"/>
                    <a:pt x="15300" y="6540"/>
                  </a:cubicBezTo>
                  <a:moveTo>
                    <a:pt x="4127" y="15789"/>
                  </a:moveTo>
                  <a:cubicBezTo>
                    <a:pt x="4024" y="15325"/>
                    <a:pt x="3948" y="14851"/>
                    <a:pt x="3900" y="14370"/>
                  </a:cubicBezTo>
                </a:path>
              </a:pathLst>
            </a:custGeom>
            <a:solidFill>
              <a:srgbClr val="FFFFFF"/>
            </a:solidFill>
            <a:ln w="25400">
              <a:solidFill>
                <a:srgbClr val="4F81B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latin typeface="Calibri" pitchFamily="34" charset="0"/>
                  <a:ea typeface="Times New Roman" pitchFamily="18" charset="0"/>
                  <a:cs typeface="Arial" pitchFamily="34" charset="0"/>
                </a:rPr>
                <a:t>Because it is </a:t>
              </a:r>
              <a:r>
                <a:rPr lang="en-US" sz="1400" b="1">
                  <a:latin typeface="Calibri" pitchFamily="34" charset="0"/>
                  <a:ea typeface="Times New Roman" pitchFamily="18" charset="0"/>
                  <a:cs typeface="Arial" pitchFamily="34" charset="0"/>
                </a:rPr>
                <a:t>NOT</a:t>
              </a:r>
              <a:r>
                <a:rPr lang="en-US" sz="1400">
                  <a:latin typeface="Calibri" pitchFamily="34" charset="0"/>
                  <a:ea typeface="Times New Roman" pitchFamily="18" charset="0"/>
                  <a:cs typeface="Arial" pitchFamily="34" charset="0"/>
                </a:rPr>
                <a:t>  </a:t>
              </a:r>
              <a:endParaRPr lang="en-US" sz="1400">
                <a:latin typeface="Calibri" pitchFamily="34" charset="0"/>
                <a:ea typeface="Times New Roman" pitchFamily="18" charset="0"/>
                <a:cs typeface="Calibri" pitchFamily="34" charset="0"/>
              </a:endParaRPr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latin typeface="Calibri" pitchFamily="34" charset="0"/>
                  <a:ea typeface="Times New Roman" pitchFamily="18" charset="0"/>
                  <a:cs typeface="Arial" pitchFamily="34" charset="0"/>
                </a:rPr>
                <a:t>valid VA..</a:t>
              </a:r>
              <a:endParaRPr lang="en-US" sz="24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3" name="Picture 63" descr="074499-simple-red-glossy-icon-alphanumeric-x-sty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598721" y="2617757"/>
              <a:ext cx="675028" cy="638923"/>
            </a:xfrm>
            <a:prstGeom prst="rect">
              <a:avLst/>
            </a:prstGeom>
            <a:noFill/>
          </p:spPr>
        </p:pic>
      </p:grpSp>
      <p:sp>
        <p:nvSpPr>
          <p:cNvPr id="137" name="Text Box 6"/>
          <p:cNvSpPr txBox="1">
            <a:spLocks noChangeArrowheads="1"/>
          </p:cNvSpPr>
          <p:nvPr/>
        </p:nvSpPr>
        <p:spPr bwMode="auto">
          <a:xfrm>
            <a:off x="2699559" y="5628216"/>
            <a:ext cx="15335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ts val="500"/>
              </a:spcBef>
              <a:spcAft>
                <a:spcPts val="800"/>
              </a:spcAft>
            </a:pPr>
            <a:r>
              <a:rPr lang="en-US" sz="1400" b="1">
                <a:latin typeface="Calibri" pitchFamily="34" charset="0"/>
                <a:ea typeface="Arial" pitchFamily="34" charset="0"/>
                <a:cs typeface="Arial" pitchFamily="34" charset="0"/>
              </a:rPr>
              <a:t>Program’s Virtual Memory</a:t>
            </a:r>
            <a:endParaRPr lang="en-US" sz="32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8" name="Text Box 6"/>
          <p:cNvSpPr txBox="1">
            <a:spLocks noChangeArrowheads="1"/>
          </p:cNvSpPr>
          <p:nvPr/>
        </p:nvSpPr>
        <p:spPr bwMode="auto">
          <a:xfrm>
            <a:off x="8528859" y="5780616"/>
            <a:ext cx="9620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ts val="500"/>
              </a:spcBef>
              <a:spcAft>
                <a:spcPts val="800"/>
              </a:spcAft>
            </a:pPr>
            <a:r>
              <a:rPr lang="en-US" sz="1400" b="1">
                <a:latin typeface="Calibri" pitchFamily="34" charset="0"/>
                <a:ea typeface="Arial" pitchFamily="34" charset="0"/>
                <a:cs typeface="Arial" pitchFamily="34" charset="0"/>
              </a:rPr>
              <a:t>RAM</a:t>
            </a:r>
            <a:endParaRPr lang="en-US" sz="32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F0423B-5AB6-202E-DDB0-08B4A64B1B99}"/>
              </a:ext>
            </a:extLst>
          </p:cNvPr>
          <p:cNvSpPr txBox="1">
            <a:spLocks/>
          </p:cNvSpPr>
          <p:nvPr/>
        </p:nvSpPr>
        <p:spPr>
          <a:xfrm>
            <a:off x="0" y="-15797"/>
            <a:ext cx="12055514" cy="73946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Kernel Heap – W</a:t>
            </a:r>
            <a:r>
              <a:rPr lang="en-US" dirty="0"/>
              <a:t>hat is new? </a:t>
            </a:r>
            <a:endParaRPr lang="en-US" sz="3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88" name="Rectangle 2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1008178" y="600441"/>
            <a:ext cx="8229600" cy="533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 defTabSz="9144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/>
              <a:t>Solution: </a:t>
            </a: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2954222" y="694377"/>
            <a:ext cx="6934200" cy="533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342900" indent="-342900" algn="ctr" defTabSz="914400">
              <a:spcBef>
                <a:spcPct val="20000"/>
              </a:spcBef>
              <a:defRPr/>
            </a:pPr>
            <a:r>
              <a:rPr lang="en-US" sz="2800" dirty="0"/>
              <a:t>Kernel Heap for dynamic allocations (</a:t>
            </a:r>
            <a:r>
              <a:rPr lang="en-US" sz="2800" b="1" dirty="0">
                <a:solidFill>
                  <a:srgbClr val="FF0000"/>
                </a:solidFill>
              </a:rPr>
              <a:t>No</a:t>
            </a:r>
            <a:r>
              <a:rPr lang="en-US" sz="2800" b="1" dirty="0"/>
              <a:t> 1-1 map</a:t>
            </a:r>
            <a:r>
              <a:rPr lang="en-US" sz="2800" dirty="0"/>
              <a:t>)</a:t>
            </a:r>
          </a:p>
        </p:txBody>
      </p:sp>
      <p:sp>
        <p:nvSpPr>
          <p:cNvPr id="130083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1122" name="Rectangle 5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1121" name="AutoShape 49"/>
          <p:cNvSpPr>
            <a:spLocks noChangeAspect="1" noChangeArrowheads="1"/>
          </p:cNvSpPr>
          <p:nvPr/>
        </p:nvSpPr>
        <p:spPr bwMode="auto">
          <a:xfrm>
            <a:off x="2514600" y="1752600"/>
            <a:ext cx="7239000" cy="5257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Rectangle 19"/>
          <p:cNvSpPr>
            <a:spLocks noChangeArrowheads="1"/>
          </p:cNvSpPr>
          <p:nvPr/>
        </p:nvSpPr>
        <p:spPr bwMode="auto">
          <a:xfrm>
            <a:off x="3682546" y="2395602"/>
            <a:ext cx="815942" cy="3436273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Rectangle 20"/>
          <p:cNvSpPr>
            <a:spLocks noChangeArrowheads="1"/>
          </p:cNvSpPr>
          <p:nvPr/>
        </p:nvSpPr>
        <p:spPr bwMode="auto">
          <a:xfrm>
            <a:off x="3682546" y="2395602"/>
            <a:ext cx="815942" cy="1981637"/>
          </a:xfrm>
          <a:prstGeom prst="rect">
            <a:avLst/>
          </a:prstGeom>
          <a:solidFill>
            <a:srgbClr val="DAEEF3"/>
          </a:solidFill>
          <a:ln w="254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118" name="Text Box 6"/>
          <p:cNvSpPr txBox="1">
            <a:spLocks noChangeArrowheads="1"/>
          </p:cNvSpPr>
          <p:nvPr/>
        </p:nvSpPr>
        <p:spPr bwMode="auto">
          <a:xfrm>
            <a:off x="3526568" y="4174767"/>
            <a:ext cx="1114654" cy="21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800" b="1">
                <a:latin typeface="Calibri" pitchFamily="34" charset="0"/>
                <a:ea typeface="Calibri" pitchFamily="34" charset="0"/>
                <a:cs typeface="Calibri" pitchFamily="34" charset="0"/>
              </a:rPr>
              <a:t>KERNEL_BASE</a:t>
            </a: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7" name="Rectangle 23"/>
          <p:cNvSpPr>
            <a:spLocks noChangeArrowheads="1"/>
          </p:cNvSpPr>
          <p:nvPr/>
        </p:nvSpPr>
        <p:spPr bwMode="auto">
          <a:xfrm>
            <a:off x="7899103" y="3620483"/>
            <a:ext cx="827714" cy="233632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9" name="Group 98"/>
          <p:cNvGrpSpPr/>
          <p:nvPr/>
        </p:nvGrpSpPr>
        <p:grpSpPr>
          <a:xfrm>
            <a:off x="4400634" y="3525708"/>
            <a:ext cx="3507299" cy="2504618"/>
            <a:chOff x="2952833" y="4035790"/>
            <a:chExt cx="3507299" cy="2504618"/>
          </a:xfrm>
        </p:grpSpPr>
        <p:sp>
          <p:nvSpPr>
            <p:cNvPr id="131106" name="Elbow Connector 38"/>
            <p:cNvSpPr>
              <a:spLocks noChangeShapeType="1"/>
            </p:cNvSpPr>
            <p:nvPr/>
          </p:nvSpPr>
          <p:spPr bwMode="auto">
            <a:xfrm>
              <a:off x="3094096" y="4251904"/>
              <a:ext cx="3366036" cy="1424481"/>
            </a:xfrm>
            <a:prstGeom prst="bentConnector3">
              <a:avLst>
                <a:gd name="adj1" fmla="val 21468"/>
              </a:avLst>
            </a:prstGeom>
            <a:noFill/>
            <a:ln w="38100">
              <a:solidFill>
                <a:srgbClr val="FABF8F"/>
              </a:solidFill>
              <a:prstDash val="lgDash"/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103" name="Text Box 6"/>
            <p:cNvSpPr txBox="1">
              <a:spLocks noChangeArrowheads="1"/>
            </p:cNvSpPr>
            <p:nvPr/>
          </p:nvSpPr>
          <p:spPr bwMode="auto">
            <a:xfrm>
              <a:off x="4111495" y="6245316"/>
              <a:ext cx="1811405" cy="29509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94B64E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KHS = KERNEL_HEAP_START</a:t>
              </a:r>
              <a:endParaRPr lang="en-US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101" name="Text Box 6"/>
            <p:cNvSpPr txBox="1">
              <a:spLocks noChangeArrowheads="1"/>
            </p:cNvSpPr>
            <p:nvPr/>
          </p:nvSpPr>
          <p:spPr bwMode="auto">
            <a:xfrm>
              <a:off x="2952833" y="4035790"/>
              <a:ext cx="1113919" cy="216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VA = KHS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31100" name="Text Box 6"/>
          <p:cNvSpPr txBox="1">
            <a:spLocks noChangeArrowheads="1"/>
          </p:cNvSpPr>
          <p:nvPr/>
        </p:nvSpPr>
        <p:spPr bwMode="auto">
          <a:xfrm>
            <a:off x="3106089" y="5922444"/>
            <a:ext cx="2198206" cy="507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latin typeface="Calibri" pitchFamily="34" charset="0"/>
                <a:ea typeface="Calibri" pitchFamily="34" charset="0"/>
                <a:cs typeface="Calibri" pitchFamily="34" charset="0"/>
              </a:rPr>
              <a:t>Program’s Virtual Memory</a:t>
            </a:r>
            <a:endParaRPr lang="en-US" sz="32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1099" name="Text Box 6"/>
          <p:cNvSpPr txBox="1">
            <a:spLocks noChangeArrowheads="1"/>
          </p:cNvSpPr>
          <p:nvPr/>
        </p:nvSpPr>
        <p:spPr bwMode="auto">
          <a:xfrm>
            <a:off x="7791718" y="5856287"/>
            <a:ext cx="1114654" cy="377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latin typeface="Calibri" pitchFamily="34" charset="0"/>
                <a:ea typeface="Calibri" pitchFamily="34" charset="0"/>
                <a:cs typeface="Calibri" pitchFamily="34" charset="0"/>
              </a:rPr>
              <a:t>RAM</a:t>
            </a:r>
            <a:endParaRPr lang="en-US" sz="32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9" name="Rounded Rectangle 139"/>
          <p:cNvSpPr>
            <a:spLocks noChangeArrowheads="1"/>
          </p:cNvSpPr>
          <p:nvPr/>
        </p:nvSpPr>
        <p:spPr bwMode="auto">
          <a:xfrm>
            <a:off x="5868447" y="2061020"/>
            <a:ext cx="441447" cy="102384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79646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097" name="Text Box 140"/>
          <p:cNvSpPr txBox="1">
            <a:spLocks noChangeArrowheads="1"/>
          </p:cNvSpPr>
          <p:nvPr/>
        </p:nvSpPr>
        <p:spPr bwMode="auto">
          <a:xfrm>
            <a:off x="5645942" y="2910584"/>
            <a:ext cx="221459" cy="2369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defTabSz="914400" rtl="1" fontAlgn="base">
              <a:spcBef>
                <a:spcPct val="0"/>
              </a:spcBef>
              <a:spcAft>
                <a:spcPct val="0"/>
              </a:spcAft>
            </a:pPr>
            <a:r>
              <a:rPr lang="en-US" sz="900">
                <a:latin typeface="Calibri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n-US" sz="20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1096" name="Text Box 140"/>
          <p:cNvSpPr txBox="1">
            <a:spLocks noChangeArrowheads="1"/>
          </p:cNvSpPr>
          <p:nvPr/>
        </p:nvSpPr>
        <p:spPr bwMode="auto">
          <a:xfrm>
            <a:off x="5470407" y="2039482"/>
            <a:ext cx="508400" cy="22760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900">
                <a:latin typeface="Calibri" pitchFamily="34" charset="0"/>
                <a:ea typeface="Calibri" pitchFamily="34" charset="0"/>
                <a:cs typeface="Calibri" pitchFamily="34" charset="0"/>
              </a:rPr>
              <a:t>1023</a:t>
            </a:r>
            <a:endParaRPr lang="en-US" sz="20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1095" name="Text Box 142"/>
          <p:cNvSpPr txBox="1">
            <a:spLocks noChangeArrowheads="1"/>
          </p:cNvSpPr>
          <p:nvPr/>
        </p:nvSpPr>
        <p:spPr bwMode="auto">
          <a:xfrm>
            <a:off x="5029201" y="1666848"/>
            <a:ext cx="1772907" cy="247705"/>
          </a:xfrm>
          <a:prstGeom prst="rect">
            <a:avLst/>
          </a:prstGeom>
          <a:solidFill>
            <a:srgbClr val="FFFFFF"/>
          </a:solidFill>
          <a:ln w="635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defTabSz="914400" rtl="1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 err="1">
                <a:solidFill>
                  <a:srgbClr val="244061"/>
                </a:solidFill>
                <a:latin typeface="Courier New" panose="02070309020205020404" pitchFamily="49" charset="0"/>
                <a:ea typeface="Times New Roman" pitchFamily="18" charset="0"/>
                <a:cs typeface="Courier New" panose="02070309020205020404" pitchFamily="49" charset="0"/>
              </a:rPr>
              <a:t>ptr_page_directory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4" name="Straight Arrow Connector 144"/>
          <p:cNvSpPr>
            <a:spLocks noChangeShapeType="1"/>
          </p:cNvSpPr>
          <p:nvPr/>
        </p:nvSpPr>
        <p:spPr bwMode="auto">
          <a:xfrm>
            <a:off x="6089169" y="1865728"/>
            <a:ext cx="0" cy="180932"/>
          </a:xfrm>
          <a:prstGeom prst="straightConnector1">
            <a:avLst/>
          </a:prstGeom>
          <a:noFill/>
          <a:ln w="9525">
            <a:solidFill>
              <a:srgbClr val="4579B8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2438400" y="3502015"/>
            <a:ext cx="1102882" cy="1456790"/>
            <a:chOff x="990600" y="4012097"/>
            <a:chExt cx="1102882" cy="1456790"/>
          </a:xfrm>
        </p:grpSpPr>
        <p:sp>
          <p:nvSpPr>
            <p:cNvPr id="131093" name="Rectangle 145"/>
            <p:cNvSpPr>
              <a:spLocks noChangeArrowheads="1"/>
            </p:cNvSpPr>
            <p:nvPr/>
          </p:nvSpPr>
          <p:spPr bwMode="auto">
            <a:xfrm>
              <a:off x="1056817" y="4014251"/>
              <a:ext cx="485592" cy="259192"/>
            </a:xfrm>
            <a:prstGeom prst="rect">
              <a:avLst/>
            </a:prstGeom>
            <a:solidFill>
              <a:srgbClr val="4F81BD"/>
            </a:solidFill>
            <a:ln w="254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0" tIns="1800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FFC000"/>
                  </a:solidFill>
                  <a:latin typeface="Calibri" pitchFamily="34" charset="0"/>
                  <a:ea typeface="Times New Roman" pitchFamily="18" charset="0"/>
                  <a:cs typeface="Arial" pitchFamily="34" charset="0"/>
                </a:rPr>
                <a:t>984</a:t>
              </a:r>
              <a:endParaRPr lang="en-US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092" name="Rectangle 150"/>
            <p:cNvSpPr>
              <a:spLocks noChangeArrowheads="1"/>
            </p:cNvSpPr>
            <p:nvPr/>
          </p:nvSpPr>
          <p:spPr bwMode="auto">
            <a:xfrm>
              <a:off x="1509301" y="4012097"/>
              <a:ext cx="297977" cy="259192"/>
            </a:xfrm>
            <a:prstGeom prst="rect">
              <a:avLst/>
            </a:prstGeom>
            <a:solidFill>
              <a:srgbClr val="4F81BD"/>
            </a:solidFill>
            <a:ln w="254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0" tIns="4680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0</a:t>
              </a:r>
              <a:endParaRPr lang="en-US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091" name="Rectangle 151"/>
            <p:cNvSpPr>
              <a:spLocks noChangeArrowheads="1"/>
            </p:cNvSpPr>
            <p:nvPr/>
          </p:nvSpPr>
          <p:spPr bwMode="auto">
            <a:xfrm>
              <a:off x="1794034" y="4014251"/>
              <a:ext cx="299448" cy="259192"/>
            </a:xfrm>
            <a:prstGeom prst="rect">
              <a:avLst/>
            </a:prstGeom>
            <a:solidFill>
              <a:srgbClr val="4F81BD"/>
            </a:solidFill>
            <a:ln w="254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0" tIns="4680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latin typeface="Calibri" pitchFamily="34" charset="0"/>
                  <a:ea typeface="Calibri" pitchFamily="34" charset="0"/>
                  <a:cs typeface="Calibri" pitchFamily="34" charset="0"/>
                </a:rPr>
                <a:t>0</a:t>
              </a:r>
              <a:endParaRPr lang="en-US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088" name="Cloud 147"/>
            <p:cNvSpPr>
              <a:spLocks/>
            </p:cNvSpPr>
            <p:nvPr/>
          </p:nvSpPr>
          <p:spPr bwMode="auto">
            <a:xfrm>
              <a:off x="990600" y="4597972"/>
              <a:ext cx="1092582" cy="870915"/>
            </a:xfrm>
            <a:custGeom>
              <a:avLst/>
              <a:gdLst>
                <a:gd name="T0" fmla="*/ 102439 w 43200"/>
                <a:gd name="T1" fmla="*/ 554080 h 43200"/>
                <a:gd name="T2" fmla="*/ 47149 w 43200"/>
                <a:gd name="T3" fmla="*/ 537210 h 43200"/>
                <a:gd name="T4" fmla="*/ 151225 w 43200"/>
                <a:gd name="T5" fmla="*/ 738696 h 43200"/>
                <a:gd name="T6" fmla="*/ 127040 w 43200"/>
                <a:gd name="T7" fmla="*/ 746760 h 43200"/>
                <a:gd name="T8" fmla="*/ 359684 w 43200"/>
                <a:gd name="T9" fmla="*/ 827405 h 43200"/>
                <a:gd name="T10" fmla="*/ 345103 w 43200"/>
                <a:gd name="T11" fmla="*/ 790575 h 43200"/>
                <a:gd name="T12" fmla="*/ 629239 w 43200"/>
                <a:gd name="T13" fmla="*/ 735563 h 43200"/>
                <a:gd name="T14" fmla="*/ 623411 w 43200"/>
                <a:gd name="T15" fmla="*/ 775970 h 43200"/>
                <a:gd name="T16" fmla="*/ 744972 w 43200"/>
                <a:gd name="T17" fmla="*/ 485860 h 43200"/>
                <a:gd name="T18" fmla="*/ 815935 w 43200"/>
                <a:gd name="T19" fmla="*/ 636905 h 43200"/>
                <a:gd name="T20" fmla="*/ 912372 w 43200"/>
                <a:gd name="T21" fmla="*/ 324993 h 43200"/>
                <a:gd name="T22" fmla="*/ 880765 w 43200"/>
                <a:gd name="T23" fmla="*/ 381635 h 43200"/>
                <a:gd name="T24" fmla="*/ 836541 w 43200"/>
                <a:gd name="T25" fmla="*/ 114850 h 43200"/>
                <a:gd name="T26" fmla="*/ 838200 w 43200"/>
                <a:gd name="T27" fmla="*/ 141605 h 43200"/>
                <a:gd name="T28" fmla="*/ 634718 w 43200"/>
                <a:gd name="T29" fmla="*/ 83651 h 43200"/>
                <a:gd name="T30" fmla="*/ 650915 w 43200"/>
                <a:gd name="T31" fmla="*/ 49530 h 43200"/>
                <a:gd name="T32" fmla="*/ 483297 w 43200"/>
                <a:gd name="T33" fmla="*/ 99907 h 43200"/>
                <a:gd name="T34" fmla="*/ 491133 w 43200"/>
                <a:gd name="T35" fmla="*/ 70485 h 43200"/>
                <a:gd name="T36" fmla="*/ 305594 w 43200"/>
                <a:gd name="T37" fmla="*/ 109897 h 43200"/>
                <a:gd name="T38" fmla="*/ 333970 w 43200"/>
                <a:gd name="T39" fmla="*/ 138430 h 43200"/>
                <a:gd name="T40" fmla="*/ 90085 w 43200"/>
                <a:gd name="T41" fmla="*/ 334201 h 43200"/>
                <a:gd name="T42" fmla="*/ 85130 w 43200"/>
                <a:gd name="T43" fmla="*/ 304165 h 4320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200"/>
                <a:gd name="T67" fmla="*/ 0 h 43200"/>
                <a:gd name="T68" fmla="*/ 43200 w 43200"/>
                <a:gd name="T69" fmla="*/ 43200 h 4320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200" h="43200">
                  <a:moveTo>
                    <a:pt x="3900" y="14370"/>
                  </a:moveTo>
                  <a:cubicBezTo>
                    <a:pt x="3629" y="11657"/>
                    <a:pt x="4261" y="8921"/>
                    <a:pt x="5623" y="6907"/>
                  </a:cubicBezTo>
                  <a:cubicBezTo>
                    <a:pt x="7775" y="3726"/>
                    <a:pt x="11264" y="3017"/>
                    <a:pt x="14005" y="5202"/>
                  </a:cubicBezTo>
                  <a:cubicBezTo>
                    <a:pt x="15678" y="909"/>
                    <a:pt x="19914" y="22"/>
                    <a:pt x="22456" y="3432"/>
                  </a:cubicBezTo>
                  <a:cubicBezTo>
                    <a:pt x="23097" y="1683"/>
                    <a:pt x="24328" y="474"/>
                    <a:pt x="25749" y="200"/>
                  </a:cubicBezTo>
                  <a:cubicBezTo>
                    <a:pt x="27313" y="-102"/>
                    <a:pt x="28875" y="770"/>
                    <a:pt x="29833" y="2481"/>
                  </a:cubicBezTo>
                  <a:cubicBezTo>
                    <a:pt x="31215" y="267"/>
                    <a:pt x="33501" y="-460"/>
                    <a:pt x="35463" y="690"/>
                  </a:cubicBezTo>
                  <a:cubicBezTo>
                    <a:pt x="36958" y="1566"/>
                    <a:pt x="38030" y="3400"/>
                    <a:pt x="38318" y="5576"/>
                  </a:cubicBezTo>
                  <a:cubicBezTo>
                    <a:pt x="40046" y="6218"/>
                    <a:pt x="41422" y="7998"/>
                    <a:pt x="41982" y="10318"/>
                  </a:cubicBezTo>
                  <a:cubicBezTo>
                    <a:pt x="42389" y="12002"/>
                    <a:pt x="42331" y="13831"/>
                    <a:pt x="41818" y="15460"/>
                  </a:cubicBezTo>
                  <a:cubicBezTo>
                    <a:pt x="43079" y="17694"/>
                    <a:pt x="43520" y="20590"/>
                    <a:pt x="43016" y="23322"/>
                  </a:cubicBezTo>
                  <a:cubicBezTo>
                    <a:pt x="42346" y="26954"/>
                    <a:pt x="40128" y="29674"/>
                    <a:pt x="37404" y="30204"/>
                  </a:cubicBezTo>
                  <a:cubicBezTo>
                    <a:pt x="37391" y="32471"/>
                    <a:pt x="36658" y="34621"/>
                    <a:pt x="35395" y="36101"/>
                  </a:cubicBezTo>
                  <a:cubicBezTo>
                    <a:pt x="33476" y="38350"/>
                    <a:pt x="30704" y="38639"/>
                    <a:pt x="28555" y="36815"/>
                  </a:cubicBezTo>
                  <a:cubicBezTo>
                    <a:pt x="27860" y="39948"/>
                    <a:pt x="25999" y="42343"/>
                    <a:pt x="23667" y="43106"/>
                  </a:cubicBezTo>
                  <a:cubicBezTo>
                    <a:pt x="20919" y="44005"/>
                    <a:pt x="18051" y="42473"/>
                    <a:pt x="16480" y="39266"/>
                  </a:cubicBezTo>
                  <a:cubicBezTo>
                    <a:pt x="12772" y="42310"/>
                    <a:pt x="7956" y="40599"/>
                    <a:pt x="5804" y="35472"/>
                  </a:cubicBezTo>
                  <a:cubicBezTo>
                    <a:pt x="3690" y="35809"/>
                    <a:pt x="1705" y="34024"/>
                    <a:pt x="1110" y="31250"/>
                  </a:cubicBezTo>
                  <a:cubicBezTo>
                    <a:pt x="679" y="29243"/>
                    <a:pt x="1060" y="27077"/>
                    <a:pt x="2113" y="25551"/>
                  </a:cubicBezTo>
                  <a:cubicBezTo>
                    <a:pt x="619" y="24354"/>
                    <a:pt x="-213" y="22057"/>
                    <a:pt x="-5" y="19704"/>
                  </a:cubicBezTo>
                  <a:cubicBezTo>
                    <a:pt x="239" y="16949"/>
                    <a:pt x="1845" y="14791"/>
                    <a:pt x="3863" y="14507"/>
                  </a:cubicBezTo>
                  <a:cubicBezTo>
                    <a:pt x="3875" y="14461"/>
                    <a:pt x="3888" y="14416"/>
                    <a:pt x="3900" y="14370"/>
                  </a:cubicBezTo>
                  <a:close/>
                </a:path>
                <a:path w="43200" h="43200" fill="none">
                  <a:moveTo>
                    <a:pt x="4693" y="26177"/>
                  </a:moveTo>
                  <a:cubicBezTo>
                    <a:pt x="3809" y="26271"/>
                    <a:pt x="2925" y="25993"/>
                    <a:pt x="2160" y="25380"/>
                  </a:cubicBezTo>
                  <a:moveTo>
                    <a:pt x="6928" y="34899"/>
                  </a:moveTo>
                  <a:cubicBezTo>
                    <a:pt x="6573" y="35092"/>
                    <a:pt x="6200" y="35220"/>
                    <a:pt x="5820" y="35280"/>
                  </a:cubicBezTo>
                  <a:moveTo>
                    <a:pt x="16478" y="39090"/>
                  </a:moveTo>
                  <a:cubicBezTo>
                    <a:pt x="16211" y="38544"/>
                    <a:pt x="15987" y="37961"/>
                    <a:pt x="15810" y="37350"/>
                  </a:cubicBezTo>
                  <a:moveTo>
                    <a:pt x="28827" y="34751"/>
                  </a:moveTo>
                  <a:cubicBezTo>
                    <a:pt x="28788" y="35398"/>
                    <a:pt x="28698" y="36038"/>
                    <a:pt x="28560" y="36660"/>
                  </a:cubicBezTo>
                  <a:moveTo>
                    <a:pt x="34129" y="22954"/>
                  </a:moveTo>
                  <a:cubicBezTo>
                    <a:pt x="36133" y="24282"/>
                    <a:pt x="37398" y="27058"/>
                    <a:pt x="37380" y="30090"/>
                  </a:cubicBezTo>
                  <a:moveTo>
                    <a:pt x="41798" y="15354"/>
                  </a:moveTo>
                  <a:cubicBezTo>
                    <a:pt x="41473" y="16386"/>
                    <a:pt x="40978" y="17302"/>
                    <a:pt x="40350" y="18030"/>
                  </a:cubicBezTo>
                  <a:moveTo>
                    <a:pt x="38324" y="5426"/>
                  </a:moveTo>
                  <a:cubicBezTo>
                    <a:pt x="38379" y="5843"/>
                    <a:pt x="38405" y="6266"/>
                    <a:pt x="38400" y="6690"/>
                  </a:cubicBezTo>
                  <a:moveTo>
                    <a:pt x="29078" y="3952"/>
                  </a:moveTo>
                  <a:cubicBezTo>
                    <a:pt x="29267" y="3369"/>
                    <a:pt x="29516" y="2826"/>
                    <a:pt x="29820" y="2340"/>
                  </a:cubicBezTo>
                  <a:moveTo>
                    <a:pt x="22141" y="4720"/>
                  </a:moveTo>
                  <a:cubicBezTo>
                    <a:pt x="22218" y="4238"/>
                    <a:pt x="22339" y="3771"/>
                    <a:pt x="22500" y="3330"/>
                  </a:cubicBezTo>
                  <a:moveTo>
                    <a:pt x="14000" y="5192"/>
                  </a:moveTo>
                  <a:cubicBezTo>
                    <a:pt x="14472" y="5568"/>
                    <a:pt x="14908" y="6021"/>
                    <a:pt x="15300" y="6540"/>
                  </a:cubicBezTo>
                  <a:moveTo>
                    <a:pt x="4127" y="15789"/>
                  </a:moveTo>
                  <a:cubicBezTo>
                    <a:pt x="4024" y="15325"/>
                    <a:pt x="3948" y="14851"/>
                    <a:pt x="3900" y="14370"/>
                  </a:cubicBezTo>
                </a:path>
              </a:pathLst>
            </a:custGeom>
            <a:solidFill>
              <a:srgbClr val="FFFFFF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>
                  <a:latin typeface="Calibri" pitchFamily="34" charset="0"/>
                  <a:ea typeface="Times New Roman" pitchFamily="18" charset="0"/>
                  <a:cs typeface="Arial" pitchFamily="34" charset="0"/>
                </a:rPr>
                <a:t>Index of Kernel Heap PT</a:t>
              </a: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5" name="Straight Arrow Connector 155"/>
            <p:cNvSpPr>
              <a:spLocks noChangeShapeType="1"/>
            </p:cNvSpPr>
            <p:nvPr/>
          </p:nvSpPr>
          <p:spPr bwMode="auto">
            <a:xfrm>
              <a:off x="1288577" y="4285649"/>
              <a:ext cx="88289" cy="366172"/>
            </a:xfrm>
            <a:prstGeom prst="straightConnector1">
              <a:avLst/>
            </a:prstGeom>
            <a:noFill/>
            <a:ln w="38100">
              <a:solidFill>
                <a:srgbClr val="F79646"/>
              </a:solidFill>
              <a:round/>
              <a:headEnd/>
              <a:tailEnd type="triangle" w="med" len="med"/>
            </a:ln>
            <a:effectLst>
              <a:outerShdw dist="23000" dir="5400000" rotWithShape="0">
                <a:srgbClr val="000000">
                  <a:alpha val="34999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3230062" y="2461550"/>
            <a:ext cx="1711344" cy="1265089"/>
            <a:chOff x="1782262" y="2988251"/>
            <a:chExt cx="1711344" cy="1265089"/>
          </a:xfrm>
        </p:grpSpPr>
        <p:grpSp>
          <p:nvGrpSpPr>
            <p:cNvPr id="105" name="Group 104"/>
            <p:cNvGrpSpPr/>
            <p:nvPr/>
          </p:nvGrpSpPr>
          <p:grpSpPr>
            <a:xfrm>
              <a:off x="1782262" y="2988251"/>
              <a:ext cx="1711344" cy="1265089"/>
              <a:chOff x="1782262" y="2988251"/>
              <a:chExt cx="1711344" cy="1265089"/>
            </a:xfrm>
          </p:grpSpPr>
          <p:sp>
            <p:nvSpPr>
              <p:cNvPr id="121" name="Straight Connector 27"/>
              <p:cNvSpPr>
                <a:spLocks noChangeShapeType="1"/>
              </p:cNvSpPr>
              <p:nvPr/>
            </p:nvSpPr>
            <p:spPr bwMode="auto">
              <a:xfrm>
                <a:off x="1782262" y="2988251"/>
                <a:ext cx="1699572" cy="718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Straight Connector 26"/>
              <p:cNvSpPr>
                <a:spLocks noChangeShapeType="1"/>
              </p:cNvSpPr>
              <p:nvPr/>
            </p:nvSpPr>
            <p:spPr bwMode="auto">
              <a:xfrm>
                <a:off x="1794034" y="4253340"/>
                <a:ext cx="1699572" cy="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113" name="Text Box 28"/>
              <p:cNvSpPr txBox="1">
                <a:spLocks noChangeArrowheads="1"/>
              </p:cNvSpPr>
              <p:nvPr/>
            </p:nvSpPr>
            <p:spPr bwMode="auto">
              <a:xfrm>
                <a:off x="2234746" y="2988969"/>
                <a:ext cx="815942" cy="1242831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243F6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>
                    <a:latin typeface="Arial" pitchFamily="34" charset="0"/>
                    <a:cs typeface="Arial" pitchFamily="34" charset="0"/>
                  </a:rPr>
                  <a:t>Kernel Heap</a:t>
                </a:r>
                <a:endParaRPr lang="en-US" b="1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31081" name="Straight Arrow Connector 164"/>
            <p:cNvSpPr>
              <a:spLocks noChangeShapeType="1"/>
            </p:cNvSpPr>
            <p:nvPr/>
          </p:nvSpPr>
          <p:spPr bwMode="auto">
            <a:xfrm flipV="1">
              <a:off x="2149399" y="3004047"/>
              <a:ext cx="11036" cy="1221292"/>
            </a:xfrm>
            <a:prstGeom prst="straightConnector1">
              <a:avLst/>
            </a:prstGeom>
            <a:noFill/>
            <a:ln w="9525">
              <a:solidFill>
                <a:srgbClr val="BC4542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5490273" y="1289188"/>
            <a:ext cx="2590561" cy="1812611"/>
            <a:chOff x="4042472" y="1799269"/>
            <a:chExt cx="2590561" cy="1812611"/>
          </a:xfrm>
        </p:grpSpPr>
        <p:sp>
          <p:nvSpPr>
            <p:cNvPr id="131089" name="Text Box 140"/>
            <p:cNvSpPr txBox="1">
              <a:spLocks noChangeArrowheads="1"/>
            </p:cNvSpPr>
            <p:nvPr/>
          </p:nvSpPr>
          <p:spPr bwMode="auto">
            <a:xfrm>
              <a:off x="4042472" y="2769984"/>
              <a:ext cx="508400" cy="22688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>
                  <a:solidFill>
                    <a:srgbClr val="E36C0A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984</a:t>
              </a:r>
              <a:endParaRPr lang="en-US" sz="200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03" name="Group 102"/>
            <p:cNvGrpSpPr/>
            <p:nvPr/>
          </p:nvGrpSpPr>
          <p:grpSpPr>
            <a:xfrm>
              <a:off x="4420646" y="1799269"/>
              <a:ext cx="2212387" cy="1812611"/>
              <a:chOff x="4420646" y="1799269"/>
              <a:chExt cx="2212387" cy="1812611"/>
            </a:xfrm>
          </p:grpSpPr>
          <p:sp>
            <p:nvSpPr>
              <p:cNvPr id="131090" name="Rectangle 152"/>
              <p:cNvSpPr>
                <a:spLocks noChangeArrowheads="1"/>
              </p:cNvSpPr>
              <p:nvPr/>
            </p:nvSpPr>
            <p:spPr bwMode="auto">
              <a:xfrm>
                <a:off x="4420646" y="2822397"/>
                <a:ext cx="441447" cy="162982"/>
              </a:xfrm>
              <a:prstGeom prst="rect">
                <a:avLst/>
              </a:prstGeom>
              <a:solidFill>
                <a:srgbClr val="4F81BD"/>
              </a:solidFill>
              <a:ln w="12700">
                <a:solidFill>
                  <a:srgbClr val="243F6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57" name="Rounded Rectangle 157"/>
              <p:cNvSpPr>
                <a:spLocks noChangeArrowheads="1"/>
              </p:cNvSpPr>
              <p:nvPr/>
            </p:nvSpPr>
            <p:spPr bwMode="auto">
              <a:xfrm>
                <a:off x="5403602" y="2487098"/>
                <a:ext cx="539998" cy="102312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5400">
                <a:solidFill>
                  <a:srgbClr val="205867"/>
                </a:solidFill>
                <a:round/>
                <a:headEnd/>
                <a:tailEnd/>
              </a:ln>
            </p:spPr>
            <p:txBody>
              <a:bodyPr vert="horz" wrap="square" lIns="0" tIns="45720" rIns="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 b="1" dirty="0"/>
                  <a:t>Empty</a:t>
                </a:r>
                <a:endParaRPr lang="en-US" b="1" dirty="0"/>
              </a:p>
            </p:txBody>
          </p:sp>
          <p:sp>
            <p:nvSpPr>
              <p:cNvPr id="131085" name="Text Box 142"/>
              <p:cNvSpPr txBox="1">
                <a:spLocks noChangeArrowheads="1"/>
              </p:cNvSpPr>
              <p:nvPr/>
            </p:nvSpPr>
            <p:spPr bwMode="auto">
              <a:xfrm>
                <a:off x="5325374" y="2216387"/>
                <a:ext cx="1018543" cy="224729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>
                    <a:solidFill>
                      <a:srgbClr val="244061"/>
                    </a:solidFill>
                    <a:latin typeface="Calibri" pitchFamily="34" charset="0"/>
                    <a:ea typeface="Calibri" pitchFamily="34" charset="0"/>
                    <a:cs typeface="Calibri" pitchFamily="34" charset="0"/>
                  </a:rPr>
                  <a:t>PT#984</a:t>
                </a:r>
                <a:endParaRPr lang="en-US" sz="400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56" name="Elbow Connector 156"/>
              <p:cNvSpPr>
                <a:spLocks noChangeShapeType="1"/>
              </p:cNvSpPr>
              <p:nvPr/>
            </p:nvSpPr>
            <p:spPr bwMode="auto">
              <a:xfrm>
                <a:off x="4862093" y="2904247"/>
                <a:ext cx="547395" cy="532744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rgbClr val="4579B8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083" name="Text Box 140"/>
              <p:cNvSpPr txBox="1">
                <a:spLocks noChangeArrowheads="1"/>
              </p:cNvSpPr>
              <p:nvPr/>
            </p:nvSpPr>
            <p:spPr bwMode="auto">
              <a:xfrm>
                <a:off x="5148157" y="3375663"/>
                <a:ext cx="221459" cy="236217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>
                    <a:solidFill>
                      <a:srgbClr val="CC3399"/>
                    </a:solidFill>
                    <a:latin typeface="Calibri" pitchFamily="34" charset="0"/>
                    <a:ea typeface="Calibri" pitchFamily="34" charset="0"/>
                    <a:cs typeface="Calibri" pitchFamily="34" charset="0"/>
                  </a:rPr>
                  <a:t>0</a:t>
                </a:r>
                <a:endParaRPr lang="en-US" sz="200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31082" name="Cloud 163"/>
              <p:cNvSpPr>
                <a:spLocks/>
              </p:cNvSpPr>
              <p:nvPr/>
            </p:nvSpPr>
            <p:spPr bwMode="auto">
              <a:xfrm>
                <a:off x="4810591" y="1799269"/>
                <a:ext cx="1822442" cy="432945"/>
              </a:xfrm>
              <a:custGeom>
                <a:avLst/>
                <a:gdLst>
                  <a:gd name="T0" fmla="*/ 170838 w 43200"/>
                  <a:gd name="T1" fmla="*/ 231842 h 43200"/>
                  <a:gd name="T2" fmla="*/ 78630 w 43200"/>
                  <a:gd name="T3" fmla="*/ 224783 h 43200"/>
                  <a:gd name="T4" fmla="*/ 252198 w 43200"/>
                  <a:gd name="T5" fmla="*/ 309090 h 43200"/>
                  <a:gd name="T6" fmla="*/ 211864 w 43200"/>
                  <a:gd name="T7" fmla="*/ 312465 h 43200"/>
                  <a:gd name="T8" fmla="*/ 599845 w 43200"/>
                  <a:gd name="T9" fmla="*/ 346209 h 43200"/>
                  <a:gd name="T10" fmla="*/ 575528 w 43200"/>
                  <a:gd name="T11" fmla="*/ 330798 h 43200"/>
                  <a:gd name="T12" fmla="*/ 1049383 w 43200"/>
                  <a:gd name="T13" fmla="*/ 307780 h 43200"/>
                  <a:gd name="T14" fmla="*/ 1039663 w 43200"/>
                  <a:gd name="T15" fmla="*/ 324687 h 43200"/>
                  <a:gd name="T16" fmla="*/ 1242390 w 43200"/>
                  <a:gd name="T17" fmla="*/ 203297 h 43200"/>
                  <a:gd name="T18" fmla="*/ 1360736 w 43200"/>
                  <a:gd name="T19" fmla="*/ 266498 h 43200"/>
                  <a:gd name="T20" fmla="*/ 1521563 w 43200"/>
                  <a:gd name="T21" fmla="*/ 135986 h 43200"/>
                  <a:gd name="T22" fmla="*/ 1468852 w 43200"/>
                  <a:gd name="T23" fmla="*/ 159687 h 43200"/>
                  <a:gd name="T24" fmla="*/ 1395100 w 43200"/>
                  <a:gd name="T25" fmla="*/ 48057 h 43200"/>
                  <a:gd name="T26" fmla="*/ 1397867 w 43200"/>
                  <a:gd name="T27" fmla="*/ 59251 h 43200"/>
                  <a:gd name="T28" fmla="*/ 1058520 w 43200"/>
                  <a:gd name="T29" fmla="*/ 35002 h 43200"/>
                  <a:gd name="T30" fmla="*/ 1085531 w 43200"/>
                  <a:gd name="T31" fmla="*/ 20725 h 43200"/>
                  <a:gd name="T32" fmla="*/ 805994 w 43200"/>
                  <a:gd name="T33" fmla="*/ 41804 h 43200"/>
                  <a:gd name="T34" fmla="*/ 819063 w 43200"/>
                  <a:gd name="T35" fmla="*/ 29493 h 43200"/>
                  <a:gd name="T36" fmla="*/ 509639 w 43200"/>
                  <a:gd name="T37" fmla="*/ 45984 h 43200"/>
                  <a:gd name="T38" fmla="*/ 556963 w 43200"/>
                  <a:gd name="T39" fmla="*/ 57923 h 43200"/>
                  <a:gd name="T40" fmla="*/ 150234 w 43200"/>
                  <a:gd name="T41" fmla="*/ 139839 h 43200"/>
                  <a:gd name="T42" fmla="*/ 141971 w 43200"/>
                  <a:gd name="T43" fmla="*/ 127271 h 4320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3200"/>
                  <a:gd name="T67" fmla="*/ 0 h 43200"/>
                  <a:gd name="T68" fmla="*/ 43200 w 43200"/>
                  <a:gd name="T69" fmla="*/ 43200 h 4320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3200" h="43200">
                    <a:moveTo>
                      <a:pt x="3900" y="14370"/>
                    </a:moveTo>
                    <a:cubicBezTo>
                      <a:pt x="3629" y="11657"/>
                      <a:pt x="4261" y="8921"/>
                      <a:pt x="5623" y="6907"/>
                    </a:cubicBezTo>
                    <a:cubicBezTo>
                      <a:pt x="7775" y="3726"/>
                      <a:pt x="11264" y="3017"/>
                      <a:pt x="14005" y="5202"/>
                    </a:cubicBezTo>
                    <a:cubicBezTo>
                      <a:pt x="15678" y="909"/>
                      <a:pt x="19914" y="22"/>
                      <a:pt x="22456" y="3432"/>
                    </a:cubicBezTo>
                    <a:cubicBezTo>
                      <a:pt x="23097" y="1683"/>
                      <a:pt x="24328" y="474"/>
                      <a:pt x="25749" y="200"/>
                    </a:cubicBezTo>
                    <a:cubicBezTo>
                      <a:pt x="27313" y="-102"/>
                      <a:pt x="28875" y="770"/>
                      <a:pt x="29833" y="2481"/>
                    </a:cubicBezTo>
                    <a:cubicBezTo>
                      <a:pt x="31215" y="267"/>
                      <a:pt x="33501" y="-460"/>
                      <a:pt x="35463" y="690"/>
                    </a:cubicBezTo>
                    <a:cubicBezTo>
                      <a:pt x="36958" y="1566"/>
                      <a:pt x="38030" y="3400"/>
                      <a:pt x="38318" y="5576"/>
                    </a:cubicBezTo>
                    <a:cubicBezTo>
                      <a:pt x="40046" y="6218"/>
                      <a:pt x="41422" y="7998"/>
                      <a:pt x="41982" y="10318"/>
                    </a:cubicBezTo>
                    <a:cubicBezTo>
                      <a:pt x="42389" y="12002"/>
                      <a:pt x="42331" y="13831"/>
                      <a:pt x="41818" y="15460"/>
                    </a:cubicBezTo>
                    <a:cubicBezTo>
                      <a:pt x="43079" y="17694"/>
                      <a:pt x="43520" y="20590"/>
                      <a:pt x="43016" y="23322"/>
                    </a:cubicBezTo>
                    <a:cubicBezTo>
                      <a:pt x="42346" y="26954"/>
                      <a:pt x="40128" y="29674"/>
                      <a:pt x="37404" y="30204"/>
                    </a:cubicBezTo>
                    <a:cubicBezTo>
                      <a:pt x="37391" y="32471"/>
                      <a:pt x="36658" y="34621"/>
                      <a:pt x="35395" y="36101"/>
                    </a:cubicBezTo>
                    <a:cubicBezTo>
                      <a:pt x="33476" y="38350"/>
                      <a:pt x="30704" y="38639"/>
                      <a:pt x="28555" y="36815"/>
                    </a:cubicBezTo>
                    <a:cubicBezTo>
                      <a:pt x="27860" y="39948"/>
                      <a:pt x="25999" y="42343"/>
                      <a:pt x="23667" y="43106"/>
                    </a:cubicBezTo>
                    <a:cubicBezTo>
                      <a:pt x="20919" y="44005"/>
                      <a:pt x="18051" y="42473"/>
                      <a:pt x="16480" y="39266"/>
                    </a:cubicBezTo>
                    <a:cubicBezTo>
                      <a:pt x="12772" y="42310"/>
                      <a:pt x="7956" y="40599"/>
                      <a:pt x="5804" y="35472"/>
                    </a:cubicBezTo>
                    <a:cubicBezTo>
                      <a:pt x="3690" y="35809"/>
                      <a:pt x="1705" y="34024"/>
                      <a:pt x="1110" y="31250"/>
                    </a:cubicBezTo>
                    <a:cubicBezTo>
                      <a:pt x="679" y="29243"/>
                      <a:pt x="1060" y="27077"/>
                      <a:pt x="2113" y="25551"/>
                    </a:cubicBezTo>
                    <a:cubicBezTo>
                      <a:pt x="619" y="24354"/>
                      <a:pt x="-213" y="22057"/>
                      <a:pt x="-5" y="19704"/>
                    </a:cubicBezTo>
                    <a:cubicBezTo>
                      <a:pt x="239" y="16949"/>
                      <a:pt x="1845" y="14791"/>
                      <a:pt x="3863" y="14507"/>
                    </a:cubicBezTo>
                    <a:cubicBezTo>
                      <a:pt x="3875" y="14461"/>
                      <a:pt x="3888" y="14416"/>
                      <a:pt x="3900" y="14370"/>
                    </a:cubicBezTo>
                    <a:close/>
                  </a:path>
                  <a:path w="43200" h="43200" fill="none">
                    <a:moveTo>
                      <a:pt x="4693" y="26177"/>
                    </a:moveTo>
                    <a:cubicBezTo>
                      <a:pt x="3809" y="26271"/>
                      <a:pt x="2925" y="25993"/>
                      <a:pt x="2160" y="25380"/>
                    </a:cubicBezTo>
                    <a:moveTo>
                      <a:pt x="6928" y="34899"/>
                    </a:moveTo>
                    <a:cubicBezTo>
                      <a:pt x="6573" y="35092"/>
                      <a:pt x="6200" y="35220"/>
                      <a:pt x="5820" y="35280"/>
                    </a:cubicBezTo>
                    <a:moveTo>
                      <a:pt x="16478" y="39090"/>
                    </a:moveTo>
                    <a:cubicBezTo>
                      <a:pt x="16211" y="38544"/>
                      <a:pt x="15987" y="37961"/>
                      <a:pt x="15810" y="37350"/>
                    </a:cubicBezTo>
                    <a:moveTo>
                      <a:pt x="28827" y="34751"/>
                    </a:moveTo>
                    <a:cubicBezTo>
                      <a:pt x="28788" y="35398"/>
                      <a:pt x="28698" y="36038"/>
                      <a:pt x="28560" y="36660"/>
                    </a:cubicBezTo>
                    <a:moveTo>
                      <a:pt x="34129" y="22954"/>
                    </a:moveTo>
                    <a:cubicBezTo>
                      <a:pt x="36133" y="24282"/>
                      <a:pt x="37398" y="27058"/>
                      <a:pt x="37380" y="30090"/>
                    </a:cubicBezTo>
                    <a:moveTo>
                      <a:pt x="41798" y="15354"/>
                    </a:moveTo>
                    <a:cubicBezTo>
                      <a:pt x="41473" y="16386"/>
                      <a:pt x="40978" y="17302"/>
                      <a:pt x="40350" y="18030"/>
                    </a:cubicBezTo>
                    <a:moveTo>
                      <a:pt x="38324" y="5426"/>
                    </a:moveTo>
                    <a:cubicBezTo>
                      <a:pt x="38379" y="5843"/>
                      <a:pt x="38405" y="6266"/>
                      <a:pt x="38400" y="6690"/>
                    </a:cubicBezTo>
                    <a:moveTo>
                      <a:pt x="29078" y="3952"/>
                    </a:moveTo>
                    <a:cubicBezTo>
                      <a:pt x="29267" y="3369"/>
                      <a:pt x="29516" y="2826"/>
                      <a:pt x="29820" y="2340"/>
                    </a:cubicBezTo>
                    <a:moveTo>
                      <a:pt x="22141" y="4720"/>
                    </a:moveTo>
                    <a:cubicBezTo>
                      <a:pt x="22218" y="4238"/>
                      <a:pt x="22339" y="3771"/>
                      <a:pt x="22500" y="3330"/>
                    </a:cubicBezTo>
                    <a:moveTo>
                      <a:pt x="14000" y="5192"/>
                    </a:moveTo>
                    <a:cubicBezTo>
                      <a:pt x="14472" y="5568"/>
                      <a:pt x="14908" y="6021"/>
                      <a:pt x="15300" y="6540"/>
                    </a:cubicBezTo>
                    <a:moveTo>
                      <a:pt x="4127" y="15789"/>
                    </a:moveTo>
                    <a:cubicBezTo>
                      <a:pt x="4024" y="15325"/>
                      <a:pt x="3948" y="14851"/>
                      <a:pt x="3900" y="14370"/>
                    </a:cubicBezTo>
                  </a:path>
                </a:pathLst>
              </a:custGeom>
              <a:solidFill>
                <a:srgbClr val="FFFF00"/>
              </a:solidFill>
              <a:ln w="254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>
                    <a:solidFill>
                      <a:srgbClr val="002060"/>
                    </a:solidFill>
                    <a:latin typeface="Calibri" pitchFamily="34" charset="0"/>
                    <a:ea typeface="Calibri" pitchFamily="34" charset="0"/>
                    <a:cs typeface="Calibri" pitchFamily="34" charset="0"/>
                  </a:rPr>
                  <a:t>KERNEL’S TABLES</a:t>
                </a:r>
                <a:endParaRPr lang="en-US" sz="3200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98" name="Group 97"/>
          <p:cNvGrpSpPr/>
          <p:nvPr/>
        </p:nvGrpSpPr>
        <p:grpSpPr>
          <a:xfrm>
            <a:off x="6934200" y="4927932"/>
            <a:ext cx="2362820" cy="332866"/>
            <a:chOff x="5486400" y="5438014"/>
            <a:chExt cx="2362820" cy="332866"/>
          </a:xfrm>
        </p:grpSpPr>
        <p:sp>
          <p:nvSpPr>
            <p:cNvPr id="131116" name="Rounded Rectangle 24"/>
            <p:cNvSpPr>
              <a:spLocks noChangeArrowheads="1"/>
            </p:cNvSpPr>
            <p:nvPr/>
          </p:nvSpPr>
          <p:spPr bwMode="auto">
            <a:xfrm>
              <a:off x="6451303" y="5438014"/>
              <a:ext cx="827714" cy="236935"/>
            </a:xfrm>
            <a:prstGeom prst="roundRect">
              <a:avLst>
                <a:gd name="adj" fmla="val 16667"/>
              </a:avLst>
            </a:prstGeom>
            <a:solidFill>
              <a:srgbClr val="FABF8F"/>
            </a:solidFill>
            <a:ln w="9525">
              <a:solidFill>
                <a:srgbClr val="795D9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latin typeface="Calibri" pitchFamily="34" charset="0"/>
                  <a:ea typeface="Times New Roman" pitchFamily="18" charset="0"/>
                  <a:cs typeface="Calibri" pitchFamily="34" charset="0"/>
                </a:rPr>
                <a:t>New DIR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105" name="Text Box 6"/>
            <p:cNvSpPr txBox="1">
              <a:spLocks noChangeArrowheads="1"/>
            </p:cNvSpPr>
            <p:nvPr/>
          </p:nvSpPr>
          <p:spPr bwMode="auto">
            <a:xfrm>
              <a:off x="5486400" y="5554767"/>
              <a:ext cx="1046966" cy="216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PA = 16 KB</a:t>
              </a:r>
              <a:endParaRPr lang="en-US" sz="3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080" name="Text Box 25"/>
            <p:cNvSpPr txBox="1">
              <a:spLocks noChangeArrowheads="1"/>
            </p:cNvSpPr>
            <p:nvPr/>
          </p:nvSpPr>
          <p:spPr bwMode="auto">
            <a:xfrm>
              <a:off x="7330519" y="5468887"/>
              <a:ext cx="518701" cy="204626"/>
            </a:xfrm>
            <a:prstGeom prst="rect">
              <a:avLst/>
            </a:prstGeom>
            <a:solidFill>
              <a:srgbClr val="FFFFFF"/>
            </a:solidFill>
            <a:ln w="63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>
                  <a:solidFill>
                    <a:srgbClr val="FF0000"/>
                  </a:solidFill>
                  <a:latin typeface="Calibri" pitchFamily="34" charset="0"/>
                  <a:ea typeface="Times New Roman" pitchFamily="18" charset="0"/>
                  <a:cs typeface="Calibri" pitchFamily="34" charset="0"/>
                </a:rPr>
                <a:t>Frame#4</a:t>
              </a:r>
              <a:endParaRPr lang="en-US" sz="320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31079" name="Rectangle 23"/>
          <p:cNvSpPr>
            <a:spLocks noChangeArrowheads="1"/>
          </p:cNvSpPr>
          <p:nvPr/>
        </p:nvSpPr>
        <p:spPr bwMode="auto">
          <a:xfrm>
            <a:off x="7897632" y="4067788"/>
            <a:ext cx="826978" cy="8551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914400" rtl="1" fontAlgn="base">
              <a:spcBef>
                <a:spcPct val="0"/>
              </a:spcBef>
              <a:spcAft>
                <a:spcPct val="0"/>
              </a:spcAft>
            </a:pPr>
            <a:r>
              <a:rPr lang="en-US" sz="1100">
                <a:latin typeface="Calibri" pitchFamily="34" charset="0"/>
                <a:ea typeface="Times New Roman" pitchFamily="18" charset="0"/>
                <a:cs typeface="Arial" pitchFamily="34" charset="0"/>
              </a:rPr>
              <a:t>.</a:t>
            </a:r>
            <a:endParaRPr lang="en-US" sz="1100"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ct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>
                <a:latin typeface="Calibri" pitchFamily="34" charset="0"/>
                <a:ea typeface="Times New Roman" pitchFamily="18" charset="0"/>
                <a:cs typeface="Arial" pitchFamily="34" charset="0"/>
              </a:rPr>
              <a:t>.</a:t>
            </a:r>
            <a:endParaRPr lang="en-US" sz="1100"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ct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>
                <a:latin typeface="Calibri" pitchFamily="34" charset="0"/>
                <a:ea typeface="Times New Roman" pitchFamily="18" charset="0"/>
                <a:cs typeface="Arial" pitchFamily="34" charset="0"/>
              </a:rPr>
              <a:t>.</a:t>
            </a:r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6857287" y="2674178"/>
            <a:ext cx="1042552" cy="1250730"/>
            <a:chOff x="5409487" y="3184260"/>
            <a:chExt cx="1042552" cy="1250730"/>
          </a:xfrm>
        </p:grpSpPr>
        <p:sp>
          <p:nvSpPr>
            <p:cNvPr id="131077" name="Rectangle 152"/>
            <p:cNvSpPr>
              <a:spLocks noChangeArrowheads="1"/>
            </p:cNvSpPr>
            <p:nvPr/>
          </p:nvSpPr>
          <p:spPr bwMode="auto">
            <a:xfrm>
              <a:off x="5409487" y="3184260"/>
              <a:ext cx="534113" cy="168539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>
                  <a:latin typeface="Calibri" pitchFamily="34" charset="0"/>
                  <a:ea typeface="Times New Roman" pitchFamily="18" charset="0"/>
                  <a:cs typeface="Arial" pitchFamily="34" charset="0"/>
                </a:rPr>
                <a:t>500000</a:t>
              </a:r>
              <a:endParaRPr lang="en-US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076" name="Elbow Connector 156"/>
            <p:cNvSpPr>
              <a:spLocks noChangeShapeType="1"/>
            </p:cNvSpPr>
            <p:nvPr/>
          </p:nvSpPr>
          <p:spPr bwMode="auto">
            <a:xfrm>
              <a:off x="5850935" y="3266111"/>
              <a:ext cx="601104" cy="1168879"/>
            </a:xfrm>
            <a:prstGeom prst="bentConnector3">
              <a:avLst>
                <a:gd name="adj1" fmla="val 49940"/>
              </a:avLst>
            </a:prstGeom>
            <a:noFill/>
            <a:ln w="38100">
              <a:solidFill>
                <a:srgbClr val="92D05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6857287" y="2845059"/>
            <a:ext cx="1041448" cy="2201701"/>
            <a:chOff x="5409487" y="3355140"/>
            <a:chExt cx="1041448" cy="2201701"/>
          </a:xfrm>
        </p:grpSpPr>
        <p:sp>
          <p:nvSpPr>
            <p:cNvPr id="131078" name="Rectangle 152"/>
            <p:cNvSpPr>
              <a:spLocks noChangeArrowheads="1"/>
            </p:cNvSpPr>
            <p:nvPr/>
          </p:nvSpPr>
          <p:spPr bwMode="auto">
            <a:xfrm>
              <a:off x="5409487" y="3355140"/>
              <a:ext cx="534113" cy="168539"/>
            </a:xfrm>
            <a:prstGeom prst="rect">
              <a:avLst/>
            </a:prstGeom>
            <a:solidFill>
              <a:srgbClr val="FABF8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>
                  <a:latin typeface="Calibri" pitchFamily="34" charset="0"/>
                  <a:ea typeface="Times New Roman" pitchFamily="18" charset="0"/>
                  <a:cs typeface="Arial" pitchFamily="34" charset="0"/>
                </a:rPr>
                <a:t>F#4</a:t>
              </a:r>
              <a:endParaRPr lang="en-US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075" name="Elbow Connector 156"/>
            <p:cNvSpPr>
              <a:spLocks noChangeShapeType="1"/>
            </p:cNvSpPr>
            <p:nvPr/>
          </p:nvSpPr>
          <p:spPr bwMode="auto">
            <a:xfrm rot="16200000" flipH="1">
              <a:off x="5021210" y="4127116"/>
              <a:ext cx="2038358" cy="821092"/>
            </a:xfrm>
            <a:prstGeom prst="bentConnector2">
              <a:avLst/>
            </a:prstGeom>
            <a:noFill/>
            <a:ln w="38100">
              <a:solidFill>
                <a:srgbClr val="FABF8F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1074" name="Rectangle 23"/>
          <p:cNvSpPr>
            <a:spLocks noChangeArrowheads="1"/>
          </p:cNvSpPr>
          <p:nvPr/>
        </p:nvSpPr>
        <p:spPr bwMode="auto">
          <a:xfrm>
            <a:off x="3672245" y="4380828"/>
            <a:ext cx="826978" cy="1465406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914400" rtl="1" fontAlgn="base">
              <a:spcBef>
                <a:spcPct val="0"/>
              </a:spcBef>
              <a:spcAft>
                <a:spcPct val="0"/>
              </a:spcAft>
            </a:pPr>
            <a:r>
              <a:rPr lang="en-US" sz="1100">
                <a:latin typeface="Calibri" pitchFamily="34" charset="0"/>
                <a:ea typeface="Times New Roman" pitchFamily="18" charset="0"/>
                <a:cs typeface="Arial" pitchFamily="34" charset="0"/>
              </a:rPr>
              <a:t>.</a:t>
            </a:r>
            <a:endParaRPr lang="en-US" sz="1100"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ct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>
                <a:latin typeface="Calibri" pitchFamily="34" charset="0"/>
                <a:ea typeface="Times New Roman" pitchFamily="18" charset="0"/>
                <a:cs typeface="Arial" pitchFamily="34" charset="0"/>
              </a:rPr>
              <a:t>.</a:t>
            </a:r>
            <a:endParaRPr lang="en-US" sz="1100"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ct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>
                <a:latin typeface="Calibri" pitchFamily="34" charset="0"/>
                <a:ea typeface="Times New Roman" pitchFamily="18" charset="0"/>
                <a:cs typeface="Arial" pitchFamily="34" charset="0"/>
              </a:rPr>
              <a:t>.</a:t>
            </a:r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2" name="Group 101"/>
          <p:cNvGrpSpPr/>
          <p:nvPr/>
        </p:nvGrpSpPr>
        <p:grpSpPr>
          <a:xfrm>
            <a:off x="3671510" y="3237797"/>
            <a:ext cx="5949239" cy="904370"/>
            <a:chOff x="2223709" y="3747879"/>
            <a:chExt cx="5949239" cy="904370"/>
          </a:xfrm>
        </p:grpSpPr>
        <p:sp>
          <p:nvSpPr>
            <p:cNvPr id="131111" name="Rounded Rectangle 32"/>
            <p:cNvSpPr>
              <a:spLocks noChangeArrowheads="1"/>
            </p:cNvSpPr>
            <p:nvPr/>
          </p:nvSpPr>
          <p:spPr bwMode="auto">
            <a:xfrm>
              <a:off x="6452039" y="4316522"/>
              <a:ext cx="826978" cy="236935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9525">
              <a:solidFill>
                <a:srgbClr val="795D9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NEW PT0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110" name="Text Box 25"/>
            <p:cNvSpPr txBox="1">
              <a:spLocks noChangeArrowheads="1"/>
            </p:cNvSpPr>
            <p:nvPr/>
          </p:nvSpPr>
          <p:spPr bwMode="auto">
            <a:xfrm>
              <a:off x="7320219" y="4368217"/>
              <a:ext cx="852729" cy="167290"/>
            </a:xfrm>
            <a:prstGeom prst="rect">
              <a:avLst/>
            </a:prstGeom>
            <a:solidFill>
              <a:srgbClr val="FFFFFF"/>
            </a:solidFill>
            <a:ln w="63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>
                  <a:solidFill>
                    <a:srgbClr val="FF0000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Frame#500,000</a:t>
              </a:r>
              <a:endParaRPr lang="en-US" sz="2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108" name="Rounded Rectangle 36"/>
            <p:cNvSpPr>
              <a:spLocks noChangeArrowheads="1"/>
            </p:cNvSpPr>
            <p:nvPr/>
          </p:nvSpPr>
          <p:spPr bwMode="auto">
            <a:xfrm>
              <a:off x="2223709" y="3747879"/>
              <a:ext cx="826978" cy="236217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9525">
              <a:solidFill>
                <a:srgbClr val="795D9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New PT0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107" name="Elbow Connector 37"/>
            <p:cNvSpPr>
              <a:spLocks noChangeShapeType="1"/>
            </p:cNvSpPr>
            <p:nvPr/>
          </p:nvSpPr>
          <p:spPr bwMode="auto">
            <a:xfrm>
              <a:off x="3063195" y="3973326"/>
              <a:ext cx="3388108" cy="602389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rgbClr val="92D050"/>
              </a:solidFill>
              <a:prstDash val="lgDash"/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104" name="Text Box 6"/>
            <p:cNvSpPr txBox="1">
              <a:spLocks noChangeArrowheads="1"/>
            </p:cNvSpPr>
            <p:nvPr/>
          </p:nvSpPr>
          <p:spPr bwMode="auto">
            <a:xfrm>
              <a:off x="5553974" y="4435418"/>
              <a:ext cx="970448" cy="2168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PA = 2 GB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102" name="Text Box 6"/>
            <p:cNvSpPr txBox="1">
              <a:spLocks noChangeArrowheads="1"/>
            </p:cNvSpPr>
            <p:nvPr/>
          </p:nvSpPr>
          <p:spPr bwMode="auto">
            <a:xfrm>
              <a:off x="3030822" y="3788086"/>
              <a:ext cx="1113919" cy="2168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latin typeface="Calibri" pitchFamily="34" charset="0"/>
                  <a:ea typeface="Calibri" pitchFamily="34" charset="0"/>
                  <a:cs typeface="Calibri" pitchFamily="34" charset="0"/>
                </a:rPr>
                <a:t>VA = KHS + 4K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8" name="Rounded Rectangle 35"/>
          <p:cNvSpPr>
            <a:spLocks noChangeArrowheads="1"/>
          </p:cNvSpPr>
          <p:nvPr/>
        </p:nvSpPr>
        <p:spPr bwMode="auto">
          <a:xfrm>
            <a:off x="3671509" y="3474015"/>
            <a:ext cx="826978" cy="236935"/>
          </a:xfrm>
          <a:prstGeom prst="roundRect">
            <a:avLst>
              <a:gd name="adj" fmla="val 16667"/>
            </a:avLst>
          </a:prstGeom>
          <a:solidFill>
            <a:srgbClr val="FABF8F"/>
          </a:solidFill>
          <a:ln w="9525">
            <a:solidFill>
              <a:srgbClr val="795D9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latin typeface="Calibri" pitchFamily="34" charset="0"/>
                <a:ea typeface="Calibri" pitchFamily="34" charset="0"/>
                <a:cs typeface="Calibri" pitchFamily="34" charset="0"/>
              </a:rPr>
              <a:t>New DIR</a:t>
            </a:r>
            <a:endParaRPr lang="en-US" sz="3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85CD5-9B33-2E7F-7C69-E57264B74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2AB293-FC34-F1ED-6D62-D6B54F8CC939}"/>
              </a:ext>
            </a:extLst>
          </p:cNvPr>
          <p:cNvSpPr txBox="1">
            <a:spLocks/>
          </p:cNvSpPr>
          <p:nvPr/>
        </p:nvSpPr>
        <p:spPr>
          <a:xfrm>
            <a:off x="0" y="-15797"/>
            <a:ext cx="12055514" cy="73946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Kernel Heap – W</a:t>
            </a:r>
            <a:r>
              <a:rPr lang="en-US" dirty="0"/>
              <a:t>hat is new? </a:t>
            </a:r>
            <a:endParaRPr lang="en-US" sz="3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23455" y="2431473"/>
            <a:ext cx="4332087" cy="358004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/>
              <a:t>Kernel Heap lies at the end of the virtual space</a:t>
            </a:r>
            <a:endParaRPr lang="ar-EG" sz="3200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EG"/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EG"/>
          </a:p>
        </p:txBody>
      </p:sp>
      <p:grpSp>
        <p:nvGrpSpPr>
          <p:cNvPr id="38" name="Group 37"/>
          <p:cNvGrpSpPr/>
          <p:nvPr/>
        </p:nvGrpSpPr>
        <p:grpSpPr>
          <a:xfrm>
            <a:off x="4664273" y="595313"/>
            <a:ext cx="6086277" cy="5667375"/>
            <a:chOff x="3694102" y="1138374"/>
            <a:chExt cx="6086277" cy="5667375"/>
          </a:xfrm>
        </p:grpSpPr>
        <p:grpSp>
          <p:nvGrpSpPr>
            <p:cNvPr id="24" name="Group 23"/>
            <p:cNvGrpSpPr/>
            <p:nvPr/>
          </p:nvGrpSpPr>
          <p:grpSpPr>
            <a:xfrm>
              <a:off x="3694102" y="1138374"/>
              <a:ext cx="6086277" cy="5667375"/>
              <a:chOff x="3694102" y="1138374"/>
              <a:chExt cx="6086277" cy="5667375"/>
            </a:xfrm>
          </p:grpSpPr>
          <p:graphicFrame>
            <p:nvGraphicFramePr>
              <p:cNvPr id="35841" name="Object 1"/>
              <p:cNvGraphicFramePr>
                <a:graphicFrameLocks noChangeAspect="1"/>
              </p:cNvGraphicFramePr>
              <p:nvPr/>
            </p:nvGraphicFramePr>
            <p:xfrm>
              <a:off x="4674979" y="1138374"/>
              <a:ext cx="5105400" cy="566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4283168" imgH="4910195" progId="">
                      <p:embed/>
                    </p:oleObj>
                  </mc:Choice>
                  <mc:Fallback>
                    <p:oleObj r:id="rId2" imgW="4283168" imgH="4910195" progId="">
                      <p:embed/>
                      <p:pic>
                        <p:nvPicPr>
                          <p:cNvPr id="35841" name="Object 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74979" y="1138374"/>
                            <a:ext cx="5105400" cy="56673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1" name="Group 20"/>
              <p:cNvGrpSpPr/>
              <p:nvPr/>
            </p:nvGrpSpPr>
            <p:grpSpPr>
              <a:xfrm>
                <a:off x="3694102" y="1190097"/>
                <a:ext cx="5297498" cy="1584492"/>
                <a:chOff x="3694102" y="1190097"/>
                <a:chExt cx="5297498" cy="1584492"/>
              </a:xfrm>
            </p:grpSpPr>
            <p:grpSp>
              <p:nvGrpSpPr>
                <p:cNvPr id="20" name="Group 19"/>
                <p:cNvGrpSpPr/>
                <p:nvPr/>
              </p:nvGrpSpPr>
              <p:grpSpPr>
                <a:xfrm>
                  <a:off x="4724400" y="1423852"/>
                  <a:ext cx="2744811" cy="481148"/>
                  <a:chOff x="4724400" y="1423852"/>
                  <a:chExt cx="2744811" cy="481148"/>
                </a:xfrm>
              </p:grpSpPr>
              <p:sp>
                <p:nvSpPr>
                  <p:cNvPr id="12" name="Rectangle 11"/>
                  <p:cNvSpPr/>
                  <p:nvPr/>
                </p:nvSpPr>
                <p:spPr>
                  <a:xfrm>
                    <a:off x="4724400" y="1600200"/>
                    <a:ext cx="1447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endParaRPr lang="ar-EG"/>
                  </a:p>
                </p:txBody>
              </p:sp>
              <p:sp>
                <p:nvSpPr>
                  <p:cNvPr id="7" name="Rectangle 6"/>
                  <p:cNvSpPr/>
                  <p:nvPr/>
                </p:nvSpPr>
                <p:spPr>
                  <a:xfrm>
                    <a:off x="6209211" y="1423852"/>
                    <a:ext cx="1260000" cy="428172"/>
                  </a:xfrm>
                  <a:prstGeom prst="rect">
                    <a:avLst/>
                  </a:prstGeom>
                </p:spPr>
                <p:style>
                  <a:lnRef idx="0">
                    <a:schemeClr val="accent2"/>
                  </a:lnRef>
                  <a:fillRef idx="3">
                    <a:schemeClr val="accent2"/>
                  </a:fillRef>
                  <a:effectRef idx="3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r>
                      <a:rPr lang="en-US" b="1"/>
                      <a:t>KHEAP</a:t>
                    </a:r>
                    <a:endParaRPr lang="ar-EG" b="1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3694102" y="1660321"/>
                  <a:ext cx="1663084" cy="276999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r>
                    <a:rPr lang="en-US" sz="1200" b="1" i="1" dirty="0">
                      <a:solidFill>
                        <a:srgbClr val="FF0000"/>
                      </a:solidFill>
                    </a:rPr>
                    <a:t>KERNEL_HEAP_START</a:t>
                  </a:r>
                  <a:endParaRPr lang="ar-EG" b="1" i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1" name="Straight Arrow Connector 10"/>
                <p:cNvCxnSpPr/>
                <p:nvPr/>
              </p:nvCxnSpPr>
              <p:spPr>
                <a:xfrm>
                  <a:off x="5246187" y="1798821"/>
                  <a:ext cx="936000" cy="1390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" name="TextBox 13"/>
                <p:cNvSpPr txBox="1"/>
                <p:nvPr/>
              </p:nvSpPr>
              <p:spPr>
                <a:xfrm>
                  <a:off x="3707165" y="1323201"/>
                  <a:ext cx="1539204" cy="276999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r>
                    <a:rPr lang="en-US" sz="1200" b="1" i="1" dirty="0">
                      <a:solidFill>
                        <a:srgbClr val="FF0000"/>
                      </a:solidFill>
                    </a:rPr>
                    <a:t>KERNEL_HEAP_MAX</a:t>
                  </a:r>
                  <a:endParaRPr lang="ar-EG" b="1" i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5246187" y="1461701"/>
                  <a:ext cx="936000" cy="1390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" name="Rectangle 27"/>
                <p:cNvSpPr/>
                <p:nvPr/>
              </p:nvSpPr>
              <p:spPr>
                <a:xfrm>
                  <a:off x="6222274" y="1373778"/>
                  <a:ext cx="1224000" cy="7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EG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Rectangle 26"/>
                <p:cNvSpPr/>
                <p:nvPr/>
              </p:nvSpPr>
              <p:spPr>
                <a:xfrm>
                  <a:off x="7543800" y="1676400"/>
                  <a:ext cx="1447800" cy="106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EG"/>
                </a:p>
              </p:txBody>
            </p:sp>
            <p:sp>
              <p:nvSpPr>
                <p:cNvPr id="29" name="Right Brace 28"/>
                <p:cNvSpPr/>
                <p:nvPr/>
              </p:nvSpPr>
              <p:spPr>
                <a:xfrm>
                  <a:off x="7530737" y="1334589"/>
                  <a:ext cx="228600" cy="1440000"/>
                </a:xfrm>
                <a:prstGeom prst="rightBrac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/>
                  <a:endParaRPr lang="ar-EG"/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7696200" y="1902023"/>
                  <a:ext cx="750526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r>
                    <a:rPr lang="en-US" sz="1400"/>
                    <a:t>256 MB</a:t>
                  </a:r>
                  <a:endParaRPr lang="ar-EG" sz="1400"/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7678781" y="1190097"/>
                  <a:ext cx="527709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r>
                    <a:rPr lang="en-US" sz="1400" b="1" dirty="0"/>
                    <a:t>4 GB</a:t>
                  </a:r>
                  <a:endParaRPr lang="ar-EG" sz="1400" b="1" dirty="0"/>
                </a:p>
              </p:txBody>
            </p:sp>
          </p:grpSp>
        </p:grpSp>
        <p:sp>
          <p:nvSpPr>
            <p:cNvPr id="23" name="TextBox 22"/>
            <p:cNvSpPr txBox="1"/>
            <p:nvPr/>
          </p:nvSpPr>
          <p:spPr>
            <a:xfrm>
              <a:off x="4971268" y="3748538"/>
              <a:ext cx="93532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1">
              <a:spAutoFit/>
            </a:bodyPr>
            <a:lstStyle/>
            <a:p>
              <a:r>
                <a:rPr lang="en-US" sz="1200" b="1" i="1" dirty="0"/>
                <a:t>USTACKTOP</a:t>
              </a:r>
              <a:endParaRPr lang="ar-EG" b="1" i="1" dirty="0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5943600" y="3886200"/>
              <a:ext cx="1828800" cy="0"/>
            </a:xfrm>
            <a:prstGeom prst="straightConnector1">
              <a:avLst/>
            </a:prstGeom>
            <a:ln>
              <a:prstDash val="lgDash"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4743010" y="4332012"/>
              <a:ext cx="125284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1">
              <a:spAutoFit/>
            </a:bodyPr>
            <a:lstStyle/>
            <a:p>
              <a:r>
                <a:rPr lang="en-US" sz="1200" b="1" i="1" dirty="0"/>
                <a:t>USTACKBOTTOM</a:t>
              </a:r>
              <a:endParaRPr lang="ar-EG" b="1" i="1" dirty="0"/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>
              <a:off x="5952307" y="4469674"/>
              <a:ext cx="1828800" cy="0"/>
            </a:xfrm>
            <a:prstGeom prst="straightConnector1">
              <a:avLst/>
            </a:prstGeom>
            <a:ln>
              <a:prstDash val="lgDash"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B349135-AD37-14C7-77AE-72E327260801}"/>
              </a:ext>
            </a:extLst>
          </p:cNvPr>
          <p:cNvSpPr txBox="1">
            <a:spLocks/>
          </p:cNvSpPr>
          <p:nvPr/>
        </p:nvSpPr>
        <p:spPr>
          <a:xfrm>
            <a:off x="0" y="-15797"/>
            <a:ext cx="12055514" cy="73946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Kernel Heap – W</a:t>
            </a:r>
            <a:r>
              <a:rPr lang="en-US" dirty="0"/>
              <a:t>hat is new? </a:t>
            </a:r>
            <a:endParaRPr lang="en-US" sz="3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A23A-33CC-A3DB-8404-810776DC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Heap – Allocation Types?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37210-20FF-1A27-8CB3-55F29D83A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12826"/>
          </a:xfrm>
        </p:spPr>
        <p:txBody>
          <a:bodyPr/>
          <a:lstStyle/>
          <a:p>
            <a:r>
              <a:rPr lang="en-US" dirty="0"/>
              <a:t>There’re </a:t>
            </a:r>
            <a:r>
              <a:rPr lang="en-US" b="1" dirty="0"/>
              <a:t>TWO</a:t>
            </a:r>
            <a:r>
              <a:rPr lang="en-US" dirty="0"/>
              <a:t> types of allocator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B050"/>
                </a:solidFill>
              </a:rPr>
              <a:t>Block Allocator</a:t>
            </a:r>
          </a:p>
          <a:p>
            <a:pPr marL="749808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Used to allocate </a:t>
            </a:r>
            <a:r>
              <a:rPr lang="en-US" b="1" dirty="0"/>
              <a:t>small blocks </a:t>
            </a:r>
            <a:r>
              <a:rPr lang="en-US" dirty="0"/>
              <a:t>(with size </a:t>
            </a:r>
            <a:r>
              <a:rPr lang="en-US" b="1" dirty="0"/>
              <a:t>LESS OR EQUAL</a:t>
            </a:r>
            <a:r>
              <a:rPr lang="en-US" dirty="0"/>
              <a:t> 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DYN_ALLOC_MAX_BLOCK_SIZE</a:t>
            </a:r>
            <a:r>
              <a:rPr lang="en-US" dirty="0"/>
              <a:t>)</a:t>
            </a:r>
          </a:p>
          <a:p>
            <a:pPr marL="749808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Buddy System</a:t>
            </a:r>
            <a:r>
              <a:rPr lang="en-US" dirty="0"/>
              <a:t> Functions</a:t>
            </a:r>
          </a:p>
          <a:p>
            <a:pPr marL="749808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Page Allocator </a:t>
            </a:r>
            <a:r>
              <a:rPr lang="en-US" dirty="0"/>
              <a:t>to allocate/free pages of the Buddy System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Page Allocator</a:t>
            </a:r>
          </a:p>
          <a:p>
            <a:pPr marL="749808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Used to allocate </a:t>
            </a:r>
            <a:r>
              <a:rPr lang="en-US" b="1" dirty="0"/>
              <a:t>chunk of pages </a:t>
            </a:r>
            <a:r>
              <a:rPr lang="en-US" dirty="0"/>
              <a:t>(with size &gt; 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DYN_ALLOC_MAX_BLOCK_SIZE</a:t>
            </a:r>
            <a:r>
              <a:rPr lang="en-US" dirty="0"/>
              <a:t>)</a:t>
            </a:r>
          </a:p>
          <a:p>
            <a:pPr marL="749808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AE" dirty="0"/>
              <a:t>Allocation is done on </a:t>
            </a:r>
            <a:r>
              <a:rPr lang="en-AE" b="1" dirty="0"/>
              <a:t>page boundaries </a:t>
            </a:r>
            <a:r>
              <a:rPr lang="en-AE" dirty="0"/>
              <a:t>(i.e. internal fragmentation)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Range of both:</a:t>
            </a:r>
          </a:p>
          <a:p>
            <a:pPr marL="932688" lvl="2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/>
              <a:t>USED</a:t>
            </a:r>
            <a:r>
              <a:rPr lang="en-US" sz="1800" dirty="0"/>
              <a:t> Area: </a:t>
            </a:r>
            <a:r>
              <a:rPr lang="en-US" sz="1800" b="1" dirty="0">
                <a:solidFill>
                  <a:srgbClr val="FF0000"/>
                </a:solidFill>
              </a:rPr>
              <a:t>[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KERNEL_HEAP_START</a:t>
            </a:r>
            <a:r>
              <a:rPr lang="en-US" sz="1800" dirty="0"/>
              <a:t>, PAGE ALLOC BREAK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  <a:r>
              <a:rPr lang="en-US" sz="1800" dirty="0"/>
              <a:t> </a:t>
            </a:r>
          </a:p>
          <a:p>
            <a:pPr marL="932688" lvl="2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/>
              <a:t>UNUSED </a:t>
            </a:r>
            <a:r>
              <a:rPr lang="en-US" sz="1800" dirty="0"/>
              <a:t>Area: </a:t>
            </a:r>
            <a:r>
              <a:rPr lang="en-US" sz="1800" b="1" dirty="0">
                <a:solidFill>
                  <a:srgbClr val="FF0000"/>
                </a:solidFill>
              </a:rPr>
              <a:t>[</a:t>
            </a:r>
            <a:r>
              <a:rPr lang="en-US" sz="1800" dirty="0"/>
              <a:t>PAGE ALLOC BREAK ,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KERNEL_HEAP_MAX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  <a:r>
              <a:rPr lang="en-US" sz="1800" dirty="0"/>
              <a:t> </a:t>
            </a:r>
          </a:p>
          <a:p>
            <a:pPr marL="292608" lvl="1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47E2C-1CFA-5814-6426-11F12FA2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32DC57-01A9-9362-3730-86BCD5DAAE6F}"/>
              </a:ext>
            </a:extLst>
          </p:cNvPr>
          <p:cNvSpPr/>
          <p:nvPr/>
        </p:nvSpPr>
        <p:spPr>
          <a:xfrm>
            <a:off x="10963275" y="2294714"/>
            <a:ext cx="1123950" cy="3553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KERNEL HEAP</a:t>
            </a:r>
            <a:endParaRPr lang="en-AE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88D0AA-A250-919D-5277-6C078D12A3DE}"/>
              </a:ext>
            </a:extLst>
          </p:cNvPr>
          <p:cNvSpPr/>
          <p:nvPr/>
        </p:nvSpPr>
        <p:spPr>
          <a:xfrm>
            <a:off x="10963275" y="5835756"/>
            <a:ext cx="1123950" cy="295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  <a:endParaRPr lang="en-A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9C5491-8D84-8122-0F44-0B7C0E38CDD4}"/>
              </a:ext>
            </a:extLst>
          </p:cNvPr>
          <p:cNvSpPr/>
          <p:nvPr/>
        </p:nvSpPr>
        <p:spPr>
          <a:xfrm>
            <a:off x="10963275" y="2012033"/>
            <a:ext cx="1123950" cy="295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  <a:endParaRPr lang="en-AE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D76F5E-B517-E0F0-DD10-391E3147F830}"/>
              </a:ext>
            </a:extLst>
          </p:cNvPr>
          <p:cNvGrpSpPr/>
          <p:nvPr/>
        </p:nvGrpSpPr>
        <p:grpSpPr>
          <a:xfrm>
            <a:off x="8872279" y="5658792"/>
            <a:ext cx="2090994" cy="307777"/>
            <a:chOff x="8872279" y="5658792"/>
            <a:chExt cx="2090994" cy="30777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39C1B58-C803-8345-16F5-BEA3D195F514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2F686F-BCD4-406C-C04C-A0040BEEB999}"/>
                </a:ext>
              </a:extLst>
            </p:cNvPr>
            <p:cNvSpPr txBox="1"/>
            <p:nvPr/>
          </p:nvSpPr>
          <p:spPr>
            <a:xfrm>
              <a:off x="8872279" y="5658792"/>
              <a:ext cx="1811714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KERNEL_HEAP_START</a:t>
              </a:r>
              <a:endParaRPr kumimoji="0" lang="ar-EG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AEF9564-3BBD-2623-CC71-076C44CC77D6}"/>
              </a:ext>
            </a:extLst>
          </p:cNvPr>
          <p:cNvGrpSpPr/>
          <p:nvPr/>
        </p:nvGrpSpPr>
        <p:grpSpPr>
          <a:xfrm>
            <a:off x="8924404" y="2142425"/>
            <a:ext cx="2024319" cy="307777"/>
            <a:chOff x="8938954" y="5658792"/>
            <a:chExt cx="2024319" cy="30777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C78CBC6-A185-4CFF-98C4-E5412AAF5B45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48AFD3E-EECB-C770-9528-3B53CA4CEF9E}"/>
                </a:ext>
              </a:extLst>
            </p:cNvPr>
            <p:cNvSpPr txBox="1"/>
            <p:nvPr/>
          </p:nvSpPr>
          <p:spPr>
            <a:xfrm>
              <a:off x="8938954" y="5658792"/>
              <a:ext cx="1705916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KERNEL_HEAP_MAX</a:t>
              </a:r>
              <a:endParaRPr kumimoji="0" lang="ar-EG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EEF14367-E040-AA38-4769-758BD1B902D0}"/>
              </a:ext>
            </a:extLst>
          </p:cNvPr>
          <p:cNvSpPr/>
          <p:nvPr/>
        </p:nvSpPr>
        <p:spPr>
          <a:xfrm>
            <a:off x="10959117" y="3661064"/>
            <a:ext cx="1123949" cy="21614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 dirty="0"/>
              <a:t>USED</a:t>
            </a:r>
            <a:endParaRPr lang="en-AE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DCF867-6CB6-84EE-D95B-E1F44EC3E5FA}"/>
              </a:ext>
            </a:extLst>
          </p:cNvPr>
          <p:cNvSpPr/>
          <p:nvPr/>
        </p:nvSpPr>
        <p:spPr>
          <a:xfrm>
            <a:off x="10959116" y="2283639"/>
            <a:ext cx="1123949" cy="1370679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 dirty="0"/>
              <a:t>UNUSED</a:t>
            </a:r>
            <a:endParaRPr lang="en-AE" b="1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0A5859-C916-6F6E-A270-72E42A432C5B}"/>
              </a:ext>
            </a:extLst>
          </p:cNvPr>
          <p:cNvGrpSpPr/>
          <p:nvPr/>
        </p:nvGrpSpPr>
        <p:grpSpPr>
          <a:xfrm>
            <a:off x="9116347" y="3525215"/>
            <a:ext cx="1857314" cy="307777"/>
            <a:chOff x="9105959" y="5658792"/>
            <a:chExt cx="1857314" cy="30777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DB5D131-90B6-EB99-0B0D-8947D8DAD167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E4F104-564D-9CC9-B862-05276C0F7588}"/>
                </a:ext>
              </a:extLst>
            </p:cNvPr>
            <p:cNvSpPr txBox="1"/>
            <p:nvPr/>
          </p:nvSpPr>
          <p:spPr>
            <a:xfrm>
              <a:off x="9105959" y="5658792"/>
              <a:ext cx="1491114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Page </a:t>
              </a:r>
              <a:r>
                <a:rPr kumimoji="0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Alloc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 BREAK</a:t>
              </a:r>
              <a:endParaRPr kumimoji="0" lang="ar-EG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11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A23A-33CC-A3DB-8404-810776DC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Heap – </a:t>
            </a:r>
            <a:r>
              <a:rPr lang="en-US" b="1" dirty="0">
                <a:solidFill>
                  <a:srgbClr val="00B050"/>
                </a:solidFill>
              </a:rPr>
              <a:t>Block Allocator</a:t>
            </a:r>
            <a:r>
              <a:rPr lang="en-US" dirty="0"/>
              <a:t>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37210-20FF-1A27-8CB3-55F29D83A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058401" cy="4473785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Buddy System </a:t>
            </a:r>
            <a:r>
              <a:rPr lang="en-US" dirty="0"/>
              <a:t>with its data structure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lists </a:t>
            </a:r>
            <a:r>
              <a:rPr lang="en-US" dirty="0"/>
              <a:t>of the Buddy System are </a:t>
            </a:r>
            <a:r>
              <a:rPr lang="en-US" b="1" dirty="0"/>
              <a:t>already initialized</a:t>
            </a:r>
            <a:r>
              <a:rPr lang="en-US" dirty="0"/>
              <a:t> inside </a:t>
            </a:r>
            <a:r>
              <a:rPr lang="en-US" b="1" dirty="0" err="1">
                <a:latin typeface="Consolas" panose="020B0609020204030204" pitchFamily="49" charset="0"/>
              </a:rPr>
              <a:t>buddy_init</a:t>
            </a:r>
            <a:r>
              <a:rPr lang="en-US" b="1" dirty="0">
                <a:latin typeface="Consolas" panose="020B0609020204030204" pitchFamily="49" charset="0"/>
              </a:rPr>
              <a:t>()</a:t>
            </a:r>
            <a:r>
              <a:rPr lang="en-US" dirty="0"/>
              <a:t> which is called inside: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kheap_init</a:t>
            </a:r>
            <a:r>
              <a:rPr lang="en-US" sz="18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rgbClr val="535353"/>
                </a:solidFill>
                <a:latin typeface="Consolas" panose="020B0609020204030204" pitchFamily="49" charset="0"/>
              </a:rPr>
              <a:t>…</a:t>
            </a:r>
            <a:r>
              <a:rPr lang="en-US" sz="18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defined in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kern/mem/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kheap.c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n-US" dirty="0"/>
              <a:t>	This function, in turn, is </a:t>
            </a:r>
            <a:r>
              <a:rPr lang="en-US" b="1" dirty="0"/>
              <a:t>already called </a:t>
            </a:r>
            <a:r>
              <a:rPr lang="en-US" dirty="0"/>
              <a:t>in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FOS_initialize</a:t>
            </a:r>
            <a:r>
              <a:rPr lang="en-US" dirty="0"/>
              <a:t>() in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init.c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dirty="0"/>
              <a:t>Use </a:t>
            </a:r>
            <a:r>
              <a:rPr lang="en-US" b="1" dirty="0"/>
              <a:t>Page Allocator </a:t>
            </a:r>
            <a:r>
              <a:rPr lang="en-US" dirty="0"/>
              <a:t>to allocate/free pages of the Buddy System</a:t>
            </a:r>
          </a:p>
          <a:p>
            <a:pPr algn="ctr"/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create_buddy_space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()</a:t>
            </a:r>
            <a:r>
              <a:rPr lang="en-US" b="1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  <a:p>
            <a:pPr algn="ctr"/>
            <a:r>
              <a:rPr lang="it-IT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it-IT" b="1" dirty="0">
                <a:solidFill>
                  <a:srgbClr val="000000"/>
                </a:solidFill>
                <a:latin typeface="Consolas" panose="020B0609020204030204" pitchFamily="49" charset="0"/>
              </a:rPr>
              <a:t>delete_buddy_space</a:t>
            </a:r>
            <a:r>
              <a:rPr lang="it-IT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it-IT" b="1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it-IT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it-IT" b="1" dirty="0">
                <a:solidFill>
                  <a:srgbClr val="000000"/>
                </a:solidFill>
                <a:latin typeface="Consolas" panose="020B0609020204030204" pitchFamily="49" charset="0"/>
              </a:rPr>
              <a:t>va</a:t>
            </a:r>
            <a:r>
              <a:rPr lang="it-IT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r>
              <a:rPr lang="it-IT" b="1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endParaRPr lang="en-US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endParaRPr lang="en-US" dirty="0"/>
          </a:p>
          <a:p>
            <a:pPr marL="292608" lvl="1" indent="0">
              <a:lnSpc>
                <a:spcPct val="150000"/>
              </a:lnSpc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47E2C-1CFA-5814-6426-11F12FA2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3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A23A-33CC-A3DB-8404-810776DC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Heap – </a:t>
            </a:r>
            <a:r>
              <a:rPr lang="en-US" b="1" dirty="0">
                <a:solidFill>
                  <a:srgbClr val="FF0000"/>
                </a:solidFill>
              </a:rPr>
              <a:t>Page Allocator</a:t>
            </a:r>
            <a:r>
              <a:rPr lang="en-US" dirty="0"/>
              <a:t>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37210-20FF-1A27-8CB3-55F29D83A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63626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AE" dirty="0"/>
              <a:t>Allocation is done on </a:t>
            </a:r>
            <a:r>
              <a:rPr lang="en-AE" b="1" dirty="0"/>
              <a:t>page boundaries (</a:t>
            </a:r>
            <a:r>
              <a:rPr lang="en-AE" dirty="0"/>
              <a:t>multiple of 4KB</a:t>
            </a:r>
            <a:r>
              <a:rPr lang="en-AE" b="1" dirty="0"/>
              <a:t>)</a:t>
            </a:r>
          </a:p>
          <a:p>
            <a:pPr marL="749808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AE" sz="2000" dirty="0"/>
              <a:t>i.e. </a:t>
            </a:r>
            <a:r>
              <a:rPr lang="en-AE" sz="2000" b="1" dirty="0"/>
              <a:t>internal fragmentation </a:t>
            </a:r>
            <a:r>
              <a:rPr lang="en-AE" sz="2000" dirty="0"/>
              <a:t>can occur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ALL</a:t>
            </a:r>
            <a:r>
              <a:rPr lang="en-US" dirty="0"/>
              <a:t> required pages should be </a:t>
            </a:r>
            <a:r>
              <a:rPr lang="en-US" b="1" dirty="0"/>
              <a:t>allocated </a:t>
            </a:r>
            <a:r>
              <a:rPr lang="en-US" dirty="0"/>
              <a:t>&amp; </a:t>
            </a:r>
            <a:r>
              <a:rPr lang="en-US" b="1" dirty="0"/>
              <a:t>mapped </a:t>
            </a:r>
            <a:r>
              <a:rPr lang="en-US" dirty="0"/>
              <a:t>by OS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Allocation Strategy: </a:t>
            </a:r>
            <a:r>
              <a:rPr lang="en-US" b="1" dirty="0"/>
              <a:t>CUSTOM FIT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292608" lvl="1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47E2C-1CFA-5814-6426-11F12FA2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32DC57-01A9-9362-3730-86BCD5DAAE6F}"/>
              </a:ext>
            </a:extLst>
          </p:cNvPr>
          <p:cNvSpPr/>
          <p:nvPr/>
        </p:nvSpPr>
        <p:spPr>
          <a:xfrm>
            <a:off x="10963275" y="2294714"/>
            <a:ext cx="1123950" cy="3553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KERNEL HEAP</a:t>
            </a:r>
            <a:endParaRPr lang="en-AE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88D0AA-A250-919D-5277-6C078D12A3DE}"/>
              </a:ext>
            </a:extLst>
          </p:cNvPr>
          <p:cNvSpPr/>
          <p:nvPr/>
        </p:nvSpPr>
        <p:spPr>
          <a:xfrm>
            <a:off x="10963275" y="5835756"/>
            <a:ext cx="1123950" cy="295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  <a:endParaRPr lang="en-A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9C5491-8D84-8122-0F44-0B7C0E38CDD4}"/>
              </a:ext>
            </a:extLst>
          </p:cNvPr>
          <p:cNvSpPr/>
          <p:nvPr/>
        </p:nvSpPr>
        <p:spPr>
          <a:xfrm>
            <a:off x="10963275" y="2012033"/>
            <a:ext cx="1123950" cy="295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  <a:endParaRPr lang="en-AE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D76F5E-B517-E0F0-DD10-391E3147F830}"/>
              </a:ext>
            </a:extLst>
          </p:cNvPr>
          <p:cNvGrpSpPr/>
          <p:nvPr/>
        </p:nvGrpSpPr>
        <p:grpSpPr>
          <a:xfrm>
            <a:off x="8872279" y="5658792"/>
            <a:ext cx="2090994" cy="307777"/>
            <a:chOff x="8872279" y="5658792"/>
            <a:chExt cx="2090994" cy="30777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39C1B58-C803-8345-16F5-BEA3D195F514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2F686F-BCD4-406C-C04C-A0040BEEB999}"/>
                </a:ext>
              </a:extLst>
            </p:cNvPr>
            <p:cNvSpPr txBox="1"/>
            <p:nvPr/>
          </p:nvSpPr>
          <p:spPr>
            <a:xfrm>
              <a:off x="8872279" y="5658792"/>
              <a:ext cx="1811714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KERNEL_HEAP_START</a:t>
              </a:r>
              <a:endParaRPr kumimoji="0" lang="ar-EG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AEF9564-3BBD-2623-CC71-076C44CC77D6}"/>
              </a:ext>
            </a:extLst>
          </p:cNvPr>
          <p:cNvGrpSpPr/>
          <p:nvPr/>
        </p:nvGrpSpPr>
        <p:grpSpPr>
          <a:xfrm>
            <a:off x="8924404" y="2142425"/>
            <a:ext cx="2024319" cy="307777"/>
            <a:chOff x="8938954" y="5658792"/>
            <a:chExt cx="2024319" cy="30777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C78CBC6-A185-4CFF-98C4-E5412AAF5B45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48AFD3E-EECB-C770-9528-3B53CA4CEF9E}"/>
                </a:ext>
              </a:extLst>
            </p:cNvPr>
            <p:cNvSpPr txBox="1"/>
            <p:nvPr/>
          </p:nvSpPr>
          <p:spPr>
            <a:xfrm>
              <a:off x="8938954" y="5658792"/>
              <a:ext cx="1705916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KERNEL_HEAP_MAX</a:t>
              </a:r>
              <a:endParaRPr kumimoji="0" lang="ar-EG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787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FD2DC-80F1-0805-20EF-8CE14583D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0BE7-FA14-A695-9043-00289112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Heap – </a:t>
            </a:r>
            <a:r>
              <a:rPr lang="en-US" b="1" dirty="0">
                <a:solidFill>
                  <a:srgbClr val="FF0000"/>
                </a:solidFill>
              </a:rPr>
              <a:t>Page Allocator</a:t>
            </a:r>
            <a:r>
              <a:rPr lang="en-US" dirty="0"/>
              <a:t>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6425E-F442-EE5C-A514-496DAA2E0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955744" cy="4463626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Has 2 limits defined in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kern/mem/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kheap.h</a:t>
            </a:r>
            <a:r>
              <a:rPr lang="en-US" dirty="0"/>
              <a:t>:</a:t>
            </a:r>
          </a:p>
          <a:p>
            <a:pPr marL="74980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kheapPageAllocStart</a:t>
            </a:r>
            <a:r>
              <a:rPr lang="en-US" dirty="0"/>
              <a:t>: begin of the kernel heap</a:t>
            </a:r>
          </a:p>
          <a:p>
            <a:pPr marL="74980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kheapPageAllocBreak</a:t>
            </a:r>
            <a:r>
              <a:rPr lang="en-US" dirty="0"/>
              <a:t>: </a:t>
            </a:r>
            <a:r>
              <a:rPr lang="en-US" altLang="en-US" dirty="0"/>
              <a:t>end of currently used area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dirty="0"/>
              <a:t>malloc/free can move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kheapPageAllocBreak</a:t>
            </a:r>
            <a:r>
              <a:rPr lang="en-US" dirty="0"/>
              <a:t> </a:t>
            </a:r>
            <a:r>
              <a:rPr lang="en-US" altLang="en-US" dirty="0"/>
              <a:t>up/down</a:t>
            </a:r>
          </a:p>
          <a:p>
            <a:pPr marL="749808" lvl="1" indent="-4572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B2C96-28EE-48AA-5716-645672FD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A9AB24-8BF6-DCCA-730E-41C268FE6C27}"/>
              </a:ext>
            </a:extLst>
          </p:cNvPr>
          <p:cNvSpPr/>
          <p:nvPr/>
        </p:nvSpPr>
        <p:spPr>
          <a:xfrm>
            <a:off x="10963275" y="2294714"/>
            <a:ext cx="1123950" cy="3553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KERNEL HEAP</a:t>
            </a:r>
            <a:endParaRPr lang="en-AE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C04A13-BFA9-8531-F638-45C2DF812653}"/>
              </a:ext>
            </a:extLst>
          </p:cNvPr>
          <p:cNvSpPr/>
          <p:nvPr/>
        </p:nvSpPr>
        <p:spPr>
          <a:xfrm>
            <a:off x="10963275" y="5835756"/>
            <a:ext cx="1123950" cy="295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  <a:endParaRPr lang="en-A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4D7719-1FFF-75E6-31EB-48F09F286CDD}"/>
              </a:ext>
            </a:extLst>
          </p:cNvPr>
          <p:cNvSpPr/>
          <p:nvPr/>
        </p:nvSpPr>
        <p:spPr>
          <a:xfrm>
            <a:off x="10963275" y="2012033"/>
            <a:ext cx="1123950" cy="295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  <a:endParaRPr lang="en-AE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10A34F-FB42-78AF-28DC-DC45A916BBC4}"/>
              </a:ext>
            </a:extLst>
          </p:cNvPr>
          <p:cNvGrpSpPr/>
          <p:nvPr/>
        </p:nvGrpSpPr>
        <p:grpSpPr>
          <a:xfrm>
            <a:off x="8866038" y="5716013"/>
            <a:ext cx="2090994" cy="307777"/>
            <a:chOff x="8872279" y="5658792"/>
            <a:chExt cx="2090994" cy="30777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CA3D319-160F-6CF9-5598-9C73955B34BE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0C6358-81A0-9DCA-6C9F-D166155639BC}"/>
                </a:ext>
              </a:extLst>
            </p:cNvPr>
            <p:cNvSpPr txBox="1"/>
            <p:nvPr/>
          </p:nvSpPr>
          <p:spPr>
            <a:xfrm>
              <a:off x="8872279" y="5658792"/>
              <a:ext cx="1811714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KERNEL_HEAP_START</a:t>
              </a:r>
              <a:endParaRPr kumimoji="0" lang="ar-EG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07EBB30-888B-45FC-345A-CEF3B877D297}"/>
              </a:ext>
            </a:extLst>
          </p:cNvPr>
          <p:cNvGrpSpPr/>
          <p:nvPr/>
        </p:nvGrpSpPr>
        <p:grpSpPr>
          <a:xfrm>
            <a:off x="8924404" y="2142425"/>
            <a:ext cx="2024319" cy="307777"/>
            <a:chOff x="8938954" y="5658792"/>
            <a:chExt cx="2024319" cy="30777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80308EC-664B-D741-7E35-2EB9489724E5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501FAE-2B04-AABF-0F70-C9DCA5E7C689}"/>
                </a:ext>
              </a:extLst>
            </p:cNvPr>
            <p:cNvSpPr txBox="1"/>
            <p:nvPr/>
          </p:nvSpPr>
          <p:spPr>
            <a:xfrm>
              <a:off x="8938954" y="5658792"/>
              <a:ext cx="1705916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KERNEL_HEAP_MAX</a:t>
              </a:r>
              <a:endParaRPr kumimoji="0" lang="ar-EG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1337801-A96C-8A28-7CE2-262E6059DF0B}"/>
              </a:ext>
            </a:extLst>
          </p:cNvPr>
          <p:cNvSpPr txBox="1"/>
          <p:nvPr/>
        </p:nvSpPr>
        <p:spPr>
          <a:xfrm>
            <a:off x="8290958" y="5685236"/>
            <a:ext cx="2386795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kheapPageAllocStart</a:t>
            </a:r>
            <a:endParaRPr lang="en-AE" sz="1600" b="1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56DE29-802D-EA4E-928E-70DD6ECCB8D8}"/>
              </a:ext>
            </a:extLst>
          </p:cNvPr>
          <p:cNvSpPr/>
          <p:nvPr/>
        </p:nvSpPr>
        <p:spPr>
          <a:xfrm>
            <a:off x="10959117" y="3661064"/>
            <a:ext cx="1123949" cy="217469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 dirty="0"/>
              <a:t>USED</a:t>
            </a:r>
            <a:endParaRPr lang="en-AE" b="1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1B5946F-ADF8-96F2-B752-91574A68A241}"/>
              </a:ext>
            </a:extLst>
          </p:cNvPr>
          <p:cNvGrpSpPr/>
          <p:nvPr/>
        </p:nvGrpSpPr>
        <p:grpSpPr>
          <a:xfrm>
            <a:off x="8371427" y="3485041"/>
            <a:ext cx="2602234" cy="347951"/>
            <a:chOff x="8371427" y="3485041"/>
            <a:chExt cx="2602234" cy="34795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AB58FF-8DAC-D20D-D851-51DD5FB5A0DB}"/>
                </a:ext>
              </a:extLst>
            </p:cNvPr>
            <p:cNvGrpSpPr/>
            <p:nvPr/>
          </p:nvGrpSpPr>
          <p:grpSpPr>
            <a:xfrm>
              <a:off x="9116347" y="3525215"/>
              <a:ext cx="1857314" cy="307777"/>
              <a:chOff x="9105959" y="5658792"/>
              <a:chExt cx="1857314" cy="307777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866440B1-A093-824D-79D1-41DC9CB0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82273" y="5822527"/>
                <a:ext cx="381000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FCE4FB-0AC8-C746-ABF8-4ED7E8EE8498}"/>
                  </a:ext>
                </a:extLst>
              </p:cNvPr>
              <p:cNvSpPr txBox="1"/>
              <p:nvPr/>
            </p:nvSpPr>
            <p:spPr>
              <a:xfrm>
                <a:off x="9105959" y="5658792"/>
                <a:ext cx="1491114" cy="307777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rPr>
                  <a:t>Page </a:t>
                </a:r>
                <a:r>
                  <a:rPr kumimoji="0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rPr>
                  <a:t>Alloc</a:t>
                </a: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rPr>
                  <a:t> BREAK</a:t>
                </a:r>
                <a:endParaRPr kumimoji="0" lang="ar-EG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E295E1-8963-D53F-C11E-A2896D261EEC}"/>
                </a:ext>
              </a:extLst>
            </p:cNvPr>
            <p:cNvSpPr txBox="1"/>
            <p:nvPr/>
          </p:nvSpPr>
          <p:spPr>
            <a:xfrm>
              <a:off x="8371427" y="3485041"/>
              <a:ext cx="238679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kheapPageAllocBreak</a:t>
              </a:r>
              <a:endParaRPr lang="en-AE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ADF9862-73A2-8F17-0197-8FA005E84295}"/>
              </a:ext>
            </a:extLst>
          </p:cNvPr>
          <p:cNvSpPr/>
          <p:nvPr/>
        </p:nvSpPr>
        <p:spPr>
          <a:xfrm>
            <a:off x="10970691" y="2283639"/>
            <a:ext cx="1123949" cy="1370679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 dirty="0"/>
              <a:t>UNUSED</a:t>
            </a:r>
            <a:endParaRPr lang="en-AE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8B85A5-9CAD-8C0A-D300-2F626B464B75}"/>
              </a:ext>
            </a:extLst>
          </p:cNvPr>
          <p:cNvSpPr/>
          <p:nvPr/>
        </p:nvSpPr>
        <p:spPr>
          <a:xfrm>
            <a:off x="10969282" y="3346693"/>
            <a:ext cx="1123949" cy="249153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 dirty="0"/>
              <a:t>USED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178870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3.33333E-6 L -0.00091 -0.04745 " pathEditMode="relative" rAng="0" ptsTypes="AA">
                                      <p:cBhvr>
                                        <p:cTn id="26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2384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9" grpId="0" animBg="1"/>
      <p:bldP spid="3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86232" y="831744"/>
            <a:ext cx="8229600" cy="1295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 err="1"/>
              <a:t>kmalloc</a:t>
            </a:r>
            <a:r>
              <a:rPr lang="en-US" sz="3200" b="1" dirty="0"/>
              <a:t>(): </a:t>
            </a:r>
            <a:r>
              <a:rPr lang="en-US" sz="3200" dirty="0"/>
              <a:t>dynamically allocate space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 err="1"/>
              <a:t>kfree</a:t>
            </a:r>
            <a:r>
              <a:rPr lang="en-US" sz="3200" b="1" dirty="0"/>
              <a:t>(): </a:t>
            </a:r>
            <a:r>
              <a:rPr lang="en-US" sz="3200" dirty="0"/>
              <a:t>delete a previously allocated space</a:t>
            </a:r>
          </a:p>
        </p:txBody>
      </p:sp>
      <p:sp>
        <p:nvSpPr>
          <p:cNvPr id="8" name="Text Box 818"/>
          <p:cNvSpPr txBox="1">
            <a:spLocks noChangeArrowheads="1"/>
          </p:cNvSpPr>
          <p:nvPr/>
        </p:nvSpPr>
        <p:spPr bwMode="auto">
          <a:xfrm>
            <a:off x="4109978" y="2388041"/>
            <a:ext cx="3406775" cy="884491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</a:pPr>
            <a:r>
              <a:rPr lang="en-US" sz="2800" b="1" err="1">
                <a:latin typeface="Calibri" pitchFamily="34" charset="0"/>
                <a:ea typeface="Arial" pitchFamily="34" charset="0"/>
                <a:cs typeface="Arial" pitchFamily="34" charset="0"/>
              </a:rPr>
              <a:t>Kfree</a:t>
            </a:r>
            <a:r>
              <a:rPr lang="en-US" sz="2800" b="1">
                <a:latin typeface="Calibri" pitchFamily="34" charset="0"/>
                <a:ea typeface="Arial" pitchFamily="34" charset="0"/>
                <a:cs typeface="Arial" pitchFamily="34" charset="0"/>
              </a:rPr>
              <a:t>()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latin typeface="Calibri" pitchFamily="34" charset="0"/>
                <a:ea typeface="Arial" pitchFamily="34" charset="0"/>
                <a:cs typeface="Arial" pitchFamily="34" charset="0"/>
              </a:rPr>
              <a:t>Remove ALL Pages BUT </a:t>
            </a:r>
            <a:r>
              <a:rPr lang="en-US" b="1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NOT</a:t>
            </a:r>
            <a:r>
              <a:rPr lang="en-US" b="1">
                <a:latin typeface="Calibri" pitchFamily="34" charset="0"/>
                <a:ea typeface="Arial" pitchFamily="34" charset="0"/>
                <a:cs typeface="Arial" pitchFamily="34" charset="0"/>
              </a:rPr>
              <a:t> Tables </a:t>
            </a:r>
            <a:endParaRPr lang="en-US" sz="440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29051" name="Group 27"/>
          <p:cNvGrpSpPr>
            <a:grpSpLocks/>
          </p:cNvGrpSpPr>
          <p:nvPr/>
        </p:nvGrpSpPr>
        <p:grpSpPr bwMode="auto">
          <a:xfrm>
            <a:off x="4185715" y="3338199"/>
            <a:ext cx="1133210" cy="2555762"/>
            <a:chOff x="4775" y="2975"/>
            <a:chExt cx="1109" cy="1481"/>
          </a:xfrm>
        </p:grpSpPr>
        <p:sp>
          <p:nvSpPr>
            <p:cNvPr id="11" name="Text Box 28"/>
            <p:cNvSpPr txBox="1">
              <a:spLocks noChangeArrowheads="1"/>
            </p:cNvSpPr>
            <p:nvPr/>
          </p:nvSpPr>
          <p:spPr bwMode="auto">
            <a:xfrm>
              <a:off x="4775" y="2975"/>
              <a:ext cx="1109" cy="148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9053" name="Rectangle 30"/>
            <p:cNvSpPr>
              <a:spLocks noChangeArrowheads="1"/>
            </p:cNvSpPr>
            <p:nvPr/>
          </p:nvSpPr>
          <p:spPr bwMode="auto">
            <a:xfrm>
              <a:off x="4786" y="3003"/>
              <a:ext cx="1080" cy="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400" b="1">
                  <a:solidFill>
                    <a:srgbClr val="244061"/>
                  </a:solidFill>
                  <a:latin typeface="Calibri" pitchFamily="34" charset="0"/>
                  <a:ea typeface="Arial" pitchFamily="34" charset="0"/>
                  <a:cs typeface="Arial" pitchFamily="34" charset="0"/>
                </a:rPr>
                <a:t>KERNEL HEAP</a:t>
              </a:r>
            </a:p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29054" name="Group 30"/>
          <p:cNvGrpSpPr>
            <a:grpSpLocks/>
          </p:cNvGrpSpPr>
          <p:nvPr/>
        </p:nvGrpSpPr>
        <p:grpSpPr bwMode="auto">
          <a:xfrm>
            <a:off x="4201434" y="5308065"/>
            <a:ext cx="1098914" cy="610149"/>
            <a:chOff x="7514" y="4000"/>
            <a:chExt cx="722" cy="586"/>
          </a:xfrm>
        </p:grpSpPr>
        <p:sp>
          <p:nvSpPr>
            <p:cNvPr id="129055" name="Rectangle 814"/>
            <p:cNvSpPr>
              <a:spLocks noChangeArrowheads="1"/>
            </p:cNvSpPr>
            <p:nvPr/>
          </p:nvSpPr>
          <p:spPr bwMode="auto">
            <a:xfrm>
              <a:off x="7517" y="4182"/>
              <a:ext cx="719" cy="200"/>
            </a:xfrm>
            <a:prstGeom prst="rect">
              <a:avLst/>
            </a:prstGeom>
            <a:gradFill rotWithShape="1">
              <a:gsLst>
                <a:gs pos="0">
                  <a:srgbClr val="00B0F0"/>
                </a:gs>
                <a:gs pos="100000">
                  <a:srgbClr val="00B0F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056" name="Rectangle 816"/>
            <p:cNvSpPr>
              <a:spLocks noChangeArrowheads="1"/>
            </p:cNvSpPr>
            <p:nvPr/>
          </p:nvSpPr>
          <p:spPr bwMode="auto">
            <a:xfrm>
              <a:off x="7517" y="4000"/>
              <a:ext cx="719" cy="201"/>
            </a:xfrm>
            <a:prstGeom prst="rect">
              <a:avLst/>
            </a:prstGeom>
            <a:gradFill rotWithShape="1">
              <a:gsLst>
                <a:gs pos="0">
                  <a:srgbClr val="00B0F0"/>
                </a:gs>
                <a:gs pos="100000">
                  <a:srgbClr val="00B0F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057" name="Rectangle 814"/>
            <p:cNvSpPr>
              <a:spLocks noChangeArrowheads="1"/>
            </p:cNvSpPr>
            <p:nvPr/>
          </p:nvSpPr>
          <p:spPr bwMode="auto">
            <a:xfrm>
              <a:off x="7514" y="4386"/>
              <a:ext cx="719" cy="200"/>
            </a:xfrm>
            <a:prstGeom prst="rect">
              <a:avLst/>
            </a:prstGeom>
            <a:gradFill rotWithShape="1">
              <a:gsLst>
                <a:gs pos="0">
                  <a:srgbClr val="00B0F0"/>
                </a:gs>
                <a:gs pos="100000">
                  <a:srgbClr val="00B0F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9058" name="Group 34"/>
          <p:cNvGrpSpPr>
            <a:grpSpLocks/>
          </p:cNvGrpSpPr>
          <p:nvPr/>
        </p:nvGrpSpPr>
        <p:grpSpPr bwMode="auto">
          <a:xfrm>
            <a:off x="4200005" y="4886807"/>
            <a:ext cx="1098914" cy="421258"/>
            <a:chOff x="7548" y="3452"/>
            <a:chExt cx="769" cy="281"/>
          </a:xfrm>
        </p:grpSpPr>
        <p:sp>
          <p:nvSpPr>
            <p:cNvPr id="129059" name="Rectangle 814"/>
            <p:cNvSpPr>
              <a:spLocks noChangeArrowheads="1"/>
            </p:cNvSpPr>
            <p:nvPr/>
          </p:nvSpPr>
          <p:spPr bwMode="auto">
            <a:xfrm>
              <a:off x="7551" y="3452"/>
              <a:ext cx="766" cy="139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0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060" name="Rectangle 814"/>
            <p:cNvSpPr>
              <a:spLocks noChangeArrowheads="1"/>
            </p:cNvSpPr>
            <p:nvPr/>
          </p:nvSpPr>
          <p:spPr bwMode="auto">
            <a:xfrm>
              <a:off x="7548" y="3594"/>
              <a:ext cx="766" cy="139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0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9061" name="Group 37"/>
          <p:cNvGrpSpPr>
            <a:grpSpLocks/>
          </p:cNvGrpSpPr>
          <p:nvPr/>
        </p:nvGrpSpPr>
        <p:grpSpPr bwMode="auto">
          <a:xfrm>
            <a:off x="6300659" y="3314213"/>
            <a:ext cx="1133210" cy="2595007"/>
            <a:chOff x="4775" y="2975"/>
            <a:chExt cx="1109" cy="1731"/>
          </a:xfrm>
        </p:grpSpPr>
        <p:sp>
          <p:nvSpPr>
            <p:cNvPr id="10" name="Text Box 28"/>
            <p:cNvSpPr txBox="1">
              <a:spLocks noChangeArrowheads="1"/>
            </p:cNvSpPr>
            <p:nvPr/>
          </p:nvSpPr>
          <p:spPr bwMode="auto">
            <a:xfrm>
              <a:off x="4775" y="2975"/>
              <a:ext cx="1109" cy="173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9063" name="Rectangle 30"/>
            <p:cNvSpPr>
              <a:spLocks noChangeArrowheads="1"/>
            </p:cNvSpPr>
            <p:nvPr/>
          </p:nvSpPr>
          <p:spPr bwMode="auto">
            <a:xfrm>
              <a:off x="4786" y="3003"/>
              <a:ext cx="1080" cy="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</a:pPr>
              <a:r>
                <a:rPr lang="en-US" sz="1600" b="1">
                  <a:solidFill>
                    <a:srgbClr val="244061"/>
                  </a:solidFill>
                  <a:latin typeface="Calibri" pitchFamily="34" charset="0"/>
                  <a:ea typeface="Arial" pitchFamily="34" charset="0"/>
                  <a:cs typeface="Arial" pitchFamily="34" charset="0"/>
                </a:rPr>
                <a:t>RAM </a:t>
              </a:r>
            </a:p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6300659" y="3823919"/>
            <a:ext cx="1110346" cy="2070308"/>
            <a:chOff x="4857682" y="4636279"/>
            <a:chExt cx="1110346" cy="2070308"/>
          </a:xfrm>
        </p:grpSpPr>
        <p:sp>
          <p:nvSpPr>
            <p:cNvPr id="129064" name="Rectangle 814"/>
            <p:cNvSpPr>
              <a:spLocks noChangeArrowheads="1"/>
            </p:cNvSpPr>
            <p:nvPr/>
          </p:nvSpPr>
          <p:spPr bwMode="auto">
            <a:xfrm>
              <a:off x="4863398" y="4636279"/>
              <a:ext cx="1094627" cy="208380"/>
            </a:xfrm>
            <a:prstGeom prst="rect">
              <a:avLst/>
            </a:prstGeom>
            <a:gradFill rotWithShape="1">
              <a:gsLst>
                <a:gs pos="0">
                  <a:srgbClr val="00B0F0"/>
                </a:gs>
                <a:gs pos="100000">
                  <a:srgbClr val="00B0F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065" name="Rectangle 816"/>
            <p:cNvSpPr>
              <a:spLocks noChangeArrowheads="1"/>
            </p:cNvSpPr>
            <p:nvPr/>
          </p:nvSpPr>
          <p:spPr bwMode="auto">
            <a:xfrm>
              <a:off x="4857682" y="5520770"/>
              <a:ext cx="1094627" cy="209879"/>
            </a:xfrm>
            <a:prstGeom prst="rect">
              <a:avLst/>
            </a:prstGeom>
            <a:gradFill rotWithShape="1">
              <a:gsLst>
                <a:gs pos="0">
                  <a:srgbClr val="00B0F0"/>
                </a:gs>
                <a:gs pos="100000">
                  <a:srgbClr val="00B0F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066" name="Rectangle 814"/>
            <p:cNvSpPr>
              <a:spLocks noChangeArrowheads="1"/>
            </p:cNvSpPr>
            <p:nvPr/>
          </p:nvSpPr>
          <p:spPr bwMode="auto">
            <a:xfrm>
              <a:off x="4873401" y="6498207"/>
              <a:ext cx="1094627" cy="208380"/>
            </a:xfrm>
            <a:prstGeom prst="rect">
              <a:avLst/>
            </a:prstGeom>
            <a:gradFill rotWithShape="1">
              <a:gsLst>
                <a:gs pos="0">
                  <a:srgbClr val="00B0F0"/>
                </a:gs>
                <a:gs pos="100000">
                  <a:srgbClr val="00B0F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6296372" y="4224188"/>
            <a:ext cx="1098914" cy="1449666"/>
            <a:chOff x="4853395" y="5036548"/>
            <a:chExt cx="1098914" cy="1449666"/>
          </a:xfrm>
        </p:grpSpPr>
        <p:sp>
          <p:nvSpPr>
            <p:cNvPr id="129067" name="Rectangle 814"/>
            <p:cNvSpPr>
              <a:spLocks noChangeArrowheads="1"/>
            </p:cNvSpPr>
            <p:nvPr/>
          </p:nvSpPr>
          <p:spPr bwMode="auto">
            <a:xfrm>
              <a:off x="4857682" y="6277834"/>
              <a:ext cx="1094627" cy="208380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0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068" name="Rectangle 814"/>
            <p:cNvSpPr>
              <a:spLocks noChangeArrowheads="1"/>
            </p:cNvSpPr>
            <p:nvPr/>
          </p:nvSpPr>
          <p:spPr bwMode="auto">
            <a:xfrm>
              <a:off x="4853395" y="5036548"/>
              <a:ext cx="1094627" cy="208380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0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5294632" y="4329129"/>
            <a:ext cx="1006028" cy="1241285"/>
            <a:chOff x="3851655" y="5141488"/>
            <a:chExt cx="1006028" cy="1241285"/>
          </a:xfrm>
        </p:grpSpPr>
        <p:cxnSp>
          <p:nvCxnSpPr>
            <p:cNvPr id="129069" name="AutoShape 45"/>
            <p:cNvCxnSpPr>
              <a:cxnSpLocks noChangeShapeType="1"/>
            </p:cNvCxnSpPr>
            <p:nvPr/>
          </p:nvCxnSpPr>
          <p:spPr bwMode="auto">
            <a:xfrm flipV="1">
              <a:off x="3855942" y="5141488"/>
              <a:ext cx="997453" cy="662619"/>
            </a:xfrm>
            <a:prstGeom prst="straightConnector1">
              <a:avLst/>
            </a:prstGeom>
            <a:noFill/>
            <a:ln w="12700">
              <a:solidFill>
                <a:srgbClr val="F79646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9070" name="AutoShape 46"/>
            <p:cNvCxnSpPr>
              <a:cxnSpLocks noChangeShapeType="1"/>
            </p:cNvCxnSpPr>
            <p:nvPr/>
          </p:nvCxnSpPr>
          <p:spPr bwMode="auto">
            <a:xfrm>
              <a:off x="3851655" y="6016984"/>
              <a:ext cx="1006028" cy="365789"/>
            </a:xfrm>
            <a:prstGeom prst="straightConnector1">
              <a:avLst/>
            </a:prstGeom>
            <a:noFill/>
            <a:ln w="12700">
              <a:solidFill>
                <a:srgbClr val="F79646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71" name="Group 70"/>
          <p:cNvGrpSpPr/>
          <p:nvPr/>
        </p:nvGrpSpPr>
        <p:grpSpPr>
          <a:xfrm>
            <a:off x="5496123" y="4384597"/>
            <a:ext cx="537310" cy="1253279"/>
            <a:chOff x="4053146" y="5196956"/>
            <a:chExt cx="537310" cy="1253279"/>
          </a:xfrm>
        </p:grpSpPr>
        <p:pic>
          <p:nvPicPr>
            <p:cNvPr id="63" name="Picture 63" descr="074499-simple-red-glossy-icon-alphanumeric-x-sty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053146" y="5196956"/>
              <a:ext cx="508730" cy="533693"/>
            </a:xfrm>
            <a:prstGeom prst="rect">
              <a:avLst/>
            </a:prstGeom>
            <a:noFill/>
          </p:spPr>
        </p:pic>
        <p:pic>
          <p:nvPicPr>
            <p:cNvPr id="9" name="Picture 63" descr="074499-simple-red-glossy-icon-alphanumeric-x-sty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081726" y="5916542"/>
              <a:ext cx="508730" cy="533693"/>
            </a:xfrm>
            <a:prstGeom prst="rect">
              <a:avLst/>
            </a:prstGeom>
            <a:noFill/>
          </p:spPr>
        </p:pic>
      </p:grpSp>
      <p:grpSp>
        <p:nvGrpSpPr>
          <p:cNvPr id="67" name="Group 66"/>
          <p:cNvGrpSpPr/>
          <p:nvPr/>
        </p:nvGrpSpPr>
        <p:grpSpPr>
          <a:xfrm>
            <a:off x="5295782" y="3891875"/>
            <a:ext cx="1020596" cy="1885984"/>
            <a:chOff x="3771782" y="3851908"/>
            <a:chExt cx="1020596" cy="1885984"/>
          </a:xfrm>
        </p:grpSpPr>
        <p:cxnSp>
          <p:nvCxnSpPr>
            <p:cNvPr id="56" name="AutoShape 45"/>
            <p:cNvCxnSpPr>
              <a:cxnSpLocks noChangeShapeType="1"/>
              <a:stCxn id="129057" idx="3"/>
              <a:endCxn id="129066" idx="1"/>
            </p:cNvCxnSpPr>
            <p:nvPr/>
          </p:nvCxnSpPr>
          <p:spPr bwMode="auto">
            <a:xfrm flipV="1">
              <a:off x="3771782" y="5713836"/>
              <a:ext cx="1020596" cy="24056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AutoShape 45"/>
            <p:cNvCxnSpPr>
              <a:cxnSpLocks noChangeShapeType="1"/>
              <a:stCxn id="129055" idx="3"/>
              <a:endCxn id="129065" idx="1"/>
            </p:cNvCxnSpPr>
            <p:nvPr/>
          </p:nvCxnSpPr>
          <p:spPr bwMode="auto">
            <a:xfrm flipV="1">
              <a:off x="3776348" y="4737149"/>
              <a:ext cx="1000311" cy="788336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AutoShape 45"/>
            <p:cNvCxnSpPr>
              <a:cxnSpLocks noChangeShapeType="1"/>
              <a:stCxn id="129056" idx="3"/>
              <a:endCxn id="129064" idx="1"/>
            </p:cNvCxnSpPr>
            <p:nvPr/>
          </p:nvCxnSpPr>
          <p:spPr bwMode="auto">
            <a:xfrm flipV="1">
              <a:off x="3776348" y="3851908"/>
              <a:ext cx="1006027" cy="1484598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Box 818"/>
          <p:cNvSpPr txBox="1">
            <a:spLocks noChangeArrowheads="1"/>
          </p:cNvSpPr>
          <p:nvPr/>
        </p:nvSpPr>
        <p:spPr bwMode="auto">
          <a:xfrm>
            <a:off x="4186177" y="2388042"/>
            <a:ext cx="3276600" cy="761999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</a:pPr>
            <a:r>
              <a:rPr lang="en-US" sz="2800" b="1" err="1">
                <a:latin typeface="Calibri" pitchFamily="34" charset="0"/>
                <a:ea typeface="Arial" pitchFamily="34" charset="0"/>
                <a:cs typeface="Arial" pitchFamily="34" charset="0"/>
              </a:rPr>
              <a:t>kmalloc</a:t>
            </a:r>
            <a:r>
              <a:rPr lang="en-US" sz="2800" b="1">
                <a:latin typeface="Calibri" pitchFamily="34" charset="0"/>
                <a:ea typeface="Arial" pitchFamily="34" charset="0"/>
                <a:cs typeface="Arial" pitchFamily="34" charset="0"/>
              </a:rPr>
              <a:t>()</a:t>
            </a:r>
          </a:p>
          <a:p>
            <a:pPr algn="ctr" defTabSz="914400" fontAlgn="base">
              <a:spcBef>
                <a:spcPct val="0"/>
              </a:spcBef>
              <a:spcAft>
                <a:spcPts val="1000"/>
              </a:spcAft>
            </a:pPr>
            <a:r>
              <a:rPr lang="en-US" b="1">
                <a:latin typeface="Calibri" pitchFamily="34" charset="0"/>
                <a:ea typeface="Arial" pitchFamily="34" charset="0"/>
                <a:cs typeface="Arial" pitchFamily="34" charset="0"/>
              </a:rPr>
              <a:t>ALL Pages Created in Memory</a:t>
            </a:r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2" name="Group 71"/>
          <p:cNvGrpSpPr/>
          <p:nvPr/>
        </p:nvGrpSpPr>
        <p:grpSpPr>
          <a:xfrm>
            <a:off x="6309617" y="4216840"/>
            <a:ext cx="1098914" cy="1449666"/>
            <a:chOff x="4853395" y="5036548"/>
            <a:chExt cx="1098914" cy="1449666"/>
          </a:xfrm>
          <a:solidFill>
            <a:schemeClr val="bg1"/>
          </a:solidFill>
        </p:grpSpPr>
        <p:sp>
          <p:nvSpPr>
            <p:cNvPr id="73" name="Rectangle 814"/>
            <p:cNvSpPr>
              <a:spLocks noChangeArrowheads="1"/>
            </p:cNvSpPr>
            <p:nvPr/>
          </p:nvSpPr>
          <p:spPr bwMode="auto">
            <a:xfrm>
              <a:off x="4857682" y="6277834"/>
              <a:ext cx="1094627" cy="208380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Rectangle 814"/>
            <p:cNvSpPr>
              <a:spLocks noChangeArrowheads="1"/>
            </p:cNvSpPr>
            <p:nvPr/>
          </p:nvSpPr>
          <p:spPr bwMode="auto">
            <a:xfrm>
              <a:off x="4853395" y="5036548"/>
              <a:ext cx="1094627" cy="208380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8F9BA643-512A-FE89-5DBC-CDF5C6D5205F}"/>
              </a:ext>
            </a:extLst>
          </p:cNvPr>
          <p:cNvSpPr txBox="1">
            <a:spLocks/>
          </p:cNvSpPr>
          <p:nvPr/>
        </p:nvSpPr>
        <p:spPr>
          <a:xfrm>
            <a:off x="0" y="5822"/>
            <a:ext cx="10058400" cy="7776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Kernel Heap – </a:t>
            </a:r>
            <a:r>
              <a:rPr lang="en-US" b="1" dirty="0">
                <a:solidFill>
                  <a:srgbClr val="FF0000"/>
                </a:solidFill>
              </a:rPr>
              <a:t>Page Allocator</a:t>
            </a:r>
            <a:r>
              <a:rPr lang="en-US" dirty="0"/>
              <a:t> </a:t>
            </a:r>
            <a:endParaRPr lang="en-AE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A09976-62BB-087A-63D6-5374911A8A84}"/>
              </a:ext>
            </a:extLst>
          </p:cNvPr>
          <p:cNvCxnSpPr/>
          <p:nvPr/>
        </p:nvCxnSpPr>
        <p:spPr>
          <a:xfrm flipH="1">
            <a:off x="4178291" y="5918214"/>
            <a:ext cx="114063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B9DA85E-9524-EF69-A9B1-37FB8496AEB5}"/>
              </a:ext>
            </a:extLst>
          </p:cNvPr>
          <p:cNvGrpSpPr/>
          <p:nvPr/>
        </p:nvGrpSpPr>
        <p:grpSpPr>
          <a:xfrm>
            <a:off x="1542048" y="5739943"/>
            <a:ext cx="2651527" cy="338554"/>
            <a:chOff x="1542048" y="5739943"/>
            <a:chExt cx="2651527" cy="338554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405989F-FAAB-972D-6772-B0E735A56E75}"/>
                </a:ext>
              </a:extLst>
            </p:cNvPr>
            <p:cNvCxnSpPr>
              <a:cxnSpLocks/>
            </p:cNvCxnSpPr>
            <p:nvPr/>
          </p:nvCxnSpPr>
          <p:spPr>
            <a:xfrm>
              <a:off x="3928844" y="5920688"/>
              <a:ext cx="264731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7A20AAF-0612-101D-B76E-07A49D0BD3DB}"/>
                </a:ext>
              </a:extLst>
            </p:cNvPr>
            <p:cNvSpPr txBox="1"/>
            <p:nvPr/>
          </p:nvSpPr>
          <p:spPr>
            <a:xfrm>
              <a:off x="1542048" y="5739943"/>
              <a:ext cx="238679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kheapPageAllocStart</a:t>
              </a:r>
              <a:endParaRPr lang="en-AE" sz="16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2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54725" y="1523999"/>
            <a:ext cx="10058400" cy="4022725"/>
          </a:xfrm>
        </p:spPr>
        <p:txBody>
          <a:bodyPr>
            <a:normAutofit/>
          </a:bodyPr>
          <a:lstStyle/>
          <a:p>
            <a:pPr marL="0" indent="0"/>
            <a:r>
              <a:rPr lang="en-US" sz="2800" b="1"/>
              <a:t>Allocate pages on 4KB granularity</a:t>
            </a:r>
          </a:p>
          <a:p>
            <a:pPr marL="0" indent="0">
              <a:buNone/>
            </a:pPr>
            <a:endParaRPr lang="ar-EG" sz="1800">
              <a:latin typeface="Consolas" panose="020B0609020204030204" pitchFamily="49" charset="0"/>
            </a:endParaRPr>
          </a:p>
        </p:txBody>
      </p:sp>
      <p:grpSp>
        <p:nvGrpSpPr>
          <p:cNvPr id="6" name="Group 16"/>
          <p:cNvGrpSpPr/>
          <p:nvPr/>
        </p:nvGrpSpPr>
        <p:grpSpPr>
          <a:xfrm>
            <a:off x="6748006" y="1813772"/>
            <a:ext cx="1981200" cy="4267200"/>
            <a:chOff x="4953000" y="2286000"/>
            <a:chExt cx="1981200" cy="4267200"/>
          </a:xfrm>
        </p:grpSpPr>
        <p:sp>
          <p:nvSpPr>
            <p:cNvPr id="4" name="Rectangle 3"/>
            <p:cNvSpPr/>
            <p:nvPr/>
          </p:nvSpPr>
          <p:spPr>
            <a:xfrm>
              <a:off x="4953000" y="48768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953000" y="2286000"/>
              <a:ext cx="1981200" cy="1219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  <a:endParaRPr lang="ar-EG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53000" y="44196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953000" y="39624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953000" y="35052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953000" y="5334000"/>
              <a:ext cx="1981200" cy="1219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  <a:endParaRPr lang="ar-EG"/>
            </a:p>
          </p:txBody>
        </p:sp>
      </p:grpSp>
      <p:grpSp>
        <p:nvGrpSpPr>
          <p:cNvPr id="9" name="Group 32"/>
          <p:cNvGrpSpPr/>
          <p:nvPr/>
        </p:nvGrpSpPr>
        <p:grpSpPr>
          <a:xfrm>
            <a:off x="2557006" y="4230746"/>
            <a:ext cx="6148063" cy="771758"/>
            <a:chOff x="762000" y="4702974"/>
            <a:chExt cx="6148063" cy="771758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4343400" y="5334000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4966063" y="4889863"/>
              <a:ext cx="1944000" cy="432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4 KB</a:t>
              </a:r>
              <a:endParaRPr lang="ar-EG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62000" y="5105400"/>
              <a:ext cx="2348720" cy="369332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 dirty="0"/>
                <a:t>ptr1</a:t>
              </a:r>
              <a:r>
                <a:rPr lang="en-US" dirty="0"/>
                <a:t> = </a:t>
              </a:r>
              <a:r>
                <a:rPr lang="en-US" dirty="0" err="1"/>
                <a:t>kmalloc</a:t>
              </a:r>
              <a:r>
                <a:rPr lang="en-US" dirty="0"/>
                <a:t> (5 KB)</a:t>
              </a:r>
              <a:endParaRPr lang="ar-EG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33800" y="5105400"/>
              <a:ext cx="586122" cy="36933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ptr1</a:t>
              </a:r>
              <a:endParaRPr lang="ar-EG" sz="1600" b="1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966063" y="4702974"/>
              <a:ext cx="1944000" cy="147151"/>
            </a:xfrm>
            <a:prstGeom prst="rect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1 KB</a:t>
              </a:r>
              <a:endParaRPr lang="ar-EG" dirty="0"/>
            </a:p>
          </p:txBody>
        </p:sp>
      </p:grpSp>
      <p:grpSp>
        <p:nvGrpSpPr>
          <p:cNvPr id="14" name="Group 31"/>
          <p:cNvGrpSpPr/>
          <p:nvPr/>
        </p:nvGrpSpPr>
        <p:grpSpPr>
          <a:xfrm>
            <a:off x="2557006" y="3663998"/>
            <a:ext cx="6148063" cy="397980"/>
            <a:chOff x="762000" y="4136226"/>
            <a:chExt cx="6148063" cy="397980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4343400" y="4393474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4966063" y="4136226"/>
              <a:ext cx="1944000" cy="258173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2.5  KB</a:t>
              </a:r>
              <a:endParaRPr lang="ar-EG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62000" y="4164874"/>
              <a:ext cx="2525050" cy="36933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 dirty="0"/>
                <a:t>ptr2</a:t>
              </a:r>
              <a:r>
                <a:rPr lang="en-US" dirty="0"/>
                <a:t> = </a:t>
              </a:r>
              <a:r>
                <a:rPr lang="en-US" dirty="0" err="1"/>
                <a:t>kmalloc</a:t>
              </a:r>
              <a:r>
                <a:rPr lang="en-US" dirty="0"/>
                <a:t> (2.5 KB)</a:t>
              </a:r>
              <a:endParaRPr lang="ar-EG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733800" y="4164874"/>
              <a:ext cx="586122" cy="36933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ptr2</a:t>
              </a:r>
              <a:endParaRPr lang="ar-EG" sz="1600" b="1"/>
            </a:p>
          </p:txBody>
        </p:sp>
      </p:grpSp>
      <p:grpSp>
        <p:nvGrpSpPr>
          <p:cNvPr id="17" name="Group 30"/>
          <p:cNvGrpSpPr/>
          <p:nvPr/>
        </p:nvGrpSpPr>
        <p:grpSpPr>
          <a:xfrm>
            <a:off x="2557006" y="3185370"/>
            <a:ext cx="6148063" cy="421586"/>
            <a:chOff x="762000" y="3644535"/>
            <a:chExt cx="6148063" cy="421586"/>
          </a:xfrm>
        </p:grpSpPr>
        <p:cxnSp>
          <p:nvCxnSpPr>
            <p:cNvPr id="26" name="Straight Arrow Connector 25"/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4966063" y="3644535"/>
              <a:ext cx="1944000" cy="288000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3 KB</a:t>
              </a:r>
              <a:endParaRPr lang="ar-EG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62000" y="3696789"/>
              <a:ext cx="2141034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ptr3</a:t>
              </a:r>
              <a:r>
                <a:rPr lang="en-US"/>
                <a:t> = </a:t>
              </a:r>
              <a:r>
                <a:rPr lang="en-US" err="1"/>
                <a:t>kmalloc</a:t>
              </a:r>
              <a:r>
                <a:rPr lang="en-US"/>
                <a:t> (3 KB)</a:t>
              </a:r>
              <a:endParaRPr lang="ar-EG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733800" y="3696789"/>
              <a:ext cx="586122" cy="36933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ptr3</a:t>
              </a:r>
              <a:endParaRPr lang="ar-EG" sz="1600" b="1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5BB313-0273-ADDA-7578-49012D1F7E63}"/>
              </a:ext>
            </a:extLst>
          </p:cNvPr>
          <p:cNvSpPr txBox="1">
            <a:spLocks/>
          </p:cNvSpPr>
          <p:nvPr/>
        </p:nvSpPr>
        <p:spPr>
          <a:xfrm>
            <a:off x="0" y="5822"/>
            <a:ext cx="12192000" cy="7776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Kernel Heap – </a:t>
            </a:r>
            <a:r>
              <a:rPr lang="en-US" b="1" dirty="0">
                <a:solidFill>
                  <a:srgbClr val="FF0000"/>
                </a:solidFill>
              </a:rPr>
              <a:t>Page Allocator (</a:t>
            </a:r>
            <a:r>
              <a:rPr lang="en-US" b="1" dirty="0" err="1"/>
              <a:t>kmalloc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/>
              <a:t> </a:t>
            </a:r>
            <a:endParaRPr lang="en-AE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E9ACB4-F699-BBAE-E11A-F6363773BDDC}"/>
              </a:ext>
            </a:extLst>
          </p:cNvPr>
          <p:cNvGrpSpPr/>
          <p:nvPr/>
        </p:nvGrpSpPr>
        <p:grpSpPr>
          <a:xfrm>
            <a:off x="4657012" y="5907207"/>
            <a:ext cx="2090994" cy="307777"/>
            <a:chOff x="8872279" y="5658792"/>
            <a:chExt cx="2090994" cy="307777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854C8D5-5378-1072-33B1-A417908E85BF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ABB6E12-0C3D-B54A-6252-28FFEF5C1D08}"/>
                </a:ext>
              </a:extLst>
            </p:cNvPr>
            <p:cNvSpPr txBox="1"/>
            <p:nvPr/>
          </p:nvSpPr>
          <p:spPr>
            <a:xfrm>
              <a:off x="8872279" y="5658792"/>
              <a:ext cx="1811714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KERNEL_HEAP_START</a:t>
              </a:r>
              <a:endParaRPr kumimoji="0" lang="ar-EG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362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/>
        </p:nvGrpSpPr>
        <p:grpSpPr>
          <a:xfrm>
            <a:off x="6897894" y="552453"/>
            <a:ext cx="5294106" cy="5178921"/>
            <a:chOff x="2498995" y="857756"/>
            <a:chExt cx="5294106" cy="5178921"/>
          </a:xfrm>
        </p:grpSpPr>
        <p:sp>
          <p:nvSpPr>
            <p:cNvPr id="5" name="Rectangle 4"/>
            <p:cNvSpPr/>
            <p:nvPr/>
          </p:nvSpPr>
          <p:spPr>
            <a:xfrm>
              <a:off x="4953000" y="5147400"/>
              <a:ext cx="1981200" cy="7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4 MB</a:t>
              </a:r>
              <a:endParaRPr lang="ar-EG" b="1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953000" y="2550027"/>
              <a:ext cx="1981200" cy="343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 sz="1200" b="1" dirty="0"/>
            </a:p>
          </p:txBody>
        </p:sp>
        <p:cxnSp>
          <p:nvCxnSpPr>
            <p:cNvPr id="7" name="Straight Arrow Connector 6"/>
            <p:cNvCxnSpPr>
              <a:cxnSpLocks/>
              <a:stCxn id="8" idx="3"/>
            </p:cNvCxnSpPr>
            <p:nvPr/>
          </p:nvCxnSpPr>
          <p:spPr>
            <a:xfrm>
              <a:off x="4624975" y="5867400"/>
              <a:ext cx="3278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498995" y="5698123"/>
              <a:ext cx="2125980" cy="338554"/>
            </a:xfrm>
            <a:prstGeom prst="rect">
              <a:avLst/>
            </a:prstGeom>
            <a:noFill/>
          </p:spPr>
          <p:txBody>
            <a:bodyPr wrap="square" lIns="0" rIns="0" rtlCol="1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kheapPageAllocStart</a:t>
              </a:r>
              <a:endParaRPr lang="en-A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953000" y="4641600"/>
              <a:ext cx="1981200" cy="54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953000" y="3365863"/>
              <a:ext cx="1981200" cy="25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1 MB</a:t>
              </a:r>
              <a:endParaRPr lang="ar-EG" b="1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53000" y="3623400"/>
              <a:ext cx="1981200" cy="72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953000" y="4288200"/>
              <a:ext cx="19812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2 MB</a:t>
              </a:r>
              <a:endParaRPr lang="ar-EG" b="1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953000" y="975864"/>
              <a:ext cx="1981200" cy="12298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sz="1200" b="1"/>
                <a:t>.</a:t>
              </a:r>
            </a:p>
            <a:p>
              <a:pPr algn="ctr"/>
              <a:r>
                <a:rPr lang="en-US" sz="1200" b="1"/>
                <a:t>.</a:t>
              </a:r>
            </a:p>
            <a:p>
              <a:pPr algn="ctr"/>
              <a:r>
                <a:rPr lang="en-US" sz="1200" b="1"/>
                <a:t>.</a:t>
              </a:r>
              <a:endParaRPr lang="ar-EG" sz="1200" b="1"/>
            </a:p>
          </p:txBody>
        </p:sp>
        <p:cxnSp>
          <p:nvCxnSpPr>
            <p:cNvPr id="15" name="Straight Arrow Connector 14"/>
            <p:cNvCxnSpPr>
              <a:cxnSpLocks/>
            </p:cNvCxnSpPr>
            <p:nvPr/>
          </p:nvCxnSpPr>
          <p:spPr>
            <a:xfrm>
              <a:off x="4594322" y="990351"/>
              <a:ext cx="381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647400" y="857756"/>
              <a:ext cx="1916615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 dirty="0"/>
                <a:t>KERNEL_HEAP_MAX</a:t>
              </a:r>
              <a:endParaRPr lang="ar-EG" sz="1600" b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149737" y="4753783"/>
              <a:ext cx="630301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 dirty="0"/>
                <a:t>3 MB</a:t>
              </a:r>
              <a:endParaRPr lang="ar-EG" sz="1600" b="1" dirty="0"/>
            </a:p>
          </p:txBody>
        </p:sp>
        <p:sp>
          <p:nvSpPr>
            <p:cNvPr id="28" name="Right Brace 27"/>
            <p:cNvSpPr/>
            <p:nvPr/>
          </p:nvSpPr>
          <p:spPr>
            <a:xfrm>
              <a:off x="6973389" y="4648200"/>
              <a:ext cx="216000" cy="54000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162800" y="3782709"/>
              <a:ext cx="630301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/>
                <a:t>4 MB</a:t>
              </a:r>
              <a:endParaRPr lang="ar-EG" sz="1600" b="1"/>
            </a:p>
          </p:txBody>
        </p:sp>
        <p:sp>
          <p:nvSpPr>
            <p:cNvPr id="30" name="Right Brace 29"/>
            <p:cNvSpPr/>
            <p:nvPr/>
          </p:nvSpPr>
          <p:spPr>
            <a:xfrm>
              <a:off x="6986452" y="3632263"/>
              <a:ext cx="216000" cy="64800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5685491" y="3323036"/>
            <a:ext cx="5627871" cy="573987"/>
            <a:chOff x="1282192" y="3492134"/>
            <a:chExt cx="5627871" cy="573987"/>
          </a:xfrm>
        </p:grpSpPr>
        <p:cxnSp>
          <p:nvCxnSpPr>
            <p:cNvPr id="33" name="Straight Arrow Connector 32"/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4966063" y="3492134"/>
              <a:ext cx="1944000" cy="484167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3 MB</a:t>
              </a:r>
              <a:endParaRPr lang="ar-EG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282192" y="3625397"/>
              <a:ext cx="2438497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 dirty="0"/>
                <a:t>ptr3</a:t>
              </a:r>
              <a:r>
                <a:rPr lang="en-US" dirty="0"/>
                <a:t> = </a:t>
              </a:r>
              <a:r>
                <a:rPr lang="en-US" dirty="0" err="1"/>
                <a:t>kmalloc</a:t>
              </a:r>
              <a:r>
                <a:rPr lang="en-US" dirty="0"/>
                <a:t> (3 MB)</a:t>
              </a:r>
              <a:endParaRPr lang="ar-EG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33800" y="3696789"/>
              <a:ext cx="649537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 dirty="0"/>
                <a:t>ptr3</a:t>
              </a:r>
              <a:endParaRPr lang="ar-EG" sz="1600" b="1" dirty="0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681091" y="3792179"/>
            <a:ext cx="5627871" cy="469626"/>
            <a:chOff x="1282192" y="4188743"/>
            <a:chExt cx="5627871" cy="469626"/>
          </a:xfrm>
        </p:grpSpPr>
        <p:cxnSp>
          <p:nvCxnSpPr>
            <p:cNvPr id="48" name="Straight Arrow Connector 47"/>
            <p:cNvCxnSpPr/>
            <p:nvPr/>
          </p:nvCxnSpPr>
          <p:spPr>
            <a:xfrm>
              <a:off x="4343400" y="4393474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4966063" y="4188743"/>
              <a:ext cx="1944000" cy="18000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1 MB</a:t>
              </a:r>
              <a:endParaRPr lang="ar-EG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282192" y="4246333"/>
              <a:ext cx="2438497" cy="369332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 dirty="0"/>
                <a:t>ptr2</a:t>
              </a:r>
              <a:r>
                <a:rPr lang="en-US" dirty="0"/>
                <a:t> = </a:t>
              </a:r>
              <a:r>
                <a:rPr lang="en-US" dirty="0" err="1"/>
                <a:t>kmalloc</a:t>
              </a:r>
              <a:r>
                <a:rPr lang="en-US" dirty="0"/>
                <a:t>(1 MB)</a:t>
              </a:r>
              <a:endParaRPr lang="ar-EG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33799" y="4289037"/>
              <a:ext cx="685799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 dirty="0"/>
                <a:t>ptr2</a:t>
              </a:r>
              <a:endParaRPr lang="ar-EG" sz="1600" b="1" dirty="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5674995" y="4569502"/>
            <a:ext cx="5638898" cy="477230"/>
            <a:chOff x="1271165" y="3619021"/>
            <a:chExt cx="5638898" cy="477230"/>
          </a:xfrm>
        </p:grpSpPr>
        <p:cxnSp>
          <p:nvCxnSpPr>
            <p:cNvPr id="53" name="Straight Arrow Connector 52"/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4966063" y="3619021"/>
              <a:ext cx="1944000" cy="29470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1.5 MB</a:t>
              </a:r>
              <a:endParaRPr lang="ar-EG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271165" y="3726919"/>
              <a:ext cx="2438498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rIns="0" rtlCol="1">
              <a:spAutoFit/>
            </a:bodyPr>
            <a:lstStyle/>
            <a:p>
              <a:r>
                <a:rPr lang="en-US" b="1" dirty="0"/>
                <a:t>ptr4</a:t>
              </a:r>
              <a:r>
                <a:rPr lang="en-US" dirty="0"/>
                <a:t> = </a:t>
              </a:r>
              <a:r>
                <a:rPr lang="en-US" dirty="0" err="1"/>
                <a:t>kmalloc</a:t>
              </a:r>
              <a:r>
                <a:rPr lang="en-US" dirty="0"/>
                <a:t> (1.5 MB)</a:t>
              </a:r>
              <a:endParaRPr lang="ar-EG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733800" y="3696789"/>
              <a:ext cx="586122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ptr4</a:t>
              </a:r>
              <a:endParaRPr lang="ar-EG" sz="1600" b="1"/>
            </a:p>
          </p:txBody>
        </p:sp>
      </p:grpSp>
      <p:sp>
        <p:nvSpPr>
          <p:cNvPr id="42" name="Rectangle 41"/>
          <p:cNvSpPr/>
          <p:nvPr/>
        </p:nvSpPr>
        <p:spPr>
          <a:xfrm>
            <a:off x="9351898" y="1906422"/>
            <a:ext cx="1981200" cy="33830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/>
              <a:t>2 MB</a:t>
            </a:r>
            <a:endParaRPr lang="ar-EG" b="1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586A83E-C504-0DD0-7C80-ADCEC9D4731F}"/>
              </a:ext>
            </a:extLst>
          </p:cNvPr>
          <p:cNvSpPr txBox="1">
            <a:spLocks/>
          </p:cNvSpPr>
          <p:nvPr/>
        </p:nvSpPr>
        <p:spPr>
          <a:xfrm>
            <a:off x="13064" y="1006756"/>
            <a:ext cx="5604748" cy="5845422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</a:pPr>
            <a:r>
              <a:rPr lang="en-US" sz="3200" b="1" dirty="0"/>
              <a:t>CUSTOM FIT </a:t>
            </a:r>
            <a:r>
              <a:rPr lang="en-US" sz="3200" dirty="0"/>
              <a:t>Strategy</a:t>
            </a:r>
          </a:p>
          <a:p>
            <a:pPr marL="0" indent="0"/>
            <a:r>
              <a:rPr lang="en-US" sz="2800" b="1" dirty="0"/>
              <a:t>1.</a:t>
            </a:r>
            <a:r>
              <a:rPr lang="en-US" sz="2800" dirty="0"/>
              <a:t> Search for </a:t>
            </a:r>
            <a:r>
              <a:rPr lang="en-US" sz="2800" b="1" dirty="0"/>
              <a:t>EXACT fit</a:t>
            </a:r>
          </a:p>
          <a:p>
            <a:pPr marL="0" indent="0"/>
            <a:r>
              <a:rPr lang="en-US" sz="2800" b="1" dirty="0"/>
              <a:t>2. </a:t>
            </a:r>
            <a:r>
              <a:rPr lang="en-US" sz="2800" dirty="0"/>
              <a:t>if not found,</a:t>
            </a:r>
            <a:r>
              <a:rPr lang="en-US" sz="2800" b="1" dirty="0"/>
              <a:t> </a:t>
            </a:r>
          </a:p>
          <a:p>
            <a:pPr marL="0" indent="0"/>
            <a:r>
              <a:rPr lang="en-US" sz="2800" b="1" dirty="0"/>
              <a:t>    </a:t>
            </a:r>
            <a:r>
              <a:rPr lang="en-US" sz="2800" dirty="0"/>
              <a:t>search for </a:t>
            </a:r>
            <a:r>
              <a:rPr lang="en-US" sz="2800" b="1" dirty="0"/>
              <a:t>WORST fit </a:t>
            </a:r>
            <a:r>
              <a:rPr lang="en-US" sz="2800" dirty="0"/>
              <a:t>till break</a:t>
            </a:r>
          </a:p>
          <a:p>
            <a:pPr marL="0" indent="0"/>
            <a:r>
              <a:rPr lang="en-US" sz="2800" b="1" dirty="0"/>
              <a:t>3. </a:t>
            </a:r>
            <a:r>
              <a:rPr lang="en-US" sz="2800" dirty="0"/>
              <a:t>if not found,</a:t>
            </a:r>
            <a:r>
              <a:rPr lang="en-US" sz="2800" b="1" dirty="0"/>
              <a:t> </a:t>
            </a:r>
          </a:p>
          <a:p>
            <a:pPr marL="0" indent="0"/>
            <a:r>
              <a:rPr lang="en-US" sz="2800" b="1" dirty="0"/>
              <a:t>    </a:t>
            </a:r>
            <a:r>
              <a:rPr lang="en-US" sz="2800" dirty="0"/>
              <a:t>extend </a:t>
            </a:r>
            <a:r>
              <a:rPr lang="en-US" sz="2800" b="1" dirty="0"/>
              <a:t>BREAK </a:t>
            </a:r>
            <a:r>
              <a:rPr lang="en-US" sz="2800" dirty="0"/>
              <a:t>if available</a:t>
            </a:r>
          </a:p>
          <a:p>
            <a:pPr marL="0" indent="0"/>
            <a:r>
              <a:rPr lang="en-US" sz="2800" b="1" dirty="0"/>
              <a:t>4. </a:t>
            </a:r>
            <a:r>
              <a:rPr lang="en-US" sz="2800" dirty="0"/>
              <a:t>if not available,</a:t>
            </a:r>
            <a:r>
              <a:rPr lang="en-US" sz="2800" b="1" dirty="0"/>
              <a:t> </a:t>
            </a:r>
          </a:p>
          <a:p>
            <a:pPr marL="0" indent="0"/>
            <a:r>
              <a:rPr lang="en-US" sz="2800" b="1" dirty="0"/>
              <a:t>    </a:t>
            </a:r>
            <a:r>
              <a:rPr lang="en-US" sz="2800" dirty="0"/>
              <a:t>return </a:t>
            </a:r>
            <a:r>
              <a:rPr lang="en-US" sz="2800" b="1" dirty="0"/>
              <a:t>NULL</a:t>
            </a:r>
          </a:p>
          <a:p>
            <a:pPr marL="0" indent="0"/>
            <a:r>
              <a:rPr lang="en-US" sz="2800" b="1" dirty="0"/>
              <a:t>Required Complexity: </a:t>
            </a:r>
            <a:r>
              <a:rPr lang="en-US" sz="2800" b="1" dirty="0">
                <a:solidFill>
                  <a:srgbClr val="FF0000"/>
                </a:solidFill>
              </a:rPr>
              <a:t>bounded by</a:t>
            </a:r>
            <a:r>
              <a:rPr lang="en-US" sz="2800" b="1" dirty="0"/>
              <a:t> </a:t>
            </a:r>
          </a:p>
          <a:p>
            <a:pPr marL="0" indent="0"/>
            <a:r>
              <a:rPr lang="en-US" sz="2800" b="1" dirty="0">
                <a:solidFill>
                  <a:srgbClr val="FF0000"/>
                </a:solidFill>
              </a:rPr>
              <a:t>O(# FREE areas + # required pages)</a:t>
            </a:r>
            <a:endParaRPr lang="ar-EG" sz="1800" dirty="0">
              <a:latin typeface="Consolas" panose="020B0609020204030204" pitchFamily="49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E4512D2-E0A0-2B37-29E4-36462198B29C}"/>
              </a:ext>
            </a:extLst>
          </p:cNvPr>
          <p:cNvGrpSpPr/>
          <p:nvPr/>
        </p:nvGrpSpPr>
        <p:grpSpPr>
          <a:xfrm>
            <a:off x="6897894" y="1747606"/>
            <a:ext cx="2453832" cy="338554"/>
            <a:chOff x="6897894" y="1747606"/>
            <a:chExt cx="2453832" cy="338554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73893F8-E906-AC30-3279-AD4E2C709E15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>
              <a:off x="9023874" y="1916883"/>
              <a:ext cx="3278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A42396D-2633-A1D6-DB88-983AD7E8CA4F}"/>
                </a:ext>
              </a:extLst>
            </p:cNvPr>
            <p:cNvSpPr txBox="1"/>
            <p:nvPr/>
          </p:nvSpPr>
          <p:spPr>
            <a:xfrm>
              <a:off x="6897894" y="1747606"/>
              <a:ext cx="2125980" cy="338554"/>
            </a:xfrm>
            <a:prstGeom prst="rect">
              <a:avLst/>
            </a:prstGeom>
            <a:noFill/>
          </p:spPr>
          <p:txBody>
            <a:bodyPr wrap="square" lIns="0" rIns="0" rtlCol="1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kheapPageAllocBreak</a:t>
              </a:r>
              <a:endParaRPr lang="en-AE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8" name="Title 1">
            <a:extLst>
              <a:ext uri="{FF2B5EF4-FFF2-40B4-BE49-F238E27FC236}">
                <a16:creationId xmlns:a16="http://schemas.microsoft.com/office/drawing/2014/main" id="{B07495A2-A71C-69FF-91D2-778FBBAFD929}"/>
              </a:ext>
            </a:extLst>
          </p:cNvPr>
          <p:cNvSpPr txBox="1">
            <a:spLocks/>
          </p:cNvSpPr>
          <p:nvPr/>
        </p:nvSpPr>
        <p:spPr>
          <a:xfrm>
            <a:off x="0" y="5822"/>
            <a:ext cx="12178938" cy="7776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Kernel Heap – </a:t>
            </a:r>
            <a:r>
              <a:rPr lang="en-US" b="1" dirty="0">
                <a:solidFill>
                  <a:srgbClr val="FF0000"/>
                </a:solidFill>
              </a:rPr>
              <a:t>Page Allocator (</a:t>
            </a:r>
            <a:r>
              <a:rPr lang="en-US" b="1" dirty="0" err="1"/>
              <a:t>kmalloc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/>
              <a:t> </a:t>
            </a:r>
            <a:endParaRPr lang="en-AE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4E9C463-DD31-36E2-522D-608DC0248A44}"/>
              </a:ext>
            </a:extLst>
          </p:cNvPr>
          <p:cNvSpPr/>
          <p:nvPr/>
        </p:nvSpPr>
        <p:spPr>
          <a:xfrm>
            <a:off x="9351898" y="2795498"/>
            <a:ext cx="1981200" cy="25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4D4CF00-E352-9368-2C21-16A74A8036E1}"/>
              </a:ext>
            </a:extLst>
          </p:cNvPr>
          <p:cNvSpPr/>
          <p:nvPr/>
        </p:nvSpPr>
        <p:spPr>
          <a:xfrm>
            <a:off x="9355175" y="2586636"/>
            <a:ext cx="1981200" cy="25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/>
              <a:t>1 MB</a:t>
            </a:r>
            <a:endParaRPr lang="ar-EG" b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5F5593-AC3B-4526-0428-D1335BA34F1D}"/>
              </a:ext>
            </a:extLst>
          </p:cNvPr>
          <p:cNvSpPr txBox="1"/>
          <p:nvPr/>
        </p:nvSpPr>
        <p:spPr>
          <a:xfrm>
            <a:off x="11530493" y="2795498"/>
            <a:ext cx="657552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 dirty="0"/>
              <a:t>1 MB</a:t>
            </a:r>
            <a:endParaRPr lang="ar-EG" sz="1600" b="1" dirty="0"/>
          </a:p>
        </p:txBody>
      </p:sp>
      <p:sp>
        <p:nvSpPr>
          <p:cNvPr id="62" name="Right Brace 61">
            <a:extLst>
              <a:ext uri="{FF2B5EF4-FFF2-40B4-BE49-F238E27FC236}">
                <a16:creationId xmlns:a16="http://schemas.microsoft.com/office/drawing/2014/main" id="{6A62ED4A-E409-11C0-11B7-930943CA32DA}"/>
              </a:ext>
            </a:extLst>
          </p:cNvPr>
          <p:cNvSpPr/>
          <p:nvPr/>
        </p:nvSpPr>
        <p:spPr>
          <a:xfrm>
            <a:off x="11333098" y="2858709"/>
            <a:ext cx="165379" cy="18661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pSp>
        <p:nvGrpSpPr>
          <p:cNvPr id="17" name="Group 16"/>
          <p:cNvGrpSpPr/>
          <p:nvPr/>
        </p:nvGrpSpPr>
        <p:grpSpPr>
          <a:xfrm>
            <a:off x="5681091" y="2842660"/>
            <a:ext cx="5627871" cy="433080"/>
            <a:chOff x="1282192" y="4188743"/>
            <a:chExt cx="5627871" cy="433080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4343400" y="4393474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4966063" y="4188743"/>
              <a:ext cx="1944000" cy="218916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1 MB</a:t>
              </a:r>
              <a:endParaRPr lang="ar-EG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82192" y="4252491"/>
              <a:ext cx="2438497" cy="36933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 dirty="0"/>
                <a:t>ptr1</a:t>
              </a:r>
              <a:r>
                <a:rPr lang="en-US" dirty="0"/>
                <a:t> = </a:t>
              </a:r>
              <a:r>
                <a:rPr lang="en-US" dirty="0" err="1"/>
                <a:t>kmalloc</a:t>
              </a:r>
              <a:r>
                <a:rPr lang="en-US" dirty="0"/>
                <a:t> (1 MB)</a:t>
              </a:r>
              <a:endParaRPr lang="ar-EG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33800" y="4229406"/>
              <a:ext cx="685798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 dirty="0"/>
                <a:t>ptr1</a:t>
              </a:r>
              <a:endParaRPr lang="ar-EG" sz="1600" b="1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F4F395ED-58C9-1891-7C72-F0B27C4624D4}"/>
              </a:ext>
            </a:extLst>
          </p:cNvPr>
          <p:cNvSpPr txBox="1"/>
          <p:nvPr/>
        </p:nvSpPr>
        <p:spPr>
          <a:xfrm>
            <a:off x="11544118" y="2258284"/>
            <a:ext cx="657552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 dirty="0"/>
              <a:t>2 MB</a:t>
            </a:r>
            <a:endParaRPr lang="ar-EG" sz="1600" b="1" dirty="0"/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AC4F3090-97EC-4475-8ACD-0185FF114B10}"/>
              </a:ext>
            </a:extLst>
          </p:cNvPr>
          <p:cNvSpPr/>
          <p:nvPr/>
        </p:nvSpPr>
        <p:spPr>
          <a:xfrm>
            <a:off x="11351851" y="2251260"/>
            <a:ext cx="196785" cy="33855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26A0BD0-7FBB-3566-5219-7860CCCE3AF6}"/>
              </a:ext>
            </a:extLst>
          </p:cNvPr>
          <p:cNvGrpSpPr/>
          <p:nvPr/>
        </p:nvGrpSpPr>
        <p:grpSpPr>
          <a:xfrm>
            <a:off x="2512846" y="2432248"/>
            <a:ext cx="5610477" cy="556379"/>
            <a:chOff x="1299586" y="3592003"/>
            <a:chExt cx="5610477" cy="556379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161C833-4460-1261-841E-F57589629F27}"/>
                </a:ext>
              </a:extLst>
            </p:cNvPr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D938BE6-C554-0B2A-37DD-B45A5AF933AB}"/>
                </a:ext>
              </a:extLst>
            </p:cNvPr>
            <p:cNvSpPr/>
            <p:nvPr/>
          </p:nvSpPr>
          <p:spPr>
            <a:xfrm>
              <a:off x="4966063" y="3592003"/>
              <a:ext cx="1944000" cy="384298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2.5 MB</a:t>
              </a:r>
              <a:endParaRPr lang="ar-EG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87C89AF-5756-0B75-CC01-36C622A323C4}"/>
                </a:ext>
              </a:extLst>
            </p:cNvPr>
            <p:cNvSpPr txBox="1"/>
            <p:nvPr/>
          </p:nvSpPr>
          <p:spPr>
            <a:xfrm>
              <a:off x="1299586" y="3779050"/>
              <a:ext cx="2438497" cy="36933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lIns="0" rIns="0" rtlCol="1">
              <a:spAutoFit/>
            </a:bodyPr>
            <a:lstStyle/>
            <a:p>
              <a:r>
                <a:rPr lang="en-US" b="1" dirty="0"/>
                <a:t>ptr5</a:t>
              </a:r>
              <a:r>
                <a:rPr lang="en-US" dirty="0"/>
                <a:t> = </a:t>
              </a:r>
              <a:r>
                <a:rPr lang="en-US" dirty="0" err="1"/>
                <a:t>kmalloc</a:t>
              </a:r>
              <a:r>
                <a:rPr lang="en-US" dirty="0"/>
                <a:t> (2.5 MB)</a:t>
              </a:r>
              <a:endParaRPr lang="ar-EG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0037ADF-4A20-6CB8-764A-7122EEB6F804}"/>
                </a:ext>
              </a:extLst>
            </p:cNvPr>
            <p:cNvSpPr txBox="1"/>
            <p:nvPr/>
          </p:nvSpPr>
          <p:spPr>
            <a:xfrm>
              <a:off x="3733800" y="3696789"/>
              <a:ext cx="649537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 dirty="0"/>
                <a:t>ptr5</a:t>
              </a:r>
              <a:endParaRPr lang="ar-EG" sz="1600" b="1" dirty="0"/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118B3C72-2508-5F71-5FC0-75913D0EC486}"/>
              </a:ext>
            </a:extLst>
          </p:cNvPr>
          <p:cNvSpPr/>
          <p:nvPr/>
        </p:nvSpPr>
        <p:spPr>
          <a:xfrm>
            <a:off x="9364962" y="687309"/>
            <a:ext cx="1972719" cy="1225620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 dirty="0"/>
              <a:t>UNUSED</a:t>
            </a:r>
            <a:endParaRPr lang="en-AE" b="1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9961CC5-FAB8-5653-4DFB-17499E56FFD2}"/>
              </a:ext>
            </a:extLst>
          </p:cNvPr>
          <p:cNvSpPr/>
          <p:nvPr/>
        </p:nvSpPr>
        <p:spPr>
          <a:xfrm>
            <a:off x="9360379" y="687308"/>
            <a:ext cx="1972719" cy="817220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 dirty="0"/>
              <a:t>UNUSED</a:t>
            </a:r>
            <a:endParaRPr lang="en-AE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672249-41E3-19B1-C05B-CA9C638444CA}"/>
              </a:ext>
            </a:extLst>
          </p:cNvPr>
          <p:cNvSpPr txBox="1"/>
          <p:nvPr/>
        </p:nvSpPr>
        <p:spPr>
          <a:xfrm>
            <a:off x="4163790" y="708994"/>
            <a:ext cx="2438497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 dirty="0"/>
              <a:t>ptr1</a:t>
            </a:r>
            <a:r>
              <a:rPr lang="en-US" dirty="0"/>
              <a:t> = </a:t>
            </a:r>
            <a:r>
              <a:rPr lang="en-US" dirty="0" err="1"/>
              <a:t>kmalloc</a:t>
            </a:r>
            <a:r>
              <a:rPr lang="en-US" dirty="0"/>
              <a:t> (1 MB)</a:t>
            </a:r>
            <a:endParaRPr lang="ar-E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006081-248C-3134-CF9B-17532F1FFC25}"/>
              </a:ext>
            </a:extLst>
          </p:cNvPr>
          <p:cNvSpPr txBox="1"/>
          <p:nvPr/>
        </p:nvSpPr>
        <p:spPr>
          <a:xfrm>
            <a:off x="4163789" y="1109821"/>
            <a:ext cx="2438497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 dirty="0"/>
              <a:t>ptr2</a:t>
            </a:r>
            <a:r>
              <a:rPr lang="en-US" dirty="0"/>
              <a:t> = </a:t>
            </a:r>
            <a:r>
              <a:rPr lang="en-US" dirty="0" err="1"/>
              <a:t>kmalloc</a:t>
            </a:r>
            <a:r>
              <a:rPr lang="en-US" dirty="0"/>
              <a:t>(1 MB)</a:t>
            </a:r>
            <a:endParaRPr lang="ar-EG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D215A1-A364-3F73-6849-A00ADD8D17E2}"/>
              </a:ext>
            </a:extLst>
          </p:cNvPr>
          <p:cNvSpPr txBox="1"/>
          <p:nvPr/>
        </p:nvSpPr>
        <p:spPr>
          <a:xfrm>
            <a:off x="4163788" y="1511558"/>
            <a:ext cx="243849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 dirty="0"/>
              <a:t>ptr3</a:t>
            </a:r>
            <a:r>
              <a:rPr lang="en-US" dirty="0"/>
              <a:t> = </a:t>
            </a:r>
            <a:r>
              <a:rPr lang="en-US" dirty="0" err="1"/>
              <a:t>kmalloc</a:t>
            </a:r>
            <a:r>
              <a:rPr lang="en-US" dirty="0"/>
              <a:t> (3 MB)</a:t>
            </a:r>
            <a:endParaRPr lang="ar-EG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730947-D252-23C8-A637-FF634DB5A034}"/>
              </a:ext>
            </a:extLst>
          </p:cNvPr>
          <p:cNvSpPr txBox="1"/>
          <p:nvPr/>
        </p:nvSpPr>
        <p:spPr>
          <a:xfrm>
            <a:off x="4170527" y="1925867"/>
            <a:ext cx="243849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rIns="0" rtlCol="1">
            <a:spAutoFit/>
          </a:bodyPr>
          <a:lstStyle/>
          <a:p>
            <a:r>
              <a:rPr lang="en-US" b="1" dirty="0"/>
              <a:t>ptr4</a:t>
            </a:r>
            <a:r>
              <a:rPr lang="en-US" dirty="0"/>
              <a:t> = </a:t>
            </a:r>
            <a:r>
              <a:rPr lang="en-US" dirty="0" err="1"/>
              <a:t>kmalloc</a:t>
            </a:r>
            <a:r>
              <a:rPr lang="en-US" dirty="0"/>
              <a:t> (1.5 MB)</a:t>
            </a:r>
            <a:endParaRPr lang="ar-EG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BA487B-6B7F-0E20-AF62-797633F90F79}"/>
              </a:ext>
            </a:extLst>
          </p:cNvPr>
          <p:cNvSpPr txBox="1"/>
          <p:nvPr/>
        </p:nvSpPr>
        <p:spPr>
          <a:xfrm>
            <a:off x="5791980" y="5812732"/>
            <a:ext cx="212598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 dirty="0"/>
              <a:t>x</a:t>
            </a:r>
            <a:r>
              <a:rPr lang="en-US" dirty="0"/>
              <a:t> = </a:t>
            </a:r>
            <a:r>
              <a:rPr lang="en-US" dirty="0" err="1"/>
              <a:t>kmalloc</a:t>
            </a:r>
            <a:r>
              <a:rPr lang="en-US" dirty="0"/>
              <a:t> (12 KB)</a:t>
            </a:r>
            <a:endParaRPr lang="ar-EG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D808C9-2109-657A-1CAB-F320F6CD6D1D}"/>
              </a:ext>
            </a:extLst>
          </p:cNvPr>
          <p:cNvSpPr txBox="1"/>
          <p:nvPr/>
        </p:nvSpPr>
        <p:spPr>
          <a:xfrm>
            <a:off x="8158005" y="5728066"/>
            <a:ext cx="3089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O(2 + 12KB/4KB)</a:t>
            </a:r>
            <a:endParaRPr lang="en-AE" sz="2800" b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A0357BB-208D-E7DE-8FAF-800252C264A0}"/>
              </a:ext>
            </a:extLst>
          </p:cNvPr>
          <p:cNvSpPr/>
          <p:nvPr/>
        </p:nvSpPr>
        <p:spPr>
          <a:xfrm>
            <a:off x="9351726" y="2258284"/>
            <a:ext cx="1996849" cy="310607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FREE</a:t>
            </a:r>
            <a:endParaRPr lang="en-AE" b="1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063276C-8D6D-2486-D4EB-4F3A732F5EE7}"/>
              </a:ext>
            </a:extLst>
          </p:cNvPr>
          <p:cNvSpPr/>
          <p:nvPr/>
        </p:nvSpPr>
        <p:spPr>
          <a:xfrm>
            <a:off x="9338537" y="4353615"/>
            <a:ext cx="1996849" cy="219771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FREE</a:t>
            </a:r>
            <a:endParaRPr lang="en-AE" b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7135A7-117A-2884-D68C-8AA0B5D0E6CE}"/>
              </a:ext>
            </a:extLst>
          </p:cNvPr>
          <p:cNvSpPr/>
          <p:nvPr/>
        </p:nvSpPr>
        <p:spPr>
          <a:xfrm>
            <a:off x="7046300" y="5808416"/>
            <a:ext cx="766612" cy="369331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2107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85185E-6 L -0.00092 -0.05625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2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34 -0.01134 L -0.00834 -0.01111 C -0.00391 -0.01458 0.00078 -0.0169 0.00521 -0.0206 C 0.00768 -0.02245 0.00989 -0.02546 0.01211 -0.02801 C 0.01471 -0.03148 0.01679 -0.03634 0.01966 -0.03866 C 0.02539 -0.04352 0.03164 -0.0456 0.03763 -0.04931 C 0.04075 -0.05116 0.04375 -0.0537 0.047 -0.05533 C 0.05078 -0.05718 0.06068 -0.06273 0.06653 -0.06435 C 0.06888 -0.06505 0.07109 -0.06551 0.07344 -0.06597 C 0.08216 -0.07107 0.07552 -0.06806 0.08789 -0.0706 C 0.11706 -0.07639 0.08073 -0.07107 0.12448 -0.07662 C 0.12734 -0.07755 0.13463 -0.08009 0.13646 -0.08102 C 0.13854 -0.08218 0.14036 -0.08449 0.14245 -0.08565 C 0.14466 -0.08704 0.147 -0.0875 0.14922 -0.08866 C 0.15091 -0.08958 0.1526 -0.09074 0.15429 -0.09167 C 0.15573 -0.09236 0.15729 -0.09236 0.15859 -0.09329 C 0.16002 -0.09398 0.16133 -0.0956 0.16289 -0.0963 C 0.16562 -0.09722 0.16862 -0.09722 0.17135 -0.09769 C 0.17422 -0.09884 0.17708 -0.09931 0.17995 -0.1007 C 0.19062 -0.10625 0.17044 -0.10417 0.19349 -0.10833 L 0.20208 -0.10995 C 0.20325 -0.11042 0.20429 -0.11088 0.20547 -0.11134 C 0.20638 -0.11181 0.20716 -0.1125 0.20807 -0.11296 C 0.21002 -0.11366 0.21198 -0.11389 0.21406 -0.11435 C 0.222 -0.11921 0.21614 -0.1162 0.22344 -0.11898 C 0.22448 -0.11945 0.22565 -0.12014 0.22682 -0.12037 C 0.23307 -0.12222 0.23346 -0.12153 0.23958 -0.12338 C 0.24219 -0.12431 0.24466 -0.1257 0.24726 -0.12662 C 0.25065 -0.12778 0.25403 -0.12847 0.25742 -0.12963 C 0.25885 -0.13148 0.26028 -0.13357 0.26172 -0.13565 C 0.2625 -0.13658 0.26341 -0.13935 0.26432 -0.13866 C 0.26536 -0.13773 0.26575 -0.13426 0.2651 -0.13264 C 0.26458 -0.13125 0.26341 -0.13357 0.26263 -0.13403 L 0.26263 -0.1338 " pathEditMode="relative" rAng="0" ptsTypes="AAAAAAAAAAAAAAAAAAAAAAAAAAAAAAAAAA">
                                      <p:cBhvr>
                                        <p:cTn id="81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85" y="-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3" grpId="0" animBg="1"/>
      <p:bldP spid="3" grpId="1" animBg="1"/>
      <p:bldP spid="23" grpId="0" animBg="1"/>
      <p:bldP spid="23" grpId="1" animBg="1"/>
      <p:bldP spid="25" grpId="0" animBg="1"/>
      <p:bldP spid="25" grpId="1" animBg="1"/>
      <p:bldP spid="37" grpId="0" animBg="1"/>
      <p:bldP spid="37" grpId="1" animBg="1"/>
      <p:bldP spid="38" grpId="0" animBg="1"/>
      <p:bldP spid="39" grpId="0"/>
      <p:bldP spid="40" grpId="0" animBg="1"/>
      <p:bldP spid="44" grpId="0" animBg="1"/>
      <p:bldP spid="4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BF8C8-A8E0-794E-E851-D768B22C9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47A865C8-95A7-6E1E-9F6A-DFC6A6022899}"/>
              </a:ext>
            </a:extLst>
          </p:cNvPr>
          <p:cNvGrpSpPr/>
          <p:nvPr/>
        </p:nvGrpSpPr>
        <p:grpSpPr>
          <a:xfrm>
            <a:off x="6897894" y="552453"/>
            <a:ext cx="5294106" cy="5178921"/>
            <a:chOff x="2498995" y="857756"/>
            <a:chExt cx="5294106" cy="517892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54D33B0-FC1D-7C98-7979-406C6652DE40}"/>
                </a:ext>
              </a:extLst>
            </p:cNvPr>
            <p:cNvSpPr/>
            <p:nvPr/>
          </p:nvSpPr>
          <p:spPr>
            <a:xfrm>
              <a:off x="4953000" y="5147400"/>
              <a:ext cx="1981200" cy="7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4 MB</a:t>
              </a:r>
              <a:endParaRPr lang="ar-EG" b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77F0180-D4A9-7189-2B27-6375388E8DA3}"/>
                </a:ext>
              </a:extLst>
            </p:cNvPr>
            <p:cNvSpPr/>
            <p:nvPr/>
          </p:nvSpPr>
          <p:spPr>
            <a:xfrm>
              <a:off x="4953000" y="2550027"/>
              <a:ext cx="1981200" cy="343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 sz="1200" b="1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6E69047-7AD8-08DB-A051-996EA9C67E09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4624975" y="5867400"/>
              <a:ext cx="3278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0B62595-9916-1AA1-1D4E-331BA7A7E930}"/>
                </a:ext>
              </a:extLst>
            </p:cNvPr>
            <p:cNvSpPr txBox="1"/>
            <p:nvPr/>
          </p:nvSpPr>
          <p:spPr>
            <a:xfrm>
              <a:off x="2498995" y="5698123"/>
              <a:ext cx="2125980" cy="338554"/>
            </a:xfrm>
            <a:prstGeom prst="rect">
              <a:avLst/>
            </a:prstGeom>
            <a:noFill/>
          </p:spPr>
          <p:txBody>
            <a:bodyPr wrap="square" lIns="0" rIns="0" rtlCol="1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kheapPageAllocStart</a:t>
              </a:r>
              <a:endParaRPr lang="en-A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5BCF9C-AEFB-9ECD-43D0-C1673B72B68F}"/>
                </a:ext>
              </a:extLst>
            </p:cNvPr>
            <p:cNvSpPr/>
            <p:nvPr/>
          </p:nvSpPr>
          <p:spPr>
            <a:xfrm>
              <a:off x="4953000" y="4641600"/>
              <a:ext cx="1981200" cy="54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5E57584-CD9F-8410-222B-D55469CDF956}"/>
                </a:ext>
              </a:extLst>
            </p:cNvPr>
            <p:cNvSpPr/>
            <p:nvPr/>
          </p:nvSpPr>
          <p:spPr>
            <a:xfrm>
              <a:off x="4953000" y="3365863"/>
              <a:ext cx="1981200" cy="25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1 MB</a:t>
              </a:r>
              <a:endParaRPr lang="ar-EG" b="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469858-0815-8B59-1C9C-B0F48E29B4FA}"/>
                </a:ext>
              </a:extLst>
            </p:cNvPr>
            <p:cNvSpPr/>
            <p:nvPr/>
          </p:nvSpPr>
          <p:spPr>
            <a:xfrm>
              <a:off x="4953000" y="3623400"/>
              <a:ext cx="1981200" cy="72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4CF786-5DC8-5023-C58F-B60663126783}"/>
                </a:ext>
              </a:extLst>
            </p:cNvPr>
            <p:cNvSpPr/>
            <p:nvPr/>
          </p:nvSpPr>
          <p:spPr>
            <a:xfrm>
              <a:off x="4953000" y="4288200"/>
              <a:ext cx="19812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2 MB</a:t>
              </a:r>
              <a:endParaRPr lang="ar-EG" b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99008C9-A706-208A-37FB-61D0EB187777}"/>
                </a:ext>
              </a:extLst>
            </p:cNvPr>
            <p:cNvSpPr/>
            <p:nvPr/>
          </p:nvSpPr>
          <p:spPr>
            <a:xfrm>
              <a:off x="4953000" y="975864"/>
              <a:ext cx="1981200" cy="12298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sz="1200" b="1"/>
                <a:t>.</a:t>
              </a:r>
            </a:p>
            <a:p>
              <a:pPr algn="ctr"/>
              <a:r>
                <a:rPr lang="en-US" sz="1200" b="1"/>
                <a:t>.</a:t>
              </a:r>
            </a:p>
            <a:p>
              <a:pPr algn="ctr"/>
              <a:r>
                <a:rPr lang="en-US" sz="1200" b="1"/>
                <a:t>.</a:t>
              </a:r>
              <a:endParaRPr lang="ar-EG" sz="1200" b="1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9391567-209D-B314-B7EB-F49F6D589CE8}"/>
                </a:ext>
              </a:extLst>
            </p:cNvPr>
            <p:cNvCxnSpPr>
              <a:cxnSpLocks/>
            </p:cNvCxnSpPr>
            <p:nvPr/>
          </p:nvCxnSpPr>
          <p:spPr>
            <a:xfrm>
              <a:off x="4594322" y="990351"/>
              <a:ext cx="381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F28A13B-7A77-71E6-4671-FA69382B45A2}"/>
                </a:ext>
              </a:extLst>
            </p:cNvPr>
            <p:cNvSpPr txBox="1"/>
            <p:nvPr/>
          </p:nvSpPr>
          <p:spPr>
            <a:xfrm>
              <a:off x="2647400" y="857756"/>
              <a:ext cx="1916615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 dirty="0"/>
                <a:t>KERNEL_HEAP_MAX</a:t>
              </a:r>
              <a:endParaRPr lang="ar-EG" sz="16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8B43DD3-4221-45FA-CB2A-CB068F58B522}"/>
                </a:ext>
              </a:extLst>
            </p:cNvPr>
            <p:cNvSpPr txBox="1"/>
            <p:nvPr/>
          </p:nvSpPr>
          <p:spPr>
            <a:xfrm>
              <a:off x="7149737" y="4753783"/>
              <a:ext cx="630301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 dirty="0"/>
                <a:t>3 MB</a:t>
              </a:r>
              <a:endParaRPr lang="ar-EG" sz="1600" b="1" dirty="0"/>
            </a:p>
          </p:txBody>
        </p:sp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4B285B48-0401-B74E-2218-B0236F45D109}"/>
                </a:ext>
              </a:extLst>
            </p:cNvPr>
            <p:cNvSpPr/>
            <p:nvPr/>
          </p:nvSpPr>
          <p:spPr>
            <a:xfrm>
              <a:off x="6973389" y="4648200"/>
              <a:ext cx="216000" cy="54000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2BC7DB2-C5EE-4B9F-8FBE-C9D84309FD64}"/>
                </a:ext>
              </a:extLst>
            </p:cNvPr>
            <p:cNvSpPr txBox="1"/>
            <p:nvPr/>
          </p:nvSpPr>
          <p:spPr>
            <a:xfrm>
              <a:off x="7162800" y="3782709"/>
              <a:ext cx="630301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/>
                <a:t>4 MB</a:t>
              </a:r>
              <a:endParaRPr lang="ar-EG" sz="1600" b="1"/>
            </a:p>
          </p:txBody>
        </p: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80A436F5-AB2E-9E0C-9F43-DA2293837CCC}"/>
                </a:ext>
              </a:extLst>
            </p:cNvPr>
            <p:cNvSpPr/>
            <p:nvPr/>
          </p:nvSpPr>
          <p:spPr>
            <a:xfrm>
              <a:off x="6986452" y="3632263"/>
              <a:ext cx="216000" cy="64800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DE9E79E6-079C-00AA-59D4-C3B5A831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DE70B62-F04B-D293-0AA5-F001001CC214}"/>
              </a:ext>
            </a:extLst>
          </p:cNvPr>
          <p:cNvGrpSpPr/>
          <p:nvPr/>
        </p:nvGrpSpPr>
        <p:grpSpPr>
          <a:xfrm>
            <a:off x="8137099" y="3323036"/>
            <a:ext cx="3176263" cy="573987"/>
            <a:chOff x="3733800" y="3492134"/>
            <a:chExt cx="3176263" cy="573987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CD02FAB-620A-07F0-887E-6098FCE74994}"/>
                </a:ext>
              </a:extLst>
            </p:cNvPr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DC81AC-2C8B-4DC3-5077-5441ADCEB0F9}"/>
                </a:ext>
              </a:extLst>
            </p:cNvPr>
            <p:cNvSpPr/>
            <p:nvPr/>
          </p:nvSpPr>
          <p:spPr>
            <a:xfrm>
              <a:off x="4966063" y="3492134"/>
              <a:ext cx="1944000" cy="484167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3 MB</a:t>
              </a:r>
              <a:endParaRPr lang="ar-EG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7D3B90-25F1-CB93-2FD6-F6B2011C3007}"/>
                </a:ext>
              </a:extLst>
            </p:cNvPr>
            <p:cNvSpPr txBox="1"/>
            <p:nvPr/>
          </p:nvSpPr>
          <p:spPr>
            <a:xfrm>
              <a:off x="3733800" y="3696789"/>
              <a:ext cx="649537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 dirty="0"/>
                <a:t>ptr3</a:t>
              </a:r>
              <a:endParaRPr lang="ar-EG" sz="1600" b="1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C6A7C02-636F-DDE8-6BF8-BB191480B3E4}"/>
              </a:ext>
            </a:extLst>
          </p:cNvPr>
          <p:cNvGrpSpPr/>
          <p:nvPr/>
        </p:nvGrpSpPr>
        <p:grpSpPr>
          <a:xfrm>
            <a:off x="8132698" y="3792179"/>
            <a:ext cx="3176264" cy="469626"/>
            <a:chOff x="3733799" y="4188743"/>
            <a:chExt cx="3176264" cy="469626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7116898-FE03-EBE4-9E7A-931C7CAAA3FA}"/>
                </a:ext>
              </a:extLst>
            </p:cNvPr>
            <p:cNvCxnSpPr/>
            <p:nvPr/>
          </p:nvCxnSpPr>
          <p:spPr>
            <a:xfrm>
              <a:off x="4343400" y="4393474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3E1D2F0-0F00-D980-8E9E-CD55400F12C3}"/>
                </a:ext>
              </a:extLst>
            </p:cNvPr>
            <p:cNvSpPr/>
            <p:nvPr/>
          </p:nvSpPr>
          <p:spPr>
            <a:xfrm>
              <a:off x="4966063" y="4188743"/>
              <a:ext cx="1944000" cy="18000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1 MB</a:t>
              </a:r>
              <a:endParaRPr lang="ar-EG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892B208-DE60-9759-C281-1A476631B27B}"/>
                </a:ext>
              </a:extLst>
            </p:cNvPr>
            <p:cNvSpPr txBox="1"/>
            <p:nvPr/>
          </p:nvSpPr>
          <p:spPr>
            <a:xfrm>
              <a:off x="3733799" y="4289037"/>
              <a:ext cx="685799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 dirty="0"/>
                <a:t>ptr2</a:t>
              </a:r>
              <a:endParaRPr lang="ar-EG" sz="1600" b="1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1C4341A-0678-6CD6-F20D-5D9EE64590E2}"/>
              </a:ext>
            </a:extLst>
          </p:cNvPr>
          <p:cNvGrpSpPr/>
          <p:nvPr/>
        </p:nvGrpSpPr>
        <p:grpSpPr>
          <a:xfrm>
            <a:off x="8137630" y="4569502"/>
            <a:ext cx="3176263" cy="447100"/>
            <a:chOff x="3733800" y="3619021"/>
            <a:chExt cx="3176263" cy="447100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42DC1A1-5C32-9BDB-8736-0EC14329B53C}"/>
                </a:ext>
              </a:extLst>
            </p:cNvPr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8FA20A2-729B-ED2E-69AE-7064BD230D90}"/>
                </a:ext>
              </a:extLst>
            </p:cNvPr>
            <p:cNvSpPr/>
            <p:nvPr/>
          </p:nvSpPr>
          <p:spPr>
            <a:xfrm>
              <a:off x="4966063" y="3619021"/>
              <a:ext cx="1944000" cy="29470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1.5 MB</a:t>
              </a:r>
              <a:endParaRPr lang="ar-EG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38ED7F0-2012-D858-9308-0348D250E54F}"/>
                </a:ext>
              </a:extLst>
            </p:cNvPr>
            <p:cNvSpPr txBox="1"/>
            <p:nvPr/>
          </p:nvSpPr>
          <p:spPr>
            <a:xfrm>
              <a:off x="3733800" y="3696789"/>
              <a:ext cx="586122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ptr4</a:t>
              </a:r>
              <a:endParaRPr lang="ar-EG" sz="1600" b="1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147469F0-C440-78F9-329C-40DE90EEBDC4}"/>
              </a:ext>
            </a:extLst>
          </p:cNvPr>
          <p:cNvSpPr/>
          <p:nvPr/>
        </p:nvSpPr>
        <p:spPr>
          <a:xfrm>
            <a:off x="9351898" y="1906422"/>
            <a:ext cx="1981200" cy="33830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/>
              <a:t>2 MB</a:t>
            </a:r>
            <a:endParaRPr lang="ar-EG" b="1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1B0B39D-9813-9D82-7EB7-DBCDB08D7E9E}"/>
              </a:ext>
            </a:extLst>
          </p:cNvPr>
          <p:cNvSpPr txBox="1">
            <a:spLocks/>
          </p:cNvSpPr>
          <p:nvPr/>
        </p:nvSpPr>
        <p:spPr>
          <a:xfrm>
            <a:off x="83850" y="891007"/>
            <a:ext cx="5968205" cy="496490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2800" b="1" dirty="0"/>
              <a:t>Make sure to:</a:t>
            </a:r>
            <a:endParaRPr lang="en-US" sz="2800" dirty="0"/>
          </a:p>
          <a:p>
            <a:pPr marL="0" indent="0">
              <a:lnSpc>
                <a:spcPct val="150000"/>
              </a:lnSpc>
            </a:pPr>
            <a:r>
              <a:rPr lang="en-US" sz="2400" b="1" dirty="0"/>
              <a:t>1.</a:t>
            </a:r>
            <a:r>
              <a:rPr lang="en-US" sz="2400" dirty="0"/>
              <a:t> Merge adjacent blocks</a:t>
            </a:r>
            <a:endParaRPr lang="en-US" sz="2400" b="1" dirty="0"/>
          </a:p>
          <a:p>
            <a:pPr marL="0" indent="0">
              <a:lnSpc>
                <a:spcPct val="150000"/>
              </a:lnSpc>
            </a:pPr>
            <a:r>
              <a:rPr lang="en-US" sz="2400" b="1" dirty="0"/>
              <a:t>2. </a:t>
            </a:r>
            <a:r>
              <a:rPr lang="en-US" sz="2400" dirty="0"/>
              <a:t>Update the </a:t>
            </a:r>
            <a:r>
              <a:rPr lang="en-US" sz="2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kheapPageAllocBreak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/>
              <a:t>if freeing the last space</a:t>
            </a:r>
          </a:p>
          <a:p>
            <a:pPr marL="0" indent="0"/>
            <a:r>
              <a:rPr lang="en-US" sz="2400" b="1" dirty="0"/>
              <a:t>Required Complexity: </a:t>
            </a:r>
            <a:r>
              <a:rPr lang="en-US" sz="2400" b="1" dirty="0">
                <a:solidFill>
                  <a:srgbClr val="FF0000"/>
                </a:solidFill>
              </a:rPr>
              <a:t>bounded by</a:t>
            </a:r>
          </a:p>
          <a:p>
            <a:pPr marL="0" indent="0"/>
            <a:r>
              <a:rPr lang="en-US" sz="2400" b="1" dirty="0">
                <a:solidFill>
                  <a:srgbClr val="FF0000"/>
                </a:solidFill>
              </a:rPr>
              <a:t>O(# FREE areas + # freed pages)</a:t>
            </a:r>
            <a:endParaRPr lang="en-US" sz="2400" b="1" dirty="0"/>
          </a:p>
          <a:p>
            <a:pPr marL="0" indent="0"/>
            <a:endParaRPr lang="en-US" sz="2400" dirty="0"/>
          </a:p>
          <a:p>
            <a:pPr marL="0" indent="0">
              <a:lnSpc>
                <a:spcPct val="150000"/>
              </a:lnSpc>
            </a:pPr>
            <a:endParaRPr lang="en-US" sz="2400" b="1" dirty="0"/>
          </a:p>
          <a:p>
            <a:pPr marL="0" indent="0">
              <a:lnSpc>
                <a:spcPct val="150000"/>
              </a:lnSpc>
            </a:pPr>
            <a:endParaRPr lang="en-US" sz="2400" dirty="0"/>
          </a:p>
          <a:p>
            <a:pPr marL="0" indent="0">
              <a:lnSpc>
                <a:spcPct val="150000"/>
              </a:lnSpc>
              <a:buFont typeface="Calibri" panose="020F0502020204030204" pitchFamily="34" charset="0"/>
              <a:buNone/>
            </a:pPr>
            <a:endParaRPr lang="ar-EG" sz="1600" dirty="0">
              <a:latin typeface="Consolas" panose="020B0609020204030204" pitchFamily="49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471E218-FD5C-4339-C703-DC2282005836}"/>
              </a:ext>
            </a:extLst>
          </p:cNvPr>
          <p:cNvGrpSpPr/>
          <p:nvPr/>
        </p:nvGrpSpPr>
        <p:grpSpPr>
          <a:xfrm>
            <a:off x="6921121" y="1355592"/>
            <a:ext cx="2453832" cy="338554"/>
            <a:chOff x="6897894" y="1747606"/>
            <a:chExt cx="2453832" cy="338554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33AFB34-7B88-7954-2DA2-281B6CFCEA29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>
              <a:off x="9023874" y="1916883"/>
              <a:ext cx="3278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9C5DAAD-F07A-BEBD-E214-FA46F44413A3}"/>
                </a:ext>
              </a:extLst>
            </p:cNvPr>
            <p:cNvSpPr txBox="1"/>
            <p:nvPr/>
          </p:nvSpPr>
          <p:spPr>
            <a:xfrm>
              <a:off x="6897894" y="1747606"/>
              <a:ext cx="2125980" cy="338554"/>
            </a:xfrm>
            <a:prstGeom prst="rect">
              <a:avLst/>
            </a:prstGeom>
            <a:noFill/>
          </p:spPr>
          <p:txBody>
            <a:bodyPr wrap="square" lIns="0" rIns="0" rtlCol="1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kheapPageAllocBreak</a:t>
              </a:r>
              <a:endParaRPr lang="en-AE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8" name="Title 1">
            <a:extLst>
              <a:ext uri="{FF2B5EF4-FFF2-40B4-BE49-F238E27FC236}">
                <a16:creationId xmlns:a16="http://schemas.microsoft.com/office/drawing/2014/main" id="{9C23D501-93D5-8F00-A5E7-6C14F4C1D69D}"/>
              </a:ext>
            </a:extLst>
          </p:cNvPr>
          <p:cNvSpPr txBox="1">
            <a:spLocks/>
          </p:cNvSpPr>
          <p:nvPr/>
        </p:nvSpPr>
        <p:spPr>
          <a:xfrm>
            <a:off x="0" y="5822"/>
            <a:ext cx="12178938" cy="7776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Kernel Heap – </a:t>
            </a:r>
            <a:r>
              <a:rPr lang="en-US" b="1" dirty="0">
                <a:solidFill>
                  <a:srgbClr val="FF0000"/>
                </a:solidFill>
              </a:rPr>
              <a:t>Page Allocator (</a:t>
            </a:r>
            <a:r>
              <a:rPr lang="en-US" b="1" dirty="0" err="1"/>
              <a:t>kfree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/>
              <a:t> </a:t>
            </a:r>
            <a:endParaRPr lang="en-AE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753E663-0460-4007-B0D0-A399E0ED6623}"/>
              </a:ext>
            </a:extLst>
          </p:cNvPr>
          <p:cNvSpPr/>
          <p:nvPr/>
        </p:nvSpPr>
        <p:spPr>
          <a:xfrm>
            <a:off x="9351898" y="2795498"/>
            <a:ext cx="1981200" cy="25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90AA805-E26C-F136-B7DD-0D1B867C0F48}"/>
              </a:ext>
            </a:extLst>
          </p:cNvPr>
          <p:cNvSpPr/>
          <p:nvPr/>
        </p:nvSpPr>
        <p:spPr>
          <a:xfrm>
            <a:off x="9355175" y="2586636"/>
            <a:ext cx="1981200" cy="25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/>
              <a:t>1 MB</a:t>
            </a:r>
            <a:endParaRPr lang="ar-EG" b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1FEB2A-C81F-F60F-ECA5-1CEDA255A282}"/>
              </a:ext>
            </a:extLst>
          </p:cNvPr>
          <p:cNvSpPr txBox="1"/>
          <p:nvPr/>
        </p:nvSpPr>
        <p:spPr>
          <a:xfrm>
            <a:off x="11530493" y="2795498"/>
            <a:ext cx="657552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 dirty="0"/>
              <a:t>1 MB</a:t>
            </a:r>
            <a:endParaRPr lang="ar-EG" sz="1600" b="1" dirty="0"/>
          </a:p>
        </p:txBody>
      </p:sp>
      <p:sp>
        <p:nvSpPr>
          <p:cNvPr id="62" name="Right Brace 61">
            <a:extLst>
              <a:ext uri="{FF2B5EF4-FFF2-40B4-BE49-F238E27FC236}">
                <a16:creationId xmlns:a16="http://schemas.microsoft.com/office/drawing/2014/main" id="{E9778721-D807-F131-5FDA-2BC9960620ED}"/>
              </a:ext>
            </a:extLst>
          </p:cNvPr>
          <p:cNvSpPr/>
          <p:nvPr/>
        </p:nvSpPr>
        <p:spPr>
          <a:xfrm>
            <a:off x="11333098" y="2858709"/>
            <a:ext cx="165379" cy="18661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376B97-438E-F7E9-1E60-04BA8A22A3B6}"/>
              </a:ext>
            </a:extLst>
          </p:cNvPr>
          <p:cNvGrpSpPr/>
          <p:nvPr/>
        </p:nvGrpSpPr>
        <p:grpSpPr>
          <a:xfrm>
            <a:off x="8132699" y="2842660"/>
            <a:ext cx="3176263" cy="409995"/>
            <a:chOff x="3733800" y="4188743"/>
            <a:chExt cx="3176263" cy="409995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AB6A2C2-779D-89FD-6143-99A4A12249EE}"/>
                </a:ext>
              </a:extLst>
            </p:cNvPr>
            <p:cNvCxnSpPr/>
            <p:nvPr/>
          </p:nvCxnSpPr>
          <p:spPr>
            <a:xfrm>
              <a:off x="4343400" y="4393474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4CBBD6A-F431-1465-A0D5-31602CE8E1E4}"/>
                </a:ext>
              </a:extLst>
            </p:cNvPr>
            <p:cNvSpPr/>
            <p:nvPr/>
          </p:nvSpPr>
          <p:spPr>
            <a:xfrm>
              <a:off x="4966063" y="4188743"/>
              <a:ext cx="1944000" cy="218916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1 MB</a:t>
              </a:r>
              <a:endParaRPr lang="ar-EG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89CE02B-AF0A-C30B-A2A2-E431B5F95C8D}"/>
                </a:ext>
              </a:extLst>
            </p:cNvPr>
            <p:cNvSpPr txBox="1"/>
            <p:nvPr/>
          </p:nvSpPr>
          <p:spPr>
            <a:xfrm>
              <a:off x="3733800" y="4229406"/>
              <a:ext cx="685798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 dirty="0"/>
                <a:t>ptr1</a:t>
              </a:r>
              <a:endParaRPr lang="ar-EG" sz="1600" b="1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EDC56526-3086-B158-E075-DB9AD769D78C}"/>
              </a:ext>
            </a:extLst>
          </p:cNvPr>
          <p:cNvSpPr txBox="1"/>
          <p:nvPr/>
        </p:nvSpPr>
        <p:spPr>
          <a:xfrm>
            <a:off x="11544118" y="2258284"/>
            <a:ext cx="657552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 dirty="0"/>
              <a:t>2 MB</a:t>
            </a:r>
            <a:endParaRPr lang="ar-EG" sz="1600" b="1" dirty="0"/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73C6F0A4-19E8-BFB0-D5D9-550D4186436D}"/>
              </a:ext>
            </a:extLst>
          </p:cNvPr>
          <p:cNvSpPr/>
          <p:nvPr/>
        </p:nvSpPr>
        <p:spPr>
          <a:xfrm>
            <a:off x="11351851" y="2251260"/>
            <a:ext cx="196785" cy="33855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0C3B837-D48C-0548-500D-9990009E0CDB}"/>
              </a:ext>
            </a:extLst>
          </p:cNvPr>
          <p:cNvSpPr/>
          <p:nvPr/>
        </p:nvSpPr>
        <p:spPr>
          <a:xfrm>
            <a:off x="9364962" y="687309"/>
            <a:ext cx="1972719" cy="1225620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 dirty="0"/>
              <a:t>UNUSED</a:t>
            </a:r>
            <a:endParaRPr lang="en-AE" b="1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A5772AB-A3AD-D825-8FFD-EE474A135438}"/>
              </a:ext>
            </a:extLst>
          </p:cNvPr>
          <p:cNvSpPr/>
          <p:nvPr/>
        </p:nvSpPr>
        <p:spPr>
          <a:xfrm>
            <a:off x="9360379" y="687308"/>
            <a:ext cx="1972719" cy="817220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 dirty="0"/>
              <a:t>UNUSED</a:t>
            </a:r>
            <a:endParaRPr lang="en-AE" b="1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B4D1974-312A-B2B9-48B1-637EB8A2B967}"/>
              </a:ext>
            </a:extLst>
          </p:cNvPr>
          <p:cNvGrpSpPr/>
          <p:nvPr/>
        </p:nvGrpSpPr>
        <p:grpSpPr>
          <a:xfrm>
            <a:off x="8141105" y="1517839"/>
            <a:ext cx="3176263" cy="474118"/>
            <a:chOff x="3733800" y="3592003"/>
            <a:chExt cx="3176263" cy="474118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A535C59-031C-A126-7BD2-C7DD1776F907}"/>
                </a:ext>
              </a:extLst>
            </p:cNvPr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8E5FCF0-933F-6780-6A20-9E6894CBA60E}"/>
                </a:ext>
              </a:extLst>
            </p:cNvPr>
            <p:cNvSpPr/>
            <p:nvPr/>
          </p:nvSpPr>
          <p:spPr>
            <a:xfrm>
              <a:off x="4966063" y="3592003"/>
              <a:ext cx="1944000" cy="384298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2.5 MB</a:t>
              </a:r>
              <a:endParaRPr lang="ar-EG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B3C509D-7CBB-41AA-BFD4-929DE205B73A}"/>
                </a:ext>
              </a:extLst>
            </p:cNvPr>
            <p:cNvSpPr txBox="1"/>
            <p:nvPr/>
          </p:nvSpPr>
          <p:spPr>
            <a:xfrm>
              <a:off x="3733800" y="3696789"/>
              <a:ext cx="649537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 dirty="0"/>
                <a:t>ptr5</a:t>
              </a:r>
              <a:endParaRPr lang="ar-EG" sz="1600" b="1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EFF7087-2B24-BA68-AE19-7396500A02EC}"/>
              </a:ext>
            </a:extLst>
          </p:cNvPr>
          <p:cNvSpPr txBox="1"/>
          <p:nvPr/>
        </p:nvSpPr>
        <p:spPr>
          <a:xfrm>
            <a:off x="6598520" y="2906408"/>
            <a:ext cx="1521068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 dirty="0" err="1"/>
              <a:t>kfree</a:t>
            </a:r>
            <a:r>
              <a:rPr lang="en-US" dirty="0"/>
              <a:t> (ptr1)</a:t>
            </a:r>
            <a:endParaRPr lang="ar-E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28F1C-F7B8-28B0-9E66-61914B3734B5}"/>
              </a:ext>
            </a:extLst>
          </p:cNvPr>
          <p:cNvSpPr txBox="1"/>
          <p:nvPr/>
        </p:nvSpPr>
        <p:spPr>
          <a:xfrm>
            <a:off x="6585457" y="3456299"/>
            <a:ext cx="1538531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 dirty="0" err="1"/>
              <a:t>kfree</a:t>
            </a:r>
            <a:r>
              <a:rPr lang="en-US" dirty="0"/>
              <a:t> (ptr3)</a:t>
            </a:r>
            <a:endParaRPr lang="ar-E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695E4-3239-3DF8-7D2D-8B34D0244B00}"/>
              </a:ext>
            </a:extLst>
          </p:cNvPr>
          <p:cNvSpPr txBox="1"/>
          <p:nvPr/>
        </p:nvSpPr>
        <p:spPr>
          <a:xfrm>
            <a:off x="6581057" y="3849769"/>
            <a:ext cx="1538531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 dirty="0" err="1"/>
              <a:t>kfree</a:t>
            </a:r>
            <a:r>
              <a:rPr lang="en-US" dirty="0"/>
              <a:t> (ptr2)</a:t>
            </a:r>
            <a:endParaRPr lang="ar-EG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8F1236-AFB9-6D83-3B8C-546E12B1A04A}"/>
              </a:ext>
            </a:extLst>
          </p:cNvPr>
          <p:cNvSpPr/>
          <p:nvPr/>
        </p:nvSpPr>
        <p:spPr>
          <a:xfrm>
            <a:off x="9364962" y="3326341"/>
            <a:ext cx="1965643" cy="4397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3MB Free</a:t>
            </a:r>
            <a:endParaRPr lang="en-AE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419873-3A37-87D2-CEE6-A15EF49754A4}"/>
              </a:ext>
            </a:extLst>
          </p:cNvPr>
          <p:cNvSpPr/>
          <p:nvPr/>
        </p:nvSpPr>
        <p:spPr>
          <a:xfrm>
            <a:off x="9351725" y="3312560"/>
            <a:ext cx="1965643" cy="6582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4MB Free</a:t>
            </a:r>
            <a:endParaRPr lang="en-AE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0F57BC-26E6-0B37-BC29-D9DC68FB7E06}"/>
              </a:ext>
            </a:extLst>
          </p:cNvPr>
          <p:cNvSpPr txBox="1"/>
          <p:nvPr/>
        </p:nvSpPr>
        <p:spPr>
          <a:xfrm>
            <a:off x="6581057" y="1728036"/>
            <a:ext cx="1564331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0" rIns="0" rtlCol="1">
            <a:spAutoFit/>
          </a:bodyPr>
          <a:lstStyle/>
          <a:p>
            <a:r>
              <a:rPr lang="en-US" b="1" dirty="0" err="1"/>
              <a:t>kfree</a:t>
            </a:r>
            <a:r>
              <a:rPr lang="en-US" dirty="0"/>
              <a:t> (ptr5)</a:t>
            </a:r>
            <a:endParaRPr lang="ar-E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371DBA-965E-4E55-6014-E645A418F542}"/>
              </a:ext>
            </a:extLst>
          </p:cNvPr>
          <p:cNvSpPr txBox="1"/>
          <p:nvPr/>
        </p:nvSpPr>
        <p:spPr>
          <a:xfrm>
            <a:off x="1857865" y="4882897"/>
            <a:ext cx="3231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O(3 + 1.5MB/4KB)</a:t>
            </a:r>
            <a:endParaRPr lang="en-AE" sz="28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C85A26-9F03-344E-CDC5-4149551B6410}"/>
              </a:ext>
            </a:extLst>
          </p:cNvPr>
          <p:cNvSpPr txBox="1"/>
          <p:nvPr/>
        </p:nvSpPr>
        <p:spPr>
          <a:xfrm>
            <a:off x="365995" y="4988460"/>
            <a:ext cx="136520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rIns="0" rtlCol="1">
            <a:spAutoFit/>
          </a:bodyPr>
          <a:lstStyle/>
          <a:p>
            <a:r>
              <a:rPr lang="en-US" dirty="0" err="1"/>
              <a:t>kfree</a:t>
            </a:r>
            <a:r>
              <a:rPr lang="en-US" dirty="0"/>
              <a:t> (ptr4)</a:t>
            </a:r>
            <a:endParaRPr lang="ar-EG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9A1870-A2F1-C29C-2463-D81C32AB0091}"/>
              </a:ext>
            </a:extLst>
          </p:cNvPr>
          <p:cNvSpPr/>
          <p:nvPr/>
        </p:nvSpPr>
        <p:spPr>
          <a:xfrm>
            <a:off x="9351726" y="2258284"/>
            <a:ext cx="1996849" cy="310607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FREE</a:t>
            </a:r>
            <a:endParaRPr lang="en-AE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B6E797-13D3-04C7-6A76-C95948D3CB2F}"/>
              </a:ext>
            </a:extLst>
          </p:cNvPr>
          <p:cNvSpPr/>
          <p:nvPr/>
        </p:nvSpPr>
        <p:spPr>
          <a:xfrm>
            <a:off x="9342937" y="3310949"/>
            <a:ext cx="1996849" cy="671522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FREE</a:t>
            </a:r>
            <a:endParaRPr lang="en-AE" sz="3200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0836DF-C5BE-58ED-4AE9-7B3CE45A9D64}"/>
              </a:ext>
            </a:extLst>
          </p:cNvPr>
          <p:cNvSpPr/>
          <p:nvPr/>
        </p:nvSpPr>
        <p:spPr>
          <a:xfrm>
            <a:off x="9351726" y="4356910"/>
            <a:ext cx="1996849" cy="206242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FREE</a:t>
            </a:r>
            <a:endParaRPr lang="en-AE" b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43A583-620F-F72F-5520-AC12EF3243AB}"/>
              </a:ext>
            </a:extLst>
          </p:cNvPr>
          <p:cNvSpPr/>
          <p:nvPr/>
        </p:nvSpPr>
        <p:spPr>
          <a:xfrm>
            <a:off x="9964477" y="4569501"/>
            <a:ext cx="766612" cy="291851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3747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22222E-6 L -0.00221 0.05324 " pathEditMode="relative" rAng="0" ptsTypes="AA">
                                      <p:cBhvr>
                                        <p:cTn id="63" dur="1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2662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5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24" grpId="0" animBg="1"/>
      <p:bldP spid="23" grpId="0" animBg="1"/>
      <p:bldP spid="25" grpId="0" animBg="1"/>
      <p:bldP spid="25" grpId="1" animBg="1"/>
      <p:bldP spid="26" grpId="0"/>
      <p:bldP spid="35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18521" y="836713"/>
            <a:ext cx="12120091" cy="121453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b="1" dirty="0" err="1"/>
              <a:t>kheap_physical_address</a:t>
            </a:r>
            <a:r>
              <a:rPr lang="en-US" sz="2800" b="1" dirty="0"/>
              <a:t>(): </a:t>
            </a:r>
            <a:r>
              <a:rPr lang="en-US" sz="2800" dirty="0"/>
              <a:t>find physical address of the given kernel one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sz="2800" b="1" dirty="0" err="1"/>
              <a:t>kheap_virtual_address</a:t>
            </a:r>
            <a:r>
              <a:rPr lang="en-US" sz="2800" b="1" dirty="0"/>
              <a:t>(): </a:t>
            </a:r>
            <a:r>
              <a:rPr lang="en-US" sz="2800" dirty="0"/>
              <a:t>find kernel virtual </a:t>
            </a:r>
            <a:r>
              <a:rPr lang="en-US" sz="2800" dirty="0" err="1"/>
              <a:t>addr</a:t>
            </a:r>
            <a:r>
              <a:rPr lang="en-US" sz="2800" dirty="0"/>
              <a:t> of the given physical one</a:t>
            </a:r>
          </a:p>
          <a:p>
            <a:pPr marL="514350" indent="-514350">
              <a:buFont typeface="+mj-lt"/>
              <a:buAutoNum type="arabicPeriod" startAt="3"/>
            </a:pPr>
            <a:endParaRPr lang="en-US" sz="2800" dirty="0"/>
          </a:p>
          <a:p>
            <a:pPr>
              <a:buNone/>
            </a:pPr>
            <a:endParaRPr lang="en-US" sz="2800" dirty="0"/>
          </a:p>
        </p:txBody>
      </p:sp>
      <p:sp>
        <p:nvSpPr>
          <p:cNvPr id="5" name="Text Box 818"/>
          <p:cNvSpPr txBox="1">
            <a:spLocks noChangeArrowheads="1"/>
          </p:cNvSpPr>
          <p:nvPr/>
        </p:nvSpPr>
        <p:spPr bwMode="auto">
          <a:xfrm>
            <a:off x="3648076" y="2583551"/>
            <a:ext cx="4524373" cy="884491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</a:pPr>
            <a:r>
              <a:rPr lang="en-US" sz="2800" b="1" dirty="0" err="1"/>
              <a:t>kheap_physical_address</a:t>
            </a:r>
            <a:r>
              <a:rPr lang="en-US" sz="2800" b="1" dirty="0">
                <a:latin typeface="Calibri" pitchFamily="34" charset="0"/>
                <a:ea typeface="Arial" pitchFamily="34" charset="0"/>
                <a:cs typeface="Arial" pitchFamily="34" charset="0"/>
              </a:rPr>
              <a:t>()</a:t>
            </a:r>
          </a:p>
          <a:p>
            <a:pPr algn="ctr">
              <a:lnSpc>
                <a:spcPct val="115000"/>
              </a:lnSpc>
            </a:pPr>
            <a:r>
              <a:rPr lang="en-US" sz="2000" b="1" dirty="0">
                <a:ea typeface="Times New Roman"/>
                <a:cs typeface="Arial"/>
              </a:rPr>
              <a:t>Get </a:t>
            </a:r>
            <a:r>
              <a:rPr lang="en-US" sz="2000" b="1" dirty="0">
                <a:solidFill>
                  <a:srgbClr val="FF0000"/>
                </a:solidFill>
                <a:ea typeface="Times New Roman"/>
                <a:cs typeface="Arial"/>
              </a:rPr>
              <a:t>pa</a:t>
            </a:r>
            <a:r>
              <a:rPr lang="en-US" sz="2000" b="1" dirty="0">
                <a:ea typeface="Times New Roman"/>
                <a:cs typeface="Arial"/>
              </a:rPr>
              <a:t> of the given </a:t>
            </a:r>
            <a:r>
              <a:rPr lang="en-US" sz="2000" b="1" dirty="0" err="1">
                <a:solidFill>
                  <a:srgbClr val="00B050"/>
                </a:solidFill>
                <a:ea typeface="Times New Roman"/>
                <a:cs typeface="Arial"/>
              </a:rPr>
              <a:t>va</a:t>
            </a:r>
            <a:endParaRPr lang="en-US" sz="3200" dirty="0">
              <a:ea typeface="Times New Roman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libri" pitchFamily="34" charset="0"/>
                <a:ea typeface="Arial" pitchFamily="34" charset="0"/>
                <a:cs typeface="Arial" pitchFamily="34" charset="0"/>
              </a:rPr>
              <a:t> </a:t>
            </a:r>
            <a:endParaRPr lang="en-US" sz="4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4278313" y="3503800"/>
            <a:ext cx="1133210" cy="2830006"/>
            <a:chOff x="4775" y="2975"/>
            <a:chExt cx="1109" cy="1640"/>
          </a:xfrm>
        </p:grpSpPr>
        <p:sp>
          <p:nvSpPr>
            <p:cNvPr id="7" name="Text Box 28"/>
            <p:cNvSpPr txBox="1">
              <a:spLocks noChangeArrowheads="1"/>
            </p:cNvSpPr>
            <p:nvPr/>
          </p:nvSpPr>
          <p:spPr bwMode="auto">
            <a:xfrm>
              <a:off x="4775" y="2975"/>
              <a:ext cx="1109" cy="16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Rectangle 30"/>
            <p:cNvSpPr>
              <a:spLocks noChangeArrowheads="1"/>
            </p:cNvSpPr>
            <p:nvPr/>
          </p:nvSpPr>
          <p:spPr bwMode="auto">
            <a:xfrm>
              <a:off x="4786" y="3003"/>
              <a:ext cx="1080" cy="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400" b="1">
                  <a:solidFill>
                    <a:srgbClr val="244061"/>
                  </a:solidFill>
                  <a:latin typeface="Calibri" pitchFamily="34" charset="0"/>
                  <a:ea typeface="Arial" pitchFamily="34" charset="0"/>
                  <a:cs typeface="Arial" pitchFamily="34" charset="0"/>
                </a:rPr>
                <a:t>KERNEL HEAP</a:t>
              </a:r>
            </a:p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9" name="Group 30"/>
          <p:cNvGrpSpPr>
            <a:grpSpLocks/>
          </p:cNvGrpSpPr>
          <p:nvPr/>
        </p:nvGrpSpPr>
        <p:grpSpPr bwMode="auto">
          <a:xfrm>
            <a:off x="4294032" y="5473666"/>
            <a:ext cx="1098914" cy="610149"/>
            <a:chOff x="7514" y="4000"/>
            <a:chExt cx="722" cy="586"/>
          </a:xfrm>
        </p:grpSpPr>
        <p:sp>
          <p:nvSpPr>
            <p:cNvPr id="10" name="Rectangle 814"/>
            <p:cNvSpPr>
              <a:spLocks noChangeArrowheads="1"/>
            </p:cNvSpPr>
            <p:nvPr/>
          </p:nvSpPr>
          <p:spPr bwMode="auto">
            <a:xfrm>
              <a:off x="7517" y="4182"/>
              <a:ext cx="719" cy="200"/>
            </a:xfrm>
            <a:prstGeom prst="rect">
              <a:avLst/>
            </a:prstGeom>
            <a:gradFill rotWithShape="1">
              <a:gsLst>
                <a:gs pos="0">
                  <a:srgbClr val="00B0F0"/>
                </a:gs>
                <a:gs pos="100000">
                  <a:srgbClr val="00B0F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Rectangle 816"/>
            <p:cNvSpPr>
              <a:spLocks noChangeArrowheads="1"/>
            </p:cNvSpPr>
            <p:nvPr/>
          </p:nvSpPr>
          <p:spPr bwMode="auto">
            <a:xfrm>
              <a:off x="7517" y="4000"/>
              <a:ext cx="719" cy="201"/>
            </a:xfrm>
            <a:prstGeom prst="rect">
              <a:avLst/>
            </a:prstGeom>
            <a:gradFill rotWithShape="1">
              <a:gsLst>
                <a:gs pos="0">
                  <a:srgbClr val="00B0F0"/>
                </a:gs>
                <a:gs pos="100000">
                  <a:srgbClr val="00B0F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814"/>
            <p:cNvSpPr>
              <a:spLocks noChangeArrowheads="1"/>
            </p:cNvSpPr>
            <p:nvPr/>
          </p:nvSpPr>
          <p:spPr bwMode="auto">
            <a:xfrm>
              <a:off x="7514" y="4386"/>
              <a:ext cx="719" cy="200"/>
            </a:xfrm>
            <a:prstGeom prst="rect">
              <a:avLst/>
            </a:prstGeom>
            <a:gradFill rotWithShape="1">
              <a:gsLst>
                <a:gs pos="0">
                  <a:srgbClr val="00B0F0"/>
                </a:gs>
                <a:gs pos="100000">
                  <a:srgbClr val="00B0F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" name="Group 37"/>
          <p:cNvGrpSpPr>
            <a:grpSpLocks/>
          </p:cNvGrpSpPr>
          <p:nvPr/>
        </p:nvGrpSpPr>
        <p:grpSpPr bwMode="auto">
          <a:xfrm>
            <a:off x="6393257" y="3479814"/>
            <a:ext cx="1133210" cy="2595007"/>
            <a:chOff x="4775" y="2975"/>
            <a:chExt cx="1109" cy="1731"/>
          </a:xfrm>
        </p:grpSpPr>
        <p:sp>
          <p:nvSpPr>
            <p:cNvPr id="17" name="Text Box 28"/>
            <p:cNvSpPr txBox="1">
              <a:spLocks noChangeArrowheads="1"/>
            </p:cNvSpPr>
            <p:nvPr/>
          </p:nvSpPr>
          <p:spPr bwMode="auto">
            <a:xfrm>
              <a:off x="4775" y="2975"/>
              <a:ext cx="1109" cy="173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Rectangle 30"/>
            <p:cNvSpPr>
              <a:spLocks noChangeArrowheads="1"/>
            </p:cNvSpPr>
            <p:nvPr/>
          </p:nvSpPr>
          <p:spPr bwMode="auto">
            <a:xfrm>
              <a:off x="4786" y="3003"/>
              <a:ext cx="1080" cy="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</a:pPr>
              <a:r>
                <a:rPr lang="en-US" sz="1600" b="1">
                  <a:solidFill>
                    <a:srgbClr val="244061"/>
                  </a:solidFill>
                  <a:latin typeface="Calibri" pitchFamily="34" charset="0"/>
                  <a:ea typeface="Arial" pitchFamily="34" charset="0"/>
                  <a:cs typeface="Arial" pitchFamily="34" charset="0"/>
                </a:rPr>
                <a:t>RAM </a:t>
              </a:r>
            </a:p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393257" y="3989520"/>
            <a:ext cx="1110346" cy="2070308"/>
            <a:chOff x="4857682" y="4636279"/>
            <a:chExt cx="1110346" cy="2070308"/>
          </a:xfrm>
        </p:grpSpPr>
        <p:sp>
          <p:nvSpPr>
            <p:cNvPr id="20" name="Rectangle 814"/>
            <p:cNvSpPr>
              <a:spLocks noChangeArrowheads="1"/>
            </p:cNvSpPr>
            <p:nvPr/>
          </p:nvSpPr>
          <p:spPr bwMode="auto">
            <a:xfrm>
              <a:off x="4863398" y="4636279"/>
              <a:ext cx="1094627" cy="208380"/>
            </a:xfrm>
            <a:prstGeom prst="rect">
              <a:avLst/>
            </a:prstGeom>
            <a:gradFill rotWithShape="1">
              <a:gsLst>
                <a:gs pos="0">
                  <a:srgbClr val="00B0F0"/>
                </a:gs>
                <a:gs pos="100000">
                  <a:srgbClr val="00B0F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816"/>
            <p:cNvSpPr>
              <a:spLocks noChangeArrowheads="1"/>
            </p:cNvSpPr>
            <p:nvPr/>
          </p:nvSpPr>
          <p:spPr bwMode="auto">
            <a:xfrm>
              <a:off x="4857682" y="5520770"/>
              <a:ext cx="1094627" cy="209879"/>
            </a:xfrm>
            <a:prstGeom prst="rect">
              <a:avLst/>
            </a:prstGeom>
            <a:gradFill rotWithShape="1">
              <a:gsLst>
                <a:gs pos="0">
                  <a:srgbClr val="00B0F0"/>
                </a:gs>
                <a:gs pos="100000">
                  <a:srgbClr val="00B0F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Rectangle 814"/>
            <p:cNvSpPr>
              <a:spLocks noChangeArrowheads="1"/>
            </p:cNvSpPr>
            <p:nvPr/>
          </p:nvSpPr>
          <p:spPr bwMode="auto">
            <a:xfrm>
              <a:off x="4873401" y="6498207"/>
              <a:ext cx="1094627" cy="208380"/>
            </a:xfrm>
            <a:prstGeom prst="rect">
              <a:avLst/>
            </a:prstGeom>
            <a:gradFill rotWithShape="1">
              <a:gsLst>
                <a:gs pos="0">
                  <a:srgbClr val="00B0F0"/>
                </a:gs>
                <a:gs pos="100000">
                  <a:srgbClr val="00B0F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388380" y="4057476"/>
            <a:ext cx="1020596" cy="1885984"/>
            <a:chOff x="3864380" y="4017509"/>
            <a:chExt cx="1020596" cy="1885984"/>
          </a:xfrm>
        </p:grpSpPr>
        <p:cxnSp>
          <p:nvCxnSpPr>
            <p:cNvPr id="33" name="AutoShape 45"/>
            <p:cNvCxnSpPr>
              <a:cxnSpLocks noChangeShapeType="1"/>
              <a:stCxn id="12" idx="3"/>
              <a:endCxn id="22" idx="1"/>
            </p:cNvCxnSpPr>
            <p:nvPr/>
          </p:nvCxnSpPr>
          <p:spPr bwMode="auto">
            <a:xfrm flipV="1">
              <a:off x="3864380" y="5879437"/>
              <a:ext cx="1020596" cy="24056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AutoShape 45"/>
            <p:cNvCxnSpPr>
              <a:cxnSpLocks noChangeShapeType="1"/>
              <a:stCxn id="10" idx="3"/>
              <a:endCxn id="21" idx="1"/>
            </p:cNvCxnSpPr>
            <p:nvPr/>
          </p:nvCxnSpPr>
          <p:spPr bwMode="auto">
            <a:xfrm flipV="1">
              <a:off x="3868946" y="4902750"/>
              <a:ext cx="1000311" cy="788336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AutoShape 45"/>
            <p:cNvCxnSpPr>
              <a:cxnSpLocks noChangeShapeType="1"/>
              <a:stCxn id="11" idx="3"/>
              <a:endCxn id="20" idx="1"/>
            </p:cNvCxnSpPr>
            <p:nvPr/>
          </p:nvCxnSpPr>
          <p:spPr bwMode="auto">
            <a:xfrm flipV="1">
              <a:off x="3868946" y="4017509"/>
              <a:ext cx="1006027" cy="1484598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 flipH="1">
            <a:off x="7504575" y="4047797"/>
            <a:ext cx="955040" cy="215444"/>
            <a:chOff x="7077075" y="3956022"/>
            <a:chExt cx="304800" cy="138269"/>
          </a:xfrm>
        </p:grpSpPr>
        <p:sp>
          <p:nvSpPr>
            <p:cNvPr id="132104" name="Text Box 818"/>
            <p:cNvSpPr txBox="1">
              <a:spLocks noChangeArrowheads="1"/>
            </p:cNvSpPr>
            <p:nvPr/>
          </p:nvSpPr>
          <p:spPr bwMode="auto">
            <a:xfrm>
              <a:off x="7077075" y="3956022"/>
              <a:ext cx="176212" cy="138269"/>
            </a:xfrm>
            <a:prstGeom prst="rect">
              <a:avLst/>
            </a:prstGeom>
            <a:noFill/>
            <a:ln w="38100" algn="in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FF0000"/>
                  </a:solidFill>
                  <a:latin typeface="Calibri" pitchFamily="34" charset="0"/>
                  <a:ea typeface="Arial" pitchFamily="34" charset="0"/>
                  <a:cs typeface="Arial" pitchFamily="34" charset="0"/>
                </a:rPr>
                <a:t>pa </a:t>
              </a: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32105" name="AutoShape 9"/>
            <p:cNvCxnSpPr>
              <a:cxnSpLocks noChangeShapeType="1"/>
            </p:cNvCxnSpPr>
            <p:nvPr/>
          </p:nvCxnSpPr>
          <p:spPr bwMode="auto">
            <a:xfrm flipV="1">
              <a:off x="7240587" y="4041775"/>
              <a:ext cx="141288" cy="3175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50" name="Group 49"/>
          <p:cNvGrpSpPr/>
          <p:nvPr/>
        </p:nvGrpSpPr>
        <p:grpSpPr>
          <a:xfrm>
            <a:off x="3333895" y="5545765"/>
            <a:ext cx="955040" cy="215444"/>
            <a:chOff x="7077075" y="3956031"/>
            <a:chExt cx="304800" cy="138269"/>
          </a:xfrm>
        </p:grpSpPr>
        <p:sp>
          <p:nvSpPr>
            <p:cNvPr id="51" name="Text Box 818"/>
            <p:cNvSpPr txBox="1">
              <a:spLocks noChangeArrowheads="1"/>
            </p:cNvSpPr>
            <p:nvPr/>
          </p:nvSpPr>
          <p:spPr bwMode="auto">
            <a:xfrm>
              <a:off x="7077075" y="3956031"/>
              <a:ext cx="176212" cy="138269"/>
            </a:xfrm>
            <a:prstGeom prst="rect">
              <a:avLst/>
            </a:prstGeom>
            <a:noFill/>
            <a:ln w="38100" algn="in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err="1">
                  <a:solidFill>
                    <a:srgbClr val="00B050"/>
                  </a:solidFill>
                  <a:latin typeface="Calibri" pitchFamily="34" charset="0"/>
                  <a:ea typeface="Arial" pitchFamily="34" charset="0"/>
                  <a:cs typeface="Arial" pitchFamily="34" charset="0"/>
                </a:rPr>
                <a:t>va</a:t>
              </a:r>
              <a:r>
                <a:rPr lang="en-US" sz="1400" b="1">
                  <a:solidFill>
                    <a:srgbClr val="FF0000"/>
                  </a:solidFill>
                  <a:latin typeface="Calibri" pitchFamily="34" charset="0"/>
                  <a:ea typeface="Arial" pitchFamily="34" charset="0"/>
                  <a:cs typeface="Arial" pitchFamily="34" charset="0"/>
                </a:rPr>
                <a:t> </a:t>
              </a: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2" name="AutoShape 9"/>
            <p:cNvCxnSpPr>
              <a:cxnSpLocks noChangeShapeType="1"/>
            </p:cNvCxnSpPr>
            <p:nvPr/>
          </p:nvCxnSpPr>
          <p:spPr bwMode="auto">
            <a:xfrm flipV="1">
              <a:off x="7240587" y="4041775"/>
              <a:ext cx="141288" cy="3175"/>
            </a:xfrm>
            <a:prstGeom prst="straightConnector1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53" name="Group 52"/>
          <p:cNvGrpSpPr/>
          <p:nvPr/>
        </p:nvGrpSpPr>
        <p:grpSpPr>
          <a:xfrm flipH="1">
            <a:off x="7514735" y="4949320"/>
            <a:ext cx="955040" cy="215444"/>
            <a:chOff x="7077075" y="3956031"/>
            <a:chExt cx="304800" cy="138269"/>
          </a:xfrm>
        </p:grpSpPr>
        <p:sp>
          <p:nvSpPr>
            <p:cNvPr id="54" name="Text Box 818"/>
            <p:cNvSpPr txBox="1">
              <a:spLocks noChangeArrowheads="1"/>
            </p:cNvSpPr>
            <p:nvPr/>
          </p:nvSpPr>
          <p:spPr bwMode="auto">
            <a:xfrm>
              <a:off x="7077075" y="3956031"/>
              <a:ext cx="176212" cy="138269"/>
            </a:xfrm>
            <a:prstGeom prst="rect">
              <a:avLst/>
            </a:prstGeom>
            <a:noFill/>
            <a:ln w="38100" algn="in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B050"/>
                  </a:solidFill>
                  <a:latin typeface="Calibri" pitchFamily="34" charset="0"/>
                  <a:ea typeface="Arial" pitchFamily="34" charset="0"/>
                  <a:cs typeface="Arial" pitchFamily="34" charset="0"/>
                </a:rPr>
                <a:t>pa</a:t>
              </a:r>
              <a:r>
                <a:rPr lang="en-US" sz="1400" b="1">
                  <a:solidFill>
                    <a:srgbClr val="FF0000"/>
                  </a:solidFill>
                  <a:latin typeface="Calibri" pitchFamily="34" charset="0"/>
                  <a:ea typeface="Arial" pitchFamily="34" charset="0"/>
                  <a:cs typeface="Arial" pitchFamily="34" charset="0"/>
                </a:rPr>
                <a:t> </a:t>
              </a: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5" name="AutoShape 9"/>
            <p:cNvCxnSpPr>
              <a:cxnSpLocks noChangeShapeType="1"/>
            </p:cNvCxnSpPr>
            <p:nvPr/>
          </p:nvCxnSpPr>
          <p:spPr bwMode="auto">
            <a:xfrm flipV="1">
              <a:off x="7240587" y="4041775"/>
              <a:ext cx="141288" cy="3175"/>
            </a:xfrm>
            <a:prstGeom prst="straightConnector1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56" name="Group 55"/>
          <p:cNvGrpSpPr/>
          <p:nvPr/>
        </p:nvGrpSpPr>
        <p:grpSpPr>
          <a:xfrm>
            <a:off x="3333895" y="5745415"/>
            <a:ext cx="955040" cy="215444"/>
            <a:chOff x="7077075" y="3956022"/>
            <a:chExt cx="304800" cy="138269"/>
          </a:xfrm>
        </p:grpSpPr>
        <p:sp>
          <p:nvSpPr>
            <p:cNvPr id="57" name="Text Box 818"/>
            <p:cNvSpPr txBox="1">
              <a:spLocks noChangeArrowheads="1"/>
            </p:cNvSpPr>
            <p:nvPr/>
          </p:nvSpPr>
          <p:spPr bwMode="auto">
            <a:xfrm>
              <a:off x="7077075" y="3956022"/>
              <a:ext cx="176212" cy="138269"/>
            </a:xfrm>
            <a:prstGeom prst="rect">
              <a:avLst/>
            </a:prstGeom>
            <a:noFill/>
            <a:ln w="38100" algn="in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err="1">
                  <a:solidFill>
                    <a:srgbClr val="FF0000"/>
                  </a:solidFill>
                  <a:latin typeface="Calibri" pitchFamily="34" charset="0"/>
                  <a:ea typeface="Arial" pitchFamily="34" charset="0"/>
                  <a:cs typeface="Arial" pitchFamily="34" charset="0"/>
                </a:rPr>
                <a:t>va</a:t>
              </a:r>
              <a:r>
                <a:rPr lang="en-US" sz="1400" b="1">
                  <a:solidFill>
                    <a:srgbClr val="FF0000"/>
                  </a:solidFill>
                  <a:latin typeface="Calibri" pitchFamily="34" charset="0"/>
                  <a:ea typeface="Arial" pitchFamily="34" charset="0"/>
                  <a:cs typeface="Arial" pitchFamily="34" charset="0"/>
                </a:rPr>
                <a:t> </a:t>
              </a: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8" name="AutoShape 9"/>
            <p:cNvCxnSpPr>
              <a:cxnSpLocks noChangeShapeType="1"/>
            </p:cNvCxnSpPr>
            <p:nvPr/>
          </p:nvCxnSpPr>
          <p:spPr bwMode="auto">
            <a:xfrm flipV="1">
              <a:off x="7240587" y="4041775"/>
              <a:ext cx="141288" cy="3175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59" name="Text Box 818"/>
          <p:cNvSpPr txBox="1">
            <a:spLocks noChangeArrowheads="1"/>
          </p:cNvSpPr>
          <p:nvPr/>
        </p:nvSpPr>
        <p:spPr bwMode="auto">
          <a:xfrm>
            <a:off x="3648076" y="2591047"/>
            <a:ext cx="4524374" cy="884491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</a:pPr>
            <a:r>
              <a:rPr lang="en-US" sz="2800" b="1" dirty="0" err="1"/>
              <a:t>kheap_virtual_address</a:t>
            </a:r>
            <a:r>
              <a:rPr lang="en-US" sz="2800" b="1" dirty="0">
                <a:latin typeface="Calibri" pitchFamily="34" charset="0"/>
                <a:ea typeface="Arial" pitchFamily="34" charset="0"/>
                <a:cs typeface="Arial" pitchFamily="34" charset="0"/>
              </a:rPr>
              <a:t>()</a:t>
            </a:r>
          </a:p>
          <a:p>
            <a:pPr algn="ctr">
              <a:lnSpc>
                <a:spcPct val="115000"/>
              </a:lnSpc>
            </a:pPr>
            <a:r>
              <a:rPr lang="en-US" sz="2000" b="1" dirty="0">
                <a:ea typeface="Times New Roman"/>
                <a:cs typeface="Arial"/>
              </a:rPr>
              <a:t>Get </a:t>
            </a:r>
            <a:r>
              <a:rPr lang="en-US" sz="2000" b="1" dirty="0" err="1">
                <a:solidFill>
                  <a:srgbClr val="FF0000"/>
                </a:solidFill>
                <a:ea typeface="Times New Roman"/>
                <a:cs typeface="Arial"/>
              </a:rPr>
              <a:t>va</a:t>
            </a:r>
            <a:r>
              <a:rPr lang="en-US" sz="2000" b="1" dirty="0">
                <a:ea typeface="Times New Roman"/>
                <a:cs typeface="Arial"/>
              </a:rPr>
              <a:t> of the given </a:t>
            </a:r>
            <a:r>
              <a:rPr lang="en-US" sz="2000" b="1" dirty="0">
                <a:solidFill>
                  <a:srgbClr val="00B050"/>
                </a:solidFill>
                <a:ea typeface="Times New Roman"/>
                <a:cs typeface="Arial"/>
              </a:rPr>
              <a:t>pa</a:t>
            </a:r>
            <a:endParaRPr lang="en-US" sz="3200" dirty="0">
              <a:ea typeface="Times New Roman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libri" pitchFamily="34" charset="0"/>
                <a:ea typeface="Arial" pitchFamily="34" charset="0"/>
                <a:cs typeface="Arial" pitchFamily="34" charset="0"/>
              </a:rPr>
              <a:t> </a:t>
            </a:r>
            <a:endParaRPr lang="en-US" sz="4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Double Wave 14">
            <a:extLst>
              <a:ext uri="{FF2B5EF4-FFF2-40B4-BE49-F238E27FC236}">
                <a16:creationId xmlns:a16="http://schemas.microsoft.com/office/drawing/2014/main" id="{FED2C670-7210-6FB5-6335-DE446D9CFF9E}"/>
              </a:ext>
            </a:extLst>
          </p:cNvPr>
          <p:cNvSpPr/>
          <p:nvPr/>
        </p:nvSpPr>
        <p:spPr>
          <a:xfrm>
            <a:off x="2865933" y="2563181"/>
            <a:ext cx="5797484" cy="914400"/>
          </a:xfrm>
          <a:prstGeom prst="doubleWav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IMP</a:t>
            </a:r>
            <a:r>
              <a:rPr lang="en-US" sz="2800" b="1" dirty="0"/>
              <a:t>: Both MUST be Efficient ~O(1)</a:t>
            </a:r>
            <a:endParaRPr lang="en-AE" sz="28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D61EA-3A4B-222C-C5BA-D6AC3AB7AC8C}"/>
              </a:ext>
            </a:extLst>
          </p:cNvPr>
          <p:cNvSpPr txBox="1">
            <a:spLocks/>
          </p:cNvSpPr>
          <p:nvPr/>
        </p:nvSpPr>
        <p:spPr>
          <a:xfrm>
            <a:off x="0" y="5822"/>
            <a:ext cx="10058400" cy="7776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Kernel Heap – </a:t>
            </a:r>
            <a:r>
              <a:rPr lang="en-US" b="1" dirty="0">
                <a:solidFill>
                  <a:srgbClr val="FF0000"/>
                </a:solidFill>
              </a:rPr>
              <a:t>Page Allocator</a:t>
            </a:r>
            <a:r>
              <a:rPr lang="en-US" dirty="0"/>
              <a:t> </a:t>
            </a:r>
            <a:endParaRPr lang="en-A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59" grpId="0"/>
      <p:bldP spid="1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Heap </a:t>
            </a:r>
            <a:r>
              <a:rPr lang="en-US" b="1" dirty="0"/>
              <a:t>–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Functions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43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BFE17F-F4FC-8BB2-A4F6-3CCEEC6CF556}"/>
              </a:ext>
            </a:extLst>
          </p:cNvPr>
          <p:cNvGrpSpPr/>
          <p:nvPr/>
        </p:nvGrpSpPr>
        <p:grpSpPr>
          <a:xfrm>
            <a:off x="8982224" y="116702"/>
            <a:ext cx="3148491" cy="968297"/>
            <a:chOff x="8575842" y="86548"/>
            <a:chExt cx="3148491" cy="96829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E3CE4D-563E-F567-B5ED-74A0B5FDD2C6}"/>
                </a:ext>
              </a:extLst>
            </p:cNvPr>
            <p:cNvSpPr txBox="1"/>
            <p:nvPr/>
          </p:nvSpPr>
          <p:spPr>
            <a:xfrm>
              <a:off x="8575842" y="86548"/>
              <a:ext cx="314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Refer to </a:t>
              </a:r>
              <a:r>
                <a:rPr lang="en-US" sz="2000" b="1" dirty="0">
                  <a:hlinkClick r:id="rId2" action="ppaction://hlinkfile"/>
                </a:rPr>
                <a:t>APPENDICES</a:t>
              </a:r>
              <a:r>
                <a:rPr lang="en-US" sz="2000" b="1" dirty="0"/>
                <a:t> for:</a:t>
              </a:r>
              <a:endParaRPr lang="en-AE" sz="20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08547F-7EFB-48A8-DCB3-B7135676A1B1}"/>
                </a:ext>
              </a:extLst>
            </p:cNvPr>
            <p:cNvSpPr txBox="1"/>
            <p:nvPr/>
          </p:nvSpPr>
          <p:spPr>
            <a:xfrm>
              <a:off x="9097050" y="604298"/>
              <a:ext cx="24604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LISTS Helper Macros</a:t>
              </a:r>
              <a:endParaRPr lang="en-AE" sz="2000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7CCA2F1-3596-5738-2456-7765E7DF7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5842" y="553860"/>
              <a:ext cx="500985" cy="500985"/>
            </a:xfrm>
            <a:prstGeom prst="rect">
              <a:avLst/>
            </a:prstGeom>
          </p:spPr>
        </p:pic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96F7CD9-F7AF-991C-DB33-DEB41C40C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5"/>
            <a:ext cx="10245909" cy="445840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kheap_init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()</a:t>
            </a:r>
            <a:endParaRPr lang="en-US" sz="2400" b="1" dirty="0">
              <a:solidFill>
                <a:srgbClr val="A36622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/>
              <a:t>Description: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Initialize the free block lists of Buddy System (by calling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buddy_init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)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Set default strategy of page allocator to be CUSTOM_FIT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Initialize </a:t>
            </a:r>
            <a:r>
              <a:rPr lang="en-US" sz="20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kheapPageAllocStart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&amp; </a:t>
            </a:r>
            <a:r>
              <a:rPr lang="en-US" sz="20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kheapPageAllocBreak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to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KERNEL_HEAP_START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676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C4B3A-DD86-2686-3752-D8ADD9215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EE3B-8239-E22B-7446-0ACE027C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#4:</a:t>
            </a:r>
            <a:r>
              <a:rPr lang="en-US" dirty="0"/>
              <a:t> </a:t>
            </a:r>
            <a:r>
              <a:rPr lang="en-US" dirty="0" err="1"/>
              <a:t>create_buddy_space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1E032-6BA3-1A44-5B2B-4F582E9D8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50439"/>
            <a:ext cx="11094720" cy="406463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Description: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Allocate a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new page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from the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Page Allocator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and return its address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Mark this page as a </a:t>
            </a:r>
            <a:r>
              <a:rPr lang="en-US" sz="2000" dirty="0">
                <a:solidFill>
                  <a:prstClr val="black"/>
                </a:solidFill>
              </a:rPr>
              <a:t>“</a:t>
            </a:r>
            <a:r>
              <a:rPr lang="en-US" sz="2000" b="1" u="sng" dirty="0">
                <a:solidFill>
                  <a:prstClr val="black"/>
                </a:solidFill>
              </a:rPr>
              <a:t>B</a:t>
            </a:r>
            <a:r>
              <a:rPr lang="en-US" sz="2000" dirty="0">
                <a:solidFill>
                  <a:prstClr val="black"/>
                </a:solidFill>
              </a:rPr>
              <a:t>uddy </a:t>
            </a:r>
            <a:r>
              <a:rPr lang="en-US" sz="2000" b="1" u="sng" dirty="0">
                <a:solidFill>
                  <a:prstClr val="black"/>
                </a:solidFill>
              </a:rPr>
              <a:t>S</a:t>
            </a:r>
            <a:r>
              <a:rPr lang="en-US" sz="2000" dirty="0">
                <a:solidFill>
                  <a:prstClr val="black"/>
                </a:solidFill>
              </a:rPr>
              <a:t>ystem </a:t>
            </a:r>
            <a:r>
              <a:rPr lang="en-US" sz="2000" b="1" u="sng" dirty="0">
                <a:solidFill>
                  <a:prstClr val="black"/>
                </a:solidFill>
              </a:rPr>
              <a:t>P</a:t>
            </a:r>
            <a:r>
              <a:rPr lang="en-US" sz="2000" dirty="0">
                <a:solidFill>
                  <a:prstClr val="black"/>
                </a:solidFill>
              </a:rPr>
              <a:t>age” to differentiate it from Page Allocator pages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  <a:p>
            <a:pPr lvl="1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77C43-356F-D7EB-BAAE-740C1E23C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FCB7EF-D259-70F9-9D8E-389C1B5ED87D}"/>
              </a:ext>
            </a:extLst>
          </p:cNvPr>
          <p:cNvSpPr txBox="1"/>
          <p:nvPr/>
        </p:nvSpPr>
        <p:spPr>
          <a:xfrm>
            <a:off x="1097279" y="1875208"/>
            <a:ext cx="10058399" cy="46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create_buddy_space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()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6234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DFD1-CEE4-C4A7-347E-5A175418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081B-3FA0-6D28-2751-03106CC7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#5:</a:t>
            </a:r>
            <a:r>
              <a:rPr lang="en-US" dirty="0"/>
              <a:t> </a:t>
            </a:r>
            <a:r>
              <a:rPr lang="en-US" dirty="0" err="1"/>
              <a:t>delete_buddy_space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20E8B-8741-A400-154C-27FCDC729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50439"/>
            <a:ext cx="11094720" cy="406463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Description: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Delete the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page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at the given </a:t>
            </a:r>
            <a:r>
              <a:rPr lang="it-IT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va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from the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Page Allocator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Unmark it</a:t>
            </a:r>
          </a:p>
          <a:p>
            <a:pPr lvl="1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B7E52-1D35-F191-1964-6D73ED5AC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CB1510-A20C-4251-52C2-E83DFDAD3B7F}"/>
              </a:ext>
            </a:extLst>
          </p:cNvPr>
          <p:cNvSpPr txBox="1"/>
          <p:nvPr/>
        </p:nvSpPr>
        <p:spPr>
          <a:xfrm>
            <a:off x="1097279" y="1875208"/>
            <a:ext cx="10058399" cy="46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it-IT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delete_buddy_space</a:t>
            </a:r>
            <a:r>
              <a:rPr lang="it-IT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it-IT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it-IT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it-IT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va</a:t>
            </a:r>
            <a:r>
              <a:rPr lang="it-IT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956338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#6:</a:t>
            </a:r>
            <a:r>
              <a:rPr lang="en-US" dirty="0"/>
              <a:t> </a:t>
            </a:r>
            <a:r>
              <a:rPr lang="en-US" dirty="0" err="1"/>
              <a:t>kmalloc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50439"/>
            <a:ext cx="11094720" cy="4064635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Description: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If size ≤ 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DYN_ALLOC_MAX_BLOCK_SIZE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: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 	[</a:t>
            </a:r>
            <a:r>
              <a:rPr lang="en-US" sz="2000" b="1" dirty="0">
                <a:solidFill>
                  <a:srgbClr val="00B050"/>
                </a:solidFill>
                <a:latin typeface="+mj-lt"/>
              </a:rPr>
              <a:t>BLOCK ALLOCATOR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]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Use Buddy System to allocate the required space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Possibly invoke the Page Allocator to </a:t>
            </a:r>
            <a:r>
              <a:rPr lang="en-US" sz="2000" dirty="0" err="1"/>
              <a:t>create_buddy_space</a:t>
            </a:r>
            <a:r>
              <a:rPr lang="en-US" sz="2000" dirty="0"/>
              <a:t>()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Else: 					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[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PAGE ALLOCATOR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]</a:t>
            </a:r>
          </a:p>
          <a:p>
            <a:pPr lvl="2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Allocate &amp; map the required space on page-boundaries using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EFFICIENT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CUSTOM FIT strategy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If failed to allocate: return NULL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It should </a:t>
            </a:r>
            <a:r>
              <a:rPr lang="en-US" sz="2100" dirty="0">
                <a:solidFill>
                  <a:prstClr val="black"/>
                </a:solidFill>
              </a:rPr>
              <a:t>be bounded by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O(# FREE areas + # required pages)</a:t>
            </a:r>
          </a:p>
          <a:p>
            <a:pPr lvl="1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A13C4-D33B-7B08-DF00-FD34BB9EC8F8}"/>
              </a:ext>
            </a:extLst>
          </p:cNvPr>
          <p:cNvSpPr txBox="1"/>
          <p:nvPr/>
        </p:nvSpPr>
        <p:spPr>
          <a:xfrm>
            <a:off x="1097279" y="1875208"/>
            <a:ext cx="10058399" cy="46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kmalloc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unsigned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size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46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#7:</a:t>
            </a:r>
            <a:r>
              <a:rPr lang="en-US" dirty="0"/>
              <a:t> </a:t>
            </a:r>
            <a:r>
              <a:rPr lang="en-US" dirty="0" err="1"/>
              <a:t>kfree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50439"/>
            <a:ext cx="10718801" cy="4070848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Description: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If the virtual address belong to a “</a:t>
            </a:r>
            <a:r>
              <a:rPr lang="en-US" sz="2000" b="1" u="sng" dirty="0">
                <a:solidFill>
                  <a:schemeClr val="tx1"/>
                </a:solidFill>
                <a:latin typeface="+mj-lt"/>
              </a:rPr>
              <a:t>B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uddy </a:t>
            </a:r>
            <a:r>
              <a:rPr lang="en-US" sz="2000" b="1" u="sng" dirty="0">
                <a:solidFill>
                  <a:schemeClr val="tx1"/>
                </a:solidFill>
                <a:latin typeface="+mj-lt"/>
              </a:rPr>
              <a:t>S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ystem </a:t>
            </a:r>
            <a:r>
              <a:rPr lang="en-US" sz="2000" b="1" u="sng" dirty="0">
                <a:solidFill>
                  <a:schemeClr val="tx1"/>
                </a:solidFill>
                <a:latin typeface="+mj-lt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age” </a:t>
            </a:r>
            <a:r>
              <a:rPr lang="en-US" sz="2000" b="1" dirty="0">
                <a:solidFill>
                  <a:prstClr val="black"/>
                </a:solidFill>
              </a:rPr>
              <a:t>[</a:t>
            </a:r>
            <a:r>
              <a:rPr lang="en-US" sz="2000" b="1" dirty="0">
                <a:solidFill>
                  <a:srgbClr val="00B050"/>
                </a:solidFill>
              </a:rPr>
              <a:t>BLOCK ALLOCATOR</a:t>
            </a:r>
            <a:r>
              <a:rPr lang="en-US" sz="2000" b="1" dirty="0">
                <a:solidFill>
                  <a:prstClr val="black"/>
                </a:solidFill>
              </a:rPr>
              <a:t>] 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Use Buddy System to free the given address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Possibly invoke the Page Allocator to </a:t>
            </a:r>
            <a:r>
              <a:rPr lang="en-US" sz="1800" dirty="0" err="1"/>
              <a:t>delete_buddy_space</a:t>
            </a:r>
            <a:r>
              <a:rPr lang="en-US" sz="1800" dirty="0"/>
              <a:t>()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900" dirty="0">
                <a:solidFill>
                  <a:prstClr val="black"/>
                </a:solidFill>
              </a:rPr>
              <a:t>Else if virtual address inside the Heap </a:t>
            </a:r>
            <a:r>
              <a:rPr lang="en-US" sz="2000" b="1" dirty="0">
                <a:solidFill>
                  <a:schemeClr val="tx1"/>
                </a:solidFill>
              </a:rPr>
              <a:t>[</a:t>
            </a:r>
            <a:r>
              <a:rPr lang="en-US" sz="2000" b="1" dirty="0">
                <a:solidFill>
                  <a:srgbClr val="FF0000"/>
                </a:solidFill>
              </a:rPr>
              <a:t>PAGE ALLOCATOR</a:t>
            </a:r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dirty="0">
              <a:solidFill>
                <a:schemeClr val="tx1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FREE the space of the given address from RAM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Else (i.e. invalid address): should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panic(…)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It should </a:t>
            </a:r>
            <a:r>
              <a:rPr lang="en-US" sz="1900" dirty="0">
                <a:solidFill>
                  <a:prstClr val="black"/>
                </a:solidFill>
              </a:rPr>
              <a:t>be bounded by </a:t>
            </a:r>
            <a:r>
              <a:rPr lang="en-US" sz="2000" b="1" dirty="0">
                <a:solidFill>
                  <a:schemeClr val="tx1"/>
                </a:solidFill>
              </a:rPr>
              <a:t>O(# FREE areas + # freed pages)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A13C4-D33B-7B08-DF00-FD34BB9EC8F8}"/>
              </a:ext>
            </a:extLst>
          </p:cNvPr>
          <p:cNvSpPr txBox="1"/>
          <p:nvPr/>
        </p:nvSpPr>
        <p:spPr>
          <a:xfrm>
            <a:off x="1097279" y="1875208"/>
            <a:ext cx="10058399" cy="46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kfree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virtual_address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55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#8:</a:t>
            </a:r>
            <a:r>
              <a:rPr lang="en-US" dirty="0"/>
              <a:t> </a:t>
            </a:r>
            <a:r>
              <a:rPr lang="en-US" dirty="0" err="1"/>
              <a:t>kheap_physical_address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50439"/>
            <a:ext cx="10718801" cy="4017011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Description: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return the physical address corresponding to given 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virtual_address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including offset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)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If no mapping, return 0.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It should work for both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[</a:t>
            </a:r>
            <a:r>
              <a:rPr lang="en-US" sz="2000" b="1" dirty="0">
                <a:solidFill>
                  <a:srgbClr val="00B050"/>
                </a:solidFill>
                <a:latin typeface="+mj-lt"/>
              </a:rPr>
              <a:t>BLOCK ALLOCATOR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]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and </a:t>
            </a:r>
            <a:r>
              <a:rPr lang="en-US" sz="2000" b="1" dirty="0">
                <a:solidFill>
                  <a:schemeClr val="tx1"/>
                </a:solidFill>
              </a:rPr>
              <a:t>[</a:t>
            </a:r>
            <a:r>
              <a:rPr lang="en-US" sz="2000" b="1" dirty="0">
                <a:solidFill>
                  <a:srgbClr val="FF0000"/>
                </a:solidFill>
              </a:rPr>
              <a:t>PAGE ALLOCATOR</a:t>
            </a:r>
            <a:r>
              <a:rPr lang="en-US" sz="2000" b="1" dirty="0">
                <a:solidFill>
                  <a:schemeClr val="tx1"/>
                </a:solidFill>
              </a:rPr>
              <a:t>]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It should run in </a:t>
            </a:r>
            <a:r>
              <a:rPr lang="en-US" sz="2000" b="1" dirty="0">
                <a:solidFill>
                  <a:schemeClr val="tx1"/>
                </a:solidFill>
              </a:rPr>
              <a:t>O(1)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A13C4-D33B-7B08-DF00-FD34BB9EC8F8}"/>
              </a:ext>
            </a:extLst>
          </p:cNvPr>
          <p:cNvSpPr txBox="1"/>
          <p:nvPr/>
        </p:nvSpPr>
        <p:spPr>
          <a:xfrm>
            <a:off x="1097279" y="1875208"/>
            <a:ext cx="11094721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200" dirty="0">
                <a:solidFill>
                  <a:srgbClr val="535353"/>
                </a:solidFill>
                <a:latin typeface="Consolas" panose="020B0609020204030204" pitchFamily="49" charset="0"/>
              </a:rPr>
              <a:t>unsigned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kheap_physical_address</a:t>
            </a:r>
            <a:r>
              <a:rPr lang="en-US" sz="22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200" b="1" dirty="0">
                <a:solidFill>
                  <a:srgbClr val="535353"/>
                </a:solidFill>
                <a:latin typeface="Consolas" panose="020B0609020204030204" pitchFamily="49" charset="0"/>
              </a:rPr>
              <a:t>unsigned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virtual_address</a:t>
            </a:r>
            <a:r>
              <a:rPr lang="en-US" sz="22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48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#9:</a:t>
            </a:r>
            <a:r>
              <a:rPr lang="en-US" dirty="0"/>
              <a:t> </a:t>
            </a:r>
            <a:r>
              <a:rPr lang="en-US" dirty="0" err="1"/>
              <a:t>kheap_virtual_address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50439"/>
            <a:ext cx="10718801" cy="4017011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Description: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return the virtual address corresponding to given 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physical_address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including offset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)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If no mapping, return 0.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It should work for both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[</a:t>
            </a:r>
            <a:r>
              <a:rPr lang="en-US" sz="2000" b="1" dirty="0">
                <a:solidFill>
                  <a:srgbClr val="00B050"/>
                </a:solidFill>
                <a:latin typeface="+mj-lt"/>
              </a:rPr>
              <a:t>BLOCK ALLOCATOR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]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and </a:t>
            </a:r>
            <a:r>
              <a:rPr lang="en-US" sz="2000" b="1" dirty="0">
                <a:solidFill>
                  <a:schemeClr val="tx1"/>
                </a:solidFill>
              </a:rPr>
              <a:t>[</a:t>
            </a:r>
            <a:r>
              <a:rPr lang="en-US" sz="2000" b="1" dirty="0">
                <a:solidFill>
                  <a:srgbClr val="FF0000"/>
                </a:solidFill>
              </a:rPr>
              <a:t>PAGE ALLOCATOR</a:t>
            </a:r>
            <a:r>
              <a:rPr lang="en-US" sz="2000" b="1" dirty="0">
                <a:solidFill>
                  <a:schemeClr val="tx1"/>
                </a:solidFill>
              </a:rPr>
              <a:t>]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It should run in </a:t>
            </a:r>
            <a:r>
              <a:rPr lang="en-US" sz="2000" b="1" dirty="0">
                <a:solidFill>
                  <a:schemeClr val="tx1"/>
                </a:solidFill>
              </a:rPr>
              <a:t>O(1)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A13C4-D33B-7B08-DF00-FD34BB9EC8F8}"/>
              </a:ext>
            </a:extLst>
          </p:cNvPr>
          <p:cNvSpPr txBox="1"/>
          <p:nvPr/>
        </p:nvSpPr>
        <p:spPr>
          <a:xfrm>
            <a:off x="1097279" y="1875208"/>
            <a:ext cx="10380346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200" dirty="0">
                <a:solidFill>
                  <a:srgbClr val="535353"/>
                </a:solidFill>
                <a:latin typeface="Consolas" panose="020B0609020204030204" pitchFamily="49" charset="0"/>
              </a:rPr>
              <a:t>unsigned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kheap_virtual_address</a:t>
            </a:r>
            <a:r>
              <a:rPr lang="en-US" sz="22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200" b="1" dirty="0">
                <a:solidFill>
                  <a:srgbClr val="535353"/>
                </a:solidFill>
                <a:latin typeface="Consolas" panose="020B0609020204030204" pitchFamily="49" charset="0"/>
              </a:rPr>
              <a:t>unsigned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physical_address</a:t>
            </a:r>
            <a:r>
              <a:rPr lang="en-US" sz="22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4703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BONUS#1:</a:t>
            </a:r>
            <a:r>
              <a:rPr lang="en-US" dirty="0"/>
              <a:t> </a:t>
            </a:r>
            <a:r>
              <a:rPr lang="en-US" dirty="0" err="1"/>
              <a:t>krealloc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344761"/>
            <a:ext cx="11094722" cy="4021316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US" sz="2400" b="1" dirty="0"/>
              <a:t>Description:</a:t>
            </a:r>
          </a:p>
          <a:p>
            <a:pPr marL="544068" lvl="1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Attempts to resize the allocated space at given virtual address to "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new size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" bytes, possibly moving it in the heap.</a:t>
            </a:r>
          </a:p>
          <a:p>
            <a:pPr marL="544068" lvl="1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If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successful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, returns the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new virtual address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544068" lvl="1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On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failure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, returns a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NULL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pointer, and the old virtual address remains valid.</a:t>
            </a:r>
          </a:p>
          <a:p>
            <a:pPr marL="544068" lvl="1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A call with 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virtual_address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= null is equivalent to 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kmalloc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()</a:t>
            </a:r>
          </a:p>
          <a:p>
            <a:pPr marL="544068" lvl="1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A call with 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new_size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= zero is equivalent to 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kfree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()</a:t>
            </a:r>
          </a:p>
          <a:p>
            <a:pPr marL="544068" lvl="1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It should work in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[</a:t>
            </a:r>
            <a:r>
              <a:rPr lang="en-US" sz="2000" b="1" dirty="0">
                <a:solidFill>
                  <a:srgbClr val="00B050"/>
                </a:solidFill>
                <a:latin typeface="+mj-lt"/>
              </a:rPr>
              <a:t>BLOCK ALLOCATOR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] , </a:t>
            </a:r>
            <a:r>
              <a:rPr lang="en-US" sz="2000" b="1" dirty="0">
                <a:solidFill>
                  <a:schemeClr val="tx1"/>
                </a:solidFill>
              </a:rPr>
              <a:t>[</a:t>
            </a:r>
            <a:r>
              <a:rPr lang="en-US" sz="2000" b="1" dirty="0">
                <a:solidFill>
                  <a:srgbClr val="FF0000"/>
                </a:solidFill>
              </a:rPr>
              <a:t>PAGE ALLOCATOR</a:t>
            </a:r>
            <a:r>
              <a:rPr lang="en-US" sz="2000" b="1" dirty="0">
                <a:solidFill>
                  <a:schemeClr val="tx1"/>
                </a:solidFill>
              </a:rPr>
              <a:t>] </a:t>
            </a:r>
            <a:r>
              <a:rPr lang="en-US" sz="2000" dirty="0">
                <a:solidFill>
                  <a:schemeClr val="tx1"/>
                </a:solidFill>
              </a:rPr>
              <a:t>and </a:t>
            </a:r>
            <a:r>
              <a:rPr lang="en-US" sz="2000" b="1" dirty="0">
                <a:solidFill>
                  <a:schemeClr val="tx1"/>
                </a:solidFill>
              </a:rPr>
              <a:t>CROSS-ALLOCATORS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A13C4-D33B-7B08-DF00-FD34BB9EC8F8}"/>
              </a:ext>
            </a:extLst>
          </p:cNvPr>
          <p:cNvSpPr txBox="1"/>
          <p:nvPr/>
        </p:nvSpPr>
        <p:spPr>
          <a:xfrm>
            <a:off x="1097279" y="1875208"/>
            <a:ext cx="10058399" cy="46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krealloc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virtual_address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new_size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11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21B19-5A16-41C6-7346-FC81BCA1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04BB16-6D33-79CB-B394-EF6F7F0A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 Handler I </a:t>
            </a:r>
            <a:r>
              <a:rPr lang="en-US" sz="4800" dirty="0"/>
              <a:t>(Placement)</a:t>
            </a:r>
            <a:endParaRPr lang="en-A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31FAE6-7D1E-6645-7810-D755CAD41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II: group modules</a:t>
            </a:r>
            <a:endParaRPr lang="en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B752E-3C18-AC21-F135-D0D05555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8A15CC-1D8A-F914-0A18-32B221680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778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12C1C-768E-67BA-CE7E-057E322C6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FD3C8C65-1369-EE38-B323-45647228EE27}"/>
              </a:ext>
            </a:extLst>
          </p:cNvPr>
          <p:cNvSpPr/>
          <p:nvPr/>
        </p:nvSpPr>
        <p:spPr>
          <a:xfrm>
            <a:off x="1066800" y="2004143"/>
            <a:ext cx="10058400" cy="2341939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/>
              <a:t>Handle the page fault exception by retrieving the faulted page </a:t>
            </a:r>
            <a:r>
              <a:rPr lang="en-US" sz="2200" b="1" dirty="0"/>
              <a:t>from H.D.D to memory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E487D-FCB8-AE5A-2ADD-FA62E1A8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5BDA71-FF35-A195-AF2E-0AF798773B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64" t="42474" r="67990" b="30172"/>
          <a:stretch/>
        </p:blipFill>
        <p:spPr>
          <a:xfrm>
            <a:off x="5167981" y="4612865"/>
            <a:ext cx="1856038" cy="172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0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TextShape 1"/>
          <p:cNvSpPr txBox="1"/>
          <p:nvPr/>
        </p:nvSpPr>
        <p:spPr>
          <a:xfrm>
            <a:off x="0" y="-29315"/>
            <a:ext cx="12192000" cy="7711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en-US" sz="4400" spc="-1" dirty="0">
                <a:solidFill>
                  <a:srgbClr val="000000"/>
                </a:solidFill>
                <a:latin typeface="+mj-lt"/>
              </a:rPr>
              <a:t>Load Program [</a:t>
            </a:r>
            <a:r>
              <a:rPr lang="en-US" sz="4400" spc="-1" dirty="0" err="1">
                <a:solidFill>
                  <a:srgbClr val="000000"/>
                </a:solidFill>
                <a:latin typeface="+mj-lt"/>
              </a:rPr>
              <a:t>env_create</a:t>
            </a:r>
            <a:r>
              <a:rPr lang="en-US" sz="4400" spc="-1" dirty="0">
                <a:solidFill>
                  <a:srgbClr val="000000"/>
                </a:solidFill>
                <a:latin typeface="+mj-lt"/>
              </a:rPr>
              <a:t>]</a:t>
            </a:r>
          </a:p>
        </p:txBody>
      </p:sp>
      <p:sp>
        <p:nvSpPr>
          <p:cNvPr id="562" name="CustomShape 26"/>
          <p:cNvSpPr/>
          <p:nvPr/>
        </p:nvSpPr>
        <p:spPr>
          <a:xfrm>
            <a:off x="1453661" y="-452176"/>
            <a:ext cx="9143640" cy="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0F52B6-0716-B3C7-B968-490F7C1B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53</a:t>
            </a:fld>
            <a:endParaRPr lang="en-US"/>
          </a:p>
        </p:txBody>
      </p:sp>
      <p:sp>
        <p:nvSpPr>
          <p:cNvPr id="3" name="TextShape 2">
            <a:extLst>
              <a:ext uri="{FF2B5EF4-FFF2-40B4-BE49-F238E27FC236}">
                <a16:creationId xmlns:a16="http://schemas.microsoft.com/office/drawing/2014/main" id="{EE03E8C6-A873-CEDB-7041-D43DB8D4207F}"/>
              </a:ext>
            </a:extLst>
          </p:cNvPr>
          <p:cNvSpPr txBox="1"/>
          <p:nvPr/>
        </p:nvSpPr>
        <p:spPr>
          <a:xfrm>
            <a:off x="6945929" y="730266"/>
            <a:ext cx="5258891" cy="3729601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514440" indent="-514080">
              <a:spcBef>
                <a:spcPts val="64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200" b="1" u="sng" spc="-1" dirty="0">
                <a:solidFill>
                  <a:srgbClr val="000000"/>
                </a:solidFill>
                <a:latin typeface="+mj-lt"/>
              </a:rPr>
              <a:t>THREE</a:t>
            </a:r>
            <a:r>
              <a:rPr lang="en-US" sz="2200" b="1" spc="-1" dirty="0">
                <a:solidFill>
                  <a:srgbClr val="000000"/>
                </a:solidFill>
                <a:latin typeface="+mj-lt"/>
              </a:rPr>
              <a:t> kernel dynamic allocations:</a:t>
            </a:r>
            <a:endParaRPr lang="en-US" sz="2200" spc="-1" dirty="0">
              <a:solidFill>
                <a:srgbClr val="000000"/>
              </a:solidFill>
              <a:latin typeface="+mj-lt"/>
            </a:endParaRPr>
          </a:p>
          <a:p>
            <a:pPr marL="514350" indent="-233363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2200" b="1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create_page_table</a:t>
            </a:r>
            <a:r>
              <a:rPr lang="en-US" sz="2200" b="1" spc="-1" dirty="0">
                <a:solidFill>
                  <a:srgbClr val="000000"/>
                </a:solidFill>
                <a:latin typeface="+mj-lt"/>
              </a:rPr>
              <a:t>():</a:t>
            </a:r>
            <a:r>
              <a:rPr lang="en-US" sz="2200" spc="-1" dirty="0">
                <a:solidFill>
                  <a:srgbClr val="000000"/>
                </a:solidFill>
                <a:latin typeface="+mj-lt"/>
              </a:rPr>
              <a:t> create new page table and link it to directory.</a:t>
            </a:r>
          </a:p>
          <a:p>
            <a:pPr marL="514350" indent="-233363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2200" b="1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create_user_directory</a:t>
            </a:r>
            <a:r>
              <a:rPr lang="en-US" sz="2200" b="1" spc="-1" dirty="0">
                <a:solidFill>
                  <a:srgbClr val="000000"/>
                </a:solidFill>
              </a:rPr>
              <a:t>():</a:t>
            </a:r>
            <a:r>
              <a:rPr lang="en-US" sz="2200" spc="-1" dirty="0">
                <a:solidFill>
                  <a:srgbClr val="000000"/>
                </a:solidFill>
              </a:rPr>
              <a:t> create new user directory.</a:t>
            </a:r>
          </a:p>
          <a:p>
            <a:pPr marL="514350" indent="-233363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2200" b="1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create_user_kern_stack</a:t>
            </a:r>
            <a:r>
              <a:rPr lang="en-US" sz="2200" b="1" spc="-1" dirty="0">
                <a:solidFill>
                  <a:srgbClr val="000000"/>
                </a:solidFill>
                <a:latin typeface="+mj-lt"/>
              </a:rPr>
              <a:t>(…):</a:t>
            </a:r>
            <a:r>
              <a:rPr lang="en-US" sz="2200" spc="-1" dirty="0">
                <a:solidFill>
                  <a:srgbClr val="000000"/>
                </a:solidFill>
                <a:latin typeface="+mj-lt"/>
              </a:rPr>
              <a:t> create new user kernel stack.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FCBA9B-609E-23E2-3851-AAD4B3D6C727}"/>
              </a:ext>
            </a:extLst>
          </p:cNvPr>
          <p:cNvGrpSpPr/>
          <p:nvPr/>
        </p:nvGrpSpPr>
        <p:grpSpPr>
          <a:xfrm>
            <a:off x="237109" y="3138325"/>
            <a:ext cx="7049880" cy="3196800"/>
            <a:chOff x="237109" y="3138325"/>
            <a:chExt cx="7049880" cy="3196800"/>
          </a:xfrm>
        </p:grpSpPr>
        <p:grpSp>
          <p:nvGrpSpPr>
            <p:cNvPr id="563" name="Group 27"/>
            <p:cNvGrpSpPr/>
            <p:nvPr/>
          </p:nvGrpSpPr>
          <p:grpSpPr>
            <a:xfrm>
              <a:off x="237109" y="3138325"/>
              <a:ext cx="7049880" cy="3196800"/>
              <a:chOff x="1566720" y="3660840"/>
              <a:chExt cx="7049880" cy="3196800"/>
            </a:xfrm>
          </p:grpSpPr>
          <p:sp>
            <p:nvSpPr>
              <p:cNvPr id="564" name="CustomShape 28"/>
              <p:cNvSpPr/>
              <p:nvPr/>
            </p:nvSpPr>
            <p:spPr>
              <a:xfrm>
                <a:off x="1566720" y="3660840"/>
                <a:ext cx="6586200" cy="3196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565" name="CustomShape 29"/>
              <p:cNvSpPr/>
              <p:nvPr/>
            </p:nvSpPr>
            <p:spPr>
              <a:xfrm>
                <a:off x="1647000" y="3712320"/>
                <a:ext cx="1542600" cy="2141640"/>
              </a:xfrm>
              <a:prstGeom prst="roundRect">
                <a:avLst>
                  <a:gd name="adj" fmla="val 7736"/>
                </a:avLst>
              </a:prstGeom>
              <a:gradFill rotWithShape="0">
                <a:gsLst>
                  <a:gs pos="0">
                    <a:srgbClr val="F6F6F6"/>
                  </a:gs>
                  <a:gs pos="50000">
                    <a:srgbClr val="C0C0C0"/>
                  </a:gs>
                  <a:gs pos="100000">
                    <a:srgbClr val="F6F6F6"/>
                  </a:gs>
                </a:gsLst>
                <a:lin ang="2700000"/>
              </a:gradFill>
              <a:ln w="9360">
                <a:solidFill>
                  <a:srgbClr val="969696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7300" b="1" spc="-1">
                    <a:solidFill>
                      <a:srgbClr val="FFFFFF"/>
                    </a:solidFill>
                    <a:latin typeface="Calibri"/>
                    <a:ea typeface="Times New Roman"/>
                  </a:rPr>
                  <a:t>BIN</a:t>
                </a:r>
                <a:endParaRPr lang="en-US" sz="7300" spc="-1">
                  <a:latin typeface="Arial"/>
                </a:endParaRPr>
              </a:p>
            </p:txBody>
          </p:sp>
          <p:sp>
            <p:nvSpPr>
              <p:cNvPr id="567" name="CustomShape 31"/>
              <p:cNvSpPr/>
              <p:nvPr/>
            </p:nvSpPr>
            <p:spPr>
              <a:xfrm>
                <a:off x="1727640" y="3768480"/>
                <a:ext cx="1399320" cy="400320"/>
              </a:xfrm>
              <a:prstGeom prst="rect">
                <a:avLst/>
              </a:prstGeom>
              <a:solidFill>
                <a:srgbClr val="FFCC66">
                  <a:alpha val="40000"/>
                </a:srgbClr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720" tIns="36720" rIns="36720" bIns="3672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200" b="1" spc="-1" dirty="0">
                    <a:solidFill>
                      <a:srgbClr val="000000"/>
                    </a:solidFill>
                    <a:latin typeface="Calibri"/>
                    <a:ea typeface="Times New Roman"/>
                  </a:rPr>
                  <a:t>Segment 1, page 1</a:t>
                </a:r>
                <a:endParaRPr lang="en-US" sz="1200" spc="-1" dirty="0">
                  <a:latin typeface="Arial"/>
                </a:endParaRPr>
              </a:p>
            </p:txBody>
          </p:sp>
          <p:sp>
            <p:nvSpPr>
              <p:cNvPr id="568" name="CustomShape 32"/>
              <p:cNvSpPr/>
              <p:nvPr/>
            </p:nvSpPr>
            <p:spPr>
              <a:xfrm>
                <a:off x="1727640" y="4175640"/>
                <a:ext cx="1399320" cy="400320"/>
              </a:xfrm>
              <a:prstGeom prst="rect">
                <a:avLst/>
              </a:prstGeom>
              <a:solidFill>
                <a:srgbClr val="FFCC66">
                  <a:alpha val="40000"/>
                </a:srgbClr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720" tIns="36720" rIns="36720" bIns="3672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200" b="1" spc="-1">
                    <a:solidFill>
                      <a:srgbClr val="000000"/>
                    </a:solidFill>
                    <a:latin typeface="Calibri"/>
                    <a:ea typeface="Times New Roman"/>
                  </a:rPr>
                  <a:t>Segment 1, page 2</a:t>
                </a:r>
                <a:endParaRPr lang="en-US" sz="1200" spc="-1">
                  <a:latin typeface="Arial"/>
                </a:endParaRPr>
              </a:p>
            </p:txBody>
          </p:sp>
          <p:sp>
            <p:nvSpPr>
              <p:cNvPr id="569" name="CustomShape 33"/>
              <p:cNvSpPr/>
              <p:nvPr/>
            </p:nvSpPr>
            <p:spPr>
              <a:xfrm>
                <a:off x="1727640" y="4582440"/>
                <a:ext cx="1399320" cy="400320"/>
              </a:xfrm>
              <a:prstGeom prst="rect">
                <a:avLst/>
              </a:prstGeom>
              <a:solidFill>
                <a:srgbClr val="FFCC66">
                  <a:alpha val="40000"/>
                </a:srgbClr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720" tIns="36720" rIns="36720" bIns="3672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200" b="1" spc="-1">
                    <a:solidFill>
                      <a:srgbClr val="000000"/>
                    </a:solidFill>
                    <a:latin typeface="Calibri"/>
                    <a:ea typeface="Times New Roman"/>
                  </a:rPr>
                  <a:t>Segment 1, page 3</a:t>
                </a:r>
                <a:endParaRPr lang="en-US" sz="1200" spc="-1">
                  <a:latin typeface="Arial"/>
                </a:endParaRPr>
              </a:p>
            </p:txBody>
          </p:sp>
          <p:sp>
            <p:nvSpPr>
              <p:cNvPr id="570" name="CustomShape 34"/>
              <p:cNvSpPr/>
              <p:nvPr/>
            </p:nvSpPr>
            <p:spPr>
              <a:xfrm>
                <a:off x="1727640" y="4989960"/>
                <a:ext cx="1399320" cy="400320"/>
              </a:xfrm>
              <a:prstGeom prst="rect">
                <a:avLst/>
              </a:prstGeom>
              <a:solidFill>
                <a:srgbClr val="FF6600">
                  <a:alpha val="40000"/>
                </a:srgbClr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720" tIns="36720" rIns="36720" bIns="3672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200" b="1" spc="-1">
                    <a:solidFill>
                      <a:srgbClr val="000000"/>
                    </a:solidFill>
                    <a:latin typeface="Calibri"/>
                    <a:ea typeface="Times New Roman"/>
                  </a:rPr>
                  <a:t>Segment 2, page 1</a:t>
                </a:r>
                <a:endParaRPr lang="en-US" sz="1200" spc="-1">
                  <a:latin typeface="Arial"/>
                </a:endParaRPr>
              </a:p>
            </p:txBody>
          </p:sp>
          <p:sp>
            <p:nvSpPr>
              <p:cNvPr id="571" name="CustomShape 35"/>
              <p:cNvSpPr/>
              <p:nvPr/>
            </p:nvSpPr>
            <p:spPr>
              <a:xfrm>
                <a:off x="1727640" y="5397120"/>
                <a:ext cx="1399320" cy="400320"/>
              </a:xfrm>
              <a:prstGeom prst="rect">
                <a:avLst/>
              </a:prstGeom>
              <a:solidFill>
                <a:srgbClr val="FF6600">
                  <a:alpha val="40000"/>
                </a:srgbClr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720" tIns="36720" rIns="36720" bIns="3672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200" b="1" spc="-1">
                    <a:solidFill>
                      <a:srgbClr val="000000"/>
                    </a:solidFill>
                    <a:latin typeface="Calibri"/>
                    <a:ea typeface="Times New Roman"/>
                  </a:rPr>
                  <a:t>Segment 2, page 2</a:t>
                </a:r>
                <a:endParaRPr lang="en-US" sz="1200" spc="-1">
                  <a:latin typeface="Arial"/>
                </a:endParaRPr>
              </a:p>
            </p:txBody>
          </p:sp>
          <p:sp>
            <p:nvSpPr>
              <p:cNvPr id="572" name="CustomShape 36"/>
              <p:cNvSpPr/>
              <p:nvPr/>
            </p:nvSpPr>
            <p:spPr>
              <a:xfrm>
                <a:off x="5476680" y="3776400"/>
                <a:ext cx="1425960" cy="399600"/>
              </a:xfrm>
              <a:prstGeom prst="rect">
                <a:avLst/>
              </a:prstGeom>
              <a:gradFill rotWithShape="0">
                <a:gsLst>
                  <a:gs pos="0">
                    <a:srgbClr val="41A374"/>
                  </a:gs>
                  <a:gs pos="100000">
                    <a:srgbClr val="4BBD87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600" b="1" spc="-1">
                    <a:solidFill>
                      <a:srgbClr val="FFFFFF"/>
                    </a:solidFill>
                    <a:latin typeface="Calibri"/>
                    <a:ea typeface="Times New Roman"/>
                  </a:rPr>
                  <a:t>201000</a:t>
                </a:r>
                <a:endParaRPr lang="en-US" sz="1600" spc="-1">
                  <a:latin typeface="Arial"/>
                </a:endParaRPr>
              </a:p>
            </p:txBody>
          </p:sp>
          <p:sp>
            <p:nvSpPr>
              <p:cNvPr id="573" name="CustomShape 37"/>
              <p:cNvSpPr/>
              <p:nvPr/>
            </p:nvSpPr>
            <p:spPr>
              <a:xfrm>
                <a:off x="5476680" y="4187160"/>
                <a:ext cx="1425960" cy="401040"/>
              </a:xfrm>
              <a:prstGeom prst="rect">
                <a:avLst/>
              </a:prstGeom>
              <a:gradFill rotWithShape="0">
                <a:gsLst>
                  <a:gs pos="0">
                    <a:srgbClr val="41A374"/>
                  </a:gs>
                  <a:gs pos="100000">
                    <a:srgbClr val="4BBD87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600" b="1" spc="-1">
                    <a:solidFill>
                      <a:srgbClr val="FFFFFF"/>
                    </a:solidFill>
                    <a:latin typeface="Calibri"/>
                    <a:ea typeface="Times New Roman"/>
                  </a:rPr>
                  <a:t>202000</a:t>
                </a:r>
                <a:endParaRPr lang="en-US" sz="1600" spc="-1">
                  <a:latin typeface="Arial"/>
                </a:endParaRPr>
              </a:p>
            </p:txBody>
          </p:sp>
          <p:sp>
            <p:nvSpPr>
              <p:cNvPr id="574" name="CustomShape 38"/>
              <p:cNvSpPr/>
              <p:nvPr/>
            </p:nvSpPr>
            <p:spPr>
              <a:xfrm>
                <a:off x="5476680" y="4599000"/>
                <a:ext cx="1425960" cy="400320"/>
              </a:xfrm>
              <a:prstGeom prst="rect">
                <a:avLst/>
              </a:prstGeom>
              <a:gradFill rotWithShape="0">
                <a:gsLst>
                  <a:gs pos="0">
                    <a:srgbClr val="41A374"/>
                  </a:gs>
                  <a:gs pos="100000">
                    <a:srgbClr val="4BBD87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600" b="1" spc="-1" dirty="0">
                    <a:solidFill>
                      <a:srgbClr val="FFFFFF"/>
                    </a:solidFill>
                    <a:latin typeface="Calibri"/>
                    <a:ea typeface="Times New Roman"/>
                  </a:rPr>
                  <a:t>203000</a:t>
                </a:r>
                <a:endParaRPr lang="en-US" sz="1600" spc="-1" dirty="0">
                  <a:latin typeface="Arial"/>
                </a:endParaRPr>
              </a:p>
            </p:txBody>
          </p:sp>
          <p:sp>
            <p:nvSpPr>
              <p:cNvPr id="575" name="CustomShape 39"/>
              <p:cNvSpPr/>
              <p:nvPr/>
            </p:nvSpPr>
            <p:spPr>
              <a:xfrm>
                <a:off x="5476680" y="5011200"/>
                <a:ext cx="1425960" cy="399600"/>
              </a:xfrm>
              <a:prstGeom prst="rect">
                <a:avLst/>
              </a:prstGeom>
              <a:gradFill rotWithShape="0">
                <a:gsLst>
                  <a:gs pos="0">
                    <a:srgbClr val="41A374"/>
                  </a:gs>
                  <a:gs pos="100000">
                    <a:srgbClr val="4BBD87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600" b="1" spc="-1">
                    <a:solidFill>
                      <a:srgbClr val="FFFFFF"/>
                    </a:solidFill>
                    <a:latin typeface="Calibri"/>
                    <a:ea typeface="Times New Roman"/>
                  </a:rPr>
                  <a:t>801000</a:t>
                </a:r>
                <a:endParaRPr lang="en-US" sz="1600" spc="-1">
                  <a:latin typeface="Arial"/>
                </a:endParaRPr>
              </a:p>
            </p:txBody>
          </p:sp>
          <p:sp>
            <p:nvSpPr>
              <p:cNvPr id="576" name="CustomShape 40"/>
              <p:cNvSpPr/>
              <p:nvPr/>
            </p:nvSpPr>
            <p:spPr>
              <a:xfrm>
                <a:off x="1695600" y="5896800"/>
                <a:ext cx="1485720" cy="82260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720" tIns="36720" rIns="36720" bIns="3672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200" b="1" spc="-1">
                    <a:solidFill>
                      <a:srgbClr val="000000"/>
                    </a:solidFill>
                    <a:latin typeface="Cambria"/>
                    <a:ea typeface="Times New Roman"/>
                  </a:rPr>
                  <a:t>Program Binary Segments and pages</a:t>
                </a:r>
                <a:endParaRPr lang="en-US" sz="1200" spc="-1">
                  <a:latin typeface="Arial"/>
                </a:endParaRPr>
              </a:p>
            </p:txBody>
          </p:sp>
          <p:sp>
            <p:nvSpPr>
              <p:cNvPr id="577" name="CustomShape 41"/>
              <p:cNvSpPr/>
              <p:nvPr/>
            </p:nvSpPr>
            <p:spPr>
              <a:xfrm>
                <a:off x="5448600" y="5896800"/>
                <a:ext cx="1593720" cy="87192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720" tIns="36720" rIns="36720" bIns="3672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200" b="1" spc="-1">
                    <a:solidFill>
                      <a:srgbClr val="000000"/>
                    </a:solidFill>
                    <a:latin typeface="Cambria"/>
                    <a:ea typeface="Times New Roman"/>
                  </a:rPr>
                  <a:t>Working Set after loading (</a:t>
                </a:r>
                <a:r>
                  <a:rPr lang="en-US" sz="1200" b="1" spc="-1">
                    <a:solidFill>
                      <a:srgbClr val="FF0000"/>
                    </a:solidFill>
                    <a:latin typeface="Cambria"/>
                    <a:ea typeface="Times New Roman"/>
                  </a:rPr>
                  <a:t>pages_WS_size</a:t>
                </a:r>
                <a:r>
                  <a:rPr lang="en-US" sz="1200" b="1" spc="-1">
                    <a:solidFill>
                      <a:srgbClr val="000000"/>
                    </a:solidFill>
                    <a:latin typeface="Cambria"/>
                    <a:ea typeface="Times New Roman"/>
                  </a:rPr>
                  <a:t> = </a:t>
                </a:r>
                <a:r>
                  <a:rPr lang="en-US" sz="1200" b="1" spc="-1">
                    <a:solidFill>
                      <a:srgbClr val="FF0000"/>
                    </a:solidFill>
                    <a:latin typeface="Cambria"/>
                    <a:ea typeface="Times New Roman"/>
                  </a:rPr>
                  <a:t>5</a:t>
                </a:r>
                <a:r>
                  <a:rPr lang="en-US" sz="1200" b="1" spc="-1">
                    <a:solidFill>
                      <a:srgbClr val="000000"/>
                    </a:solidFill>
                    <a:latin typeface="Cambria"/>
                    <a:ea typeface="Times New Roman"/>
                  </a:rPr>
                  <a:t>)</a:t>
                </a:r>
                <a:endParaRPr lang="en-US" sz="1200" spc="-1">
                  <a:latin typeface="Arial"/>
                </a:endParaRPr>
              </a:p>
            </p:txBody>
          </p:sp>
          <p:sp>
            <p:nvSpPr>
              <p:cNvPr id="578" name="Line 42"/>
              <p:cNvSpPr/>
              <p:nvPr/>
            </p:nvSpPr>
            <p:spPr>
              <a:xfrm>
                <a:off x="3103920" y="4169160"/>
                <a:ext cx="2372400" cy="720"/>
              </a:xfrm>
              <a:prstGeom prst="line">
                <a:avLst/>
              </a:prstGeom>
              <a:ln w="25560">
                <a:solidFill>
                  <a:srgbClr val="5A5A5A">
                    <a:alpha val="83000"/>
                  </a:srgbClr>
                </a:solidFill>
                <a:prstDash val="dash"/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579" name="Line 43"/>
              <p:cNvSpPr/>
              <p:nvPr/>
            </p:nvSpPr>
            <p:spPr>
              <a:xfrm>
                <a:off x="3103920" y="4569120"/>
                <a:ext cx="2372400" cy="720"/>
              </a:xfrm>
              <a:prstGeom prst="line">
                <a:avLst/>
              </a:prstGeom>
              <a:ln w="25560">
                <a:solidFill>
                  <a:srgbClr val="5A5A5A">
                    <a:alpha val="83000"/>
                  </a:srgbClr>
                </a:solidFill>
                <a:prstDash val="dash"/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580" name="Line 44"/>
              <p:cNvSpPr/>
              <p:nvPr/>
            </p:nvSpPr>
            <p:spPr>
              <a:xfrm>
                <a:off x="3103920" y="4968360"/>
                <a:ext cx="2372400" cy="720"/>
              </a:xfrm>
              <a:prstGeom prst="line">
                <a:avLst/>
              </a:prstGeom>
              <a:ln w="25560">
                <a:solidFill>
                  <a:srgbClr val="5A5A5A">
                    <a:alpha val="83000"/>
                  </a:srgbClr>
                </a:solidFill>
                <a:prstDash val="dash"/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581" name="Line 45"/>
              <p:cNvSpPr/>
              <p:nvPr/>
            </p:nvSpPr>
            <p:spPr>
              <a:xfrm>
                <a:off x="3103920" y="5397120"/>
                <a:ext cx="2372400" cy="360"/>
              </a:xfrm>
              <a:prstGeom prst="line">
                <a:avLst/>
              </a:prstGeom>
              <a:ln w="25560">
                <a:solidFill>
                  <a:srgbClr val="5A5A5A">
                    <a:alpha val="83000"/>
                  </a:srgbClr>
                </a:solidFill>
                <a:prstDash val="dash"/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582" name="CustomShape 46"/>
              <p:cNvSpPr/>
              <p:nvPr/>
            </p:nvSpPr>
            <p:spPr>
              <a:xfrm>
                <a:off x="3476520" y="3883680"/>
                <a:ext cx="1799280" cy="19980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000" b="1" spc="-1">
                    <a:solidFill>
                      <a:srgbClr val="000000"/>
                    </a:solidFill>
                    <a:latin typeface="Calibri"/>
                    <a:ea typeface="Times New Roman"/>
                  </a:rPr>
                  <a:t>Loaded in virtual address 201000</a:t>
                </a:r>
                <a:endParaRPr lang="en-US" sz="1000" spc="-1">
                  <a:latin typeface="Arial"/>
                </a:endParaRPr>
              </a:p>
            </p:txBody>
          </p:sp>
          <p:sp>
            <p:nvSpPr>
              <p:cNvPr id="583" name="CustomShape 47"/>
              <p:cNvSpPr/>
              <p:nvPr/>
            </p:nvSpPr>
            <p:spPr>
              <a:xfrm>
                <a:off x="3476520" y="4312080"/>
                <a:ext cx="1799280" cy="19908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000" b="1" spc="-1">
                    <a:solidFill>
                      <a:srgbClr val="000000"/>
                    </a:solidFill>
                    <a:latin typeface="Calibri"/>
                    <a:ea typeface="Times New Roman"/>
                  </a:rPr>
                  <a:t>Loaded in virtual address 202000</a:t>
                </a:r>
                <a:endParaRPr lang="en-US" sz="1000" spc="-1">
                  <a:latin typeface="Arial"/>
                </a:endParaRPr>
              </a:p>
            </p:txBody>
          </p:sp>
          <p:sp>
            <p:nvSpPr>
              <p:cNvPr id="584" name="CustomShape 48"/>
              <p:cNvSpPr/>
              <p:nvPr/>
            </p:nvSpPr>
            <p:spPr>
              <a:xfrm>
                <a:off x="3476520" y="4740120"/>
                <a:ext cx="1799280" cy="20016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000" b="1" spc="-1">
                    <a:solidFill>
                      <a:srgbClr val="000000"/>
                    </a:solidFill>
                    <a:latin typeface="Calibri"/>
                    <a:ea typeface="Times New Roman"/>
                  </a:rPr>
                  <a:t>Loaded in virtual address 203000</a:t>
                </a:r>
                <a:endParaRPr lang="en-US" sz="1000" spc="-1">
                  <a:latin typeface="Arial"/>
                </a:endParaRPr>
              </a:p>
            </p:txBody>
          </p:sp>
          <p:sp>
            <p:nvSpPr>
              <p:cNvPr id="585" name="CustomShape 49"/>
              <p:cNvSpPr/>
              <p:nvPr/>
            </p:nvSpPr>
            <p:spPr>
              <a:xfrm>
                <a:off x="3476520" y="5597640"/>
                <a:ext cx="942840" cy="42840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000" b="1" spc="-1">
                    <a:solidFill>
                      <a:srgbClr val="000000"/>
                    </a:solidFill>
                    <a:latin typeface="Calibri"/>
                    <a:ea typeface="Times New Roman"/>
                  </a:rPr>
                  <a:t>NOT Loaded in main memory</a:t>
                </a:r>
                <a:endParaRPr lang="en-US" sz="1000" spc="-1">
                  <a:latin typeface="Arial"/>
                </a:endParaRPr>
              </a:p>
            </p:txBody>
          </p:sp>
          <p:sp>
            <p:nvSpPr>
              <p:cNvPr id="586" name="CustomShape 50"/>
              <p:cNvSpPr/>
              <p:nvPr/>
            </p:nvSpPr>
            <p:spPr>
              <a:xfrm>
                <a:off x="5476680" y="5418720"/>
                <a:ext cx="1425960" cy="399600"/>
              </a:xfrm>
              <a:prstGeom prst="rect">
                <a:avLst/>
              </a:prstGeom>
              <a:gradFill rotWithShape="0">
                <a:gsLst>
                  <a:gs pos="0">
                    <a:srgbClr val="41A374"/>
                  </a:gs>
                  <a:gs pos="100000">
                    <a:srgbClr val="4BBD87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400" b="1" spc="-1">
                    <a:solidFill>
                      <a:srgbClr val="FFFFFF"/>
                    </a:solidFill>
                    <a:latin typeface="Calibri"/>
                    <a:ea typeface="Times New Roman"/>
                  </a:rPr>
                  <a:t>USTAKTOP —PAGESIZE</a:t>
                </a:r>
                <a:endParaRPr lang="en-US" sz="1400" spc="-1">
                  <a:latin typeface="Arial"/>
                </a:endParaRPr>
              </a:p>
            </p:txBody>
          </p:sp>
          <p:sp>
            <p:nvSpPr>
              <p:cNvPr id="587" name="CustomShape 51"/>
              <p:cNvSpPr/>
              <p:nvPr/>
            </p:nvSpPr>
            <p:spPr>
              <a:xfrm>
                <a:off x="3655440" y="6311520"/>
                <a:ext cx="1399680" cy="400320"/>
              </a:xfrm>
              <a:prstGeom prst="rect">
                <a:avLst/>
              </a:prstGeom>
              <a:solidFill>
                <a:srgbClr val="0066FF">
                  <a:alpha val="30000"/>
                </a:srgbClr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720" tIns="36720" rIns="36720" bIns="3672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400" b="1" spc="-1">
                    <a:solidFill>
                      <a:srgbClr val="000000"/>
                    </a:solidFill>
                    <a:latin typeface="Calibri"/>
                    <a:ea typeface="Times New Roman"/>
                  </a:rPr>
                  <a:t>First Stack Page </a:t>
                </a:r>
                <a:endParaRPr lang="en-US" sz="1400" spc="-1">
                  <a:latin typeface="Arial"/>
                </a:endParaRPr>
              </a:p>
            </p:txBody>
          </p:sp>
          <p:grpSp>
            <p:nvGrpSpPr>
              <p:cNvPr id="588" name="Group 52"/>
              <p:cNvGrpSpPr/>
              <p:nvPr/>
            </p:nvGrpSpPr>
            <p:grpSpPr>
              <a:xfrm>
                <a:off x="3221640" y="5613840"/>
                <a:ext cx="165240" cy="165600"/>
                <a:chOff x="3221640" y="5613840"/>
                <a:chExt cx="165240" cy="165600"/>
              </a:xfrm>
            </p:grpSpPr>
            <p:sp>
              <p:nvSpPr>
                <p:cNvPr id="589" name="CustomShape 53"/>
                <p:cNvSpPr/>
                <p:nvPr/>
              </p:nvSpPr>
              <p:spPr>
                <a:xfrm rot="2710200">
                  <a:off x="3198240" y="5685840"/>
                  <a:ext cx="212400" cy="20880"/>
                </a:xfrm>
                <a:prstGeom prst="rect">
                  <a:avLst/>
                </a:prstGeom>
                <a:solidFill>
                  <a:srgbClr val="FF6600"/>
                </a:solidFill>
                <a:ln w="9360">
                  <a:noFill/>
                </a:ln>
                <a:effectLst>
                  <a:outerShdw dist="17819" dir="2700000" algn="ctr" rotWithShape="0">
                    <a:srgbClr val="7F7F7F">
                      <a:alpha val="50000"/>
                    </a:srgb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AE"/>
                </a:p>
              </p:txBody>
            </p:sp>
            <p:sp>
              <p:nvSpPr>
                <p:cNvPr id="590" name="CustomShape 54"/>
                <p:cNvSpPr/>
                <p:nvPr/>
              </p:nvSpPr>
              <p:spPr>
                <a:xfrm rot="18889800">
                  <a:off x="3197520" y="5686200"/>
                  <a:ext cx="212400" cy="20880"/>
                </a:xfrm>
                <a:prstGeom prst="rect">
                  <a:avLst/>
                </a:prstGeom>
                <a:solidFill>
                  <a:srgbClr val="FF6600"/>
                </a:solidFill>
                <a:ln w="9360">
                  <a:noFill/>
                </a:ln>
                <a:effectLst>
                  <a:outerShdw dist="17819" dir="2700000" algn="ctr" rotWithShape="0">
                    <a:srgbClr val="7F7F7F">
                      <a:alpha val="50000"/>
                    </a:srgb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AE"/>
                </a:p>
              </p:txBody>
            </p:sp>
          </p:grpSp>
          <p:sp>
            <p:nvSpPr>
              <p:cNvPr id="591" name="CustomShape 55"/>
              <p:cNvSpPr/>
              <p:nvPr/>
            </p:nvSpPr>
            <p:spPr>
              <a:xfrm>
                <a:off x="3476520" y="5169240"/>
                <a:ext cx="1799280" cy="19944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000" b="1" spc="-1">
                    <a:solidFill>
                      <a:srgbClr val="000000"/>
                    </a:solidFill>
                    <a:latin typeface="Calibri"/>
                    <a:ea typeface="Times New Roman"/>
                  </a:rPr>
                  <a:t>Loaded in virtual address 801000</a:t>
                </a:r>
                <a:endParaRPr lang="en-US" sz="1000" spc="-1">
                  <a:latin typeface="Arial"/>
                </a:endParaRPr>
              </a:p>
            </p:txBody>
          </p:sp>
          <p:sp>
            <p:nvSpPr>
              <p:cNvPr id="592" name="CustomShape 56"/>
              <p:cNvSpPr/>
              <p:nvPr/>
            </p:nvSpPr>
            <p:spPr>
              <a:xfrm flipH="1">
                <a:off x="6934320" y="3962520"/>
                <a:ext cx="256320" cy="141840"/>
              </a:xfrm>
              <a:prstGeom prst="rightArrow">
                <a:avLst>
                  <a:gd name="adj1" fmla="val 43333"/>
                  <a:gd name="adj2" fmla="val 49206"/>
                </a:avLst>
              </a:prstGeom>
              <a:gradFill rotWithShape="0">
                <a:gsLst>
                  <a:gs pos="0">
                    <a:srgbClr val="DD7676"/>
                  </a:gs>
                  <a:gs pos="50000">
                    <a:srgbClr val="C00000">
                      <a:alpha val="40000"/>
                    </a:srgbClr>
                  </a:gs>
                  <a:gs pos="100000">
                    <a:srgbClr val="DD7676"/>
                  </a:gs>
                </a:gsLst>
                <a:lin ang="10800000"/>
              </a:gradFill>
              <a:ln w="255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593" name="CustomShape 57"/>
              <p:cNvSpPr/>
              <p:nvPr/>
            </p:nvSpPr>
            <p:spPr>
              <a:xfrm>
                <a:off x="7190640" y="3914640"/>
                <a:ext cx="1425960" cy="18972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>
                <a:noAutofit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US" sz="1400" b="1" spc="-1" dirty="0" err="1">
                    <a:solidFill>
                      <a:srgbClr val="000000"/>
                    </a:solidFill>
                    <a:latin typeface="Calibri"/>
                    <a:ea typeface="Times New Roman"/>
                  </a:rPr>
                  <a:t>WS_Last_element</a:t>
                </a:r>
                <a:endParaRPr lang="en-US" sz="1400" spc="-1" dirty="0">
                  <a:latin typeface="Arial"/>
                </a:endParaRPr>
              </a:p>
            </p:txBody>
          </p:sp>
        </p:grpSp>
        <p:cxnSp>
          <p:nvCxnSpPr>
            <p:cNvPr id="5" name="Connector: Curved 4">
              <a:extLst>
                <a:ext uri="{FF2B5EF4-FFF2-40B4-BE49-F238E27FC236}">
                  <a16:creationId xmlns:a16="http://schemas.microsoft.com/office/drawing/2014/main" id="{C5FD029B-CEC4-ACEB-4CFB-65E65D3A4BCB}"/>
                </a:ext>
              </a:extLst>
            </p:cNvPr>
            <p:cNvCxnSpPr>
              <a:stCxn id="587" idx="0"/>
              <a:endCxn id="586" idx="1"/>
            </p:cNvCxnSpPr>
            <p:nvPr/>
          </p:nvCxnSpPr>
          <p:spPr>
            <a:xfrm rot="5400000" flipH="1" flipV="1">
              <a:off x="3239869" y="4881805"/>
              <a:ext cx="693000" cy="1121400"/>
            </a:xfrm>
            <a:prstGeom prst="curvedConnector2">
              <a:avLst/>
            </a:prstGeom>
            <a:ln w="25560">
              <a:solidFill>
                <a:srgbClr val="5A5A5A">
                  <a:alpha val="83000"/>
                </a:srgbClr>
              </a:solidFill>
              <a:prstDash val="dash"/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0E2F79A-1065-DC3C-67A2-C35A8CD9A4BD}"/>
              </a:ext>
            </a:extLst>
          </p:cNvPr>
          <p:cNvGrpSpPr/>
          <p:nvPr/>
        </p:nvGrpSpPr>
        <p:grpSpPr>
          <a:xfrm>
            <a:off x="1892029" y="767983"/>
            <a:ext cx="2395440" cy="2353442"/>
            <a:chOff x="1723369" y="722242"/>
            <a:chExt cx="2395440" cy="2353442"/>
          </a:xfrm>
        </p:grpSpPr>
        <p:grpSp>
          <p:nvGrpSpPr>
            <p:cNvPr id="539" name="Group 3"/>
            <p:cNvGrpSpPr/>
            <p:nvPr/>
          </p:nvGrpSpPr>
          <p:grpSpPr>
            <a:xfrm>
              <a:off x="1723369" y="990703"/>
              <a:ext cx="2395440" cy="2084981"/>
              <a:chOff x="3352680" y="1447920"/>
              <a:chExt cx="2285640" cy="1992960"/>
            </a:xfrm>
          </p:grpSpPr>
          <p:sp>
            <p:nvSpPr>
              <p:cNvPr id="540" name="CustomShape 4"/>
              <p:cNvSpPr/>
              <p:nvPr/>
            </p:nvSpPr>
            <p:spPr>
              <a:xfrm>
                <a:off x="3352680" y="1447920"/>
                <a:ext cx="2285640" cy="1992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541" name="CustomShape 5"/>
              <p:cNvSpPr/>
              <p:nvPr/>
            </p:nvSpPr>
            <p:spPr>
              <a:xfrm>
                <a:off x="5161320" y="2787120"/>
                <a:ext cx="372240" cy="581760"/>
              </a:xfrm>
              <a:prstGeom prst="flowChartMagneticDisk">
                <a:avLst/>
              </a:prstGeom>
              <a:gradFill rotWithShape="0">
                <a:gsLst>
                  <a:gs pos="0">
                    <a:srgbClr val="765E00"/>
                  </a:gs>
                  <a:gs pos="100000">
                    <a:srgbClr val="FFCC0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542" name="CustomShape 6"/>
              <p:cNvSpPr/>
              <p:nvPr/>
            </p:nvSpPr>
            <p:spPr>
              <a:xfrm>
                <a:off x="3352680" y="1541880"/>
                <a:ext cx="2285640" cy="1899000"/>
              </a:xfrm>
              <a:prstGeom prst="roundRect">
                <a:avLst>
                  <a:gd name="adj" fmla="val 9019"/>
                </a:avLst>
              </a:prstGeom>
              <a:noFill/>
              <a:ln w="9360">
                <a:solidFill>
                  <a:srgbClr val="808080"/>
                </a:solidFill>
                <a:prstDash val="sysDot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543" name="CustomShape 7"/>
              <p:cNvSpPr/>
              <p:nvPr/>
            </p:nvSpPr>
            <p:spPr>
              <a:xfrm>
                <a:off x="3411360" y="1856160"/>
                <a:ext cx="608040" cy="1514880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F6F6F6"/>
                  </a:gs>
                  <a:gs pos="50000">
                    <a:srgbClr val="C0C0C0"/>
                  </a:gs>
                  <a:gs pos="100000">
                    <a:srgbClr val="F6F6F6"/>
                  </a:gs>
                </a:gsLst>
                <a:lin ang="2700000"/>
              </a:gradFill>
              <a:ln w="9360">
                <a:solidFill>
                  <a:srgbClr val="969696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600" b="1" spc="-1">
                    <a:solidFill>
                      <a:srgbClr val="000000"/>
                    </a:solidFill>
                    <a:latin typeface="Calibri"/>
                    <a:ea typeface="Arial"/>
                  </a:rPr>
                  <a:t>BIN</a:t>
                </a:r>
                <a:endParaRPr lang="en-US" sz="1600" spc="-1">
                  <a:latin typeface="Arial"/>
                </a:endParaRPr>
              </a:p>
            </p:txBody>
          </p:sp>
          <p:sp>
            <p:nvSpPr>
              <p:cNvPr id="544" name="CustomShape 8"/>
              <p:cNvSpPr/>
              <p:nvPr/>
            </p:nvSpPr>
            <p:spPr>
              <a:xfrm>
                <a:off x="4126320" y="2597760"/>
                <a:ext cx="955080" cy="137160"/>
              </a:xfrm>
              <a:prstGeom prst="rightArrow">
                <a:avLst>
                  <a:gd name="adj1" fmla="val 43324"/>
                  <a:gd name="adj2" fmla="val 90486"/>
                </a:avLst>
              </a:prstGeom>
              <a:gradFill rotWithShape="0">
                <a:gsLst>
                  <a:gs pos="0">
                    <a:srgbClr val="DD7676"/>
                  </a:gs>
                  <a:gs pos="50000">
                    <a:srgbClr val="C00000">
                      <a:alpha val="40000"/>
                    </a:srgbClr>
                  </a:gs>
                  <a:gs pos="100000">
                    <a:srgbClr val="DD7676"/>
                  </a:gs>
                </a:gsLst>
                <a:lin ang="0"/>
              </a:gradFill>
              <a:ln w="255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545" name="CustomShape 9"/>
              <p:cNvSpPr/>
              <p:nvPr/>
            </p:nvSpPr>
            <p:spPr>
              <a:xfrm>
                <a:off x="4629600" y="2867760"/>
                <a:ext cx="460800" cy="159840"/>
              </a:xfrm>
              <a:prstGeom prst="rightArrow">
                <a:avLst>
                  <a:gd name="adj1" fmla="val 43324"/>
                  <a:gd name="adj2" fmla="val 37527"/>
                </a:avLst>
              </a:prstGeom>
              <a:gradFill rotWithShape="0">
                <a:gsLst>
                  <a:gs pos="0">
                    <a:srgbClr val="DD7676"/>
                  </a:gs>
                  <a:gs pos="50000">
                    <a:srgbClr val="C00000">
                      <a:alpha val="40000"/>
                    </a:srgbClr>
                  </a:gs>
                  <a:gs pos="100000">
                    <a:srgbClr val="DD7676"/>
                  </a:gs>
                </a:gsLst>
                <a:lin ang="0"/>
              </a:gradFill>
              <a:ln w="255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546" name="CustomShape 10"/>
              <p:cNvSpPr/>
              <p:nvPr/>
            </p:nvSpPr>
            <p:spPr>
              <a:xfrm>
                <a:off x="4629600" y="3027960"/>
                <a:ext cx="460800" cy="163440"/>
              </a:xfrm>
              <a:prstGeom prst="rightArrow">
                <a:avLst>
                  <a:gd name="adj1" fmla="val 43324"/>
                  <a:gd name="adj2" fmla="val 36642"/>
                </a:avLst>
              </a:prstGeom>
              <a:gradFill rotWithShape="0">
                <a:gsLst>
                  <a:gs pos="0">
                    <a:srgbClr val="DD7676"/>
                  </a:gs>
                  <a:gs pos="50000">
                    <a:srgbClr val="C00000">
                      <a:alpha val="40000"/>
                    </a:srgbClr>
                  </a:gs>
                  <a:gs pos="100000">
                    <a:srgbClr val="DD7676"/>
                  </a:gs>
                </a:gsLst>
                <a:lin ang="0"/>
              </a:gradFill>
              <a:ln w="255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547" name="CustomShape 11"/>
              <p:cNvSpPr/>
              <p:nvPr/>
            </p:nvSpPr>
            <p:spPr>
              <a:xfrm>
                <a:off x="4629600" y="3183840"/>
                <a:ext cx="460800" cy="162720"/>
              </a:xfrm>
              <a:prstGeom prst="rightArrow">
                <a:avLst>
                  <a:gd name="adj1" fmla="val 43324"/>
                  <a:gd name="adj2" fmla="val 36850"/>
                </a:avLst>
              </a:prstGeom>
              <a:gradFill rotWithShape="0">
                <a:gsLst>
                  <a:gs pos="0">
                    <a:srgbClr val="DD7676"/>
                  </a:gs>
                  <a:gs pos="50000">
                    <a:srgbClr val="C00000">
                      <a:alpha val="40000"/>
                    </a:srgbClr>
                  </a:gs>
                  <a:gs pos="100000">
                    <a:srgbClr val="DD7676"/>
                  </a:gs>
                </a:gsLst>
                <a:lin ang="0"/>
              </a:gradFill>
              <a:ln w="255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548" name="CustomShape 12"/>
              <p:cNvSpPr/>
              <p:nvPr/>
            </p:nvSpPr>
            <p:spPr>
              <a:xfrm>
                <a:off x="4119840" y="2382480"/>
                <a:ext cx="954000" cy="22356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100" b="1" spc="-1" dirty="0">
                    <a:solidFill>
                      <a:srgbClr val="CC0000"/>
                    </a:solidFill>
                    <a:latin typeface="Calibri"/>
                    <a:ea typeface="Arial"/>
                  </a:rPr>
                  <a:t>Required Tables</a:t>
                </a:r>
                <a:endParaRPr lang="en-US" sz="1100" spc="-1" dirty="0">
                  <a:latin typeface="Arial"/>
                </a:endParaRPr>
              </a:p>
            </p:txBody>
          </p:sp>
          <p:sp>
            <p:nvSpPr>
              <p:cNvPr id="549" name="CustomShape 13"/>
              <p:cNvSpPr/>
              <p:nvPr/>
            </p:nvSpPr>
            <p:spPr>
              <a:xfrm>
                <a:off x="4107240" y="2855880"/>
                <a:ext cx="522000" cy="515160"/>
              </a:xfrm>
              <a:prstGeom prst="rect">
                <a:avLst/>
              </a:prstGeom>
              <a:solidFill>
                <a:srgbClr val="FFFFFF"/>
              </a:solidFill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400" b="1" spc="-1" dirty="0">
                    <a:solidFill>
                      <a:srgbClr val="CC0000"/>
                    </a:solidFill>
                    <a:latin typeface="Calibri"/>
                    <a:ea typeface="Arial"/>
                  </a:rPr>
                  <a:t>All Pages</a:t>
                </a:r>
                <a:endParaRPr lang="en-US" sz="1400" spc="-1" dirty="0">
                  <a:latin typeface="Arial"/>
                </a:endParaRPr>
              </a:p>
            </p:txBody>
          </p:sp>
          <p:grpSp>
            <p:nvGrpSpPr>
              <p:cNvPr id="550" name="Group 14"/>
              <p:cNvGrpSpPr/>
              <p:nvPr/>
            </p:nvGrpSpPr>
            <p:grpSpPr>
              <a:xfrm>
                <a:off x="5179320" y="1856160"/>
                <a:ext cx="343800" cy="826560"/>
                <a:chOff x="5179320" y="1856160"/>
                <a:chExt cx="343800" cy="826560"/>
              </a:xfrm>
            </p:grpSpPr>
            <p:sp>
              <p:nvSpPr>
                <p:cNvPr id="551" name="CustomShape 15"/>
                <p:cNvSpPr/>
                <p:nvPr/>
              </p:nvSpPr>
              <p:spPr>
                <a:xfrm>
                  <a:off x="5184720" y="2580480"/>
                  <a:ext cx="338400" cy="102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005125"/>
                    </a:gs>
                    <a:gs pos="100000">
                      <a:srgbClr val="00B050">
                        <a:alpha val="40000"/>
                      </a:srgbClr>
                    </a:gs>
                  </a:gsLst>
                  <a:lin ang="0"/>
                </a:gradFill>
                <a:ln w="9360">
                  <a:solidFill>
                    <a:srgbClr val="969696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AE"/>
                </a:p>
              </p:txBody>
            </p:sp>
            <p:sp>
              <p:nvSpPr>
                <p:cNvPr id="552" name="CustomShape 16"/>
                <p:cNvSpPr/>
                <p:nvPr/>
              </p:nvSpPr>
              <p:spPr>
                <a:xfrm>
                  <a:off x="5183280" y="2269800"/>
                  <a:ext cx="338400" cy="102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005125"/>
                    </a:gs>
                    <a:gs pos="100000">
                      <a:srgbClr val="00B050">
                        <a:alpha val="40000"/>
                      </a:srgbClr>
                    </a:gs>
                  </a:gsLst>
                  <a:lin ang="0"/>
                </a:gradFill>
                <a:ln w="9360">
                  <a:solidFill>
                    <a:srgbClr val="969696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AE"/>
                </a:p>
              </p:txBody>
            </p:sp>
            <p:sp>
              <p:nvSpPr>
                <p:cNvPr id="553" name="CustomShape 17"/>
                <p:cNvSpPr/>
                <p:nvPr/>
              </p:nvSpPr>
              <p:spPr>
                <a:xfrm>
                  <a:off x="5184720" y="2372400"/>
                  <a:ext cx="337320" cy="103680"/>
                </a:xfrm>
                <a:prstGeom prst="rect">
                  <a:avLst/>
                </a:prstGeom>
                <a:gradFill rotWithShape="0">
                  <a:gsLst>
                    <a:gs pos="0">
                      <a:srgbClr val="005125"/>
                    </a:gs>
                    <a:gs pos="100000">
                      <a:srgbClr val="00B050">
                        <a:alpha val="40000"/>
                      </a:srgbClr>
                    </a:gs>
                  </a:gsLst>
                  <a:lin ang="0"/>
                </a:gradFill>
                <a:ln w="9360">
                  <a:solidFill>
                    <a:srgbClr val="969696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AE"/>
                </a:p>
              </p:txBody>
            </p:sp>
            <p:sp>
              <p:nvSpPr>
                <p:cNvPr id="554" name="CustomShape 18"/>
                <p:cNvSpPr/>
                <p:nvPr/>
              </p:nvSpPr>
              <p:spPr>
                <a:xfrm>
                  <a:off x="5183280" y="2476440"/>
                  <a:ext cx="338400" cy="103680"/>
                </a:xfrm>
                <a:prstGeom prst="rect">
                  <a:avLst/>
                </a:prstGeom>
                <a:gradFill rotWithShape="0">
                  <a:gsLst>
                    <a:gs pos="0">
                      <a:srgbClr val="005125"/>
                    </a:gs>
                    <a:gs pos="100000">
                      <a:srgbClr val="00B050">
                        <a:alpha val="40000"/>
                      </a:srgbClr>
                    </a:gs>
                  </a:gsLst>
                  <a:lin ang="0"/>
                </a:gradFill>
                <a:ln w="9360">
                  <a:solidFill>
                    <a:srgbClr val="969696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AE"/>
                </a:p>
              </p:txBody>
            </p:sp>
            <p:sp>
              <p:nvSpPr>
                <p:cNvPr id="555" name="CustomShape 19"/>
                <p:cNvSpPr/>
                <p:nvPr/>
              </p:nvSpPr>
              <p:spPr>
                <a:xfrm>
                  <a:off x="5182200" y="2166840"/>
                  <a:ext cx="338400" cy="102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005125"/>
                    </a:gs>
                    <a:gs pos="100000">
                      <a:srgbClr val="00B050">
                        <a:alpha val="40000"/>
                      </a:srgbClr>
                    </a:gs>
                  </a:gsLst>
                  <a:lin ang="0"/>
                </a:gradFill>
                <a:ln w="9360">
                  <a:solidFill>
                    <a:srgbClr val="969696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AE"/>
                </a:p>
              </p:txBody>
            </p:sp>
            <p:sp>
              <p:nvSpPr>
                <p:cNvPr id="556" name="CustomShape 20"/>
                <p:cNvSpPr/>
                <p:nvPr/>
              </p:nvSpPr>
              <p:spPr>
                <a:xfrm>
                  <a:off x="5179320" y="1856160"/>
                  <a:ext cx="341280" cy="102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005125"/>
                    </a:gs>
                    <a:gs pos="100000">
                      <a:srgbClr val="00B050">
                        <a:alpha val="40000"/>
                      </a:srgbClr>
                    </a:gs>
                  </a:gsLst>
                  <a:lin ang="0"/>
                </a:gradFill>
                <a:ln w="9360">
                  <a:solidFill>
                    <a:srgbClr val="969696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AE"/>
                </a:p>
              </p:txBody>
            </p:sp>
            <p:sp>
              <p:nvSpPr>
                <p:cNvPr id="557" name="CustomShape 21"/>
                <p:cNvSpPr/>
                <p:nvPr/>
              </p:nvSpPr>
              <p:spPr>
                <a:xfrm>
                  <a:off x="5182200" y="1958760"/>
                  <a:ext cx="338400" cy="103680"/>
                </a:xfrm>
                <a:prstGeom prst="rect">
                  <a:avLst/>
                </a:prstGeom>
                <a:gradFill rotWithShape="0">
                  <a:gsLst>
                    <a:gs pos="0">
                      <a:srgbClr val="005125"/>
                    </a:gs>
                    <a:gs pos="100000">
                      <a:srgbClr val="00B050">
                        <a:alpha val="40000"/>
                      </a:srgbClr>
                    </a:gs>
                  </a:gsLst>
                  <a:lin ang="0"/>
                </a:gradFill>
                <a:ln w="9360">
                  <a:solidFill>
                    <a:srgbClr val="969696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AE"/>
                </a:p>
              </p:txBody>
            </p:sp>
            <p:sp>
              <p:nvSpPr>
                <p:cNvPr id="558" name="CustomShape 22"/>
                <p:cNvSpPr/>
                <p:nvPr/>
              </p:nvSpPr>
              <p:spPr>
                <a:xfrm>
                  <a:off x="5179320" y="2062800"/>
                  <a:ext cx="341280" cy="103680"/>
                </a:xfrm>
                <a:prstGeom prst="rect">
                  <a:avLst/>
                </a:prstGeom>
                <a:gradFill rotWithShape="0">
                  <a:gsLst>
                    <a:gs pos="0">
                      <a:srgbClr val="005125"/>
                    </a:gs>
                    <a:gs pos="100000">
                      <a:srgbClr val="00B050">
                        <a:alpha val="40000"/>
                      </a:srgbClr>
                    </a:gs>
                  </a:gsLst>
                  <a:lin ang="0"/>
                </a:gradFill>
                <a:ln w="9360">
                  <a:solidFill>
                    <a:srgbClr val="969696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AE"/>
                </a:p>
              </p:txBody>
            </p:sp>
          </p:grpSp>
          <p:sp>
            <p:nvSpPr>
              <p:cNvPr id="559" name="CustomShape 23"/>
              <p:cNvSpPr/>
              <p:nvPr/>
            </p:nvSpPr>
            <p:spPr>
              <a:xfrm>
                <a:off x="4136400" y="2174400"/>
                <a:ext cx="954000" cy="136080"/>
              </a:xfrm>
              <a:prstGeom prst="rightArrow">
                <a:avLst>
                  <a:gd name="adj1" fmla="val 43324"/>
                  <a:gd name="adj2" fmla="val 91122"/>
                </a:avLst>
              </a:prstGeom>
              <a:gradFill rotWithShape="0">
                <a:gsLst>
                  <a:gs pos="0">
                    <a:srgbClr val="DD7676"/>
                  </a:gs>
                  <a:gs pos="50000">
                    <a:srgbClr val="C00000">
                      <a:alpha val="40000"/>
                    </a:srgbClr>
                  </a:gs>
                  <a:gs pos="100000">
                    <a:srgbClr val="DD7676"/>
                  </a:gs>
                </a:gsLst>
                <a:lin ang="0"/>
              </a:gradFill>
              <a:ln w="255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560" name="CustomShape 24"/>
              <p:cNvSpPr/>
              <p:nvPr/>
            </p:nvSpPr>
            <p:spPr>
              <a:xfrm>
                <a:off x="4129200" y="1958400"/>
                <a:ext cx="954000" cy="22356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400" b="1" spc="-1" dirty="0">
                    <a:solidFill>
                      <a:srgbClr val="CC0000"/>
                    </a:solidFill>
                    <a:latin typeface="Calibri"/>
                    <a:ea typeface="Arial"/>
                  </a:rPr>
                  <a:t>Set of pages</a:t>
                </a:r>
                <a:endParaRPr lang="en-US" sz="1400" spc="-1" dirty="0">
                  <a:latin typeface="Arial"/>
                </a:endParaRPr>
              </a:p>
            </p:txBody>
          </p:sp>
          <p:sp>
            <p:nvSpPr>
              <p:cNvPr id="561" name="CustomShape 25"/>
              <p:cNvSpPr/>
              <p:nvPr/>
            </p:nvSpPr>
            <p:spPr>
              <a:xfrm>
                <a:off x="4023000" y="1579320"/>
                <a:ext cx="1125720" cy="27648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>
                <a:noAutofit/>
              </a:bodyPr>
              <a:lstStyle/>
              <a:p>
                <a:pPr algn="ctr">
                  <a:spcAft>
                    <a:spcPts val="1001"/>
                  </a:spcAft>
                  <a:tabLst>
                    <a:tab pos="0" algn="l"/>
                  </a:tabLst>
                </a:pPr>
                <a:r>
                  <a:rPr lang="en-US" sz="1400" b="1" spc="-1" dirty="0" err="1">
                    <a:solidFill>
                      <a:srgbClr val="969696"/>
                    </a:solidFill>
                    <a:latin typeface="Calibri"/>
                    <a:ea typeface="Arial"/>
                  </a:rPr>
                  <a:t>env_create</a:t>
                </a:r>
                <a:r>
                  <a:rPr lang="en-US" sz="1400" b="1" spc="-1" dirty="0">
                    <a:solidFill>
                      <a:srgbClr val="969696"/>
                    </a:solidFill>
                    <a:latin typeface="Calibri"/>
                    <a:ea typeface="Arial"/>
                  </a:rPr>
                  <a:t>( )</a:t>
                </a:r>
                <a:endParaRPr lang="en-US" sz="1400" spc="-1" dirty="0">
                  <a:latin typeface="Arial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89B0B8C-4DD6-D1AC-0688-C48448A0B88D}"/>
                </a:ext>
              </a:extLst>
            </p:cNvPr>
            <p:cNvSpPr txBox="1"/>
            <p:nvPr/>
          </p:nvSpPr>
          <p:spPr>
            <a:xfrm>
              <a:off x="2091722" y="722242"/>
              <a:ext cx="16577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Now: in Project</a:t>
              </a:r>
              <a:endParaRPr lang="en-AE" b="1" dirty="0"/>
            </a:p>
          </p:txBody>
        </p:sp>
      </p:grpSp>
      <p:sp>
        <p:nvSpPr>
          <p:cNvPr id="4" name="CustomShape 5">
            <a:extLst>
              <a:ext uri="{FF2B5EF4-FFF2-40B4-BE49-F238E27FC236}">
                <a16:creationId xmlns:a16="http://schemas.microsoft.com/office/drawing/2014/main" id="{F2A44005-B5EF-B32D-690C-30DCC0F10D0E}"/>
              </a:ext>
            </a:extLst>
          </p:cNvPr>
          <p:cNvSpPr/>
          <p:nvPr/>
        </p:nvSpPr>
        <p:spPr>
          <a:xfrm>
            <a:off x="6903589" y="5108236"/>
            <a:ext cx="390122" cy="508444"/>
          </a:xfrm>
          <a:prstGeom prst="flowChartMagneticDisk">
            <a:avLst/>
          </a:prstGeom>
          <a:gradFill rotWithShape="0">
            <a:gsLst>
              <a:gs pos="0">
                <a:srgbClr val="765E00"/>
              </a:gs>
              <a:gs pos="100000">
                <a:srgbClr val="FFCC00">
                  <a:alpha val="40000"/>
                </a:srgbClr>
              </a:gs>
            </a:gsLst>
            <a:lin ang="0"/>
          </a:gradFill>
          <a:ln w="9360">
            <a:solidFill>
              <a:srgbClr val="9696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E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4FADB3-9511-0810-278B-98476732CACA}"/>
              </a:ext>
            </a:extLst>
          </p:cNvPr>
          <p:cNvGrpSpPr/>
          <p:nvPr/>
        </p:nvGrpSpPr>
        <p:grpSpPr>
          <a:xfrm>
            <a:off x="6947069" y="5871570"/>
            <a:ext cx="356166" cy="431986"/>
            <a:chOff x="7002621" y="5757664"/>
            <a:chExt cx="356166" cy="431986"/>
          </a:xfrm>
        </p:grpSpPr>
        <p:sp>
          <p:nvSpPr>
            <p:cNvPr id="7" name="CustomShape 15">
              <a:extLst>
                <a:ext uri="{FF2B5EF4-FFF2-40B4-BE49-F238E27FC236}">
                  <a16:creationId xmlns:a16="http://schemas.microsoft.com/office/drawing/2014/main" id="{542F8F28-F24F-CCE7-51FB-D1FF604D889E}"/>
                </a:ext>
              </a:extLst>
            </p:cNvPr>
            <p:cNvSpPr/>
            <p:nvPr/>
          </p:nvSpPr>
          <p:spPr>
            <a:xfrm>
              <a:off x="7004130" y="6082689"/>
              <a:ext cx="354657" cy="106961"/>
            </a:xfrm>
            <a:prstGeom prst="rect">
              <a:avLst/>
            </a:prstGeom>
            <a:gradFill rotWithShape="0">
              <a:gsLst>
                <a:gs pos="0">
                  <a:srgbClr val="005125"/>
                </a:gs>
                <a:gs pos="100000">
                  <a:srgbClr val="00B050">
                    <a:alpha val="40000"/>
                  </a:srgbClr>
                </a:gs>
              </a:gsLst>
              <a:lin ang="0"/>
            </a:gradFill>
            <a:ln w="9360">
              <a:solidFill>
                <a:srgbClr val="96969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8" name="CustomShape 16">
              <a:extLst>
                <a:ext uri="{FF2B5EF4-FFF2-40B4-BE49-F238E27FC236}">
                  <a16:creationId xmlns:a16="http://schemas.microsoft.com/office/drawing/2014/main" id="{85507421-F431-A0DD-3A76-6768BCE62D0A}"/>
                </a:ext>
              </a:extLst>
            </p:cNvPr>
            <p:cNvSpPr/>
            <p:nvPr/>
          </p:nvSpPr>
          <p:spPr>
            <a:xfrm>
              <a:off x="7002621" y="5757664"/>
              <a:ext cx="354657" cy="106961"/>
            </a:xfrm>
            <a:prstGeom prst="rect">
              <a:avLst/>
            </a:prstGeom>
            <a:gradFill rotWithShape="0">
              <a:gsLst>
                <a:gs pos="0">
                  <a:srgbClr val="005125"/>
                </a:gs>
                <a:gs pos="100000">
                  <a:srgbClr val="00B050">
                    <a:alpha val="40000"/>
                  </a:srgbClr>
                </a:gs>
              </a:gsLst>
              <a:lin ang="0"/>
            </a:gradFill>
            <a:ln w="9360">
              <a:solidFill>
                <a:srgbClr val="96969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9" name="CustomShape 17">
              <a:extLst>
                <a:ext uri="{FF2B5EF4-FFF2-40B4-BE49-F238E27FC236}">
                  <a16:creationId xmlns:a16="http://schemas.microsoft.com/office/drawing/2014/main" id="{18E2E30C-ACE5-85C7-7C64-1C0D7ABC855F}"/>
                </a:ext>
              </a:extLst>
            </p:cNvPr>
            <p:cNvSpPr/>
            <p:nvPr/>
          </p:nvSpPr>
          <p:spPr>
            <a:xfrm>
              <a:off x="7004130" y="5865002"/>
              <a:ext cx="353525" cy="108467"/>
            </a:xfrm>
            <a:prstGeom prst="rect">
              <a:avLst/>
            </a:prstGeom>
            <a:gradFill rotWithShape="0">
              <a:gsLst>
                <a:gs pos="0">
                  <a:srgbClr val="005125"/>
                </a:gs>
                <a:gs pos="100000">
                  <a:srgbClr val="00B050">
                    <a:alpha val="40000"/>
                  </a:srgbClr>
                </a:gs>
              </a:gsLst>
              <a:lin ang="0"/>
            </a:gradFill>
            <a:ln w="9360">
              <a:solidFill>
                <a:srgbClr val="96969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10" name="CustomShape 18">
              <a:extLst>
                <a:ext uri="{FF2B5EF4-FFF2-40B4-BE49-F238E27FC236}">
                  <a16:creationId xmlns:a16="http://schemas.microsoft.com/office/drawing/2014/main" id="{3D27D325-710A-B0A5-774B-285790AE485C}"/>
                </a:ext>
              </a:extLst>
            </p:cNvPr>
            <p:cNvSpPr/>
            <p:nvPr/>
          </p:nvSpPr>
          <p:spPr>
            <a:xfrm>
              <a:off x="7002621" y="5973845"/>
              <a:ext cx="354657" cy="108467"/>
            </a:xfrm>
            <a:prstGeom prst="rect">
              <a:avLst/>
            </a:prstGeom>
            <a:gradFill rotWithShape="0">
              <a:gsLst>
                <a:gs pos="0">
                  <a:srgbClr val="005125"/>
                </a:gs>
                <a:gs pos="100000">
                  <a:srgbClr val="00B050">
                    <a:alpha val="40000"/>
                  </a:srgbClr>
                </a:gs>
              </a:gsLst>
              <a:lin ang="0"/>
            </a:gradFill>
            <a:ln w="9360">
              <a:solidFill>
                <a:srgbClr val="96969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0B10D37-6966-63CA-9814-AD4FC573BA23}"/>
              </a:ext>
            </a:extLst>
          </p:cNvPr>
          <p:cNvSpPr txBox="1"/>
          <p:nvPr/>
        </p:nvSpPr>
        <p:spPr>
          <a:xfrm>
            <a:off x="6896600" y="4599094"/>
            <a:ext cx="3148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Refer to </a:t>
            </a:r>
            <a:r>
              <a:rPr lang="en-US" sz="2000" b="1" dirty="0">
                <a:hlinkClick r:id="rId2" action="ppaction://hlinkfile"/>
              </a:rPr>
              <a:t>APPENDICES</a:t>
            </a:r>
            <a:r>
              <a:rPr lang="en-US" sz="2000" b="1" dirty="0"/>
              <a:t> for:</a:t>
            </a:r>
            <a:endParaRPr lang="en-AE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AA3E84-16A1-73E4-3BCF-720AD1EDC14E}"/>
              </a:ext>
            </a:extLst>
          </p:cNvPr>
          <p:cNvSpPr txBox="1"/>
          <p:nvPr/>
        </p:nvSpPr>
        <p:spPr>
          <a:xfrm>
            <a:off x="7417808" y="5116844"/>
            <a:ext cx="3094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Page File Helper Functions</a:t>
            </a:r>
            <a:endParaRPr lang="en-AE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C8704F-5606-81AF-4FC2-D75BCF339A42}"/>
              </a:ext>
            </a:extLst>
          </p:cNvPr>
          <p:cNvSpPr txBox="1"/>
          <p:nvPr/>
        </p:nvSpPr>
        <p:spPr>
          <a:xfrm>
            <a:off x="7417808" y="5812009"/>
            <a:ext cx="47662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Working Set Structure &amp; Helper Functions</a:t>
            </a:r>
            <a:endParaRPr lang="en-AE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8496AE-1D10-8D07-4260-0B33A7C54003}"/>
              </a:ext>
            </a:extLst>
          </p:cNvPr>
          <p:cNvSpPr txBox="1"/>
          <p:nvPr/>
        </p:nvSpPr>
        <p:spPr>
          <a:xfrm rot="16200000">
            <a:off x="6584680" y="1952453"/>
            <a:ext cx="865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DONE</a:t>
            </a:r>
            <a:endParaRPr lang="en-AE" sz="2000" b="1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09DFDA-3F8E-4822-03A2-B6BB4D4654B5}"/>
              </a:ext>
            </a:extLst>
          </p:cNvPr>
          <p:cNvSpPr txBox="1"/>
          <p:nvPr/>
        </p:nvSpPr>
        <p:spPr>
          <a:xfrm>
            <a:off x="5826221" y="3853390"/>
            <a:ext cx="14389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REQUIRED</a:t>
            </a:r>
            <a:endParaRPr lang="en-AE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  <p:bldP spid="12" grpId="0"/>
      <p:bldP spid="13" grpId="0"/>
      <p:bldP spid="16" grpId="0"/>
      <p:bldP spid="1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32D98-557A-1578-4592-EF326E60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54C6D-6DFC-D600-1304-60AFFF4D0187}"/>
              </a:ext>
            </a:extLst>
          </p:cNvPr>
          <p:cNvSpPr/>
          <p:nvPr/>
        </p:nvSpPr>
        <p:spPr>
          <a:xfrm>
            <a:off x="0" y="-21814"/>
            <a:ext cx="12192000" cy="687981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Box 1102">
            <a:extLst>
              <a:ext uri="{FF2B5EF4-FFF2-40B4-BE49-F238E27FC236}">
                <a16:creationId xmlns:a16="http://schemas.microsoft.com/office/drawing/2014/main" id="{6DE7C57A-2CC7-4350-797E-FE149D5D6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58" y="883838"/>
            <a:ext cx="11561541" cy="26440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BACC6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Env </a:t>
            </a:r>
            <a:endParaRPr lang="en-US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	</a:t>
            </a:r>
          </a:p>
          <a:p>
            <a:pPr marL="0" marR="0" lvl="0" indent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66FF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struct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WS_List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page_WS_active_list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alt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should work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FIFO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defTabSz="914400">
              <a:lnSpc>
                <a:spcPct val="15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66FF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WS_List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page_WS_second_list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should work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LRU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>
              <a:lnSpc>
                <a:spcPct val="15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b="1" dirty="0">
                <a:solidFill>
                  <a:srgbClr val="0066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page_WS_max_size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A366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			</a:t>
            </a:r>
            <a:r>
              <a:rPr lang="en-US" altLang="en-US" sz="2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//Max allowed WS Size for both Lists</a:t>
            </a:r>
            <a:endParaRPr lang="en-US" sz="2000" b="1" dirty="0">
              <a:solidFill>
                <a:srgbClr val="A3662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-US" altLang="en-US" sz="2000" dirty="0">
                <a:solidFill>
                  <a:srgbClr val="4F81B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b="1" dirty="0">
                <a:solidFill>
                  <a:srgbClr val="0066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page_2nd_WS_size</a:t>
            </a:r>
            <a:r>
              <a:rPr lang="en-US" alt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;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		</a:t>
            </a:r>
            <a:r>
              <a:rPr lang="en-US" altLang="en-US" sz="2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//Max allowed </a:t>
            </a:r>
            <a:r>
              <a:rPr lang="en-US" altLang="en-US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</a:t>
            </a:r>
            <a:r>
              <a:rPr lang="en-US" altLang="en-US" sz="2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altLang="en-US" sz="2000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SecondList</a:t>
            </a:r>
            <a:endParaRPr lang="en-US" altLang="en-US" sz="200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>
              <a:lnSpc>
                <a:spcPct val="100000"/>
              </a:lnSpc>
            </a:pPr>
            <a:r>
              <a:rPr lang="en-AE" sz="2000" b="1" dirty="0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struct</a:t>
            </a:r>
            <a:r>
              <a:rPr lang="en-AE" sz="1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A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WorkingSetElement</a:t>
            </a:r>
            <a:r>
              <a:rPr lang="en-A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AE" sz="1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AE" sz="20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page_last_WS_element</a:t>
            </a:r>
            <a:r>
              <a:rPr lang="en-AE" sz="2000" dirty="0">
                <a:solidFill>
                  <a:srgbClr val="A3662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r>
              <a:rPr lang="en-AE" sz="1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endParaRPr lang="en-US" altLang="en-US" sz="1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77F7E-92D5-09C5-5C60-3464D361B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413" y="0"/>
            <a:ext cx="11601813" cy="778631"/>
          </a:xfrm>
        </p:spPr>
        <p:txBody>
          <a:bodyPr/>
          <a:lstStyle/>
          <a:p>
            <a:r>
              <a:rPr lang="en-US" dirty="0"/>
              <a:t>Working Set: </a:t>
            </a:r>
            <a:r>
              <a:rPr lang="en-US" b="1" dirty="0"/>
              <a:t>Structure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12E79-B35F-CD33-7585-217A1F8FC073}"/>
              </a:ext>
            </a:extLst>
          </p:cNvPr>
          <p:cNvSpPr txBox="1"/>
          <p:nvPr/>
        </p:nvSpPr>
        <p:spPr>
          <a:xfrm>
            <a:off x="8855787" y="491724"/>
            <a:ext cx="2776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inc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/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environment_definitions.h</a:t>
            </a: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4270BB-B1E2-0E6B-45CD-861D06E363C4}"/>
              </a:ext>
            </a:extLst>
          </p:cNvPr>
          <p:cNvGrpSpPr/>
          <p:nvPr/>
        </p:nvGrpSpPr>
        <p:grpSpPr>
          <a:xfrm>
            <a:off x="4695662" y="934586"/>
            <a:ext cx="7207599" cy="3496173"/>
            <a:chOff x="5370542" y="392340"/>
            <a:chExt cx="7207599" cy="349617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54CF93-5FC7-13B8-F652-63801524E132}"/>
                </a:ext>
              </a:extLst>
            </p:cNvPr>
            <p:cNvSpPr txBox="1"/>
            <p:nvPr/>
          </p:nvSpPr>
          <p:spPr>
            <a:xfrm>
              <a:off x="8120980" y="392340"/>
              <a:ext cx="1905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Each Element</a:t>
              </a:r>
              <a:endParaRPr kumimoji="0" lang="en-A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856A8DBC-F3DA-3FA8-12A9-9E652D146CDB}"/>
                </a:ext>
              </a:extLst>
            </p:cNvPr>
            <p:cNvCxnSpPr>
              <a:cxnSpLocks/>
              <a:stCxn id="6" idx="0"/>
              <a:endCxn id="17" idx="3"/>
            </p:cNvCxnSpPr>
            <p:nvPr/>
          </p:nvCxnSpPr>
          <p:spPr>
            <a:xfrm rot="16200000" flipH="1">
              <a:off x="7514539" y="-1175090"/>
              <a:ext cx="2919606" cy="7207599"/>
            </a:xfrm>
            <a:prstGeom prst="bentConnector4">
              <a:avLst>
                <a:gd name="adj1" fmla="val -7830"/>
                <a:gd name="adj2" fmla="val 103172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6C02D6-481D-470F-2270-86452D6523E0}"/>
              </a:ext>
            </a:extLst>
          </p:cNvPr>
          <p:cNvSpPr/>
          <p:nvPr/>
        </p:nvSpPr>
        <p:spPr bwMode="auto">
          <a:xfrm>
            <a:off x="3225454" y="1511152"/>
            <a:ext cx="2940417" cy="763367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C14ED4-D398-4F10-94F0-1B91E882C434}"/>
              </a:ext>
            </a:extLst>
          </p:cNvPr>
          <p:cNvGrpSpPr/>
          <p:nvPr/>
        </p:nvGrpSpPr>
        <p:grpSpPr>
          <a:xfrm>
            <a:off x="1615662" y="2830532"/>
            <a:ext cx="4650055" cy="369332"/>
            <a:chOff x="4080492" y="3521378"/>
            <a:chExt cx="4650055" cy="36933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DF1B5F9-62AE-DB82-1BC2-1D310A297BE3}"/>
                </a:ext>
              </a:extLst>
            </p:cNvPr>
            <p:cNvSpPr/>
            <p:nvPr/>
          </p:nvSpPr>
          <p:spPr bwMode="auto">
            <a:xfrm>
              <a:off x="4080492" y="3541936"/>
              <a:ext cx="2516699" cy="328217"/>
            </a:xfrm>
            <a:prstGeom prst="roundRect">
              <a:avLst/>
            </a:prstGeom>
            <a:solidFill>
              <a:srgbClr val="FF0000">
                <a:alpha val="4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B56C188-F595-CFF9-72D3-F562C064111F}"/>
                </a:ext>
              </a:extLst>
            </p:cNvPr>
            <p:cNvSpPr txBox="1"/>
            <p:nvPr/>
          </p:nvSpPr>
          <p:spPr>
            <a:xfrm>
              <a:off x="6552444" y="3521378"/>
              <a:ext cx="2178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LRU 2</a:t>
              </a:r>
              <a:r>
                <a:rPr kumimoji="0" lang="en-US" sz="1800" b="1" i="0" u="none" strike="noStrike" kern="1200" cap="none" spc="0" normalizeH="0" baseline="30000" noProof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nd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List Size</a:t>
              </a:r>
              <a:endParaRPr kumimoji="0" lang="en-AE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556CC-AAB5-0866-3766-51CBCCC62785}"/>
              </a:ext>
            </a:extLst>
          </p:cNvPr>
          <p:cNvGrpSpPr/>
          <p:nvPr/>
        </p:nvGrpSpPr>
        <p:grpSpPr>
          <a:xfrm>
            <a:off x="1625643" y="2375441"/>
            <a:ext cx="4362814" cy="369332"/>
            <a:chOff x="2285999" y="3853256"/>
            <a:chExt cx="4362814" cy="36933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5C91119-A2A3-CE9F-6465-5D4C42650816}"/>
                </a:ext>
              </a:extLst>
            </p:cNvPr>
            <p:cNvSpPr/>
            <p:nvPr/>
          </p:nvSpPr>
          <p:spPr bwMode="auto">
            <a:xfrm>
              <a:off x="2285999" y="3876263"/>
              <a:ext cx="2522655" cy="328217"/>
            </a:xfrm>
            <a:prstGeom prst="roundRect">
              <a:avLst/>
            </a:prstGeom>
            <a:solidFill>
              <a:srgbClr val="FF0000">
                <a:alpha val="4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E40B0B6-0B7D-DCD0-4233-68A71B49181E}"/>
                </a:ext>
              </a:extLst>
            </p:cNvPr>
            <p:cNvSpPr txBox="1"/>
            <p:nvPr/>
          </p:nvSpPr>
          <p:spPr>
            <a:xfrm>
              <a:off x="4743813" y="3853256"/>
              <a:ext cx="1905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Proc Limit</a:t>
              </a:r>
              <a:endParaRPr kumimoji="0" lang="en-A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B0CFE9-550E-15D3-1E16-DD4F5CDA0201}"/>
              </a:ext>
            </a:extLst>
          </p:cNvPr>
          <p:cNvGrpSpPr/>
          <p:nvPr/>
        </p:nvGrpSpPr>
        <p:grpSpPr>
          <a:xfrm>
            <a:off x="5806411" y="3436485"/>
            <a:ext cx="6096851" cy="1632537"/>
            <a:chOff x="5540191" y="4291239"/>
            <a:chExt cx="6096851" cy="163253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2C6F049-94A3-D976-AA41-4716A24D2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0191" y="4647248"/>
              <a:ext cx="6096851" cy="127652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3F32D5F-9CC1-42F2-46C4-8C238D6CC4CD}"/>
                </a:ext>
              </a:extLst>
            </p:cNvPr>
            <p:cNvSpPr txBox="1"/>
            <p:nvPr/>
          </p:nvSpPr>
          <p:spPr>
            <a:xfrm>
              <a:off x="7010400" y="4291239"/>
              <a:ext cx="27764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inc</a:t>
              </a: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/</a:t>
              </a:r>
              <a:r>
                <a:rPr kumimoji="0" lang="en-US" sz="1800" b="1" i="0" u="none" strike="noStrike" kern="1200" cap="none" spc="0" normalizeH="0" baseline="0" noProof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environment_definitions</a:t>
              </a: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.h</a:t>
              </a:r>
              <a:endParaRPr kumimoji="0" lang="en-AE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endParaRP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5BB2EB9-19A4-7B8E-FDEF-12F961B13F62}"/>
              </a:ext>
            </a:extLst>
          </p:cNvPr>
          <p:cNvSpPr/>
          <p:nvPr/>
        </p:nvSpPr>
        <p:spPr bwMode="auto">
          <a:xfrm>
            <a:off x="7891243" y="4012599"/>
            <a:ext cx="2034174" cy="302622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393C5FA-2F37-62C2-5DA1-86F381FCC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58" y="3537933"/>
            <a:ext cx="5967599" cy="3344588"/>
          </a:xfrm>
        </p:spPr>
        <p:txBody>
          <a:bodyPr>
            <a:normAutofit fontScale="92500" lnSpcReduction="10000"/>
          </a:bodyPr>
          <a:lstStyle/>
          <a:p>
            <a:pPr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Each process has two </a:t>
            </a: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working set LISTs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 that are initialized in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env_create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()</a:t>
            </a:r>
            <a:endParaRPr lang="en-AE" sz="2000" dirty="0">
              <a:effectLst/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b="1" dirty="0">
                <a:ea typeface="Times New Roman" panose="02020603050405020304" pitchFamily="18" charset="0"/>
                <a:cs typeface="Arial" panose="020B0604020202020204" pitchFamily="34" charset="0"/>
              </a:rPr>
              <a:t>max total size 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is set in "</a:t>
            </a:r>
            <a:r>
              <a:rPr lang="en-US" b="1" dirty="0" err="1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page_WS_max_size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" during the </a:t>
            </a:r>
            <a:r>
              <a:rPr lang="en-US" b="1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env_create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()</a:t>
            </a:r>
            <a:endParaRPr lang="en-AE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"</a:t>
            </a:r>
            <a:r>
              <a:rPr lang="en-US" b="1" dirty="0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page_2nd_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WS_size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" will hold the max size of the 2</a:t>
            </a:r>
            <a:r>
              <a:rPr lang="en-US" baseline="30000" dirty="0">
                <a:ea typeface="Times New Roman" panose="02020603050405020304" pitchFamily="18" charset="0"/>
                <a:cs typeface="Arial" panose="020B0604020202020204" pitchFamily="34" charset="0"/>
              </a:rPr>
              <a:t>nd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 list (in case of FIFO, it equals ZERO)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"</a:t>
            </a:r>
            <a:r>
              <a:rPr lang="en-US" b="1" dirty="0" err="1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page_last_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WS_element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" will point to either: </a:t>
            </a:r>
            <a:endParaRPr lang="en-AE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a typeface="Times New Roman" panose="02020603050405020304" pitchFamily="18" charset="0"/>
                <a:cs typeface="Arial" panose="020B0604020202020204" pitchFamily="34" charset="0"/>
              </a:rPr>
              <a:t>First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b="1" dirty="0">
                <a:ea typeface="Times New Roman" panose="02020603050405020304" pitchFamily="18" charset="0"/>
                <a:cs typeface="Arial" panose="020B0604020202020204" pitchFamily="34" charset="0"/>
              </a:rPr>
              <a:t>location 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in the Active WS If the </a:t>
            </a:r>
            <a:r>
              <a:rPr lang="en-US" b="1" dirty="0">
                <a:ea typeface="Times New Roman" panose="02020603050405020304" pitchFamily="18" charset="0"/>
                <a:cs typeface="Arial" panose="020B0604020202020204" pitchFamily="34" charset="0"/>
              </a:rPr>
              <a:t>list is full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AE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a typeface="Times New Roman" panose="02020603050405020304" pitchFamily="18" charset="0"/>
                <a:cs typeface="Arial" panose="020B0604020202020204" pitchFamily="34" charset="0"/>
              </a:rPr>
              <a:t>Null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 if the list is </a:t>
            </a:r>
            <a:r>
              <a:rPr lang="en-US" b="1" dirty="0">
                <a:ea typeface="Times New Roman" panose="02020603050405020304" pitchFamily="18" charset="0"/>
                <a:cs typeface="Arial" panose="020B0604020202020204" pitchFamily="34" charset="0"/>
              </a:rPr>
              <a:t>not full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AE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7643EF-3900-C443-5EB2-F3870E3245F6}"/>
              </a:ext>
            </a:extLst>
          </p:cNvPr>
          <p:cNvSpPr txBox="1"/>
          <p:nvPr/>
        </p:nvSpPr>
        <p:spPr>
          <a:xfrm>
            <a:off x="5921291" y="5098457"/>
            <a:ext cx="6330874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This list hold pointers to </a:t>
            </a:r>
            <a:r>
              <a:rPr lang="en-AE" sz="2000" b="1" dirty="0">
                <a:solidFill>
                  <a:srgbClr val="0037CD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struct</a:t>
            </a:r>
            <a:r>
              <a:rPr lang="en-AE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containing info about the currently loaded pages in memory.</a:t>
            </a:r>
            <a:endParaRPr lang="en-AE" sz="2000" dirty="0">
              <a:effectLst/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Each struct holds important values about each page:</a:t>
            </a:r>
            <a:endParaRPr lang="en-AE" sz="2000" dirty="0">
              <a:effectLst/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544068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User virtual address of the page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Previous &amp; Next pointers to be used by list</a:t>
            </a:r>
            <a:endParaRPr lang="en-AE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EEC233-69F1-499F-2EBD-68D3F7E95172}"/>
              </a:ext>
            </a:extLst>
          </p:cNvPr>
          <p:cNvSpPr/>
          <p:nvPr/>
        </p:nvSpPr>
        <p:spPr bwMode="auto">
          <a:xfrm>
            <a:off x="10010303" y="4786767"/>
            <a:ext cx="1864957" cy="278773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F637F19-FA58-FE4D-0E56-29EEC24B1DDD}"/>
              </a:ext>
            </a:extLst>
          </p:cNvPr>
          <p:cNvSpPr/>
          <p:nvPr/>
        </p:nvSpPr>
        <p:spPr bwMode="auto">
          <a:xfrm>
            <a:off x="4834671" y="3187784"/>
            <a:ext cx="2940417" cy="340137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934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" grpId="0" animBg="1"/>
      <p:bldP spid="24" grpId="0" animBg="1"/>
      <p:bldP spid="2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8E9F-7477-40C4-8B93-7CEFF71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/>
          <a:lstStyle/>
          <a:p>
            <a:pPr marL="514440" indent="-514080">
              <a:tabLst>
                <a:tab pos="0" algn="l"/>
              </a:tabLst>
            </a:pPr>
            <a:r>
              <a:rPr lang="en-US" sz="4800" dirty="0"/>
              <a:t>Working Set</a:t>
            </a:r>
            <a:r>
              <a:rPr lang="en-US" dirty="0"/>
              <a:t>: </a:t>
            </a:r>
            <a:r>
              <a:rPr lang="en-US" b="1" dirty="0"/>
              <a:t>Functions [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]</a:t>
            </a:r>
            <a:endParaRPr lang="en-US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3B4CD-FA65-7FC5-E1E6-C7593B7AC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2758299"/>
            <a:ext cx="10305734" cy="346535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Description: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Allocate</a:t>
            </a:r>
            <a:r>
              <a:rPr lang="en-US" sz="2000" dirty="0">
                <a:solidFill>
                  <a:schemeClr val="tx1"/>
                </a:solidFill>
              </a:rPr>
              <a:t> a new object of </a:t>
            </a:r>
            <a:r>
              <a:rPr lang="en-AE" sz="2000" b="1" dirty="0">
                <a:solidFill>
                  <a:srgbClr val="0037CD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struct</a:t>
            </a:r>
            <a:r>
              <a:rPr lang="en-AE" sz="20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AE" sz="2000" b="1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WorkingSetElement</a:t>
            </a:r>
            <a:r>
              <a:rPr lang="en-AE" sz="20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cs typeface="Arial" panose="020B0604020202020204" pitchFamily="34" charset="0"/>
              </a:rPr>
              <a:t>(using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kmalloc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>
                <a:cs typeface="Arial" panose="020B0604020202020204" pitchFamily="34" charset="0"/>
              </a:rPr>
              <a:t>)</a:t>
            </a:r>
            <a:r>
              <a:rPr lang="en-AE" sz="20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endParaRPr lang="en-US" sz="2000" dirty="0">
              <a:solidFill>
                <a:schemeClr val="tx1"/>
              </a:solidFill>
            </a:endParaRP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Initialize</a:t>
            </a:r>
            <a:r>
              <a:rPr lang="en-US" sz="2000" dirty="0">
                <a:solidFill>
                  <a:schemeClr val="tx1"/>
                </a:solidFill>
              </a:rPr>
              <a:t> it by the given virtual address</a:t>
            </a:r>
          </a:p>
          <a:p>
            <a:pPr marL="201168" lvl="1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Return</a:t>
            </a: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On success: pointer to the created object</a:t>
            </a: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On failure: kernel should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panic()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24B4C-0DDB-3DB5-39C9-38870873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B51D6-0DBA-DC82-BB3A-E8BC6DCDBB14}"/>
              </a:ext>
            </a:extLst>
          </p:cNvPr>
          <p:cNvSpPr txBox="1"/>
          <p:nvPr/>
        </p:nvSpPr>
        <p:spPr>
          <a:xfrm>
            <a:off x="1154083" y="1939875"/>
            <a:ext cx="10223831" cy="864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WorkingSetElement</a:t>
            </a:r>
            <a:r>
              <a:rPr lang="en-US" sz="2400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env_page_ws_list_create_element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Env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virtual_address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2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5539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043D-BE60-3669-67B3-3269B0B6E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F3E3-CB6C-40B2-DE99-650BB498D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/>
          <a:lstStyle/>
          <a:p>
            <a:pPr marL="514440" indent="-514080">
              <a:tabLst>
                <a:tab pos="0" algn="l"/>
              </a:tabLst>
            </a:pPr>
            <a:r>
              <a:rPr lang="en-US" sz="4800" dirty="0"/>
              <a:t>Working Set</a:t>
            </a:r>
            <a:r>
              <a:rPr lang="en-US" dirty="0"/>
              <a:t>: </a:t>
            </a:r>
            <a:r>
              <a:rPr lang="en-US" b="1" dirty="0"/>
              <a:t>Functions [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]</a:t>
            </a:r>
            <a:endParaRPr lang="en-US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6D229-4C13-6986-C129-980BB2C45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2743200"/>
            <a:ext cx="10305734" cy="3236426"/>
          </a:xfrm>
        </p:spPr>
        <p:txBody>
          <a:bodyPr>
            <a:norm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rgbClr val="4F81BD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Description:</a:t>
            </a:r>
          </a:p>
          <a:p>
            <a:pPr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/>
              <a:t>Print the page working set </a:t>
            </a:r>
            <a:r>
              <a:rPr lang="en-US" b="1" dirty="0"/>
              <a:t>virtual addresses </a:t>
            </a:r>
            <a:r>
              <a:rPr lang="en-US" dirty="0"/>
              <a:t>together with </a:t>
            </a:r>
            <a:r>
              <a:rPr lang="en-US" b="1" dirty="0"/>
              <a:t>used</a:t>
            </a:r>
            <a:r>
              <a:rPr lang="en-US" dirty="0"/>
              <a:t>, </a:t>
            </a:r>
            <a:r>
              <a:rPr lang="en-US" b="1" dirty="0"/>
              <a:t>modified</a:t>
            </a:r>
            <a:r>
              <a:rPr lang="en-US" dirty="0"/>
              <a:t> &amp; </a:t>
            </a:r>
            <a:r>
              <a:rPr lang="en-US" b="1" dirty="0"/>
              <a:t>buffered</a:t>
            </a:r>
            <a:r>
              <a:rPr lang="en-US" dirty="0"/>
              <a:t> bits. </a:t>
            </a:r>
          </a:p>
          <a:p>
            <a:pPr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/>
              <a:t>It also shows where the </a:t>
            </a:r>
            <a:r>
              <a:rPr lang="en-US" b="1" dirty="0" err="1"/>
              <a:t>page_last_WS_element</a:t>
            </a:r>
            <a:r>
              <a:rPr lang="en-US" dirty="0"/>
              <a:t> of the working set is point to</a:t>
            </a:r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0CD0B-B553-DE00-87C1-030E5D8E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11237D-2C12-3005-D6AA-2CC4DA270B15}"/>
              </a:ext>
            </a:extLst>
          </p:cNvPr>
          <p:cNvSpPr txBox="1"/>
          <p:nvPr/>
        </p:nvSpPr>
        <p:spPr>
          <a:xfrm>
            <a:off x="1647825" y="1939875"/>
            <a:ext cx="919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void </a:t>
            </a:r>
            <a:r>
              <a:rPr lang="en-US" sz="2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env_page_ws_print</a:t>
            </a:r>
            <a:r>
              <a:rPr lang="en-US" sz="2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struct</a:t>
            </a:r>
            <a:r>
              <a:rPr lang="en-US" sz="2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Env* e)</a:t>
            </a:r>
            <a:endParaRPr lang="en-AE" sz="2400" b="1" dirty="0"/>
          </a:p>
        </p:txBody>
      </p:sp>
    </p:spTree>
    <p:extLst>
      <p:ext uri="{BB962C8B-B14F-4D97-AF65-F5344CB8AC3E}">
        <p14:creationId xmlns:p14="http://schemas.microsoft.com/office/powerpoint/2010/main" val="22222768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8E9F-7477-40C4-8B93-7CEFF71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/>
          <a:lstStyle/>
          <a:p>
            <a:pPr marL="514440" indent="-514080">
              <a:tabLst>
                <a:tab pos="0" algn="l"/>
              </a:tabLst>
            </a:pPr>
            <a:r>
              <a:rPr lang="en-US" sz="4800" dirty="0"/>
              <a:t>Working Set</a:t>
            </a:r>
            <a:r>
              <a:rPr lang="en-US" dirty="0"/>
              <a:t>: </a:t>
            </a:r>
            <a:r>
              <a:rPr lang="en-US" b="1" dirty="0"/>
              <a:t>Functions [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]</a:t>
            </a:r>
            <a:endParaRPr lang="en-US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3B4CD-FA65-7FC5-E1E6-C7593B7AC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2743200"/>
            <a:ext cx="10058400" cy="3236426"/>
          </a:xfrm>
        </p:spPr>
        <p:txBody>
          <a:bodyPr>
            <a:norm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rgbClr val="4F81BD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Description:</a:t>
            </a:r>
          </a:p>
          <a:p>
            <a:pPr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Search for the given virtual address inside the working set of </a:t>
            </a:r>
            <a:r>
              <a:rPr lang="en-US" b="1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“e” </a:t>
            </a:r>
            <a:r>
              <a:rPr lang="en-US" b="1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if found: </a:t>
            </a:r>
          </a:p>
          <a:p>
            <a:pPr marL="658368" lvl="1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Remove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 its WS element from the </a:t>
            </a: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list</a:t>
            </a:r>
          </a:p>
          <a:p>
            <a:pPr marL="658368" lvl="1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000" b="1" dirty="0">
                <a:latin typeface="+mj-lt"/>
                <a:cs typeface="Arial" panose="020B0604020202020204" pitchFamily="34" charset="0"/>
              </a:rPr>
              <a:t>Delete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 this element from the kernel </a:t>
            </a:r>
            <a:r>
              <a:rPr lang="en-US" sz="2000" b="1" dirty="0">
                <a:latin typeface="+mj-lt"/>
                <a:cs typeface="Arial" panose="020B0604020202020204" pitchFamily="34" charset="0"/>
              </a:rPr>
              <a:t>memory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 (using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kfree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)</a:t>
            </a:r>
          </a:p>
          <a:p>
            <a:pPr marL="658368" lvl="1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000" b="1" dirty="0" err="1">
                <a:latin typeface="+mj-lt"/>
                <a:cs typeface="Arial" panose="020B0604020202020204" pitchFamily="34" charset="0"/>
              </a:rPr>
              <a:t>Unmap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 the page from the address space</a:t>
            </a:r>
            <a:endParaRPr lang="en-US" sz="20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24B4C-0DDB-3DB5-39C9-38870873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B51D6-0DBA-DC82-BB3A-E8BC6DCDBB14}"/>
              </a:ext>
            </a:extLst>
          </p:cNvPr>
          <p:cNvSpPr txBox="1"/>
          <p:nvPr/>
        </p:nvSpPr>
        <p:spPr>
          <a:xfrm>
            <a:off x="1647825" y="1939875"/>
            <a:ext cx="91916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void</a:t>
            </a:r>
            <a:r>
              <a:rPr lang="en-US" sz="2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env_page_ws_invalidate</a:t>
            </a:r>
            <a:r>
              <a:rPr lang="en-US" sz="2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struct</a:t>
            </a:r>
            <a:r>
              <a:rPr lang="en-US" sz="2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Env* e, uint32 </a:t>
            </a:r>
            <a:r>
              <a:rPr lang="en-US" sz="2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virtual_address</a:t>
            </a:r>
            <a:r>
              <a:rPr lang="en-US" sz="2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AE" sz="2400" b="1" dirty="0"/>
          </a:p>
        </p:txBody>
      </p:sp>
    </p:spTree>
    <p:extLst>
      <p:ext uri="{BB962C8B-B14F-4D97-AF65-F5344CB8AC3E}">
        <p14:creationId xmlns:p14="http://schemas.microsoft.com/office/powerpoint/2010/main" val="16895269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B42A0-F94E-D196-5297-9254F690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E440-9082-9BD6-9E95-4363961A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#10:</a:t>
            </a:r>
            <a:r>
              <a:rPr lang="en-US" dirty="0"/>
              <a:t> Kernel Dyn. </a:t>
            </a:r>
            <a:r>
              <a:rPr lang="en-US" dirty="0" err="1"/>
              <a:t>Alloc</a:t>
            </a:r>
            <a:r>
              <a:rPr lang="en-US" dirty="0"/>
              <a:t>. for a Process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A2344-B9AB-28B0-C6BF-8A647D700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474721"/>
            <a:ext cx="10718800" cy="3792729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Description: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Create</a:t>
            </a:r>
            <a:r>
              <a:rPr lang="en-US" sz="2000" dirty="0">
                <a:solidFill>
                  <a:schemeClr val="tx1"/>
                </a:solidFill>
              </a:rPr>
              <a:t> a user kernel stack of size </a:t>
            </a:r>
            <a:r>
              <a:rPr lang="en-US" sz="2000" b="1" i="1" dirty="0"/>
              <a:t>KERNEL_STACK_SIZE</a:t>
            </a:r>
            <a:endParaRPr lang="en-US" sz="2000" b="1" dirty="0">
              <a:solidFill>
                <a:schemeClr val="tx1"/>
              </a:solidFill>
            </a:endParaRP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Mark </a:t>
            </a:r>
            <a:r>
              <a:rPr lang="en-US" sz="2000" dirty="0">
                <a:solidFill>
                  <a:schemeClr val="tx1"/>
                </a:solidFill>
              </a:rPr>
              <a:t>its </a:t>
            </a:r>
            <a:r>
              <a:rPr lang="en-US" sz="2000" b="1" dirty="0">
                <a:solidFill>
                  <a:schemeClr val="tx1"/>
                </a:solidFill>
              </a:rPr>
              <a:t>bottom</a:t>
            </a:r>
            <a:r>
              <a:rPr lang="en-US" sz="2000" dirty="0">
                <a:solidFill>
                  <a:schemeClr val="tx1"/>
                </a:solidFill>
              </a:rPr>
              <a:t> page as </a:t>
            </a:r>
            <a:r>
              <a:rPr lang="en-US" sz="2000" b="1" dirty="0">
                <a:solidFill>
                  <a:schemeClr val="tx1"/>
                </a:solidFill>
              </a:rPr>
              <a:t>NOT PRESENT </a:t>
            </a:r>
            <a:r>
              <a:rPr lang="en-US" sz="2000" dirty="0">
                <a:solidFill>
                  <a:schemeClr val="tx1"/>
                </a:solidFill>
              </a:rPr>
              <a:t>(GUARD page)</a:t>
            </a:r>
          </a:p>
          <a:p>
            <a:pPr marL="201168" lvl="1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Return</a:t>
            </a: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On success: pointer to the created stack</a:t>
            </a: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On failure: kernel should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panic()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893F0-84DD-F42E-E4A5-02DD48EF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6BA4CA-50C2-88FA-6A47-5227245110C0}"/>
              </a:ext>
            </a:extLst>
          </p:cNvPr>
          <p:cNvSpPr txBox="1"/>
          <p:nvPr/>
        </p:nvSpPr>
        <p:spPr>
          <a:xfrm>
            <a:off x="983848" y="1875208"/>
            <a:ext cx="10493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create_user_kern_stack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ptr_user_page_directory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787878"/>
              </a:solidFill>
              <a:highlight>
                <a:srgbClr val="D4D4D4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1138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8E9F-7477-40C4-8B93-7CEFF71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/>
          <a:lstStyle/>
          <a:p>
            <a:pPr marL="514440" indent="-514080">
              <a:tabLst>
                <a:tab pos="0" algn="l"/>
              </a:tabLst>
            </a:pPr>
            <a:r>
              <a:rPr lang="en-US" sz="4800" dirty="0"/>
              <a:t>Fault Handler </a:t>
            </a:r>
            <a:r>
              <a:rPr lang="en-US" dirty="0"/>
              <a:t>I: </a:t>
            </a:r>
            <a:r>
              <a:rPr lang="en-US" sz="4800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3B4CD-FA65-7FC5-E1E6-C7593B7AC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1956266"/>
            <a:ext cx="10058400" cy="4023360"/>
          </a:xfrm>
        </p:spPr>
        <p:txBody>
          <a:bodyPr/>
          <a:lstStyle/>
          <a:p>
            <a:r>
              <a:rPr lang="en-US" dirty="0"/>
              <a:t>The main functions required to handle “</a:t>
            </a:r>
            <a:r>
              <a:rPr lang="en-US" sz="2000" b="1" dirty="0"/>
              <a:t>Page Fault</a:t>
            </a:r>
            <a:r>
              <a:rPr lang="en-US" dirty="0"/>
              <a:t>” are: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24B4C-0DDB-3DB5-39C9-38870873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59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B3F582C-50B4-3B50-7B6B-4D91F3DED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477749"/>
              </p:ext>
            </p:extLst>
          </p:nvPr>
        </p:nvGraphicFramePr>
        <p:xfrm>
          <a:off x="900419" y="2582192"/>
          <a:ext cx="1056572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420">
                  <a:extLst>
                    <a:ext uri="{9D8B030D-6E8A-4147-A177-3AD203B41FA5}">
                      <a16:colId xmlns:a16="http://schemas.microsoft.com/office/drawing/2014/main" val="422314023"/>
                    </a:ext>
                  </a:extLst>
                </a:gridCol>
                <a:gridCol w="4038325">
                  <a:extLst>
                    <a:ext uri="{9D8B030D-6E8A-4147-A177-3AD203B41FA5}">
                      <a16:colId xmlns:a16="http://schemas.microsoft.com/office/drawing/2014/main" val="1877600023"/>
                    </a:ext>
                  </a:extLst>
                </a:gridCol>
                <a:gridCol w="4983982">
                  <a:extLst>
                    <a:ext uri="{9D8B030D-6E8A-4147-A177-3AD203B41FA5}">
                      <a16:colId xmlns:a16="http://schemas.microsoft.com/office/drawing/2014/main" val="2719033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24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fault_handler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Functions definitions </a:t>
                      </a:r>
                      <a:r>
                        <a:rPr lang="en-US" b="1" u="sng" dirty="0">
                          <a:solidFill>
                            <a:srgbClr val="C00000"/>
                          </a:solidFill>
                        </a:rPr>
                        <a:t>TO DO </a:t>
                      </a: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in: kern/trap/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fault_handler.c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88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page_fault</a:t>
                      </a:r>
                      <a:r>
                        <a:rPr lang="en-US" b="1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</a:t>
                      </a:r>
                      <a:r>
                        <a:rPr lang="en-US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handler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903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6293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3B4CD-FA65-7FC5-E1E6-C7593B7AC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Fault: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is an exception thrown by the processor (MMU) to indicate that:</a:t>
            </a:r>
          </a:p>
          <a:p>
            <a:pPr marL="74295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page table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not exist in the main memory (i.e. new table). (see the following figure) </a:t>
            </a:r>
            <a:r>
              <a:rPr lang="en-US" sz="2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page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can’t be accessed due to either it’s not present in the main memory</a:t>
            </a:r>
            <a:endParaRPr lang="en-US" sz="2000" b="1" u="sng" dirty="0">
              <a:solidFill>
                <a:srgbClr val="FF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24B4C-0DDB-3DB5-39C9-38870873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9A7B34-3433-CCE1-F69A-F0F604B423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274" y="3008961"/>
            <a:ext cx="8641317" cy="314755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424691B-3124-09B2-BB04-86C39F396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Fault Handler I: </a:t>
            </a:r>
            <a:r>
              <a:rPr lang="en-US" sz="4800" b="1" dirty="0"/>
              <a:t>Overview</a:t>
            </a:r>
            <a:endParaRPr lang="en-AE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90A49B-7A0E-72FE-33E8-BF88906E7A38}"/>
              </a:ext>
            </a:extLst>
          </p:cNvPr>
          <p:cNvGrpSpPr/>
          <p:nvPr/>
        </p:nvGrpSpPr>
        <p:grpSpPr>
          <a:xfrm>
            <a:off x="5194798" y="2913668"/>
            <a:ext cx="5457793" cy="3338140"/>
            <a:chOff x="5194798" y="2837468"/>
            <a:chExt cx="5457793" cy="333814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6E6590E-7187-ED09-82E3-1FC7B12B9967}"/>
                </a:ext>
              </a:extLst>
            </p:cNvPr>
            <p:cNvSpPr/>
            <p:nvPr/>
          </p:nvSpPr>
          <p:spPr>
            <a:xfrm>
              <a:off x="5844619" y="2837468"/>
              <a:ext cx="4807972" cy="32428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2A0E95-B8C1-118D-E20B-7F4F59A53BBE}"/>
                </a:ext>
              </a:extLst>
            </p:cNvPr>
            <p:cNvSpPr/>
            <p:nvPr/>
          </p:nvSpPr>
          <p:spPr>
            <a:xfrm>
              <a:off x="5194798" y="5344452"/>
              <a:ext cx="931682" cy="8311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</p:spTree>
    <p:extLst>
      <p:ext uri="{BB962C8B-B14F-4D97-AF65-F5344CB8AC3E}">
        <p14:creationId xmlns:p14="http://schemas.microsoft.com/office/powerpoint/2010/main" val="86048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#11:</a:t>
            </a:r>
            <a:r>
              <a:rPr lang="en-US" dirty="0"/>
              <a:t> Check Invalid Pointers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482609"/>
            <a:ext cx="10718801" cy="3779044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Description: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Check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the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faulted_va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on the following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:</a:t>
            </a:r>
          </a:p>
          <a:p>
            <a:pPr marL="74980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AE" sz="2000" dirty="0"/>
              <a:t>Pointing to </a:t>
            </a:r>
            <a:r>
              <a:rPr lang="en-AE" sz="2000" b="1" dirty="0">
                <a:solidFill>
                  <a:srgbClr val="FF0000"/>
                </a:solidFill>
              </a:rPr>
              <a:t>UN</a:t>
            </a:r>
            <a:r>
              <a:rPr lang="en-AE" sz="2000" b="1" dirty="0"/>
              <a:t>MARKED</a:t>
            </a:r>
            <a:r>
              <a:rPr lang="en-AE" sz="2000" dirty="0"/>
              <a:t> page in user heap (i.e. its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PERM_UHPAGE </a:t>
            </a:r>
            <a:r>
              <a:rPr lang="en-US" sz="2000" dirty="0"/>
              <a:t>should equals 0)</a:t>
            </a:r>
            <a:endParaRPr lang="en-AE" sz="2000" dirty="0"/>
          </a:p>
          <a:p>
            <a:pPr marL="74980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AE" sz="2000" dirty="0"/>
              <a:t>Pointing to </a:t>
            </a:r>
            <a:r>
              <a:rPr lang="en-AE" sz="2000" b="1" dirty="0"/>
              <a:t>kernel </a:t>
            </a:r>
          </a:p>
          <a:p>
            <a:pPr marL="74980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AE" sz="2000" b="1" dirty="0"/>
              <a:t>Exist</a:t>
            </a:r>
            <a:r>
              <a:rPr lang="en-AE" sz="2000" dirty="0"/>
              <a:t> with </a:t>
            </a:r>
            <a:r>
              <a:rPr lang="en-AE" sz="2000" b="1" dirty="0"/>
              <a:t>read-only </a:t>
            </a:r>
            <a:r>
              <a:rPr lang="en-AE" sz="2000" dirty="0"/>
              <a:t>permissions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AE" sz="2000" dirty="0"/>
              <a:t>If </a:t>
            </a:r>
            <a:r>
              <a:rPr lang="en-AE" sz="2000" b="1" dirty="0"/>
              <a:t>invalid (</a:t>
            </a:r>
            <a:r>
              <a:rPr lang="en-AE" sz="2000" dirty="0"/>
              <a:t>any of above occur</a:t>
            </a:r>
            <a:r>
              <a:rPr lang="en-AE" sz="2000" b="1" dirty="0"/>
              <a:t>)</a:t>
            </a:r>
            <a:r>
              <a:rPr lang="en-AE" sz="2000" dirty="0"/>
              <a:t>: it must be rejected without harm to the kernel or other running processes, by </a:t>
            </a:r>
            <a:r>
              <a:rPr lang="en-AE" sz="2000" b="1" dirty="0"/>
              <a:t>exiting </a:t>
            </a:r>
            <a:r>
              <a:rPr lang="en-AE" sz="2000" dirty="0"/>
              <a:t>the process using </a:t>
            </a:r>
            <a:r>
              <a:rPr lang="en-AE" sz="2000" b="1" dirty="0" err="1">
                <a:latin typeface="Consolas" panose="020B0609020204030204" pitchFamily="49" charset="0"/>
              </a:rPr>
              <a:t>env_exit</a:t>
            </a:r>
            <a:r>
              <a:rPr lang="en-AE" sz="2000" b="1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A13C4-D33B-7B08-DF00-FD34BB9EC8F8}"/>
              </a:ext>
            </a:extLst>
          </p:cNvPr>
          <p:cNvSpPr txBox="1"/>
          <p:nvPr/>
        </p:nvSpPr>
        <p:spPr>
          <a:xfrm>
            <a:off x="1097279" y="1875208"/>
            <a:ext cx="10380346" cy="46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fault_handler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Trapframe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tf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613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#12:</a:t>
            </a:r>
            <a:r>
              <a:rPr lang="en-US" dirty="0"/>
              <a:t> Placement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A13C4-D33B-7B08-DF00-FD34BB9EC8F8}"/>
              </a:ext>
            </a:extLst>
          </p:cNvPr>
          <p:cNvSpPr txBox="1"/>
          <p:nvPr/>
        </p:nvSpPr>
        <p:spPr>
          <a:xfrm>
            <a:off x="695739" y="1875208"/>
            <a:ext cx="10781886" cy="46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page_fault_handler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Env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falulted_env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fault_va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83893A-92D8-FFBB-BDDF-F659979DB70A}"/>
              </a:ext>
            </a:extLst>
          </p:cNvPr>
          <p:cNvSpPr txBox="1"/>
          <p:nvPr/>
        </p:nvSpPr>
        <p:spPr>
          <a:xfrm>
            <a:off x="873820" y="2324687"/>
            <a:ext cx="10781886" cy="46242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 algn="just"/>
            <a:r>
              <a:rPr lang="en-AE" sz="2000" dirty="0">
                <a:solidFill>
                  <a:srgbClr val="0066FF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ea typeface="Times New Roman" panose="02020603050405020304" pitchFamily="18" charset="0"/>
                <a:cs typeface="Calibri" panose="020F0502020204030204" pitchFamily="34" charset="0"/>
              </a:rPr>
              <a:t> the size of </a:t>
            </a:r>
            <a:r>
              <a:rPr lang="en-US" sz="2000" b="1" dirty="0">
                <a:ea typeface="Times New Roman" panose="02020603050405020304" pitchFamily="18" charset="0"/>
                <a:cs typeface="Calibri" panose="020F0502020204030204" pitchFamily="34" charset="0"/>
              </a:rPr>
              <a:t>both</a:t>
            </a:r>
            <a:r>
              <a:rPr lang="en-US" sz="2000" dirty="0">
                <a:ea typeface="Times New Roman" panose="02020603050405020304" pitchFamily="18" charset="0"/>
                <a:cs typeface="Calibri" panose="020F0502020204030204" pitchFamily="34" charset="0"/>
              </a:rPr>
              <a:t> WS Lists &lt; </a:t>
            </a:r>
            <a:r>
              <a:rPr lang="en-US" sz="2000" b="1" i="1" dirty="0">
                <a:ea typeface="Times New Roman" panose="02020603050405020304" pitchFamily="18" charset="0"/>
                <a:cs typeface="Calibri" panose="020F0502020204030204" pitchFamily="34" charset="0"/>
              </a:rPr>
              <a:t>max total size, </a:t>
            </a:r>
            <a:r>
              <a:rPr lang="en-US" sz="2000" dirty="0">
                <a:ea typeface="Times New Roman" panose="02020603050405020304" pitchFamily="18" charset="0"/>
                <a:cs typeface="Calibri" panose="020F0502020204030204" pitchFamily="34" charset="0"/>
              </a:rPr>
              <a:t>then do</a:t>
            </a:r>
          </a:p>
          <a:p>
            <a:pPr marL="0" lvl="1" algn="just"/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	if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isPageReplacmentAlgorithmFIFO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()) </a:t>
            </a: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{</a:t>
            </a:r>
            <a:endParaRPr lang="en-US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85800" lvl="1" algn="just">
              <a:lnSpc>
                <a:spcPct val="114000"/>
              </a:lnSpc>
            </a:pPr>
            <a:r>
              <a:rPr lang="en-US" b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     </a:t>
            </a:r>
            <a:r>
              <a:rPr lang="en-US" b="1" dirty="0">
                <a:solidFill>
                  <a:srgbClr val="000000"/>
                </a:solidFill>
                <a:highlight>
                  <a:srgbClr val="FFFF00"/>
                </a:highlight>
                <a:ea typeface="Times New Roman" panose="02020603050405020304" pitchFamily="18" charset="0"/>
                <a:cs typeface="Calibri" panose="020F0502020204030204" pitchFamily="34" charset="0"/>
              </a:rPr>
              <a:t>Scenario 1: Placement</a:t>
            </a:r>
            <a:endParaRPr lang="en-US" dirty="0">
              <a:highlight>
                <a:srgbClr val="FFFF00"/>
              </a:highlight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2" algn="just">
              <a:lnSpc>
                <a:spcPct val="114000"/>
              </a:lnSpc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 dirty="0">
                <a:solidFill>
                  <a:srgbClr val="7F9FBF"/>
                </a:solidFill>
                <a:latin typeface="Consolas" panose="020B0609020204030204" pitchFamily="49" charset="0"/>
              </a:rPr>
              <a:t>TODO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: [1] PAGE FAULT HANDLER – FIFO Placement</a:t>
            </a:r>
            <a:endParaRPr lang="en-AE" dirty="0">
              <a:solidFill>
                <a:srgbClr val="787878"/>
              </a:solidFill>
              <a:latin typeface="Consolas" panose="020B0609020204030204" pitchFamily="49" charset="0"/>
            </a:endParaRPr>
          </a:p>
          <a:p>
            <a:pPr marL="1257300" lvl="2" indent="-342900" algn="just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b="1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Allocate</a:t>
            </a:r>
            <a:r>
              <a:rPr lang="en-US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 space for the faulted page</a:t>
            </a:r>
            <a:endParaRPr lang="en-US" dirty="0">
              <a:effectLst/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257300" lvl="2" indent="-342900" algn="just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b="1" dirty="0"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R</a:t>
            </a:r>
            <a:r>
              <a:rPr lang="en-US" b="1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ead</a:t>
            </a:r>
            <a:r>
              <a:rPr lang="en-US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 the faulted page from page file to memory</a:t>
            </a:r>
            <a:endParaRPr lang="en-US" dirty="0">
              <a:effectLst/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257300" lvl="2" indent="-342900" algn="just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If the page </a:t>
            </a:r>
            <a:r>
              <a:rPr lang="en-US" b="1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does not exist</a:t>
            </a:r>
            <a:r>
              <a:rPr lang="en-US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 on page file, then</a:t>
            </a:r>
          </a:p>
          <a:p>
            <a:pPr marL="1714500" lvl="3" indent="-342900" algn="just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If it is a </a:t>
            </a:r>
            <a:r>
              <a:rPr lang="en-US" b="1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stack</a:t>
            </a:r>
            <a:r>
              <a:rPr lang="en-US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 or a</a:t>
            </a:r>
            <a:r>
              <a:rPr lang="en-US" b="1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 heap </a:t>
            </a:r>
            <a:r>
              <a:rPr lang="en-US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page, then, it’s OK.</a:t>
            </a:r>
          </a:p>
          <a:p>
            <a:pPr marL="1714500" lvl="3" indent="-342900" algn="just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Else, </a:t>
            </a:r>
            <a:r>
              <a:rPr lang="en-AE" dirty="0">
                <a:latin typeface="+mj-lt"/>
              </a:rPr>
              <a:t>it must be </a:t>
            </a:r>
            <a:r>
              <a:rPr lang="en-AE" b="1" dirty="0">
                <a:latin typeface="+mj-lt"/>
              </a:rPr>
              <a:t>rejected</a:t>
            </a:r>
            <a:r>
              <a:rPr lang="en-AE" dirty="0">
                <a:latin typeface="+mj-lt"/>
              </a:rPr>
              <a:t> without harm to the kernel or other running processes, by </a:t>
            </a:r>
            <a:r>
              <a:rPr lang="en-AE" b="1" dirty="0">
                <a:latin typeface="+mj-lt"/>
              </a:rPr>
              <a:t>exiting </a:t>
            </a:r>
            <a:r>
              <a:rPr lang="en-AE" dirty="0">
                <a:latin typeface="+mj-lt"/>
              </a:rPr>
              <a:t>the process</a:t>
            </a:r>
            <a:r>
              <a:rPr lang="en-US" dirty="0"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pPr marL="1257300" lvl="2" indent="-342900" algn="just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Reflect the changes in the page working set list (i.e. add new element to the list </a:t>
            </a:r>
            <a:r>
              <a:rPr lang="en-US" b="1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tail</a:t>
            </a:r>
            <a:r>
              <a:rPr lang="en-US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) }</a:t>
            </a:r>
            <a:endParaRPr lang="en-US" dirty="0"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</a:pPr>
            <a:r>
              <a:rPr lang="en-US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dirty="0">
              <a:effectLst/>
              <a:latin typeface="+mj-lt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7E186F-56E5-F875-C5A5-EF71880277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64" t="42474" r="67990" b="30172"/>
          <a:stretch/>
        </p:blipFill>
        <p:spPr>
          <a:xfrm>
            <a:off x="5399726" y="-21480"/>
            <a:ext cx="1856038" cy="172594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BEE6-8590-9909-7137-84B6B5AA7A5F}"/>
              </a:ext>
            </a:extLst>
          </p:cNvPr>
          <p:cNvGrpSpPr/>
          <p:nvPr/>
        </p:nvGrpSpPr>
        <p:grpSpPr>
          <a:xfrm>
            <a:off x="7652576" y="0"/>
            <a:ext cx="4539424" cy="1704462"/>
            <a:chOff x="8631328" y="-51300"/>
            <a:chExt cx="4539424" cy="1704462"/>
          </a:xfrm>
        </p:grpSpPr>
        <p:sp>
          <p:nvSpPr>
            <p:cNvPr id="3" name="CustomShape 5">
              <a:extLst>
                <a:ext uri="{FF2B5EF4-FFF2-40B4-BE49-F238E27FC236}">
                  <a16:creationId xmlns:a16="http://schemas.microsoft.com/office/drawing/2014/main" id="{76ED6315-F275-7980-1403-044F3D42C229}"/>
                </a:ext>
              </a:extLst>
            </p:cNvPr>
            <p:cNvSpPr/>
            <p:nvPr/>
          </p:nvSpPr>
          <p:spPr>
            <a:xfrm>
              <a:off x="8638317" y="457842"/>
              <a:ext cx="390122" cy="508444"/>
            </a:xfrm>
            <a:prstGeom prst="flowChartMagneticDisk">
              <a:avLst/>
            </a:prstGeom>
            <a:gradFill rotWithShape="0">
              <a:gsLst>
                <a:gs pos="0">
                  <a:srgbClr val="765E00"/>
                </a:gs>
                <a:gs pos="100000">
                  <a:srgbClr val="FFCC00">
                    <a:alpha val="40000"/>
                  </a:srgbClr>
                </a:gs>
              </a:gsLst>
              <a:lin ang="0"/>
            </a:gradFill>
            <a:ln w="9360">
              <a:solidFill>
                <a:srgbClr val="96969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E1A2F7E-56F4-1082-0CC3-A8D13253660F}"/>
                </a:ext>
              </a:extLst>
            </p:cNvPr>
            <p:cNvGrpSpPr/>
            <p:nvPr/>
          </p:nvGrpSpPr>
          <p:grpSpPr>
            <a:xfrm>
              <a:off x="8681797" y="1221176"/>
              <a:ext cx="356166" cy="431986"/>
              <a:chOff x="7002621" y="5757664"/>
              <a:chExt cx="356166" cy="431986"/>
            </a:xfrm>
          </p:grpSpPr>
          <p:sp>
            <p:nvSpPr>
              <p:cNvPr id="11" name="CustomShape 15">
                <a:extLst>
                  <a:ext uri="{FF2B5EF4-FFF2-40B4-BE49-F238E27FC236}">
                    <a16:creationId xmlns:a16="http://schemas.microsoft.com/office/drawing/2014/main" id="{04E6E757-4B46-84B2-1E9B-39013CED868A}"/>
                  </a:ext>
                </a:extLst>
              </p:cNvPr>
              <p:cNvSpPr/>
              <p:nvPr/>
            </p:nvSpPr>
            <p:spPr>
              <a:xfrm>
                <a:off x="7004130" y="6082689"/>
                <a:ext cx="354657" cy="106961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12" name="CustomShape 16">
                <a:extLst>
                  <a:ext uri="{FF2B5EF4-FFF2-40B4-BE49-F238E27FC236}">
                    <a16:creationId xmlns:a16="http://schemas.microsoft.com/office/drawing/2014/main" id="{31035D7D-C2FD-4A08-3169-E70DA160AE84}"/>
                  </a:ext>
                </a:extLst>
              </p:cNvPr>
              <p:cNvSpPr/>
              <p:nvPr/>
            </p:nvSpPr>
            <p:spPr>
              <a:xfrm>
                <a:off x="7002621" y="5757664"/>
                <a:ext cx="354657" cy="106961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13" name="CustomShape 17">
                <a:extLst>
                  <a:ext uri="{FF2B5EF4-FFF2-40B4-BE49-F238E27FC236}">
                    <a16:creationId xmlns:a16="http://schemas.microsoft.com/office/drawing/2014/main" id="{F1C4F3CB-6C11-D031-8F99-4BE2F11CA4B7}"/>
                  </a:ext>
                </a:extLst>
              </p:cNvPr>
              <p:cNvSpPr/>
              <p:nvPr/>
            </p:nvSpPr>
            <p:spPr>
              <a:xfrm>
                <a:off x="7004130" y="5865002"/>
                <a:ext cx="353525" cy="108467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14" name="CustomShape 18">
                <a:extLst>
                  <a:ext uri="{FF2B5EF4-FFF2-40B4-BE49-F238E27FC236}">
                    <a16:creationId xmlns:a16="http://schemas.microsoft.com/office/drawing/2014/main" id="{FC106C86-B214-0321-F372-FB0A2A63514E}"/>
                  </a:ext>
                </a:extLst>
              </p:cNvPr>
              <p:cNvSpPr/>
              <p:nvPr/>
            </p:nvSpPr>
            <p:spPr>
              <a:xfrm>
                <a:off x="7002621" y="5973845"/>
                <a:ext cx="354657" cy="108467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DBB7D22-FABA-3E15-DF8C-67D169E0B589}"/>
                </a:ext>
              </a:extLst>
            </p:cNvPr>
            <p:cNvSpPr txBox="1"/>
            <p:nvPr/>
          </p:nvSpPr>
          <p:spPr>
            <a:xfrm>
              <a:off x="8631328" y="-51300"/>
              <a:ext cx="314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Refer to </a:t>
              </a:r>
              <a:r>
                <a:rPr lang="en-US" sz="2000" b="1" dirty="0">
                  <a:hlinkClick r:id="rId3" action="ppaction://hlinkfile"/>
                </a:rPr>
                <a:t>APPENDICES</a:t>
              </a:r>
              <a:r>
                <a:rPr lang="en-US" sz="2000" b="1" dirty="0"/>
                <a:t> for:</a:t>
              </a:r>
              <a:endParaRPr lang="en-AE" sz="20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038903-5466-39D0-82F3-5E259979DF25}"/>
                </a:ext>
              </a:extLst>
            </p:cNvPr>
            <p:cNvSpPr txBox="1"/>
            <p:nvPr/>
          </p:nvSpPr>
          <p:spPr>
            <a:xfrm>
              <a:off x="9152536" y="466450"/>
              <a:ext cx="30949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Page File Helper Functions</a:t>
              </a:r>
              <a:endParaRPr lang="en-AE" sz="2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A2DB5D7-E9DA-D73E-84E1-7DDEA12DB8FC}"/>
                </a:ext>
              </a:extLst>
            </p:cNvPr>
            <p:cNvSpPr txBox="1"/>
            <p:nvPr/>
          </p:nvSpPr>
          <p:spPr>
            <a:xfrm>
              <a:off x="9152536" y="1161615"/>
              <a:ext cx="40182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Working Set Struct &amp; Helper Func’s</a:t>
              </a:r>
              <a:endParaRPr lang="en-AE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9775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EB0B6-74E9-FF3C-2529-A83E2364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E1E6D3-3865-86F5-DD91-89B72182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</a:t>
            </a:r>
            <a:endParaRPr lang="en-A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46E087-8817-D581-BC67-E9B416B62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II: group modules</a:t>
            </a:r>
            <a:endParaRPr lang="en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DE3C8-A113-2B2B-5C84-0F94011FB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63</a:t>
            </a:fld>
            <a:endParaRPr lang="en-US"/>
          </a:p>
        </p:txBody>
      </p:sp>
      <p:pic>
        <p:nvPicPr>
          <p:cNvPr id="8" name="Picture 7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A23ED03A-EDD4-B0CC-4C14-3E5AC240D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0"/>
            <a:ext cx="1190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2973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3AE1-9AEF-998C-FBE7-69E8C50A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505D5-886F-DB82-D36A-F9750CABE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101239C1-1E87-4DBA-2921-B5AD6A37160D}"/>
              </a:ext>
            </a:extLst>
          </p:cNvPr>
          <p:cNvSpPr/>
          <p:nvPr/>
        </p:nvSpPr>
        <p:spPr>
          <a:xfrm>
            <a:off x="1154084" y="2270926"/>
            <a:ext cx="10058400" cy="2924072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/>
              <a:t>Implement </a:t>
            </a:r>
            <a:r>
              <a:rPr lang="en-US" sz="2200" b="1" dirty="0">
                <a:solidFill>
                  <a:srgbClr val="FF0000"/>
                </a:solidFill>
              </a:rPr>
              <a:t>Kernel-based primitives</a:t>
            </a:r>
            <a:r>
              <a:rPr lang="en-US" sz="2200" dirty="0"/>
              <a:t> to support the </a:t>
            </a:r>
            <a:r>
              <a:rPr lang="en-US" sz="2200" b="1" dirty="0"/>
              <a:t>blocking </a:t>
            </a:r>
            <a:r>
              <a:rPr lang="en-US" sz="2200" dirty="0"/>
              <a:t>on I/O</a:t>
            </a:r>
            <a:endParaRPr lang="en-US" sz="22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6B943-B1C8-1BD6-B052-8A7AF9868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312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78356-8C82-4301-4964-81B97D369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TextShape 2">
            <a:extLst>
              <a:ext uri="{FF2B5EF4-FFF2-40B4-BE49-F238E27FC236}">
                <a16:creationId xmlns:a16="http://schemas.microsoft.com/office/drawing/2014/main" id="{E7D4A8AF-53F0-7A1B-44A9-1047F8FC6843}"/>
              </a:ext>
            </a:extLst>
          </p:cNvPr>
          <p:cNvSpPr txBox="1"/>
          <p:nvPr/>
        </p:nvSpPr>
        <p:spPr>
          <a:xfrm>
            <a:off x="1016560" y="1779103"/>
            <a:ext cx="6385000" cy="4484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5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652" name="CustomShape 3">
            <a:extLst>
              <a:ext uri="{FF2B5EF4-FFF2-40B4-BE49-F238E27FC236}">
                <a16:creationId xmlns:a16="http://schemas.microsoft.com/office/drawing/2014/main" id="{80B06326-B82D-36D0-18C3-C9935C72E3D8}"/>
              </a:ext>
            </a:extLst>
          </p:cNvPr>
          <p:cNvSpPr/>
          <p:nvPr/>
        </p:nvSpPr>
        <p:spPr>
          <a:xfrm>
            <a:off x="1524000" y="0"/>
            <a:ext cx="9143640" cy="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7ADC6A-0FB9-E194-BC75-DF86737C3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2945F1-E930-DEA7-6C81-880FB256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65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35EA85-6154-B728-D8F3-2063E9A4AAAD}"/>
              </a:ext>
            </a:extLst>
          </p:cNvPr>
          <p:cNvSpPr/>
          <p:nvPr/>
        </p:nvSpPr>
        <p:spPr>
          <a:xfrm>
            <a:off x="1214959" y="2417329"/>
            <a:ext cx="9761722" cy="28074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0000"/>
                </a:solidFill>
              </a:rPr>
              <a:t>REMEMBER</a:t>
            </a: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sz="3200" b="1"/>
              <a:t>During your solution, any SHARED data need to be PROTECTED by critical section via LOCKS</a:t>
            </a:r>
            <a:endParaRPr lang="en-AE" sz="3200" b="1"/>
          </a:p>
        </p:txBody>
      </p:sp>
    </p:spTree>
    <p:extLst>
      <p:ext uri="{BB962C8B-B14F-4D97-AF65-F5344CB8AC3E}">
        <p14:creationId xmlns:p14="http://schemas.microsoft.com/office/powerpoint/2010/main" val="83805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</a:t>
            </a:r>
            <a:endParaRPr lang="ar-EG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7B5382E-0DB0-6D6E-5A13-B710E2B73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53" y="1845734"/>
            <a:ext cx="10873427" cy="4023360"/>
          </a:xfrm>
        </p:spPr>
        <p:txBody>
          <a:bodyPr/>
          <a:lstStyle/>
          <a:p>
            <a:r>
              <a:rPr lang="en-US" dirty="0"/>
              <a:t>The main functions required to implement “</a:t>
            </a:r>
            <a:r>
              <a:rPr lang="en-US" sz="2000" b="1" dirty="0"/>
              <a:t>Channel</a:t>
            </a:r>
            <a:r>
              <a:rPr lang="en-US" dirty="0"/>
              <a:t>” are: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96623C65-4326-CE9D-BDF9-59E130C08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298720"/>
              </p:ext>
            </p:extLst>
          </p:nvPr>
        </p:nvGraphicFramePr>
        <p:xfrm>
          <a:off x="813136" y="2508076"/>
          <a:ext cx="10565727" cy="2296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420">
                  <a:extLst>
                    <a:ext uri="{9D8B030D-6E8A-4147-A177-3AD203B41FA5}">
                      <a16:colId xmlns:a16="http://schemas.microsoft.com/office/drawing/2014/main" val="422314023"/>
                    </a:ext>
                  </a:extLst>
                </a:gridCol>
                <a:gridCol w="4038325">
                  <a:extLst>
                    <a:ext uri="{9D8B030D-6E8A-4147-A177-3AD203B41FA5}">
                      <a16:colId xmlns:a16="http://schemas.microsoft.com/office/drawing/2014/main" val="1877600023"/>
                    </a:ext>
                  </a:extLst>
                </a:gridCol>
                <a:gridCol w="4983982">
                  <a:extLst>
                    <a:ext uri="{9D8B030D-6E8A-4147-A177-3AD203B41FA5}">
                      <a16:colId xmlns:a16="http://schemas.microsoft.com/office/drawing/2014/main" val="2719033330"/>
                    </a:ext>
                  </a:extLst>
                </a:gridCol>
              </a:tblGrid>
              <a:tr h="4676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24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sleep()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none"/>
                        <a:t>Declarations:  </a:t>
                      </a:r>
                      <a:r>
                        <a:rPr lang="en-US" b="1" u="none"/>
                        <a:t>kern/conc/</a:t>
                      </a:r>
                      <a:r>
                        <a:rPr lang="en-US" b="1" u="none" err="1"/>
                        <a:t>channel.h</a:t>
                      </a:r>
                      <a:endParaRPr lang="en-US" b="1" u="none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en-US" b="1" u="none">
                          <a:solidFill>
                            <a:srgbClr val="C00000"/>
                          </a:solidFill>
                        </a:rPr>
                        <a:t>definitions </a:t>
                      </a:r>
                      <a:r>
                        <a:rPr lang="en-US" b="1" u="sng">
                          <a:solidFill>
                            <a:srgbClr val="C00000"/>
                          </a:solidFill>
                        </a:rPr>
                        <a:t>TO DO</a:t>
                      </a:r>
                      <a:r>
                        <a:rPr lang="en-US" b="1" u="none">
                          <a:solidFill>
                            <a:srgbClr val="C00000"/>
                          </a:solidFill>
                        </a:rPr>
                        <a:t>: kern/conc/</a:t>
                      </a:r>
                      <a:r>
                        <a:rPr lang="en-US" b="1" u="none" err="1">
                          <a:solidFill>
                            <a:srgbClr val="C00000"/>
                          </a:solidFill>
                        </a:rPr>
                        <a:t>channel.c</a:t>
                      </a:r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880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wakeup_one</a:t>
                      </a:r>
                      <a:r>
                        <a:rPr lang="en-US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16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wakeup_all</a:t>
                      </a:r>
                      <a:r>
                        <a:rPr lang="en-US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9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acquire_sleeplock</a:t>
                      </a:r>
                      <a:r>
                        <a:rPr lang="en-US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none"/>
                        <a:t>Declarations:  </a:t>
                      </a:r>
                      <a:r>
                        <a:rPr lang="en-US" b="1" u="none"/>
                        <a:t>kern/conc/</a:t>
                      </a:r>
                      <a:r>
                        <a:rPr lang="en-US" b="1" u="none" err="1"/>
                        <a:t>sleeplock.h</a:t>
                      </a:r>
                      <a:endParaRPr lang="en-US" b="1" u="none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en-US" b="1" u="none">
                          <a:solidFill>
                            <a:srgbClr val="C00000"/>
                          </a:solidFill>
                        </a:rPr>
                        <a:t>definitions </a:t>
                      </a:r>
                      <a:r>
                        <a:rPr lang="en-US" b="1" u="sng">
                          <a:solidFill>
                            <a:srgbClr val="C00000"/>
                          </a:solidFill>
                        </a:rPr>
                        <a:t>TO DO</a:t>
                      </a:r>
                      <a:r>
                        <a:rPr lang="en-US" b="1" u="none">
                          <a:solidFill>
                            <a:srgbClr val="C00000"/>
                          </a:solidFill>
                        </a:rPr>
                        <a:t>: kern/conc/</a:t>
                      </a:r>
                      <a:r>
                        <a:rPr lang="en-US" b="1" u="none" err="1">
                          <a:solidFill>
                            <a:srgbClr val="C00000"/>
                          </a:solidFill>
                        </a:rPr>
                        <a:t>sleeplock.c</a:t>
                      </a:r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72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release_sleeplock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342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39138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0BFF8-25C7-4F66-91F9-90FF9CBB0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643" y="1066416"/>
            <a:ext cx="10686012" cy="402336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Locks provide two </a:t>
            </a:r>
            <a:r>
              <a:rPr lang="en-US" b="1"/>
              <a:t>atomic</a:t>
            </a:r>
            <a:r>
              <a:rPr lang="en-US"/>
              <a:t> operations:</a:t>
            </a:r>
          </a:p>
          <a:p>
            <a:pPr lvl="1">
              <a:lnSpc>
                <a:spcPct val="100000"/>
              </a:lnSpc>
            </a:pPr>
            <a:r>
              <a:rPr lang="en-US" sz="2000" err="1">
                <a:solidFill>
                  <a:srgbClr val="FF0000"/>
                </a:solidFill>
              </a:rPr>
              <a:t>Lock.acquire</a:t>
            </a:r>
            <a:r>
              <a:rPr lang="en-US" sz="2000">
                <a:solidFill>
                  <a:srgbClr val="FF0000"/>
                </a:solidFill>
              </a:rPr>
              <a:t>() </a:t>
            </a:r>
            <a:r>
              <a:rPr lang="en-US" sz="2000"/>
              <a:t>– </a:t>
            </a:r>
            <a:r>
              <a:rPr lang="en-US" sz="2000" b="1"/>
              <a:t>wait</a:t>
            </a:r>
            <a:r>
              <a:rPr lang="en-US" sz="2000"/>
              <a:t> until lock is </a:t>
            </a:r>
            <a:r>
              <a:rPr lang="en-US" sz="2000" b="1"/>
              <a:t>free</a:t>
            </a:r>
            <a:r>
              <a:rPr lang="en-US" sz="2000"/>
              <a:t>; then </a:t>
            </a:r>
            <a:r>
              <a:rPr lang="en-US" sz="2000" b="1"/>
              <a:t>mark</a:t>
            </a:r>
            <a:r>
              <a:rPr lang="en-US" sz="2000"/>
              <a:t> it as </a:t>
            </a:r>
            <a:r>
              <a:rPr lang="en-US" sz="2000" b="1"/>
              <a:t>busy</a:t>
            </a:r>
          </a:p>
          <a:p>
            <a:pPr lvl="2">
              <a:lnSpc>
                <a:spcPct val="100000"/>
              </a:lnSpc>
            </a:pPr>
            <a:r>
              <a:rPr lang="en-US" sz="2000"/>
              <a:t>After this returns, we say the calling thread </a:t>
            </a:r>
            <a:r>
              <a:rPr lang="en-US" sz="2000" b="1" i="1"/>
              <a:t>holds</a:t>
            </a:r>
            <a:r>
              <a:rPr lang="en-US" sz="2000"/>
              <a:t> the lock</a:t>
            </a:r>
          </a:p>
          <a:p>
            <a:pPr lvl="1">
              <a:lnSpc>
                <a:spcPct val="100000"/>
              </a:lnSpc>
            </a:pPr>
            <a:r>
              <a:rPr lang="en-US" sz="2000" err="1">
                <a:solidFill>
                  <a:srgbClr val="FF0000"/>
                </a:solidFill>
              </a:rPr>
              <a:t>Lock.release</a:t>
            </a:r>
            <a:r>
              <a:rPr lang="en-US" sz="2000">
                <a:solidFill>
                  <a:srgbClr val="FF0000"/>
                </a:solidFill>
              </a:rPr>
              <a:t>() </a:t>
            </a:r>
            <a:r>
              <a:rPr lang="en-US" sz="2000"/>
              <a:t>– </a:t>
            </a:r>
            <a:r>
              <a:rPr lang="en-US" sz="2000" b="1"/>
              <a:t>mark</a:t>
            </a:r>
            <a:r>
              <a:rPr lang="en-US" sz="2000"/>
              <a:t> lock as </a:t>
            </a:r>
            <a:r>
              <a:rPr lang="en-US" sz="2000" b="1"/>
              <a:t>free</a:t>
            </a:r>
          </a:p>
          <a:p>
            <a:pPr lvl="2">
              <a:lnSpc>
                <a:spcPct val="100000"/>
              </a:lnSpc>
            </a:pPr>
            <a:r>
              <a:rPr lang="en-US" sz="2000"/>
              <a:t>Should only be called by a thread that currently holds the lock</a:t>
            </a:r>
          </a:p>
          <a:p>
            <a:pPr lvl="2">
              <a:lnSpc>
                <a:spcPct val="100000"/>
              </a:lnSpc>
            </a:pPr>
            <a:r>
              <a:rPr lang="en-US" sz="2000"/>
              <a:t>After this returns, the calling thread no longer holds the lock</a:t>
            </a:r>
          </a:p>
          <a:p>
            <a:pPr>
              <a:lnSpc>
                <a:spcPct val="100000"/>
              </a:lnSpc>
            </a:pPr>
            <a:r>
              <a:rPr lang="en-US" altLang="ko-KR" b="1">
                <a:solidFill>
                  <a:srgbClr val="FF0000"/>
                </a:solidFill>
                <a:ea typeface="굴림" panose="020B0600000101010101" pitchFamily="34" charset="-127"/>
              </a:rPr>
              <a:t>Negatives of interrupt-based implementation:</a:t>
            </a:r>
          </a:p>
          <a:p>
            <a:pPr lvl="1">
              <a:lnSpc>
                <a:spcPct val="100000"/>
              </a:lnSpc>
            </a:pPr>
            <a:r>
              <a:rPr lang="en-US" altLang="ko-KR" sz="2000" b="1">
                <a:ea typeface="굴림" panose="020B0600000101010101" pitchFamily="34" charset="-127"/>
              </a:rPr>
              <a:t>Can’t</a:t>
            </a:r>
            <a:r>
              <a:rPr lang="en-US" altLang="ko-KR" sz="2000">
                <a:ea typeface="굴림" panose="020B0600000101010101" pitchFamily="34" charset="-127"/>
              </a:rPr>
              <a:t> give lock implementation to </a:t>
            </a:r>
            <a:r>
              <a:rPr lang="en-US" altLang="ko-KR" sz="2000" b="1">
                <a:ea typeface="굴림" panose="020B0600000101010101" pitchFamily="34" charset="-127"/>
              </a:rPr>
              <a:t>users</a:t>
            </a:r>
          </a:p>
          <a:p>
            <a:pPr lvl="1">
              <a:lnSpc>
                <a:spcPct val="100000"/>
              </a:lnSpc>
            </a:pPr>
            <a:r>
              <a:rPr lang="en-US" altLang="ko-KR" sz="2000" b="1">
                <a:ea typeface="굴림" panose="020B0600000101010101" pitchFamily="34" charset="-127"/>
              </a:rPr>
              <a:t>Doesn’t</a:t>
            </a:r>
            <a:r>
              <a:rPr lang="en-US" altLang="ko-KR" sz="2000">
                <a:ea typeface="굴림" panose="020B0600000101010101" pitchFamily="34" charset="-127"/>
              </a:rPr>
              <a:t> work well on </a:t>
            </a:r>
            <a:r>
              <a:rPr lang="en-US" altLang="ko-KR" sz="2000" b="1">
                <a:ea typeface="굴림" panose="020B0600000101010101" pitchFamily="34" charset="-127"/>
              </a:rPr>
              <a:t>multiprocessor</a:t>
            </a:r>
            <a:endParaRPr lang="en-US" altLang="ko-KR" sz="2000">
              <a:ea typeface="굴림" panose="020B0600000101010101" pitchFamily="34" charset="-127"/>
            </a:endParaRPr>
          </a:p>
          <a:p>
            <a:pPr>
              <a:lnSpc>
                <a:spcPct val="100000"/>
              </a:lnSpc>
            </a:pPr>
            <a:endParaRPr lang="en-US"/>
          </a:p>
          <a:p>
            <a:pPr lvl="2">
              <a:lnSpc>
                <a:spcPct val="100000"/>
              </a:lnSpc>
            </a:pPr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680FA-011A-DB45-1951-6774E8896F28}"/>
              </a:ext>
            </a:extLst>
          </p:cNvPr>
          <p:cNvSpPr txBox="1"/>
          <p:nvPr/>
        </p:nvSpPr>
        <p:spPr>
          <a:xfrm>
            <a:off x="681643" y="4670536"/>
            <a:ext cx="38628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ko-KR" sz="2000" b="1">
                <a:solidFill>
                  <a:srgbClr val="FF0000"/>
                </a:solidFill>
                <a:ea typeface="굴림" panose="020B0600000101010101" pitchFamily="34" charset="-127"/>
              </a:rPr>
              <a:t>Negatives of </a:t>
            </a:r>
            <a:r>
              <a:rPr lang="en-US" altLang="ko-KR" sz="2000" b="1" err="1">
                <a:solidFill>
                  <a:srgbClr val="FF0000"/>
                </a:solidFill>
                <a:ea typeface="굴림" panose="020B0600000101010101" pitchFamily="34" charset="-127"/>
              </a:rPr>
              <a:t>SpinLocks</a:t>
            </a:r>
            <a:r>
              <a:rPr lang="en-US" altLang="ko-KR" sz="2000" b="1">
                <a:solidFill>
                  <a:srgbClr val="FF0000"/>
                </a:solidFill>
                <a:ea typeface="굴림" panose="020B0600000101010101" pitchFamily="34" charset="-127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altLang="ko-KR" sz="2000" b="1">
                <a:ea typeface="굴림" panose="020B0600000101010101" pitchFamily="34" charset="-127"/>
              </a:rPr>
              <a:t>Busy-waiting</a:t>
            </a:r>
          </a:p>
          <a:p>
            <a:pPr lvl="1">
              <a:lnSpc>
                <a:spcPct val="100000"/>
              </a:lnSpc>
            </a:pPr>
            <a:r>
              <a:rPr lang="en-US" altLang="ko-KR" sz="2000" b="1">
                <a:ea typeface="굴림" panose="020B0600000101010101" pitchFamily="34" charset="-127"/>
              </a:rPr>
              <a:t>Cache coherence </a:t>
            </a:r>
            <a:endParaRPr lang="en-US" altLang="ko-KR" sz="2000">
              <a:ea typeface="굴림" panose="020B0600000101010101" pitchFamily="34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913824A-D836-C38F-FE71-5A400815E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57" y="10773"/>
            <a:ext cx="10058400" cy="967051"/>
          </a:xfrm>
        </p:spPr>
        <p:txBody>
          <a:bodyPr>
            <a:normAutofit/>
          </a:bodyPr>
          <a:lstStyle/>
          <a:p>
            <a:r>
              <a:rPr lang="en-US" dirty="0"/>
              <a:t>Blocking: </a:t>
            </a:r>
            <a:r>
              <a:rPr lang="en-US" b="1" dirty="0"/>
              <a:t>Intro</a:t>
            </a:r>
            <a:endParaRPr lang="en-US" altLang="ko-KR" dirty="0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11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57" y="10773"/>
            <a:ext cx="10058400" cy="967051"/>
          </a:xfrm>
        </p:spPr>
        <p:txBody>
          <a:bodyPr>
            <a:normAutofit/>
          </a:bodyPr>
          <a:lstStyle/>
          <a:p>
            <a:r>
              <a:rPr lang="en-US" dirty="0"/>
              <a:t>Blocking: </a:t>
            </a:r>
            <a:r>
              <a:rPr lang="en-US" b="1" dirty="0" err="1"/>
              <a:t>SleepLock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456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03243"/>
            <a:ext cx="12192000" cy="5923722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ko-KR" sz="2200" b="1" dirty="0">
                <a:ea typeface="굴림" panose="020B0600000101010101" pitchFamily="34" charset="-127"/>
              </a:rPr>
              <a:t>Idea:</a:t>
            </a:r>
            <a:r>
              <a:rPr lang="en-US" altLang="ko-KR" sz="2200" dirty="0">
                <a:ea typeface="굴림" panose="020B0600000101010101" pitchFamily="34" charset="-127"/>
              </a:rPr>
              <a:t> only busy-wait to atomically check lock value</a:t>
            </a:r>
            <a:br>
              <a:rPr lang="en-US" altLang="ko-KR" sz="2000" dirty="0">
                <a:ea typeface="굴림" panose="020B0600000101010101" pitchFamily="34" charset="-127"/>
              </a:rPr>
            </a:br>
            <a:endParaRPr lang="en-US" altLang="ko-KR" sz="2000" dirty="0">
              <a:ea typeface="굴림" panose="020B0600000101010101" pitchFamily="34" charset="-127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en-US" altLang="ko-KR" sz="3200" dirty="0">
              <a:ea typeface="굴림" panose="020B0600000101010101" pitchFamily="34" charset="-127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en-US" altLang="ko-KR" sz="2000" dirty="0">
              <a:ea typeface="굴림" panose="020B0600000101010101" pitchFamily="34" charset="-127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en-US" altLang="ko-KR" sz="2000" dirty="0">
              <a:ea typeface="굴림" panose="020B0600000101010101" pitchFamily="34" charset="-127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en-US" altLang="ko-KR" sz="2000" dirty="0">
              <a:ea typeface="굴림" panose="020B0600000101010101" pitchFamily="34" charset="-127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en-US" altLang="ko-KR" sz="2000" dirty="0">
              <a:ea typeface="굴림" panose="020B0600000101010101" pitchFamily="34" charset="-127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en-US" altLang="ko-KR" sz="2000" dirty="0">
              <a:ea typeface="굴림" panose="020B0600000101010101" pitchFamily="34" charset="-127"/>
            </a:endParaRPr>
          </a:p>
          <a:p>
            <a:pPr marL="0" indent="0">
              <a:lnSpc>
                <a:spcPct val="120000"/>
              </a:lnSpc>
              <a:spcBef>
                <a:spcPct val="20000"/>
              </a:spcBef>
              <a:buNone/>
            </a:pPr>
            <a:endParaRPr lang="en-US" altLang="ko-KR" dirty="0">
              <a:latin typeface="Calibri" panose="020F0502020204030204" pitchFamily="34" charset="0"/>
              <a:ea typeface="굴림" panose="020B0600000101010101" pitchFamily="34" charset="-127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ko-KR" sz="2200" b="1" dirty="0">
                <a:latin typeface="Calibri" panose="020F0502020204030204" pitchFamily="34" charset="0"/>
                <a:ea typeface="굴림" panose="020B0600000101010101" pitchFamily="34" charset="-127"/>
                <a:cs typeface="Calibri" panose="020F0502020204030204" pitchFamily="34" charset="0"/>
              </a:rPr>
              <a:t>Note: </a:t>
            </a:r>
            <a:r>
              <a:rPr lang="en-US" altLang="ko-KR" sz="2200" dirty="0">
                <a:latin typeface="Calibri" panose="020F0502020204030204" pitchFamily="34" charset="0"/>
                <a:ea typeface="굴림" panose="020B0600000101010101" pitchFamily="34" charset="-127"/>
                <a:cs typeface="Calibri" panose="020F0502020204030204" pitchFamily="34" charset="0"/>
              </a:rPr>
              <a:t>unlike previous solution, the critical section is </a:t>
            </a:r>
            <a:r>
              <a:rPr lang="en-US" altLang="ko-KR" sz="2200" b="1" dirty="0">
                <a:latin typeface="Calibri" panose="020F0502020204030204" pitchFamily="34" charset="0"/>
                <a:ea typeface="굴림" panose="020B0600000101010101" pitchFamily="34" charset="-127"/>
                <a:cs typeface="Calibri" panose="020F0502020204030204" pitchFamily="34" charset="0"/>
              </a:rPr>
              <a:t>very short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ko-KR" sz="2200" b="1" dirty="0">
                <a:latin typeface="Calibri" panose="020F0502020204030204" pitchFamily="34" charset="0"/>
                <a:ea typeface="굴림" panose="020B0600000101010101" pitchFamily="34" charset="-127"/>
                <a:cs typeface="Calibri" panose="020F0502020204030204" pitchFamily="34" charset="0"/>
              </a:rPr>
              <a:t>Note: </a:t>
            </a:r>
            <a:r>
              <a:rPr lang="en-US" altLang="ko-KR" sz="2200" b="1" dirty="0">
                <a:solidFill>
                  <a:srgbClr val="FF0000"/>
                </a:solidFill>
                <a:latin typeface="Calibri" panose="020F0502020204030204" pitchFamily="34" charset="0"/>
                <a:ea typeface="굴림" panose="020B0600000101010101" pitchFamily="34" charset="-127"/>
                <a:cs typeface="Calibri" panose="020F0502020204030204" pitchFamily="34" charset="0"/>
              </a:rPr>
              <a:t>WHY</a:t>
            </a:r>
            <a:r>
              <a:rPr lang="en-US" altLang="ko-KR" sz="2200" dirty="0">
                <a:latin typeface="Calibri" panose="020F0502020204030204" pitchFamily="34" charset="0"/>
                <a:ea typeface="굴림" panose="020B0600000101010101" pitchFamily="34" charset="-127"/>
                <a:cs typeface="Calibri" panose="020F0502020204030204" pitchFamily="34" charset="0"/>
              </a:rPr>
              <a:t> there’s a </a:t>
            </a:r>
            <a:r>
              <a:rPr lang="en-US" altLang="ko-KR" sz="1800" dirty="0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while</a:t>
            </a:r>
            <a:r>
              <a:rPr lang="en-US" altLang="ko-KR" sz="2200" dirty="0">
                <a:latin typeface="Calibri" panose="020F0502020204030204" pitchFamily="34" charset="0"/>
                <a:ea typeface="굴림" panose="020B0600000101010101" pitchFamily="34" charset="-127"/>
                <a:cs typeface="Calibri" panose="020F0502020204030204" pitchFamily="34" charset="0"/>
              </a:rPr>
              <a:t> (not </a:t>
            </a:r>
            <a:r>
              <a:rPr lang="en-US" altLang="ko-KR" sz="1800" dirty="0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if</a:t>
            </a:r>
            <a:r>
              <a:rPr lang="en-US" altLang="ko-KR" sz="2200" dirty="0">
                <a:latin typeface="Calibri" panose="020F0502020204030204" pitchFamily="34" charset="0"/>
                <a:ea typeface="굴림" panose="020B0600000101010101" pitchFamily="34" charset="-127"/>
                <a:cs typeface="Calibri" panose="020F0502020204030204" pitchFamily="34" charset="0"/>
              </a:rPr>
              <a:t>) in the </a:t>
            </a:r>
            <a:r>
              <a:rPr lang="en-US" altLang="ko-KR" sz="1800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acquire</a:t>
            </a:r>
            <a:r>
              <a:rPr lang="en-US" altLang="ko-KR" sz="2200" dirty="0">
                <a:latin typeface="Calibri" panose="020F0502020204030204" pitchFamily="34" charset="0"/>
                <a:ea typeface="굴림" panose="020B0600000101010101" pitchFamily="34" charset="-127"/>
                <a:cs typeface="Calibri" panose="020F0502020204030204" pitchFamily="34" charset="0"/>
              </a:rPr>
              <a:t>?</a:t>
            </a:r>
            <a:endParaRPr lang="en-US" altLang="ko-KR" sz="2200" b="1" dirty="0">
              <a:latin typeface="Calibri" panose="020F0502020204030204" pitchFamily="34" charset="0"/>
              <a:ea typeface="굴림" panose="020B0600000101010101" pitchFamily="34" charset="-127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ko-KR" sz="2200" b="1" dirty="0">
                <a:latin typeface="Calibri" panose="020F0502020204030204" pitchFamily="34" charset="0"/>
                <a:ea typeface="굴림" panose="020B0600000101010101" pitchFamily="34" charset="-127"/>
                <a:cs typeface="Calibri" panose="020F0502020204030204" pitchFamily="34" charset="0"/>
              </a:rPr>
              <a:t>Note: </a:t>
            </a:r>
            <a:r>
              <a:rPr lang="en-US" altLang="ko-KR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sleep</a:t>
            </a:r>
            <a:r>
              <a:rPr lang="en-US" altLang="ko-KR" sz="2200" dirty="0">
                <a:latin typeface="Calibri" panose="020F0502020204030204" pitchFamily="34" charset="0"/>
                <a:ea typeface="굴림" panose="020B0600000101010101" pitchFamily="34" charset="-127"/>
                <a:cs typeface="Calibri" panose="020F0502020204030204" pitchFamily="34" charset="0"/>
              </a:rPr>
              <a:t> must be sure to </a:t>
            </a:r>
            <a:r>
              <a:rPr lang="en-US" altLang="ko-KR" sz="2200" b="1" dirty="0">
                <a:latin typeface="Calibri" panose="020F0502020204030204" pitchFamily="34" charset="0"/>
                <a:ea typeface="굴림" panose="020B0600000101010101" pitchFamily="34" charset="-127"/>
                <a:cs typeface="Calibri" panose="020F0502020204030204" pitchFamily="34" charset="0"/>
              </a:rPr>
              <a:t>reset the guard variable. </a:t>
            </a:r>
            <a:r>
              <a:rPr lang="en-US" altLang="ko-KR" sz="2200" b="1" dirty="0">
                <a:solidFill>
                  <a:srgbClr val="FF0000"/>
                </a:solidFill>
                <a:latin typeface="Calibri" panose="020F0502020204030204" pitchFamily="34" charset="0"/>
                <a:ea typeface="굴림" panose="020B0600000101010101" pitchFamily="34" charset="-127"/>
                <a:cs typeface="Calibri" panose="020F0502020204030204" pitchFamily="34" charset="0"/>
              </a:rPr>
              <a:t>WHY </a:t>
            </a:r>
            <a:r>
              <a:rPr lang="en-US" altLang="ko-KR" sz="2200" dirty="0">
                <a:latin typeface="Calibri" panose="020F0502020204030204" pitchFamily="34" charset="0"/>
                <a:ea typeface="굴림" panose="020B0600000101010101" pitchFamily="34" charset="-127"/>
                <a:cs typeface="Calibri" panose="020F0502020204030204" pitchFamily="34" charset="0"/>
              </a:rPr>
              <a:t>can’t we do it just before or after the sleep?</a:t>
            </a:r>
          </a:p>
        </p:txBody>
      </p:sp>
      <p:sp>
        <p:nvSpPr>
          <p:cNvPr id="456709" name="Text Box 5"/>
          <p:cNvSpPr txBox="1">
            <a:spLocks noChangeArrowheads="1"/>
          </p:cNvSpPr>
          <p:nvPr/>
        </p:nvSpPr>
        <p:spPr bwMode="auto">
          <a:xfrm>
            <a:off x="6462713" y="1791249"/>
            <a:ext cx="466248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>
              <a:buSzPct val="100000"/>
            </a:pPr>
            <a:endParaRPr lang="en-US" altLang="en-US" b="0" dirty="0">
              <a:latin typeface="Consolas" charset="0"/>
              <a:ea typeface="Consolas" charset="0"/>
              <a:cs typeface="Consolas" charset="0"/>
            </a:endParaRPr>
          </a:p>
          <a:p>
            <a:pPr algn="l">
              <a:buSzPct val="100000"/>
            </a:pPr>
            <a:endParaRPr lang="en-US" altLang="en-US" b="0" dirty="0">
              <a:latin typeface="Consolas" charset="0"/>
              <a:ea typeface="Consolas" charset="0"/>
              <a:cs typeface="Consolas" charset="0"/>
            </a:endParaRPr>
          </a:p>
          <a:p>
            <a:pPr algn="l">
              <a:buSzPct val="100000"/>
            </a:pPr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release(int *</a:t>
            </a:r>
            <a:r>
              <a:rPr lang="en-US" altLang="en-US" b="0" dirty="0" err="1">
                <a:latin typeface="Consolas" charset="0"/>
                <a:ea typeface="Consolas" charset="0"/>
                <a:cs typeface="Consolas" charset="0"/>
              </a:rPr>
              <a:t>thelock</a:t>
            </a:r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altLang="en-US" b="0" dirty="0" err="1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acquire_spinlock</a:t>
            </a:r>
            <a:r>
              <a:rPr lang="en-US" altLang="en-US" b="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(&amp;guard)</a:t>
            </a:r>
          </a:p>
          <a:p>
            <a:pPr algn="l">
              <a:buSzPct val="100000"/>
            </a:pPr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	if anyone on wait queue {</a:t>
            </a:r>
          </a:p>
          <a:p>
            <a:pPr algn="l">
              <a:buSzPct val="100000"/>
            </a:pPr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		wake-up ALL blocked processes</a:t>
            </a:r>
          </a:p>
          <a:p>
            <a:pPr algn="l">
              <a:buSzPct val="100000"/>
            </a:pPr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	} </a:t>
            </a:r>
          </a:p>
          <a:p>
            <a:pPr algn="l">
              <a:buSzPct val="100000"/>
            </a:pPr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altLang="en-US" b="0" dirty="0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*</a:t>
            </a:r>
            <a:r>
              <a:rPr lang="en-US" altLang="en-US" b="0" dirty="0" err="1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thelock</a:t>
            </a:r>
            <a:r>
              <a:rPr lang="en-US" altLang="en-US" b="0" dirty="0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 = FREE;</a:t>
            </a:r>
            <a:endParaRPr lang="en-US" altLang="en-US" b="0" dirty="0">
              <a:latin typeface="Consolas" charset="0"/>
              <a:ea typeface="Consolas" charset="0"/>
              <a:cs typeface="Consolas" charset="0"/>
            </a:endParaRPr>
          </a:p>
          <a:p>
            <a:pPr>
              <a:buSzPct val="100000"/>
            </a:pPr>
            <a:r>
              <a:rPr lang="en-US" altLang="en-US" b="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altLang="en-US" b="0" dirty="0" err="1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release_spinlock</a:t>
            </a:r>
            <a:r>
              <a:rPr lang="en-US" altLang="en-US" b="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(&amp;guard);</a:t>
            </a:r>
            <a:br>
              <a:rPr lang="en-US" altLang="en-US" b="0" dirty="0">
                <a:solidFill>
                  <a:schemeClr val="hlink"/>
                </a:solidFill>
                <a:latin typeface="Consolas" charset="0"/>
                <a:ea typeface="Consolas" charset="0"/>
                <a:cs typeface="Consolas" charset="0"/>
              </a:rPr>
            </a:br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22534" name="Text Box 4"/>
          <p:cNvSpPr txBox="1">
            <a:spLocks noChangeArrowheads="1"/>
          </p:cNvSpPr>
          <p:nvPr/>
        </p:nvSpPr>
        <p:spPr bwMode="auto">
          <a:xfrm>
            <a:off x="1648839" y="1451112"/>
            <a:ext cx="4605020" cy="4078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dirty="0" err="1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SpinLock</a:t>
            </a:r>
            <a:r>
              <a:rPr lang="en-US" altLang="en-US" b="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 guard = FREE; </a:t>
            </a:r>
          </a:p>
          <a:p>
            <a:r>
              <a:rPr lang="en-US" altLang="en-US" b="0" dirty="0">
                <a:solidFill>
                  <a:srgbClr val="233AE1"/>
                </a:solidFill>
                <a:latin typeface="Consolas" charset="0"/>
                <a:ea typeface="Consolas" charset="0"/>
                <a:cs typeface="Consolas" charset="0"/>
              </a:rPr>
              <a:t>int </a:t>
            </a:r>
            <a:r>
              <a:rPr lang="en-US" altLang="en-US" b="0" dirty="0" err="1">
                <a:solidFill>
                  <a:srgbClr val="233AE1"/>
                </a:solidFill>
                <a:latin typeface="Consolas" charset="0"/>
                <a:ea typeface="Consolas" charset="0"/>
                <a:cs typeface="Consolas" charset="0"/>
              </a:rPr>
              <a:t>mylock</a:t>
            </a:r>
            <a:r>
              <a:rPr lang="en-US" altLang="en-US" b="0" dirty="0">
                <a:solidFill>
                  <a:srgbClr val="233AE1"/>
                </a:solidFill>
                <a:latin typeface="Consolas" charset="0"/>
                <a:ea typeface="Consolas" charset="0"/>
                <a:cs typeface="Consolas" charset="0"/>
              </a:rPr>
              <a:t> = FREE;</a:t>
            </a:r>
            <a:r>
              <a:rPr lang="en-US" altLang="en-US" b="0" dirty="0">
                <a:solidFill>
                  <a:schemeClr val="accent5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//Interface: acquire(&amp;</a:t>
            </a:r>
            <a:r>
              <a:rPr lang="en-US" altLang="en-US" b="0" dirty="0" err="1">
                <a:solidFill>
                  <a:schemeClr val="accent5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mylock</a:t>
            </a:r>
            <a:r>
              <a:rPr lang="en-US" altLang="en-US" b="0" dirty="0">
                <a:solidFill>
                  <a:schemeClr val="accent5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); release(&amp;</a:t>
            </a:r>
            <a:r>
              <a:rPr lang="en-US" altLang="en-US" b="0" dirty="0" err="1">
                <a:solidFill>
                  <a:schemeClr val="accent5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mylock</a:t>
            </a:r>
            <a:r>
              <a:rPr lang="en-US" altLang="en-US" b="0" dirty="0">
                <a:solidFill>
                  <a:schemeClr val="accent5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);</a:t>
            </a:r>
            <a:r>
              <a:rPr lang="en-US" altLang="en-US" b="0" dirty="0">
                <a:solidFill>
                  <a:srgbClr val="233AE1"/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</a:p>
          <a:p>
            <a:pPr algn="l">
              <a:spcBef>
                <a:spcPts val="0"/>
              </a:spcBef>
            </a:pPr>
            <a:endParaRPr lang="en-US" altLang="en-US" sz="400" b="0" dirty="0">
              <a:latin typeface="Consolas" charset="0"/>
              <a:ea typeface="Consolas" charset="0"/>
              <a:cs typeface="Consolas" charset="0"/>
            </a:endParaRPr>
          </a:p>
          <a:p>
            <a:pPr algn="l">
              <a:spcBef>
                <a:spcPts val="0"/>
              </a:spcBef>
            </a:pPr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acquire(int *</a:t>
            </a:r>
            <a:r>
              <a:rPr lang="en-US" altLang="en-US" b="0" dirty="0" err="1">
                <a:latin typeface="Consolas" charset="0"/>
                <a:ea typeface="Consolas" charset="0"/>
                <a:cs typeface="Consolas" charset="0"/>
              </a:rPr>
              <a:t>thelock</a:t>
            </a:r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algn="l"/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altLang="en-US" b="0" dirty="0" err="1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acquire_spinlock</a:t>
            </a:r>
            <a:r>
              <a:rPr lang="en-US" altLang="en-US" b="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(&amp;guard)</a:t>
            </a:r>
          </a:p>
          <a:p>
            <a:pPr algn="l"/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altLang="en-US" dirty="0">
                <a:latin typeface="Consolas" charset="0"/>
                <a:ea typeface="Consolas" charset="0"/>
                <a:cs typeface="Consolas" charset="0"/>
              </a:rPr>
              <a:t>while</a:t>
            </a:r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 (</a:t>
            </a:r>
            <a:r>
              <a:rPr lang="en-US" altLang="en-US" b="0" dirty="0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*</a:t>
            </a:r>
            <a:r>
              <a:rPr lang="en-US" altLang="en-US" b="0" dirty="0" err="1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thelock</a:t>
            </a:r>
            <a:r>
              <a:rPr lang="en-US" altLang="en-US" b="0" dirty="0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 == BUSY</a:t>
            </a:r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algn="l"/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		put thread on wait queue;</a:t>
            </a:r>
          </a:p>
          <a:p>
            <a:pPr algn="l"/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		go to sleep()</a:t>
            </a:r>
          </a:p>
          <a:p>
            <a:pPr algn="l"/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altLang="en-US" b="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// guard == BUSY on wakeup!</a:t>
            </a:r>
            <a:endParaRPr lang="en-US" altLang="en-US" b="0" dirty="0">
              <a:latin typeface="Consolas" charset="0"/>
              <a:ea typeface="Consolas" charset="0"/>
              <a:cs typeface="Consolas" charset="0"/>
            </a:endParaRPr>
          </a:p>
          <a:p>
            <a:pPr algn="l"/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	} </a:t>
            </a:r>
          </a:p>
          <a:p>
            <a:pPr algn="l"/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altLang="en-US" b="0" dirty="0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*</a:t>
            </a:r>
            <a:r>
              <a:rPr lang="en-US" altLang="en-US" b="0" dirty="0" err="1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thelock</a:t>
            </a:r>
            <a:r>
              <a:rPr lang="en-US" altLang="en-US" b="0" dirty="0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 = BUSY;</a:t>
            </a:r>
            <a:endParaRPr lang="en-US" altLang="en-US" b="0" dirty="0">
              <a:latin typeface="Consolas" charset="0"/>
              <a:ea typeface="Consolas" charset="0"/>
              <a:cs typeface="Consolas" charset="0"/>
            </a:endParaRPr>
          </a:p>
          <a:p>
            <a:pPr algn="l"/>
            <a:r>
              <a:rPr lang="en-US" altLang="en-US" b="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altLang="en-US" b="0" dirty="0" err="1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release_spinlock</a:t>
            </a:r>
            <a:r>
              <a:rPr lang="en-US" altLang="en-US" b="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(&amp;guard);</a:t>
            </a:r>
          </a:p>
          <a:p>
            <a:pPr algn="l"/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	}</a:t>
            </a:r>
            <a:br>
              <a:rPr lang="en-US" altLang="en-US" b="0" dirty="0">
                <a:latin typeface="Consolas" charset="0"/>
                <a:ea typeface="Consolas" charset="0"/>
                <a:cs typeface="Consolas" charset="0"/>
              </a:rPr>
            </a:br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grpSp>
        <p:nvGrpSpPr>
          <p:cNvPr id="22535" name="Group 6"/>
          <p:cNvGrpSpPr>
            <a:grpSpLocks/>
          </p:cNvGrpSpPr>
          <p:nvPr/>
        </p:nvGrpSpPr>
        <p:grpSpPr bwMode="auto">
          <a:xfrm>
            <a:off x="836612" y="1828800"/>
            <a:ext cx="611188" cy="685800"/>
            <a:chOff x="1776" y="912"/>
            <a:chExt cx="477" cy="576"/>
          </a:xfrm>
        </p:grpSpPr>
        <p:sp>
          <p:nvSpPr>
            <p:cNvPr id="22536" name="AutoShape 7"/>
            <p:cNvSpPr>
              <a:spLocks noChangeAspect="1" noChangeArrowheads="1" noTextEdit="1"/>
            </p:cNvSpPr>
            <p:nvPr/>
          </p:nvSpPr>
          <p:spPr bwMode="auto">
            <a:xfrm>
              <a:off x="1776" y="912"/>
              <a:ext cx="47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2537" name="Freeform 8"/>
            <p:cNvSpPr>
              <a:spLocks/>
            </p:cNvSpPr>
            <p:nvPr/>
          </p:nvSpPr>
          <p:spPr bwMode="auto">
            <a:xfrm>
              <a:off x="1819" y="1046"/>
              <a:ext cx="434" cy="442"/>
            </a:xfrm>
            <a:custGeom>
              <a:avLst/>
              <a:gdLst>
                <a:gd name="T0" fmla="*/ 4 w 1303"/>
                <a:gd name="T1" fmla="*/ 79 h 1327"/>
                <a:gd name="T2" fmla="*/ 7 w 1303"/>
                <a:gd name="T3" fmla="*/ 86 h 1327"/>
                <a:gd name="T4" fmla="*/ 13 w 1303"/>
                <a:gd name="T5" fmla="*/ 97 h 1327"/>
                <a:gd name="T6" fmla="*/ 19 w 1303"/>
                <a:gd name="T7" fmla="*/ 109 h 1327"/>
                <a:gd name="T8" fmla="*/ 28 w 1303"/>
                <a:gd name="T9" fmla="*/ 121 h 1327"/>
                <a:gd name="T10" fmla="*/ 38 w 1303"/>
                <a:gd name="T11" fmla="*/ 132 h 1327"/>
                <a:gd name="T12" fmla="*/ 50 w 1303"/>
                <a:gd name="T13" fmla="*/ 140 h 1327"/>
                <a:gd name="T14" fmla="*/ 63 w 1303"/>
                <a:gd name="T15" fmla="*/ 145 h 1327"/>
                <a:gd name="T16" fmla="*/ 76 w 1303"/>
                <a:gd name="T17" fmla="*/ 147 h 1327"/>
                <a:gd name="T18" fmla="*/ 90 w 1303"/>
                <a:gd name="T19" fmla="*/ 146 h 1327"/>
                <a:gd name="T20" fmla="*/ 104 w 1303"/>
                <a:gd name="T21" fmla="*/ 142 h 1327"/>
                <a:gd name="T22" fmla="*/ 116 w 1303"/>
                <a:gd name="T23" fmla="*/ 136 h 1327"/>
                <a:gd name="T24" fmla="*/ 128 w 1303"/>
                <a:gd name="T25" fmla="*/ 126 h 1327"/>
                <a:gd name="T26" fmla="*/ 136 w 1303"/>
                <a:gd name="T27" fmla="*/ 116 h 1327"/>
                <a:gd name="T28" fmla="*/ 142 w 1303"/>
                <a:gd name="T29" fmla="*/ 105 h 1327"/>
                <a:gd name="T30" fmla="*/ 144 w 1303"/>
                <a:gd name="T31" fmla="*/ 94 h 1327"/>
                <a:gd name="T32" fmla="*/ 145 w 1303"/>
                <a:gd name="T33" fmla="*/ 82 h 1327"/>
                <a:gd name="T34" fmla="*/ 143 w 1303"/>
                <a:gd name="T35" fmla="*/ 71 h 1327"/>
                <a:gd name="T36" fmla="*/ 140 w 1303"/>
                <a:gd name="T37" fmla="*/ 59 h 1327"/>
                <a:gd name="T38" fmla="*/ 136 w 1303"/>
                <a:gd name="T39" fmla="*/ 48 h 1327"/>
                <a:gd name="T40" fmla="*/ 132 w 1303"/>
                <a:gd name="T41" fmla="*/ 37 h 1327"/>
                <a:gd name="T42" fmla="*/ 128 w 1303"/>
                <a:gd name="T43" fmla="*/ 27 h 1327"/>
                <a:gd name="T44" fmla="*/ 123 w 1303"/>
                <a:gd name="T45" fmla="*/ 18 h 1327"/>
                <a:gd name="T46" fmla="*/ 117 w 1303"/>
                <a:gd name="T47" fmla="*/ 11 h 1327"/>
                <a:gd name="T48" fmla="*/ 111 w 1303"/>
                <a:gd name="T49" fmla="*/ 5 h 1327"/>
                <a:gd name="T50" fmla="*/ 104 w 1303"/>
                <a:gd name="T51" fmla="*/ 1 h 1327"/>
                <a:gd name="T52" fmla="*/ 98 w 1303"/>
                <a:gd name="T53" fmla="*/ 0 h 1327"/>
                <a:gd name="T54" fmla="*/ 93 w 1303"/>
                <a:gd name="T55" fmla="*/ 0 h 1327"/>
                <a:gd name="T56" fmla="*/ 89 w 1303"/>
                <a:gd name="T57" fmla="*/ 3 h 1327"/>
                <a:gd name="T58" fmla="*/ 85 w 1303"/>
                <a:gd name="T59" fmla="*/ 6 h 1327"/>
                <a:gd name="T60" fmla="*/ 84 w 1303"/>
                <a:gd name="T61" fmla="*/ 10 h 1327"/>
                <a:gd name="T62" fmla="*/ 83 w 1303"/>
                <a:gd name="T63" fmla="*/ 15 h 1327"/>
                <a:gd name="T64" fmla="*/ 83 w 1303"/>
                <a:gd name="T65" fmla="*/ 20 h 1327"/>
                <a:gd name="T66" fmla="*/ 83 w 1303"/>
                <a:gd name="T67" fmla="*/ 25 h 1327"/>
                <a:gd name="T68" fmla="*/ 84 w 1303"/>
                <a:gd name="T69" fmla="*/ 28 h 1327"/>
                <a:gd name="T70" fmla="*/ 85 w 1303"/>
                <a:gd name="T71" fmla="*/ 32 h 1327"/>
                <a:gd name="T72" fmla="*/ 85 w 1303"/>
                <a:gd name="T73" fmla="*/ 36 h 1327"/>
                <a:gd name="T74" fmla="*/ 82 w 1303"/>
                <a:gd name="T75" fmla="*/ 40 h 1327"/>
                <a:gd name="T76" fmla="*/ 78 w 1303"/>
                <a:gd name="T77" fmla="*/ 41 h 1327"/>
                <a:gd name="T78" fmla="*/ 73 w 1303"/>
                <a:gd name="T79" fmla="*/ 43 h 1327"/>
                <a:gd name="T80" fmla="*/ 68 w 1303"/>
                <a:gd name="T81" fmla="*/ 45 h 1327"/>
                <a:gd name="T82" fmla="*/ 63 w 1303"/>
                <a:gd name="T83" fmla="*/ 47 h 1327"/>
                <a:gd name="T84" fmla="*/ 58 w 1303"/>
                <a:gd name="T85" fmla="*/ 49 h 1327"/>
                <a:gd name="T86" fmla="*/ 54 w 1303"/>
                <a:gd name="T87" fmla="*/ 52 h 1327"/>
                <a:gd name="T88" fmla="*/ 50 w 1303"/>
                <a:gd name="T89" fmla="*/ 55 h 1327"/>
                <a:gd name="T90" fmla="*/ 45 w 1303"/>
                <a:gd name="T91" fmla="*/ 57 h 1327"/>
                <a:gd name="T92" fmla="*/ 41 w 1303"/>
                <a:gd name="T93" fmla="*/ 55 h 1327"/>
                <a:gd name="T94" fmla="*/ 38 w 1303"/>
                <a:gd name="T95" fmla="*/ 52 h 1327"/>
                <a:gd name="T96" fmla="*/ 34 w 1303"/>
                <a:gd name="T97" fmla="*/ 48 h 1327"/>
                <a:gd name="T98" fmla="*/ 29 w 1303"/>
                <a:gd name="T99" fmla="*/ 44 h 1327"/>
                <a:gd name="T100" fmla="*/ 24 w 1303"/>
                <a:gd name="T101" fmla="*/ 41 h 1327"/>
                <a:gd name="T102" fmla="*/ 17 w 1303"/>
                <a:gd name="T103" fmla="*/ 40 h 1327"/>
                <a:gd name="T104" fmla="*/ 11 w 1303"/>
                <a:gd name="T105" fmla="*/ 41 h 1327"/>
                <a:gd name="T106" fmla="*/ 5 w 1303"/>
                <a:gd name="T107" fmla="*/ 45 h 1327"/>
                <a:gd name="T108" fmla="*/ 1 w 1303"/>
                <a:gd name="T109" fmla="*/ 51 h 1327"/>
                <a:gd name="T110" fmla="*/ 0 w 1303"/>
                <a:gd name="T111" fmla="*/ 58 h 1327"/>
                <a:gd name="T112" fmla="*/ 0 w 1303"/>
                <a:gd name="T113" fmla="*/ 65 h 1327"/>
                <a:gd name="T114" fmla="*/ 2 w 1303"/>
                <a:gd name="T115" fmla="*/ 71 h 1327"/>
                <a:gd name="T116" fmla="*/ 3 w 1303"/>
                <a:gd name="T117" fmla="*/ 75 h 132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303" h="1327">
                  <a:moveTo>
                    <a:pt x="28" y="680"/>
                  </a:moveTo>
                  <a:lnTo>
                    <a:pt x="28" y="681"/>
                  </a:lnTo>
                  <a:lnTo>
                    <a:pt x="30" y="684"/>
                  </a:lnTo>
                  <a:lnTo>
                    <a:pt x="30" y="686"/>
                  </a:lnTo>
                  <a:lnTo>
                    <a:pt x="30" y="688"/>
                  </a:lnTo>
                  <a:lnTo>
                    <a:pt x="33" y="691"/>
                  </a:lnTo>
                  <a:lnTo>
                    <a:pt x="34" y="697"/>
                  </a:lnTo>
                  <a:lnTo>
                    <a:pt x="36" y="698"/>
                  </a:lnTo>
                  <a:lnTo>
                    <a:pt x="36" y="704"/>
                  </a:lnTo>
                  <a:lnTo>
                    <a:pt x="37" y="708"/>
                  </a:lnTo>
                  <a:lnTo>
                    <a:pt x="40" y="714"/>
                  </a:lnTo>
                  <a:lnTo>
                    <a:pt x="43" y="720"/>
                  </a:lnTo>
                  <a:lnTo>
                    <a:pt x="44" y="725"/>
                  </a:lnTo>
                  <a:lnTo>
                    <a:pt x="47" y="733"/>
                  </a:lnTo>
                  <a:lnTo>
                    <a:pt x="51" y="740"/>
                  </a:lnTo>
                  <a:lnTo>
                    <a:pt x="53" y="745"/>
                  </a:lnTo>
                  <a:lnTo>
                    <a:pt x="55" y="752"/>
                  </a:lnTo>
                  <a:lnTo>
                    <a:pt x="60" y="761"/>
                  </a:lnTo>
                  <a:lnTo>
                    <a:pt x="64" y="769"/>
                  </a:lnTo>
                  <a:lnTo>
                    <a:pt x="67" y="778"/>
                  </a:lnTo>
                  <a:lnTo>
                    <a:pt x="70" y="785"/>
                  </a:lnTo>
                  <a:lnTo>
                    <a:pt x="74" y="795"/>
                  </a:lnTo>
                  <a:lnTo>
                    <a:pt x="80" y="804"/>
                  </a:lnTo>
                  <a:lnTo>
                    <a:pt x="84" y="812"/>
                  </a:lnTo>
                  <a:lnTo>
                    <a:pt x="87" y="822"/>
                  </a:lnTo>
                  <a:lnTo>
                    <a:pt x="92" y="832"/>
                  </a:lnTo>
                  <a:lnTo>
                    <a:pt x="98" y="842"/>
                  </a:lnTo>
                  <a:lnTo>
                    <a:pt x="101" y="852"/>
                  </a:lnTo>
                  <a:lnTo>
                    <a:pt x="108" y="861"/>
                  </a:lnTo>
                  <a:lnTo>
                    <a:pt x="114" y="872"/>
                  </a:lnTo>
                  <a:lnTo>
                    <a:pt x="118" y="883"/>
                  </a:lnTo>
                  <a:lnTo>
                    <a:pt x="124" y="893"/>
                  </a:lnTo>
                  <a:lnTo>
                    <a:pt x="129" y="903"/>
                  </a:lnTo>
                  <a:lnTo>
                    <a:pt x="136" y="915"/>
                  </a:lnTo>
                  <a:lnTo>
                    <a:pt x="142" y="926"/>
                  </a:lnTo>
                  <a:lnTo>
                    <a:pt x="148" y="936"/>
                  </a:lnTo>
                  <a:lnTo>
                    <a:pt x="153" y="947"/>
                  </a:lnTo>
                  <a:lnTo>
                    <a:pt x="161" y="959"/>
                  </a:lnTo>
                  <a:lnTo>
                    <a:pt x="168" y="969"/>
                  </a:lnTo>
                  <a:lnTo>
                    <a:pt x="173" y="980"/>
                  </a:lnTo>
                  <a:lnTo>
                    <a:pt x="180" y="991"/>
                  </a:lnTo>
                  <a:lnTo>
                    <a:pt x="189" y="1003"/>
                  </a:lnTo>
                  <a:lnTo>
                    <a:pt x="196" y="1014"/>
                  </a:lnTo>
                  <a:lnTo>
                    <a:pt x="202" y="1024"/>
                  </a:lnTo>
                  <a:lnTo>
                    <a:pt x="210" y="1035"/>
                  </a:lnTo>
                  <a:lnTo>
                    <a:pt x="219" y="1047"/>
                  </a:lnTo>
                  <a:lnTo>
                    <a:pt x="226" y="1058"/>
                  </a:lnTo>
                  <a:lnTo>
                    <a:pt x="233" y="1068"/>
                  </a:lnTo>
                  <a:lnTo>
                    <a:pt x="243" y="1078"/>
                  </a:lnTo>
                  <a:lnTo>
                    <a:pt x="250" y="1091"/>
                  </a:lnTo>
                  <a:lnTo>
                    <a:pt x="260" y="1101"/>
                  </a:lnTo>
                  <a:lnTo>
                    <a:pt x="269" y="1111"/>
                  </a:lnTo>
                  <a:lnTo>
                    <a:pt x="277" y="1122"/>
                  </a:lnTo>
                  <a:lnTo>
                    <a:pt x="286" y="1131"/>
                  </a:lnTo>
                  <a:lnTo>
                    <a:pt x="296" y="1141"/>
                  </a:lnTo>
                  <a:lnTo>
                    <a:pt x="304" y="1152"/>
                  </a:lnTo>
                  <a:lnTo>
                    <a:pt x="314" y="1161"/>
                  </a:lnTo>
                  <a:lnTo>
                    <a:pt x="324" y="1171"/>
                  </a:lnTo>
                  <a:lnTo>
                    <a:pt x="333" y="1181"/>
                  </a:lnTo>
                  <a:lnTo>
                    <a:pt x="342" y="1188"/>
                  </a:lnTo>
                  <a:lnTo>
                    <a:pt x="352" y="1199"/>
                  </a:lnTo>
                  <a:lnTo>
                    <a:pt x="362" y="1206"/>
                  </a:lnTo>
                  <a:lnTo>
                    <a:pt x="372" y="1215"/>
                  </a:lnTo>
                  <a:lnTo>
                    <a:pt x="382" y="1222"/>
                  </a:lnTo>
                  <a:lnTo>
                    <a:pt x="394" y="1230"/>
                  </a:lnTo>
                  <a:lnTo>
                    <a:pt x="405" y="1237"/>
                  </a:lnTo>
                  <a:lnTo>
                    <a:pt x="415" y="1245"/>
                  </a:lnTo>
                  <a:lnTo>
                    <a:pt x="425" y="1252"/>
                  </a:lnTo>
                  <a:lnTo>
                    <a:pt x="436" y="1259"/>
                  </a:lnTo>
                  <a:lnTo>
                    <a:pt x="448" y="1264"/>
                  </a:lnTo>
                  <a:lnTo>
                    <a:pt x="459" y="1270"/>
                  </a:lnTo>
                  <a:lnTo>
                    <a:pt x="469" y="1274"/>
                  </a:lnTo>
                  <a:lnTo>
                    <a:pt x="480" y="1281"/>
                  </a:lnTo>
                  <a:lnTo>
                    <a:pt x="492" y="1286"/>
                  </a:lnTo>
                  <a:lnTo>
                    <a:pt x="504" y="1290"/>
                  </a:lnTo>
                  <a:lnTo>
                    <a:pt x="516" y="1294"/>
                  </a:lnTo>
                  <a:lnTo>
                    <a:pt x="527" y="1299"/>
                  </a:lnTo>
                  <a:lnTo>
                    <a:pt x="539" y="1301"/>
                  </a:lnTo>
                  <a:lnTo>
                    <a:pt x="551" y="1307"/>
                  </a:lnTo>
                  <a:lnTo>
                    <a:pt x="563" y="1310"/>
                  </a:lnTo>
                  <a:lnTo>
                    <a:pt x="576" y="1313"/>
                  </a:lnTo>
                  <a:lnTo>
                    <a:pt x="587" y="1316"/>
                  </a:lnTo>
                  <a:lnTo>
                    <a:pt x="600" y="1317"/>
                  </a:lnTo>
                  <a:lnTo>
                    <a:pt x="611" y="1318"/>
                  </a:lnTo>
                  <a:lnTo>
                    <a:pt x="624" y="1321"/>
                  </a:lnTo>
                  <a:lnTo>
                    <a:pt x="637" y="1323"/>
                  </a:lnTo>
                  <a:lnTo>
                    <a:pt x="648" y="1324"/>
                  </a:lnTo>
                  <a:lnTo>
                    <a:pt x="661" y="1324"/>
                  </a:lnTo>
                  <a:lnTo>
                    <a:pt x="674" y="1326"/>
                  </a:lnTo>
                  <a:lnTo>
                    <a:pt x="686" y="1327"/>
                  </a:lnTo>
                  <a:lnTo>
                    <a:pt x="698" y="1327"/>
                  </a:lnTo>
                  <a:lnTo>
                    <a:pt x="710" y="1327"/>
                  </a:lnTo>
                  <a:lnTo>
                    <a:pt x="723" y="1327"/>
                  </a:lnTo>
                  <a:lnTo>
                    <a:pt x="736" y="1326"/>
                  </a:lnTo>
                  <a:lnTo>
                    <a:pt x="749" y="1326"/>
                  </a:lnTo>
                  <a:lnTo>
                    <a:pt x="762" y="1324"/>
                  </a:lnTo>
                  <a:lnTo>
                    <a:pt x="772" y="1323"/>
                  </a:lnTo>
                  <a:lnTo>
                    <a:pt x="786" y="1321"/>
                  </a:lnTo>
                  <a:lnTo>
                    <a:pt x="799" y="1318"/>
                  </a:lnTo>
                  <a:lnTo>
                    <a:pt x="810" y="1317"/>
                  </a:lnTo>
                  <a:lnTo>
                    <a:pt x="823" y="1314"/>
                  </a:lnTo>
                  <a:lnTo>
                    <a:pt x="836" y="1311"/>
                  </a:lnTo>
                  <a:lnTo>
                    <a:pt x="848" y="1310"/>
                  </a:lnTo>
                  <a:lnTo>
                    <a:pt x="860" y="1306"/>
                  </a:lnTo>
                  <a:lnTo>
                    <a:pt x="872" y="1301"/>
                  </a:lnTo>
                  <a:lnTo>
                    <a:pt x="885" y="1299"/>
                  </a:lnTo>
                  <a:lnTo>
                    <a:pt x="897" y="1296"/>
                  </a:lnTo>
                  <a:lnTo>
                    <a:pt x="908" y="1290"/>
                  </a:lnTo>
                  <a:lnTo>
                    <a:pt x="921" y="1287"/>
                  </a:lnTo>
                  <a:lnTo>
                    <a:pt x="934" y="1281"/>
                  </a:lnTo>
                  <a:lnTo>
                    <a:pt x="945" y="1277"/>
                  </a:lnTo>
                  <a:lnTo>
                    <a:pt x="958" y="1272"/>
                  </a:lnTo>
                  <a:lnTo>
                    <a:pt x="969" y="1266"/>
                  </a:lnTo>
                  <a:lnTo>
                    <a:pt x="980" y="1262"/>
                  </a:lnTo>
                  <a:lnTo>
                    <a:pt x="992" y="1256"/>
                  </a:lnTo>
                  <a:lnTo>
                    <a:pt x="1003" y="1249"/>
                  </a:lnTo>
                  <a:lnTo>
                    <a:pt x="1016" y="1242"/>
                  </a:lnTo>
                  <a:lnTo>
                    <a:pt x="1026" y="1235"/>
                  </a:lnTo>
                  <a:lnTo>
                    <a:pt x="1039" y="1230"/>
                  </a:lnTo>
                  <a:lnTo>
                    <a:pt x="1049" y="1222"/>
                  </a:lnTo>
                  <a:lnTo>
                    <a:pt x="1060" y="1215"/>
                  </a:lnTo>
                  <a:lnTo>
                    <a:pt x="1070" y="1206"/>
                  </a:lnTo>
                  <a:lnTo>
                    <a:pt x="1081" y="1200"/>
                  </a:lnTo>
                  <a:lnTo>
                    <a:pt x="1093" y="1190"/>
                  </a:lnTo>
                  <a:lnTo>
                    <a:pt x="1103" y="1183"/>
                  </a:lnTo>
                  <a:lnTo>
                    <a:pt x="1114" y="1175"/>
                  </a:lnTo>
                  <a:lnTo>
                    <a:pt x="1125" y="1168"/>
                  </a:lnTo>
                  <a:lnTo>
                    <a:pt x="1134" y="1158"/>
                  </a:lnTo>
                  <a:lnTo>
                    <a:pt x="1144" y="1149"/>
                  </a:lnTo>
                  <a:lnTo>
                    <a:pt x="1152" y="1139"/>
                  </a:lnTo>
                  <a:lnTo>
                    <a:pt x="1162" y="1131"/>
                  </a:lnTo>
                  <a:lnTo>
                    <a:pt x="1171" y="1122"/>
                  </a:lnTo>
                  <a:lnTo>
                    <a:pt x="1179" y="1112"/>
                  </a:lnTo>
                  <a:lnTo>
                    <a:pt x="1186" y="1104"/>
                  </a:lnTo>
                  <a:lnTo>
                    <a:pt x="1195" y="1095"/>
                  </a:lnTo>
                  <a:lnTo>
                    <a:pt x="1202" y="1084"/>
                  </a:lnTo>
                  <a:lnTo>
                    <a:pt x="1209" y="1075"/>
                  </a:lnTo>
                  <a:lnTo>
                    <a:pt x="1215" y="1067"/>
                  </a:lnTo>
                  <a:lnTo>
                    <a:pt x="1223" y="1057"/>
                  </a:lnTo>
                  <a:lnTo>
                    <a:pt x="1229" y="1047"/>
                  </a:lnTo>
                  <a:lnTo>
                    <a:pt x="1235" y="1038"/>
                  </a:lnTo>
                  <a:lnTo>
                    <a:pt x="1240" y="1028"/>
                  </a:lnTo>
                  <a:lnTo>
                    <a:pt x="1246" y="1018"/>
                  </a:lnTo>
                  <a:lnTo>
                    <a:pt x="1252" y="1008"/>
                  </a:lnTo>
                  <a:lnTo>
                    <a:pt x="1256" y="998"/>
                  </a:lnTo>
                  <a:lnTo>
                    <a:pt x="1260" y="989"/>
                  </a:lnTo>
                  <a:lnTo>
                    <a:pt x="1266" y="979"/>
                  </a:lnTo>
                  <a:lnTo>
                    <a:pt x="1269" y="969"/>
                  </a:lnTo>
                  <a:lnTo>
                    <a:pt x="1273" y="960"/>
                  </a:lnTo>
                  <a:lnTo>
                    <a:pt x="1276" y="949"/>
                  </a:lnTo>
                  <a:lnTo>
                    <a:pt x="1282" y="940"/>
                  </a:lnTo>
                  <a:lnTo>
                    <a:pt x="1283" y="929"/>
                  </a:lnTo>
                  <a:lnTo>
                    <a:pt x="1286" y="919"/>
                  </a:lnTo>
                  <a:lnTo>
                    <a:pt x="1289" y="907"/>
                  </a:lnTo>
                  <a:lnTo>
                    <a:pt x="1292" y="899"/>
                  </a:lnTo>
                  <a:lnTo>
                    <a:pt x="1293" y="888"/>
                  </a:lnTo>
                  <a:lnTo>
                    <a:pt x="1296" y="879"/>
                  </a:lnTo>
                  <a:lnTo>
                    <a:pt x="1297" y="868"/>
                  </a:lnTo>
                  <a:lnTo>
                    <a:pt x="1299" y="858"/>
                  </a:lnTo>
                  <a:lnTo>
                    <a:pt x="1300" y="848"/>
                  </a:lnTo>
                  <a:lnTo>
                    <a:pt x="1300" y="836"/>
                  </a:lnTo>
                  <a:lnTo>
                    <a:pt x="1302" y="826"/>
                  </a:lnTo>
                  <a:lnTo>
                    <a:pt x="1303" y="816"/>
                  </a:lnTo>
                  <a:lnTo>
                    <a:pt x="1303" y="805"/>
                  </a:lnTo>
                  <a:lnTo>
                    <a:pt x="1303" y="795"/>
                  </a:lnTo>
                  <a:lnTo>
                    <a:pt x="1303" y="784"/>
                  </a:lnTo>
                  <a:lnTo>
                    <a:pt x="1303" y="774"/>
                  </a:lnTo>
                  <a:lnTo>
                    <a:pt x="1303" y="764"/>
                  </a:lnTo>
                  <a:lnTo>
                    <a:pt x="1303" y="752"/>
                  </a:lnTo>
                  <a:lnTo>
                    <a:pt x="1302" y="742"/>
                  </a:lnTo>
                  <a:lnTo>
                    <a:pt x="1302" y="733"/>
                  </a:lnTo>
                  <a:lnTo>
                    <a:pt x="1300" y="721"/>
                  </a:lnTo>
                  <a:lnTo>
                    <a:pt x="1300" y="711"/>
                  </a:lnTo>
                  <a:lnTo>
                    <a:pt x="1299" y="701"/>
                  </a:lnTo>
                  <a:lnTo>
                    <a:pt x="1297" y="691"/>
                  </a:lnTo>
                  <a:lnTo>
                    <a:pt x="1296" y="680"/>
                  </a:lnTo>
                  <a:lnTo>
                    <a:pt x="1294" y="669"/>
                  </a:lnTo>
                  <a:lnTo>
                    <a:pt x="1293" y="659"/>
                  </a:lnTo>
                  <a:lnTo>
                    <a:pt x="1290" y="649"/>
                  </a:lnTo>
                  <a:lnTo>
                    <a:pt x="1289" y="637"/>
                  </a:lnTo>
                  <a:lnTo>
                    <a:pt x="1287" y="627"/>
                  </a:lnTo>
                  <a:lnTo>
                    <a:pt x="1285" y="616"/>
                  </a:lnTo>
                  <a:lnTo>
                    <a:pt x="1283" y="607"/>
                  </a:lnTo>
                  <a:lnTo>
                    <a:pt x="1280" y="596"/>
                  </a:lnTo>
                  <a:lnTo>
                    <a:pt x="1277" y="586"/>
                  </a:lnTo>
                  <a:lnTo>
                    <a:pt x="1275" y="576"/>
                  </a:lnTo>
                  <a:lnTo>
                    <a:pt x="1272" y="566"/>
                  </a:lnTo>
                  <a:lnTo>
                    <a:pt x="1269" y="555"/>
                  </a:lnTo>
                  <a:lnTo>
                    <a:pt x="1266" y="545"/>
                  </a:lnTo>
                  <a:lnTo>
                    <a:pt x="1263" y="533"/>
                  </a:lnTo>
                  <a:lnTo>
                    <a:pt x="1260" y="525"/>
                  </a:lnTo>
                  <a:lnTo>
                    <a:pt x="1256" y="515"/>
                  </a:lnTo>
                  <a:lnTo>
                    <a:pt x="1253" y="504"/>
                  </a:lnTo>
                  <a:lnTo>
                    <a:pt x="1250" y="494"/>
                  </a:lnTo>
                  <a:lnTo>
                    <a:pt x="1246" y="484"/>
                  </a:lnTo>
                  <a:lnTo>
                    <a:pt x="1243" y="474"/>
                  </a:lnTo>
                  <a:lnTo>
                    <a:pt x="1239" y="464"/>
                  </a:lnTo>
                  <a:lnTo>
                    <a:pt x="1236" y="452"/>
                  </a:lnTo>
                  <a:lnTo>
                    <a:pt x="1233" y="442"/>
                  </a:lnTo>
                  <a:lnTo>
                    <a:pt x="1229" y="432"/>
                  </a:lnTo>
                  <a:lnTo>
                    <a:pt x="1226" y="422"/>
                  </a:lnTo>
                  <a:lnTo>
                    <a:pt x="1222" y="413"/>
                  </a:lnTo>
                  <a:lnTo>
                    <a:pt x="1219" y="403"/>
                  </a:lnTo>
                  <a:lnTo>
                    <a:pt x="1213" y="393"/>
                  </a:lnTo>
                  <a:lnTo>
                    <a:pt x="1212" y="383"/>
                  </a:lnTo>
                  <a:lnTo>
                    <a:pt x="1208" y="373"/>
                  </a:lnTo>
                  <a:lnTo>
                    <a:pt x="1205" y="364"/>
                  </a:lnTo>
                  <a:lnTo>
                    <a:pt x="1201" y="354"/>
                  </a:lnTo>
                  <a:lnTo>
                    <a:pt x="1196" y="343"/>
                  </a:lnTo>
                  <a:lnTo>
                    <a:pt x="1192" y="334"/>
                  </a:lnTo>
                  <a:lnTo>
                    <a:pt x="1188" y="326"/>
                  </a:lnTo>
                  <a:lnTo>
                    <a:pt x="1185" y="316"/>
                  </a:lnTo>
                  <a:lnTo>
                    <a:pt x="1181" y="306"/>
                  </a:lnTo>
                  <a:lnTo>
                    <a:pt x="1178" y="297"/>
                  </a:lnTo>
                  <a:lnTo>
                    <a:pt x="1174" y="287"/>
                  </a:lnTo>
                  <a:lnTo>
                    <a:pt x="1169" y="279"/>
                  </a:lnTo>
                  <a:lnTo>
                    <a:pt x="1165" y="270"/>
                  </a:lnTo>
                  <a:lnTo>
                    <a:pt x="1161" y="260"/>
                  </a:lnTo>
                  <a:lnTo>
                    <a:pt x="1157" y="252"/>
                  </a:lnTo>
                  <a:lnTo>
                    <a:pt x="1152" y="243"/>
                  </a:lnTo>
                  <a:lnTo>
                    <a:pt x="1148" y="235"/>
                  </a:lnTo>
                  <a:lnTo>
                    <a:pt x="1144" y="226"/>
                  </a:lnTo>
                  <a:lnTo>
                    <a:pt x="1140" y="219"/>
                  </a:lnTo>
                  <a:lnTo>
                    <a:pt x="1135" y="209"/>
                  </a:lnTo>
                  <a:lnTo>
                    <a:pt x="1131" y="202"/>
                  </a:lnTo>
                  <a:lnTo>
                    <a:pt x="1127" y="193"/>
                  </a:lnTo>
                  <a:lnTo>
                    <a:pt x="1123" y="185"/>
                  </a:lnTo>
                  <a:lnTo>
                    <a:pt x="1117" y="178"/>
                  </a:lnTo>
                  <a:lnTo>
                    <a:pt x="1113" y="171"/>
                  </a:lnTo>
                  <a:lnTo>
                    <a:pt x="1107" y="162"/>
                  </a:lnTo>
                  <a:lnTo>
                    <a:pt x="1103" y="155"/>
                  </a:lnTo>
                  <a:lnTo>
                    <a:pt x="1098" y="148"/>
                  </a:lnTo>
                  <a:lnTo>
                    <a:pt x="1094" y="141"/>
                  </a:lnTo>
                  <a:lnTo>
                    <a:pt x="1088" y="134"/>
                  </a:lnTo>
                  <a:lnTo>
                    <a:pt x="1083" y="127"/>
                  </a:lnTo>
                  <a:lnTo>
                    <a:pt x="1078" y="120"/>
                  </a:lnTo>
                  <a:lnTo>
                    <a:pt x="1073" y="114"/>
                  </a:lnTo>
                  <a:lnTo>
                    <a:pt x="1067" y="107"/>
                  </a:lnTo>
                  <a:lnTo>
                    <a:pt x="1064" y="101"/>
                  </a:lnTo>
                  <a:lnTo>
                    <a:pt x="1057" y="95"/>
                  </a:lnTo>
                  <a:lnTo>
                    <a:pt x="1052" y="90"/>
                  </a:lnTo>
                  <a:lnTo>
                    <a:pt x="1047" y="84"/>
                  </a:lnTo>
                  <a:lnTo>
                    <a:pt x="1042" y="78"/>
                  </a:lnTo>
                  <a:lnTo>
                    <a:pt x="1036" y="73"/>
                  </a:lnTo>
                  <a:lnTo>
                    <a:pt x="1030" y="67"/>
                  </a:lnTo>
                  <a:lnTo>
                    <a:pt x="1025" y="63"/>
                  </a:lnTo>
                  <a:lnTo>
                    <a:pt x="1019" y="57"/>
                  </a:lnTo>
                  <a:lnTo>
                    <a:pt x="1013" y="53"/>
                  </a:lnTo>
                  <a:lnTo>
                    <a:pt x="1007" y="47"/>
                  </a:lnTo>
                  <a:lnTo>
                    <a:pt x="1000" y="44"/>
                  </a:lnTo>
                  <a:lnTo>
                    <a:pt x="995" y="40"/>
                  </a:lnTo>
                  <a:lnTo>
                    <a:pt x="989" y="37"/>
                  </a:lnTo>
                  <a:lnTo>
                    <a:pt x="983" y="33"/>
                  </a:lnTo>
                  <a:lnTo>
                    <a:pt x="978" y="30"/>
                  </a:lnTo>
                  <a:lnTo>
                    <a:pt x="971" y="27"/>
                  </a:lnTo>
                  <a:lnTo>
                    <a:pt x="963" y="23"/>
                  </a:lnTo>
                  <a:lnTo>
                    <a:pt x="958" y="20"/>
                  </a:lnTo>
                  <a:lnTo>
                    <a:pt x="952" y="17"/>
                  </a:lnTo>
                  <a:lnTo>
                    <a:pt x="945" y="14"/>
                  </a:lnTo>
                  <a:lnTo>
                    <a:pt x="939" y="13"/>
                  </a:lnTo>
                  <a:lnTo>
                    <a:pt x="932" y="10"/>
                  </a:lnTo>
                  <a:lnTo>
                    <a:pt x="926" y="9"/>
                  </a:lnTo>
                  <a:lnTo>
                    <a:pt x="922" y="7"/>
                  </a:lnTo>
                  <a:lnTo>
                    <a:pt x="915" y="6"/>
                  </a:lnTo>
                  <a:lnTo>
                    <a:pt x="909" y="4"/>
                  </a:lnTo>
                  <a:lnTo>
                    <a:pt x="904" y="3"/>
                  </a:lnTo>
                  <a:lnTo>
                    <a:pt x="899" y="3"/>
                  </a:lnTo>
                  <a:lnTo>
                    <a:pt x="892" y="0"/>
                  </a:lnTo>
                  <a:lnTo>
                    <a:pt x="887" y="0"/>
                  </a:lnTo>
                  <a:lnTo>
                    <a:pt x="882" y="0"/>
                  </a:lnTo>
                  <a:lnTo>
                    <a:pt x="878" y="0"/>
                  </a:lnTo>
                  <a:lnTo>
                    <a:pt x="872" y="0"/>
                  </a:lnTo>
                  <a:lnTo>
                    <a:pt x="867" y="0"/>
                  </a:lnTo>
                  <a:lnTo>
                    <a:pt x="863" y="0"/>
                  </a:lnTo>
                  <a:lnTo>
                    <a:pt x="858" y="0"/>
                  </a:lnTo>
                  <a:lnTo>
                    <a:pt x="853" y="0"/>
                  </a:lnTo>
                  <a:lnTo>
                    <a:pt x="848" y="1"/>
                  </a:lnTo>
                  <a:lnTo>
                    <a:pt x="845" y="3"/>
                  </a:lnTo>
                  <a:lnTo>
                    <a:pt x="841" y="4"/>
                  </a:lnTo>
                  <a:lnTo>
                    <a:pt x="836" y="4"/>
                  </a:lnTo>
                  <a:lnTo>
                    <a:pt x="831" y="6"/>
                  </a:lnTo>
                  <a:lnTo>
                    <a:pt x="827" y="7"/>
                  </a:lnTo>
                  <a:lnTo>
                    <a:pt x="824" y="9"/>
                  </a:lnTo>
                  <a:lnTo>
                    <a:pt x="818" y="10"/>
                  </a:lnTo>
                  <a:lnTo>
                    <a:pt x="817" y="11"/>
                  </a:lnTo>
                  <a:lnTo>
                    <a:pt x="811" y="13"/>
                  </a:lnTo>
                  <a:lnTo>
                    <a:pt x="809" y="16"/>
                  </a:lnTo>
                  <a:lnTo>
                    <a:pt x="806" y="17"/>
                  </a:lnTo>
                  <a:lnTo>
                    <a:pt x="801" y="20"/>
                  </a:lnTo>
                  <a:lnTo>
                    <a:pt x="799" y="23"/>
                  </a:lnTo>
                  <a:lnTo>
                    <a:pt x="796" y="26"/>
                  </a:lnTo>
                  <a:lnTo>
                    <a:pt x="793" y="29"/>
                  </a:lnTo>
                  <a:lnTo>
                    <a:pt x="789" y="31"/>
                  </a:lnTo>
                  <a:lnTo>
                    <a:pt x="786" y="34"/>
                  </a:lnTo>
                  <a:lnTo>
                    <a:pt x="783" y="37"/>
                  </a:lnTo>
                  <a:lnTo>
                    <a:pt x="780" y="40"/>
                  </a:lnTo>
                  <a:lnTo>
                    <a:pt x="777" y="43"/>
                  </a:lnTo>
                  <a:lnTo>
                    <a:pt x="774" y="46"/>
                  </a:lnTo>
                  <a:lnTo>
                    <a:pt x="773" y="50"/>
                  </a:lnTo>
                  <a:lnTo>
                    <a:pt x="770" y="53"/>
                  </a:lnTo>
                  <a:lnTo>
                    <a:pt x="769" y="57"/>
                  </a:lnTo>
                  <a:lnTo>
                    <a:pt x="767" y="60"/>
                  </a:lnTo>
                  <a:lnTo>
                    <a:pt x="764" y="64"/>
                  </a:lnTo>
                  <a:lnTo>
                    <a:pt x="763" y="68"/>
                  </a:lnTo>
                  <a:lnTo>
                    <a:pt x="762" y="71"/>
                  </a:lnTo>
                  <a:lnTo>
                    <a:pt x="759" y="75"/>
                  </a:lnTo>
                  <a:lnTo>
                    <a:pt x="757" y="80"/>
                  </a:lnTo>
                  <a:lnTo>
                    <a:pt x="756" y="84"/>
                  </a:lnTo>
                  <a:lnTo>
                    <a:pt x="755" y="88"/>
                  </a:lnTo>
                  <a:lnTo>
                    <a:pt x="753" y="91"/>
                  </a:lnTo>
                  <a:lnTo>
                    <a:pt x="753" y="97"/>
                  </a:lnTo>
                  <a:lnTo>
                    <a:pt x="752" y="101"/>
                  </a:lnTo>
                  <a:lnTo>
                    <a:pt x="750" y="107"/>
                  </a:lnTo>
                  <a:lnTo>
                    <a:pt x="749" y="111"/>
                  </a:lnTo>
                  <a:lnTo>
                    <a:pt x="749" y="115"/>
                  </a:lnTo>
                  <a:lnTo>
                    <a:pt x="749" y="120"/>
                  </a:lnTo>
                  <a:lnTo>
                    <a:pt x="749" y="124"/>
                  </a:lnTo>
                  <a:lnTo>
                    <a:pt x="749" y="128"/>
                  </a:lnTo>
                  <a:lnTo>
                    <a:pt x="749" y="135"/>
                  </a:lnTo>
                  <a:lnTo>
                    <a:pt x="747" y="138"/>
                  </a:lnTo>
                  <a:lnTo>
                    <a:pt x="747" y="144"/>
                  </a:lnTo>
                  <a:lnTo>
                    <a:pt x="747" y="148"/>
                  </a:lnTo>
                  <a:lnTo>
                    <a:pt x="747" y="152"/>
                  </a:lnTo>
                  <a:lnTo>
                    <a:pt x="747" y="157"/>
                  </a:lnTo>
                  <a:lnTo>
                    <a:pt x="747" y="162"/>
                  </a:lnTo>
                  <a:lnTo>
                    <a:pt x="747" y="166"/>
                  </a:lnTo>
                  <a:lnTo>
                    <a:pt x="747" y="171"/>
                  </a:lnTo>
                  <a:lnTo>
                    <a:pt x="747" y="175"/>
                  </a:lnTo>
                  <a:lnTo>
                    <a:pt x="747" y="178"/>
                  </a:lnTo>
                  <a:lnTo>
                    <a:pt x="749" y="182"/>
                  </a:lnTo>
                  <a:lnTo>
                    <a:pt x="749" y="188"/>
                  </a:lnTo>
                  <a:lnTo>
                    <a:pt x="749" y="191"/>
                  </a:lnTo>
                  <a:lnTo>
                    <a:pt x="749" y="195"/>
                  </a:lnTo>
                  <a:lnTo>
                    <a:pt x="750" y="199"/>
                  </a:lnTo>
                  <a:lnTo>
                    <a:pt x="750" y="203"/>
                  </a:lnTo>
                  <a:lnTo>
                    <a:pt x="750" y="206"/>
                  </a:lnTo>
                  <a:lnTo>
                    <a:pt x="752" y="209"/>
                  </a:lnTo>
                  <a:lnTo>
                    <a:pt x="752" y="215"/>
                  </a:lnTo>
                  <a:lnTo>
                    <a:pt x="752" y="218"/>
                  </a:lnTo>
                  <a:lnTo>
                    <a:pt x="752" y="221"/>
                  </a:lnTo>
                  <a:lnTo>
                    <a:pt x="752" y="225"/>
                  </a:lnTo>
                  <a:lnTo>
                    <a:pt x="753" y="228"/>
                  </a:lnTo>
                  <a:lnTo>
                    <a:pt x="755" y="232"/>
                  </a:lnTo>
                  <a:lnTo>
                    <a:pt x="755" y="235"/>
                  </a:lnTo>
                  <a:lnTo>
                    <a:pt x="755" y="239"/>
                  </a:lnTo>
                  <a:lnTo>
                    <a:pt x="755" y="243"/>
                  </a:lnTo>
                  <a:lnTo>
                    <a:pt x="756" y="246"/>
                  </a:lnTo>
                  <a:lnTo>
                    <a:pt x="756" y="249"/>
                  </a:lnTo>
                  <a:lnTo>
                    <a:pt x="757" y="252"/>
                  </a:lnTo>
                  <a:lnTo>
                    <a:pt x="757" y="255"/>
                  </a:lnTo>
                  <a:lnTo>
                    <a:pt x="759" y="259"/>
                  </a:lnTo>
                  <a:lnTo>
                    <a:pt x="759" y="260"/>
                  </a:lnTo>
                  <a:lnTo>
                    <a:pt x="760" y="265"/>
                  </a:lnTo>
                  <a:lnTo>
                    <a:pt x="760" y="266"/>
                  </a:lnTo>
                  <a:lnTo>
                    <a:pt x="762" y="270"/>
                  </a:lnTo>
                  <a:lnTo>
                    <a:pt x="762" y="272"/>
                  </a:lnTo>
                  <a:lnTo>
                    <a:pt x="762" y="275"/>
                  </a:lnTo>
                  <a:lnTo>
                    <a:pt x="762" y="277"/>
                  </a:lnTo>
                  <a:lnTo>
                    <a:pt x="763" y="280"/>
                  </a:lnTo>
                  <a:lnTo>
                    <a:pt x="764" y="286"/>
                  </a:lnTo>
                  <a:lnTo>
                    <a:pt x="764" y="290"/>
                  </a:lnTo>
                  <a:lnTo>
                    <a:pt x="766" y="296"/>
                  </a:lnTo>
                  <a:lnTo>
                    <a:pt x="767" y="300"/>
                  </a:lnTo>
                  <a:lnTo>
                    <a:pt x="767" y="304"/>
                  </a:lnTo>
                  <a:lnTo>
                    <a:pt x="767" y="309"/>
                  </a:lnTo>
                  <a:lnTo>
                    <a:pt x="769" y="313"/>
                  </a:lnTo>
                  <a:lnTo>
                    <a:pt x="769" y="317"/>
                  </a:lnTo>
                  <a:lnTo>
                    <a:pt x="769" y="320"/>
                  </a:lnTo>
                  <a:lnTo>
                    <a:pt x="769" y="324"/>
                  </a:lnTo>
                  <a:lnTo>
                    <a:pt x="769" y="327"/>
                  </a:lnTo>
                  <a:lnTo>
                    <a:pt x="770" y="331"/>
                  </a:lnTo>
                  <a:lnTo>
                    <a:pt x="767" y="333"/>
                  </a:lnTo>
                  <a:lnTo>
                    <a:pt x="767" y="337"/>
                  </a:lnTo>
                  <a:lnTo>
                    <a:pt x="764" y="339"/>
                  </a:lnTo>
                  <a:lnTo>
                    <a:pt x="762" y="341"/>
                  </a:lnTo>
                  <a:lnTo>
                    <a:pt x="757" y="344"/>
                  </a:lnTo>
                  <a:lnTo>
                    <a:pt x="753" y="347"/>
                  </a:lnTo>
                  <a:lnTo>
                    <a:pt x="749" y="350"/>
                  </a:lnTo>
                  <a:lnTo>
                    <a:pt x="743" y="354"/>
                  </a:lnTo>
                  <a:lnTo>
                    <a:pt x="740" y="356"/>
                  </a:lnTo>
                  <a:lnTo>
                    <a:pt x="737" y="356"/>
                  </a:lnTo>
                  <a:lnTo>
                    <a:pt x="735" y="358"/>
                  </a:lnTo>
                  <a:lnTo>
                    <a:pt x="730" y="360"/>
                  </a:lnTo>
                  <a:lnTo>
                    <a:pt x="728" y="361"/>
                  </a:lnTo>
                  <a:lnTo>
                    <a:pt x="723" y="363"/>
                  </a:lnTo>
                  <a:lnTo>
                    <a:pt x="720" y="364"/>
                  </a:lnTo>
                  <a:lnTo>
                    <a:pt x="716" y="366"/>
                  </a:lnTo>
                  <a:lnTo>
                    <a:pt x="712" y="367"/>
                  </a:lnTo>
                  <a:lnTo>
                    <a:pt x="709" y="368"/>
                  </a:lnTo>
                  <a:lnTo>
                    <a:pt x="705" y="370"/>
                  </a:lnTo>
                  <a:lnTo>
                    <a:pt x="701" y="371"/>
                  </a:lnTo>
                  <a:lnTo>
                    <a:pt x="696" y="373"/>
                  </a:lnTo>
                  <a:lnTo>
                    <a:pt x="692" y="374"/>
                  </a:lnTo>
                  <a:lnTo>
                    <a:pt x="689" y="376"/>
                  </a:lnTo>
                  <a:lnTo>
                    <a:pt x="683" y="378"/>
                  </a:lnTo>
                  <a:lnTo>
                    <a:pt x="679" y="380"/>
                  </a:lnTo>
                  <a:lnTo>
                    <a:pt x="674" y="381"/>
                  </a:lnTo>
                  <a:lnTo>
                    <a:pt x="669" y="383"/>
                  </a:lnTo>
                  <a:lnTo>
                    <a:pt x="665" y="384"/>
                  </a:lnTo>
                  <a:lnTo>
                    <a:pt x="659" y="385"/>
                  </a:lnTo>
                  <a:lnTo>
                    <a:pt x="655" y="387"/>
                  </a:lnTo>
                  <a:lnTo>
                    <a:pt x="652" y="388"/>
                  </a:lnTo>
                  <a:lnTo>
                    <a:pt x="647" y="390"/>
                  </a:lnTo>
                  <a:lnTo>
                    <a:pt x="642" y="391"/>
                  </a:lnTo>
                  <a:lnTo>
                    <a:pt x="637" y="393"/>
                  </a:lnTo>
                  <a:lnTo>
                    <a:pt x="631" y="394"/>
                  </a:lnTo>
                  <a:lnTo>
                    <a:pt x="628" y="395"/>
                  </a:lnTo>
                  <a:lnTo>
                    <a:pt x="621" y="398"/>
                  </a:lnTo>
                  <a:lnTo>
                    <a:pt x="617" y="400"/>
                  </a:lnTo>
                  <a:lnTo>
                    <a:pt x="612" y="401"/>
                  </a:lnTo>
                  <a:lnTo>
                    <a:pt x="607" y="404"/>
                  </a:lnTo>
                  <a:lnTo>
                    <a:pt x="602" y="405"/>
                  </a:lnTo>
                  <a:lnTo>
                    <a:pt x="598" y="408"/>
                  </a:lnTo>
                  <a:lnTo>
                    <a:pt x="593" y="410"/>
                  </a:lnTo>
                  <a:lnTo>
                    <a:pt x="588" y="411"/>
                  </a:lnTo>
                  <a:lnTo>
                    <a:pt x="583" y="414"/>
                  </a:lnTo>
                  <a:lnTo>
                    <a:pt x="578" y="415"/>
                  </a:lnTo>
                  <a:lnTo>
                    <a:pt x="573" y="417"/>
                  </a:lnTo>
                  <a:lnTo>
                    <a:pt x="568" y="418"/>
                  </a:lnTo>
                  <a:lnTo>
                    <a:pt x="563" y="421"/>
                  </a:lnTo>
                  <a:lnTo>
                    <a:pt x="558" y="422"/>
                  </a:lnTo>
                  <a:lnTo>
                    <a:pt x="554" y="424"/>
                  </a:lnTo>
                  <a:lnTo>
                    <a:pt x="550" y="427"/>
                  </a:lnTo>
                  <a:lnTo>
                    <a:pt x="546" y="430"/>
                  </a:lnTo>
                  <a:lnTo>
                    <a:pt x="541" y="432"/>
                  </a:lnTo>
                  <a:lnTo>
                    <a:pt x="537" y="434"/>
                  </a:lnTo>
                  <a:lnTo>
                    <a:pt x="533" y="437"/>
                  </a:lnTo>
                  <a:lnTo>
                    <a:pt x="529" y="438"/>
                  </a:lnTo>
                  <a:lnTo>
                    <a:pt x="524" y="441"/>
                  </a:lnTo>
                  <a:lnTo>
                    <a:pt x="520" y="442"/>
                  </a:lnTo>
                  <a:lnTo>
                    <a:pt x="516" y="445"/>
                  </a:lnTo>
                  <a:lnTo>
                    <a:pt x="512" y="448"/>
                  </a:lnTo>
                  <a:lnTo>
                    <a:pt x="507" y="449"/>
                  </a:lnTo>
                  <a:lnTo>
                    <a:pt x="503" y="452"/>
                  </a:lnTo>
                  <a:lnTo>
                    <a:pt x="500" y="454"/>
                  </a:lnTo>
                  <a:lnTo>
                    <a:pt x="496" y="455"/>
                  </a:lnTo>
                  <a:lnTo>
                    <a:pt x="492" y="458"/>
                  </a:lnTo>
                  <a:lnTo>
                    <a:pt x="490" y="461"/>
                  </a:lnTo>
                  <a:lnTo>
                    <a:pt x="487" y="464"/>
                  </a:lnTo>
                  <a:lnTo>
                    <a:pt x="482" y="465"/>
                  </a:lnTo>
                  <a:lnTo>
                    <a:pt x="479" y="468"/>
                  </a:lnTo>
                  <a:lnTo>
                    <a:pt x="477" y="471"/>
                  </a:lnTo>
                  <a:lnTo>
                    <a:pt x="475" y="474"/>
                  </a:lnTo>
                  <a:lnTo>
                    <a:pt x="472" y="474"/>
                  </a:lnTo>
                  <a:lnTo>
                    <a:pt x="469" y="477"/>
                  </a:lnTo>
                  <a:lnTo>
                    <a:pt x="466" y="478"/>
                  </a:lnTo>
                  <a:lnTo>
                    <a:pt x="463" y="481"/>
                  </a:lnTo>
                  <a:lnTo>
                    <a:pt x="456" y="485"/>
                  </a:lnTo>
                  <a:lnTo>
                    <a:pt x="452" y="489"/>
                  </a:lnTo>
                  <a:lnTo>
                    <a:pt x="448" y="492"/>
                  </a:lnTo>
                  <a:lnTo>
                    <a:pt x="443" y="496"/>
                  </a:lnTo>
                  <a:lnTo>
                    <a:pt x="438" y="499"/>
                  </a:lnTo>
                  <a:lnTo>
                    <a:pt x="435" y="502"/>
                  </a:lnTo>
                  <a:lnTo>
                    <a:pt x="429" y="505"/>
                  </a:lnTo>
                  <a:lnTo>
                    <a:pt x="425" y="508"/>
                  </a:lnTo>
                  <a:lnTo>
                    <a:pt x="421" y="508"/>
                  </a:lnTo>
                  <a:lnTo>
                    <a:pt x="418" y="511"/>
                  </a:lnTo>
                  <a:lnTo>
                    <a:pt x="414" y="512"/>
                  </a:lnTo>
                  <a:lnTo>
                    <a:pt x="409" y="513"/>
                  </a:lnTo>
                  <a:lnTo>
                    <a:pt x="406" y="515"/>
                  </a:lnTo>
                  <a:lnTo>
                    <a:pt x="401" y="515"/>
                  </a:lnTo>
                  <a:lnTo>
                    <a:pt x="398" y="513"/>
                  </a:lnTo>
                  <a:lnTo>
                    <a:pt x="394" y="513"/>
                  </a:lnTo>
                  <a:lnTo>
                    <a:pt x="389" y="511"/>
                  </a:lnTo>
                  <a:lnTo>
                    <a:pt x="387" y="509"/>
                  </a:lnTo>
                  <a:lnTo>
                    <a:pt x="382" y="506"/>
                  </a:lnTo>
                  <a:lnTo>
                    <a:pt x="378" y="505"/>
                  </a:lnTo>
                  <a:lnTo>
                    <a:pt x="374" y="501"/>
                  </a:lnTo>
                  <a:lnTo>
                    <a:pt x="369" y="498"/>
                  </a:lnTo>
                  <a:lnTo>
                    <a:pt x="367" y="495"/>
                  </a:lnTo>
                  <a:lnTo>
                    <a:pt x="364" y="492"/>
                  </a:lnTo>
                  <a:lnTo>
                    <a:pt x="362" y="489"/>
                  </a:lnTo>
                  <a:lnTo>
                    <a:pt x="360" y="486"/>
                  </a:lnTo>
                  <a:lnTo>
                    <a:pt x="357" y="484"/>
                  </a:lnTo>
                  <a:lnTo>
                    <a:pt x="354" y="479"/>
                  </a:lnTo>
                  <a:lnTo>
                    <a:pt x="351" y="477"/>
                  </a:lnTo>
                  <a:lnTo>
                    <a:pt x="348" y="475"/>
                  </a:lnTo>
                  <a:lnTo>
                    <a:pt x="345" y="471"/>
                  </a:lnTo>
                  <a:lnTo>
                    <a:pt x="342" y="468"/>
                  </a:lnTo>
                  <a:lnTo>
                    <a:pt x="340" y="464"/>
                  </a:lnTo>
                  <a:lnTo>
                    <a:pt x="335" y="461"/>
                  </a:lnTo>
                  <a:lnTo>
                    <a:pt x="333" y="457"/>
                  </a:lnTo>
                  <a:lnTo>
                    <a:pt x="330" y="454"/>
                  </a:lnTo>
                  <a:lnTo>
                    <a:pt x="327" y="451"/>
                  </a:lnTo>
                  <a:lnTo>
                    <a:pt x="324" y="448"/>
                  </a:lnTo>
                  <a:lnTo>
                    <a:pt x="318" y="444"/>
                  </a:lnTo>
                  <a:lnTo>
                    <a:pt x="315" y="440"/>
                  </a:lnTo>
                  <a:lnTo>
                    <a:pt x="311" y="437"/>
                  </a:lnTo>
                  <a:lnTo>
                    <a:pt x="308" y="432"/>
                  </a:lnTo>
                  <a:lnTo>
                    <a:pt x="304" y="428"/>
                  </a:lnTo>
                  <a:lnTo>
                    <a:pt x="300" y="424"/>
                  </a:lnTo>
                  <a:lnTo>
                    <a:pt x="296" y="421"/>
                  </a:lnTo>
                  <a:lnTo>
                    <a:pt x="291" y="418"/>
                  </a:lnTo>
                  <a:lnTo>
                    <a:pt x="287" y="414"/>
                  </a:lnTo>
                  <a:lnTo>
                    <a:pt x="283" y="411"/>
                  </a:lnTo>
                  <a:lnTo>
                    <a:pt x="279" y="408"/>
                  </a:lnTo>
                  <a:lnTo>
                    <a:pt x="276" y="404"/>
                  </a:lnTo>
                  <a:lnTo>
                    <a:pt x="270" y="401"/>
                  </a:lnTo>
                  <a:lnTo>
                    <a:pt x="266" y="397"/>
                  </a:lnTo>
                  <a:lnTo>
                    <a:pt x="261" y="394"/>
                  </a:lnTo>
                  <a:lnTo>
                    <a:pt x="257" y="391"/>
                  </a:lnTo>
                  <a:lnTo>
                    <a:pt x="252" y="387"/>
                  </a:lnTo>
                  <a:lnTo>
                    <a:pt x="247" y="384"/>
                  </a:lnTo>
                  <a:lnTo>
                    <a:pt x="242" y="381"/>
                  </a:lnTo>
                  <a:lnTo>
                    <a:pt x="237" y="380"/>
                  </a:lnTo>
                  <a:lnTo>
                    <a:pt x="232" y="376"/>
                  </a:lnTo>
                  <a:lnTo>
                    <a:pt x="227" y="373"/>
                  </a:lnTo>
                  <a:lnTo>
                    <a:pt x="223" y="371"/>
                  </a:lnTo>
                  <a:lnTo>
                    <a:pt x="217" y="370"/>
                  </a:lnTo>
                  <a:lnTo>
                    <a:pt x="212" y="367"/>
                  </a:lnTo>
                  <a:lnTo>
                    <a:pt x="207" y="364"/>
                  </a:lnTo>
                  <a:lnTo>
                    <a:pt x="202" y="364"/>
                  </a:lnTo>
                  <a:lnTo>
                    <a:pt x="196" y="361"/>
                  </a:lnTo>
                  <a:lnTo>
                    <a:pt x="192" y="361"/>
                  </a:lnTo>
                  <a:lnTo>
                    <a:pt x="185" y="358"/>
                  </a:lnTo>
                  <a:lnTo>
                    <a:pt x="179" y="358"/>
                  </a:lnTo>
                  <a:lnTo>
                    <a:pt x="175" y="357"/>
                  </a:lnTo>
                  <a:lnTo>
                    <a:pt x="168" y="356"/>
                  </a:lnTo>
                  <a:lnTo>
                    <a:pt x="163" y="356"/>
                  </a:lnTo>
                  <a:lnTo>
                    <a:pt x="156" y="356"/>
                  </a:lnTo>
                  <a:lnTo>
                    <a:pt x="151" y="356"/>
                  </a:lnTo>
                  <a:lnTo>
                    <a:pt x="145" y="356"/>
                  </a:lnTo>
                  <a:lnTo>
                    <a:pt x="139" y="356"/>
                  </a:lnTo>
                  <a:lnTo>
                    <a:pt x="134" y="356"/>
                  </a:lnTo>
                  <a:lnTo>
                    <a:pt x="128" y="358"/>
                  </a:lnTo>
                  <a:lnTo>
                    <a:pt x="121" y="358"/>
                  </a:lnTo>
                  <a:lnTo>
                    <a:pt x="117" y="360"/>
                  </a:lnTo>
                  <a:lnTo>
                    <a:pt x="109" y="361"/>
                  </a:lnTo>
                  <a:lnTo>
                    <a:pt x="104" y="364"/>
                  </a:lnTo>
                  <a:lnTo>
                    <a:pt x="98" y="366"/>
                  </a:lnTo>
                  <a:lnTo>
                    <a:pt x="91" y="370"/>
                  </a:lnTo>
                  <a:lnTo>
                    <a:pt x="85" y="371"/>
                  </a:lnTo>
                  <a:lnTo>
                    <a:pt x="80" y="376"/>
                  </a:lnTo>
                  <a:lnTo>
                    <a:pt x="71" y="380"/>
                  </a:lnTo>
                  <a:lnTo>
                    <a:pt x="67" y="383"/>
                  </a:lnTo>
                  <a:lnTo>
                    <a:pt x="61" y="385"/>
                  </a:lnTo>
                  <a:lnTo>
                    <a:pt x="55" y="390"/>
                  </a:lnTo>
                  <a:lnTo>
                    <a:pt x="50" y="394"/>
                  </a:lnTo>
                  <a:lnTo>
                    <a:pt x="46" y="398"/>
                  </a:lnTo>
                  <a:lnTo>
                    <a:pt x="41" y="404"/>
                  </a:lnTo>
                  <a:lnTo>
                    <a:pt x="37" y="410"/>
                  </a:lnTo>
                  <a:lnTo>
                    <a:pt x="33" y="414"/>
                  </a:lnTo>
                  <a:lnTo>
                    <a:pt x="30" y="418"/>
                  </a:lnTo>
                  <a:lnTo>
                    <a:pt x="26" y="424"/>
                  </a:lnTo>
                  <a:lnTo>
                    <a:pt x="23" y="430"/>
                  </a:lnTo>
                  <a:lnTo>
                    <a:pt x="20" y="435"/>
                  </a:lnTo>
                  <a:lnTo>
                    <a:pt x="17" y="441"/>
                  </a:lnTo>
                  <a:lnTo>
                    <a:pt x="14" y="448"/>
                  </a:lnTo>
                  <a:lnTo>
                    <a:pt x="13" y="452"/>
                  </a:lnTo>
                  <a:lnTo>
                    <a:pt x="11" y="458"/>
                  </a:lnTo>
                  <a:lnTo>
                    <a:pt x="9" y="465"/>
                  </a:lnTo>
                  <a:lnTo>
                    <a:pt x="7" y="471"/>
                  </a:lnTo>
                  <a:lnTo>
                    <a:pt x="6" y="478"/>
                  </a:lnTo>
                  <a:lnTo>
                    <a:pt x="4" y="484"/>
                  </a:lnTo>
                  <a:lnTo>
                    <a:pt x="3" y="491"/>
                  </a:lnTo>
                  <a:lnTo>
                    <a:pt x="3" y="498"/>
                  </a:lnTo>
                  <a:lnTo>
                    <a:pt x="3" y="504"/>
                  </a:lnTo>
                  <a:lnTo>
                    <a:pt x="1" y="509"/>
                  </a:lnTo>
                  <a:lnTo>
                    <a:pt x="0" y="516"/>
                  </a:lnTo>
                  <a:lnTo>
                    <a:pt x="0" y="523"/>
                  </a:lnTo>
                  <a:lnTo>
                    <a:pt x="0" y="529"/>
                  </a:lnTo>
                  <a:lnTo>
                    <a:pt x="0" y="535"/>
                  </a:lnTo>
                  <a:lnTo>
                    <a:pt x="0" y="542"/>
                  </a:lnTo>
                  <a:lnTo>
                    <a:pt x="1" y="549"/>
                  </a:lnTo>
                  <a:lnTo>
                    <a:pt x="1" y="555"/>
                  </a:lnTo>
                  <a:lnTo>
                    <a:pt x="1" y="560"/>
                  </a:lnTo>
                  <a:lnTo>
                    <a:pt x="3" y="568"/>
                  </a:lnTo>
                  <a:lnTo>
                    <a:pt x="3" y="573"/>
                  </a:lnTo>
                  <a:lnTo>
                    <a:pt x="4" y="580"/>
                  </a:lnTo>
                  <a:lnTo>
                    <a:pt x="4" y="585"/>
                  </a:lnTo>
                  <a:lnTo>
                    <a:pt x="6" y="590"/>
                  </a:lnTo>
                  <a:lnTo>
                    <a:pt x="6" y="596"/>
                  </a:lnTo>
                  <a:lnTo>
                    <a:pt x="7" y="603"/>
                  </a:lnTo>
                  <a:lnTo>
                    <a:pt x="9" y="607"/>
                  </a:lnTo>
                  <a:lnTo>
                    <a:pt x="9" y="613"/>
                  </a:lnTo>
                  <a:lnTo>
                    <a:pt x="10" y="617"/>
                  </a:lnTo>
                  <a:lnTo>
                    <a:pt x="11" y="624"/>
                  </a:lnTo>
                  <a:lnTo>
                    <a:pt x="13" y="629"/>
                  </a:lnTo>
                  <a:lnTo>
                    <a:pt x="14" y="633"/>
                  </a:lnTo>
                  <a:lnTo>
                    <a:pt x="14" y="637"/>
                  </a:lnTo>
                  <a:lnTo>
                    <a:pt x="16" y="643"/>
                  </a:lnTo>
                  <a:lnTo>
                    <a:pt x="17" y="646"/>
                  </a:lnTo>
                  <a:lnTo>
                    <a:pt x="19" y="651"/>
                  </a:lnTo>
                  <a:lnTo>
                    <a:pt x="19" y="654"/>
                  </a:lnTo>
                  <a:lnTo>
                    <a:pt x="20" y="659"/>
                  </a:lnTo>
                  <a:lnTo>
                    <a:pt x="20" y="661"/>
                  </a:lnTo>
                  <a:lnTo>
                    <a:pt x="23" y="664"/>
                  </a:lnTo>
                  <a:lnTo>
                    <a:pt x="23" y="667"/>
                  </a:lnTo>
                  <a:lnTo>
                    <a:pt x="24" y="670"/>
                  </a:lnTo>
                  <a:lnTo>
                    <a:pt x="26" y="673"/>
                  </a:lnTo>
                  <a:lnTo>
                    <a:pt x="27" y="677"/>
                  </a:lnTo>
                  <a:lnTo>
                    <a:pt x="27" y="680"/>
                  </a:lnTo>
                  <a:lnTo>
                    <a:pt x="28" y="680"/>
                  </a:lnTo>
                  <a:close/>
                </a:path>
              </a:pathLst>
            </a:custGeom>
            <a:solidFill>
              <a:srgbClr val="2A40E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2538" name="Freeform 9"/>
            <p:cNvSpPr>
              <a:spLocks/>
            </p:cNvSpPr>
            <p:nvPr/>
          </p:nvSpPr>
          <p:spPr bwMode="auto">
            <a:xfrm>
              <a:off x="2044" y="1293"/>
              <a:ext cx="95" cy="137"/>
            </a:xfrm>
            <a:custGeom>
              <a:avLst/>
              <a:gdLst>
                <a:gd name="T0" fmla="*/ 31 w 285"/>
                <a:gd name="T1" fmla="*/ 35 h 411"/>
                <a:gd name="T2" fmla="*/ 30 w 285"/>
                <a:gd name="T3" fmla="*/ 33 h 411"/>
                <a:gd name="T4" fmla="*/ 29 w 285"/>
                <a:gd name="T5" fmla="*/ 30 h 411"/>
                <a:gd name="T6" fmla="*/ 27 w 285"/>
                <a:gd name="T7" fmla="*/ 28 h 411"/>
                <a:gd name="T8" fmla="*/ 26 w 285"/>
                <a:gd name="T9" fmla="*/ 25 h 411"/>
                <a:gd name="T10" fmla="*/ 25 w 285"/>
                <a:gd name="T11" fmla="*/ 23 h 411"/>
                <a:gd name="T12" fmla="*/ 25 w 285"/>
                <a:gd name="T13" fmla="*/ 21 h 411"/>
                <a:gd name="T14" fmla="*/ 25 w 285"/>
                <a:gd name="T15" fmla="*/ 19 h 411"/>
                <a:gd name="T16" fmla="*/ 26 w 285"/>
                <a:gd name="T17" fmla="*/ 17 h 411"/>
                <a:gd name="T18" fmla="*/ 26 w 285"/>
                <a:gd name="T19" fmla="*/ 15 h 411"/>
                <a:gd name="T20" fmla="*/ 26 w 285"/>
                <a:gd name="T21" fmla="*/ 13 h 411"/>
                <a:gd name="T22" fmla="*/ 26 w 285"/>
                <a:gd name="T23" fmla="*/ 11 h 411"/>
                <a:gd name="T24" fmla="*/ 26 w 285"/>
                <a:gd name="T25" fmla="*/ 10 h 411"/>
                <a:gd name="T26" fmla="*/ 25 w 285"/>
                <a:gd name="T27" fmla="*/ 8 h 411"/>
                <a:gd name="T28" fmla="*/ 25 w 285"/>
                <a:gd name="T29" fmla="*/ 6 h 411"/>
                <a:gd name="T30" fmla="*/ 23 w 285"/>
                <a:gd name="T31" fmla="*/ 4 h 411"/>
                <a:gd name="T32" fmla="*/ 21 w 285"/>
                <a:gd name="T33" fmla="*/ 2 h 411"/>
                <a:gd name="T34" fmla="*/ 19 w 285"/>
                <a:gd name="T35" fmla="*/ 1 h 411"/>
                <a:gd name="T36" fmla="*/ 18 w 285"/>
                <a:gd name="T37" fmla="*/ 1 h 411"/>
                <a:gd name="T38" fmla="*/ 16 w 285"/>
                <a:gd name="T39" fmla="*/ 0 h 411"/>
                <a:gd name="T40" fmla="*/ 14 w 285"/>
                <a:gd name="T41" fmla="*/ 0 h 411"/>
                <a:gd name="T42" fmla="*/ 12 w 285"/>
                <a:gd name="T43" fmla="*/ 0 h 411"/>
                <a:gd name="T44" fmla="*/ 10 w 285"/>
                <a:gd name="T45" fmla="*/ 0 h 411"/>
                <a:gd name="T46" fmla="*/ 9 w 285"/>
                <a:gd name="T47" fmla="*/ 1 h 411"/>
                <a:gd name="T48" fmla="*/ 7 w 285"/>
                <a:gd name="T49" fmla="*/ 2 h 411"/>
                <a:gd name="T50" fmla="*/ 5 w 285"/>
                <a:gd name="T51" fmla="*/ 3 h 411"/>
                <a:gd name="T52" fmla="*/ 2 w 285"/>
                <a:gd name="T53" fmla="*/ 6 h 411"/>
                <a:gd name="T54" fmla="*/ 1 w 285"/>
                <a:gd name="T55" fmla="*/ 8 h 411"/>
                <a:gd name="T56" fmla="*/ 0 w 285"/>
                <a:gd name="T57" fmla="*/ 9 h 411"/>
                <a:gd name="T58" fmla="*/ 0 w 285"/>
                <a:gd name="T59" fmla="*/ 12 h 411"/>
                <a:gd name="T60" fmla="*/ 0 w 285"/>
                <a:gd name="T61" fmla="*/ 14 h 411"/>
                <a:gd name="T62" fmla="*/ 1 w 285"/>
                <a:gd name="T63" fmla="*/ 17 h 411"/>
                <a:gd name="T64" fmla="*/ 2 w 285"/>
                <a:gd name="T65" fmla="*/ 19 h 411"/>
                <a:gd name="T66" fmla="*/ 4 w 285"/>
                <a:gd name="T67" fmla="*/ 21 h 411"/>
                <a:gd name="T68" fmla="*/ 6 w 285"/>
                <a:gd name="T69" fmla="*/ 23 h 411"/>
                <a:gd name="T70" fmla="*/ 8 w 285"/>
                <a:gd name="T71" fmla="*/ 24 h 411"/>
                <a:gd name="T72" fmla="*/ 10 w 285"/>
                <a:gd name="T73" fmla="*/ 25 h 411"/>
                <a:gd name="T74" fmla="*/ 11 w 285"/>
                <a:gd name="T75" fmla="*/ 26 h 411"/>
                <a:gd name="T76" fmla="*/ 12 w 285"/>
                <a:gd name="T77" fmla="*/ 28 h 411"/>
                <a:gd name="T78" fmla="*/ 13 w 285"/>
                <a:gd name="T79" fmla="*/ 31 h 411"/>
                <a:gd name="T80" fmla="*/ 13 w 285"/>
                <a:gd name="T81" fmla="*/ 33 h 411"/>
                <a:gd name="T82" fmla="*/ 14 w 285"/>
                <a:gd name="T83" fmla="*/ 34 h 411"/>
                <a:gd name="T84" fmla="*/ 15 w 285"/>
                <a:gd name="T85" fmla="*/ 36 h 411"/>
                <a:gd name="T86" fmla="*/ 16 w 285"/>
                <a:gd name="T87" fmla="*/ 38 h 411"/>
                <a:gd name="T88" fmla="*/ 17 w 285"/>
                <a:gd name="T89" fmla="*/ 40 h 411"/>
                <a:gd name="T90" fmla="*/ 18 w 285"/>
                <a:gd name="T91" fmla="*/ 42 h 411"/>
                <a:gd name="T92" fmla="*/ 20 w 285"/>
                <a:gd name="T93" fmla="*/ 44 h 411"/>
                <a:gd name="T94" fmla="*/ 23 w 285"/>
                <a:gd name="T95" fmla="*/ 45 h 411"/>
                <a:gd name="T96" fmla="*/ 25 w 285"/>
                <a:gd name="T97" fmla="*/ 46 h 411"/>
                <a:gd name="T98" fmla="*/ 28 w 285"/>
                <a:gd name="T99" fmla="*/ 45 h 411"/>
                <a:gd name="T100" fmla="*/ 29 w 285"/>
                <a:gd name="T101" fmla="*/ 44 h 411"/>
                <a:gd name="T102" fmla="*/ 31 w 285"/>
                <a:gd name="T103" fmla="*/ 42 h 411"/>
                <a:gd name="T104" fmla="*/ 31 w 285"/>
                <a:gd name="T105" fmla="*/ 40 h 411"/>
                <a:gd name="T106" fmla="*/ 32 w 285"/>
                <a:gd name="T107" fmla="*/ 38 h 411"/>
                <a:gd name="T108" fmla="*/ 32 w 285"/>
                <a:gd name="T109" fmla="*/ 37 h 41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85" h="411">
                  <a:moveTo>
                    <a:pt x="284" y="330"/>
                  </a:moveTo>
                  <a:lnTo>
                    <a:pt x="283" y="326"/>
                  </a:lnTo>
                  <a:lnTo>
                    <a:pt x="283" y="323"/>
                  </a:lnTo>
                  <a:lnTo>
                    <a:pt x="281" y="319"/>
                  </a:lnTo>
                  <a:lnTo>
                    <a:pt x="280" y="316"/>
                  </a:lnTo>
                  <a:lnTo>
                    <a:pt x="278" y="312"/>
                  </a:lnTo>
                  <a:lnTo>
                    <a:pt x="277" y="307"/>
                  </a:lnTo>
                  <a:lnTo>
                    <a:pt x="275" y="303"/>
                  </a:lnTo>
                  <a:lnTo>
                    <a:pt x="274" y="300"/>
                  </a:lnTo>
                  <a:lnTo>
                    <a:pt x="270" y="294"/>
                  </a:lnTo>
                  <a:lnTo>
                    <a:pt x="268" y="290"/>
                  </a:lnTo>
                  <a:lnTo>
                    <a:pt x="266" y="286"/>
                  </a:lnTo>
                  <a:lnTo>
                    <a:pt x="264" y="282"/>
                  </a:lnTo>
                  <a:lnTo>
                    <a:pt x="261" y="277"/>
                  </a:lnTo>
                  <a:lnTo>
                    <a:pt x="258" y="272"/>
                  </a:lnTo>
                  <a:lnTo>
                    <a:pt x="256" y="267"/>
                  </a:lnTo>
                  <a:lnTo>
                    <a:pt x="254" y="263"/>
                  </a:lnTo>
                  <a:lnTo>
                    <a:pt x="251" y="257"/>
                  </a:lnTo>
                  <a:lnTo>
                    <a:pt x="248" y="253"/>
                  </a:lnTo>
                  <a:lnTo>
                    <a:pt x="246" y="248"/>
                  </a:lnTo>
                  <a:lnTo>
                    <a:pt x="243" y="243"/>
                  </a:lnTo>
                  <a:lnTo>
                    <a:pt x="240" y="239"/>
                  </a:lnTo>
                  <a:lnTo>
                    <a:pt x="239" y="235"/>
                  </a:lnTo>
                  <a:lnTo>
                    <a:pt x="236" y="230"/>
                  </a:lnTo>
                  <a:lnTo>
                    <a:pt x="233" y="226"/>
                  </a:lnTo>
                  <a:lnTo>
                    <a:pt x="231" y="222"/>
                  </a:lnTo>
                  <a:lnTo>
                    <a:pt x="230" y="219"/>
                  </a:lnTo>
                  <a:lnTo>
                    <a:pt x="229" y="213"/>
                  </a:lnTo>
                  <a:lnTo>
                    <a:pt x="227" y="212"/>
                  </a:lnTo>
                  <a:lnTo>
                    <a:pt x="224" y="206"/>
                  </a:lnTo>
                  <a:lnTo>
                    <a:pt x="224" y="203"/>
                  </a:lnTo>
                  <a:lnTo>
                    <a:pt x="224" y="201"/>
                  </a:lnTo>
                  <a:lnTo>
                    <a:pt x="224" y="199"/>
                  </a:lnTo>
                  <a:lnTo>
                    <a:pt x="223" y="196"/>
                  </a:lnTo>
                  <a:lnTo>
                    <a:pt x="223" y="193"/>
                  </a:lnTo>
                  <a:lnTo>
                    <a:pt x="223" y="191"/>
                  </a:lnTo>
                  <a:lnTo>
                    <a:pt x="223" y="188"/>
                  </a:lnTo>
                  <a:lnTo>
                    <a:pt x="223" y="184"/>
                  </a:lnTo>
                  <a:lnTo>
                    <a:pt x="224" y="181"/>
                  </a:lnTo>
                  <a:lnTo>
                    <a:pt x="224" y="175"/>
                  </a:lnTo>
                  <a:lnTo>
                    <a:pt x="226" y="172"/>
                  </a:lnTo>
                  <a:lnTo>
                    <a:pt x="226" y="168"/>
                  </a:lnTo>
                  <a:lnTo>
                    <a:pt x="227" y="164"/>
                  </a:lnTo>
                  <a:lnTo>
                    <a:pt x="229" y="159"/>
                  </a:lnTo>
                  <a:lnTo>
                    <a:pt x="230" y="154"/>
                  </a:lnTo>
                  <a:lnTo>
                    <a:pt x="230" y="148"/>
                  </a:lnTo>
                  <a:lnTo>
                    <a:pt x="230" y="144"/>
                  </a:lnTo>
                  <a:lnTo>
                    <a:pt x="231" y="138"/>
                  </a:lnTo>
                  <a:lnTo>
                    <a:pt x="233" y="134"/>
                  </a:lnTo>
                  <a:lnTo>
                    <a:pt x="233" y="131"/>
                  </a:lnTo>
                  <a:lnTo>
                    <a:pt x="233" y="127"/>
                  </a:lnTo>
                  <a:lnTo>
                    <a:pt x="233" y="124"/>
                  </a:lnTo>
                  <a:lnTo>
                    <a:pt x="233" y="121"/>
                  </a:lnTo>
                  <a:lnTo>
                    <a:pt x="233" y="118"/>
                  </a:lnTo>
                  <a:lnTo>
                    <a:pt x="233" y="115"/>
                  </a:lnTo>
                  <a:lnTo>
                    <a:pt x="233" y="112"/>
                  </a:lnTo>
                  <a:lnTo>
                    <a:pt x="233" y="111"/>
                  </a:lnTo>
                  <a:lnTo>
                    <a:pt x="233" y="107"/>
                  </a:lnTo>
                  <a:lnTo>
                    <a:pt x="233" y="104"/>
                  </a:lnTo>
                  <a:lnTo>
                    <a:pt x="233" y="101"/>
                  </a:lnTo>
                  <a:lnTo>
                    <a:pt x="233" y="98"/>
                  </a:lnTo>
                  <a:lnTo>
                    <a:pt x="233" y="95"/>
                  </a:lnTo>
                  <a:lnTo>
                    <a:pt x="233" y="92"/>
                  </a:lnTo>
                  <a:lnTo>
                    <a:pt x="231" y="90"/>
                  </a:lnTo>
                  <a:lnTo>
                    <a:pt x="231" y="87"/>
                  </a:lnTo>
                  <a:lnTo>
                    <a:pt x="230" y="84"/>
                  </a:lnTo>
                  <a:lnTo>
                    <a:pt x="230" y="81"/>
                  </a:lnTo>
                  <a:lnTo>
                    <a:pt x="230" y="78"/>
                  </a:lnTo>
                  <a:lnTo>
                    <a:pt x="229" y="75"/>
                  </a:lnTo>
                  <a:lnTo>
                    <a:pt x="227" y="71"/>
                  </a:lnTo>
                  <a:lnTo>
                    <a:pt x="226" y="68"/>
                  </a:lnTo>
                  <a:lnTo>
                    <a:pt x="224" y="65"/>
                  </a:lnTo>
                  <a:lnTo>
                    <a:pt x="224" y="63"/>
                  </a:lnTo>
                  <a:lnTo>
                    <a:pt x="223" y="60"/>
                  </a:lnTo>
                  <a:lnTo>
                    <a:pt x="221" y="57"/>
                  </a:lnTo>
                  <a:lnTo>
                    <a:pt x="220" y="54"/>
                  </a:lnTo>
                  <a:lnTo>
                    <a:pt x="219" y="51"/>
                  </a:lnTo>
                  <a:lnTo>
                    <a:pt x="214" y="47"/>
                  </a:lnTo>
                  <a:lnTo>
                    <a:pt x="210" y="40"/>
                  </a:lnTo>
                  <a:lnTo>
                    <a:pt x="207" y="37"/>
                  </a:lnTo>
                  <a:lnTo>
                    <a:pt x="206" y="34"/>
                  </a:lnTo>
                  <a:lnTo>
                    <a:pt x="203" y="31"/>
                  </a:lnTo>
                  <a:lnTo>
                    <a:pt x="202" y="30"/>
                  </a:lnTo>
                  <a:lnTo>
                    <a:pt x="196" y="26"/>
                  </a:lnTo>
                  <a:lnTo>
                    <a:pt x="190" y="21"/>
                  </a:lnTo>
                  <a:lnTo>
                    <a:pt x="186" y="19"/>
                  </a:lnTo>
                  <a:lnTo>
                    <a:pt x="183" y="16"/>
                  </a:lnTo>
                  <a:lnTo>
                    <a:pt x="180" y="16"/>
                  </a:lnTo>
                  <a:lnTo>
                    <a:pt x="177" y="13"/>
                  </a:lnTo>
                  <a:lnTo>
                    <a:pt x="175" y="11"/>
                  </a:lnTo>
                  <a:lnTo>
                    <a:pt x="173" y="10"/>
                  </a:lnTo>
                  <a:lnTo>
                    <a:pt x="170" y="9"/>
                  </a:lnTo>
                  <a:lnTo>
                    <a:pt x="167" y="7"/>
                  </a:lnTo>
                  <a:lnTo>
                    <a:pt x="163" y="7"/>
                  </a:lnTo>
                  <a:lnTo>
                    <a:pt x="160" y="6"/>
                  </a:lnTo>
                  <a:lnTo>
                    <a:pt x="158" y="4"/>
                  </a:lnTo>
                  <a:lnTo>
                    <a:pt x="155" y="4"/>
                  </a:lnTo>
                  <a:lnTo>
                    <a:pt x="150" y="3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0" y="1"/>
                  </a:lnTo>
                  <a:lnTo>
                    <a:pt x="138" y="1"/>
                  </a:lnTo>
                  <a:lnTo>
                    <a:pt x="133" y="0"/>
                  </a:lnTo>
                  <a:lnTo>
                    <a:pt x="131" y="0"/>
                  </a:lnTo>
                  <a:lnTo>
                    <a:pt x="128" y="0"/>
                  </a:lnTo>
                  <a:lnTo>
                    <a:pt x="123" y="0"/>
                  </a:lnTo>
                  <a:lnTo>
                    <a:pt x="121" y="0"/>
                  </a:lnTo>
                  <a:lnTo>
                    <a:pt x="118" y="0"/>
                  </a:lnTo>
                  <a:lnTo>
                    <a:pt x="115" y="1"/>
                  </a:lnTo>
                  <a:lnTo>
                    <a:pt x="111" y="1"/>
                  </a:lnTo>
                  <a:lnTo>
                    <a:pt x="108" y="1"/>
                  </a:lnTo>
                  <a:lnTo>
                    <a:pt x="104" y="1"/>
                  </a:lnTo>
                  <a:lnTo>
                    <a:pt x="101" y="3"/>
                  </a:lnTo>
                  <a:lnTo>
                    <a:pt x="96" y="3"/>
                  </a:lnTo>
                  <a:lnTo>
                    <a:pt x="94" y="3"/>
                  </a:lnTo>
                  <a:lnTo>
                    <a:pt x="91" y="4"/>
                  </a:lnTo>
                  <a:lnTo>
                    <a:pt x="88" y="4"/>
                  </a:lnTo>
                  <a:lnTo>
                    <a:pt x="84" y="6"/>
                  </a:lnTo>
                  <a:lnTo>
                    <a:pt x="81" y="7"/>
                  </a:lnTo>
                  <a:lnTo>
                    <a:pt x="77" y="7"/>
                  </a:lnTo>
                  <a:lnTo>
                    <a:pt x="74" y="9"/>
                  </a:lnTo>
                  <a:lnTo>
                    <a:pt x="71" y="10"/>
                  </a:lnTo>
                  <a:lnTo>
                    <a:pt x="68" y="11"/>
                  </a:lnTo>
                  <a:lnTo>
                    <a:pt x="65" y="13"/>
                  </a:lnTo>
                  <a:lnTo>
                    <a:pt x="62" y="16"/>
                  </a:lnTo>
                  <a:lnTo>
                    <a:pt x="59" y="16"/>
                  </a:lnTo>
                  <a:lnTo>
                    <a:pt x="57" y="19"/>
                  </a:lnTo>
                  <a:lnTo>
                    <a:pt x="52" y="20"/>
                  </a:lnTo>
                  <a:lnTo>
                    <a:pt x="50" y="23"/>
                  </a:lnTo>
                  <a:lnTo>
                    <a:pt x="45" y="26"/>
                  </a:lnTo>
                  <a:lnTo>
                    <a:pt x="40" y="30"/>
                  </a:lnTo>
                  <a:lnTo>
                    <a:pt x="34" y="34"/>
                  </a:lnTo>
                  <a:lnTo>
                    <a:pt x="30" y="38"/>
                  </a:lnTo>
                  <a:lnTo>
                    <a:pt x="25" y="44"/>
                  </a:lnTo>
                  <a:lnTo>
                    <a:pt x="21" y="50"/>
                  </a:lnTo>
                  <a:lnTo>
                    <a:pt x="17" y="54"/>
                  </a:lnTo>
                  <a:lnTo>
                    <a:pt x="14" y="60"/>
                  </a:lnTo>
                  <a:lnTo>
                    <a:pt x="11" y="64"/>
                  </a:lnTo>
                  <a:lnTo>
                    <a:pt x="8" y="70"/>
                  </a:lnTo>
                  <a:lnTo>
                    <a:pt x="7" y="73"/>
                  </a:lnTo>
                  <a:lnTo>
                    <a:pt x="5" y="75"/>
                  </a:lnTo>
                  <a:lnTo>
                    <a:pt x="5" y="78"/>
                  </a:lnTo>
                  <a:lnTo>
                    <a:pt x="5" y="81"/>
                  </a:lnTo>
                  <a:lnTo>
                    <a:pt x="3" y="84"/>
                  </a:lnTo>
                  <a:lnTo>
                    <a:pt x="3" y="85"/>
                  </a:lnTo>
                  <a:lnTo>
                    <a:pt x="3" y="90"/>
                  </a:lnTo>
                  <a:lnTo>
                    <a:pt x="3" y="92"/>
                  </a:lnTo>
                  <a:lnTo>
                    <a:pt x="0" y="97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5"/>
                  </a:lnTo>
                  <a:lnTo>
                    <a:pt x="0" y="120"/>
                  </a:lnTo>
                  <a:lnTo>
                    <a:pt x="1" y="125"/>
                  </a:lnTo>
                  <a:lnTo>
                    <a:pt x="3" y="131"/>
                  </a:lnTo>
                  <a:lnTo>
                    <a:pt x="4" y="135"/>
                  </a:lnTo>
                  <a:lnTo>
                    <a:pt x="5" y="141"/>
                  </a:lnTo>
                  <a:lnTo>
                    <a:pt x="7" y="145"/>
                  </a:lnTo>
                  <a:lnTo>
                    <a:pt x="8" y="149"/>
                  </a:lnTo>
                  <a:lnTo>
                    <a:pt x="11" y="154"/>
                  </a:lnTo>
                  <a:lnTo>
                    <a:pt x="13" y="159"/>
                  </a:lnTo>
                  <a:lnTo>
                    <a:pt x="14" y="165"/>
                  </a:lnTo>
                  <a:lnTo>
                    <a:pt x="17" y="168"/>
                  </a:lnTo>
                  <a:lnTo>
                    <a:pt x="21" y="172"/>
                  </a:lnTo>
                  <a:lnTo>
                    <a:pt x="23" y="176"/>
                  </a:lnTo>
                  <a:lnTo>
                    <a:pt x="27" y="181"/>
                  </a:lnTo>
                  <a:lnTo>
                    <a:pt x="30" y="185"/>
                  </a:lnTo>
                  <a:lnTo>
                    <a:pt x="34" y="188"/>
                  </a:lnTo>
                  <a:lnTo>
                    <a:pt x="37" y="191"/>
                  </a:lnTo>
                  <a:lnTo>
                    <a:pt x="40" y="193"/>
                  </a:lnTo>
                  <a:lnTo>
                    <a:pt x="44" y="196"/>
                  </a:lnTo>
                  <a:lnTo>
                    <a:pt x="47" y="199"/>
                  </a:lnTo>
                  <a:lnTo>
                    <a:pt x="50" y="201"/>
                  </a:lnTo>
                  <a:lnTo>
                    <a:pt x="55" y="203"/>
                  </a:lnTo>
                  <a:lnTo>
                    <a:pt x="58" y="205"/>
                  </a:lnTo>
                  <a:lnTo>
                    <a:pt x="59" y="206"/>
                  </a:lnTo>
                  <a:lnTo>
                    <a:pt x="62" y="209"/>
                  </a:lnTo>
                  <a:lnTo>
                    <a:pt x="65" y="212"/>
                  </a:lnTo>
                  <a:lnTo>
                    <a:pt x="68" y="212"/>
                  </a:lnTo>
                  <a:lnTo>
                    <a:pt x="71" y="213"/>
                  </a:lnTo>
                  <a:lnTo>
                    <a:pt x="75" y="216"/>
                  </a:lnTo>
                  <a:lnTo>
                    <a:pt x="79" y="219"/>
                  </a:lnTo>
                  <a:lnTo>
                    <a:pt x="84" y="220"/>
                  </a:lnTo>
                  <a:lnTo>
                    <a:pt x="86" y="222"/>
                  </a:lnTo>
                  <a:lnTo>
                    <a:pt x="89" y="225"/>
                  </a:lnTo>
                  <a:lnTo>
                    <a:pt x="92" y="228"/>
                  </a:lnTo>
                  <a:lnTo>
                    <a:pt x="95" y="230"/>
                  </a:lnTo>
                  <a:lnTo>
                    <a:pt x="98" y="233"/>
                  </a:lnTo>
                  <a:lnTo>
                    <a:pt x="99" y="238"/>
                  </a:lnTo>
                  <a:lnTo>
                    <a:pt x="102" y="243"/>
                  </a:lnTo>
                  <a:lnTo>
                    <a:pt x="104" y="246"/>
                  </a:lnTo>
                  <a:lnTo>
                    <a:pt x="105" y="249"/>
                  </a:lnTo>
                  <a:lnTo>
                    <a:pt x="105" y="252"/>
                  </a:lnTo>
                  <a:lnTo>
                    <a:pt x="108" y="256"/>
                  </a:lnTo>
                  <a:lnTo>
                    <a:pt x="109" y="259"/>
                  </a:lnTo>
                  <a:lnTo>
                    <a:pt x="109" y="265"/>
                  </a:lnTo>
                  <a:lnTo>
                    <a:pt x="111" y="269"/>
                  </a:lnTo>
                  <a:lnTo>
                    <a:pt x="113" y="275"/>
                  </a:lnTo>
                  <a:lnTo>
                    <a:pt x="115" y="279"/>
                  </a:lnTo>
                  <a:lnTo>
                    <a:pt x="116" y="283"/>
                  </a:lnTo>
                  <a:lnTo>
                    <a:pt x="118" y="286"/>
                  </a:lnTo>
                  <a:lnTo>
                    <a:pt x="118" y="289"/>
                  </a:lnTo>
                  <a:lnTo>
                    <a:pt x="119" y="293"/>
                  </a:lnTo>
                  <a:lnTo>
                    <a:pt x="121" y="296"/>
                  </a:lnTo>
                  <a:lnTo>
                    <a:pt x="122" y="297"/>
                  </a:lnTo>
                  <a:lnTo>
                    <a:pt x="123" y="302"/>
                  </a:lnTo>
                  <a:lnTo>
                    <a:pt x="123" y="304"/>
                  </a:lnTo>
                  <a:lnTo>
                    <a:pt x="125" y="307"/>
                  </a:lnTo>
                  <a:lnTo>
                    <a:pt x="126" y="310"/>
                  </a:lnTo>
                  <a:lnTo>
                    <a:pt x="128" y="313"/>
                  </a:lnTo>
                  <a:lnTo>
                    <a:pt x="129" y="317"/>
                  </a:lnTo>
                  <a:lnTo>
                    <a:pt x="131" y="320"/>
                  </a:lnTo>
                  <a:lnTo>
                    <a:pt x="131" y="324"/>
                  </a:lnTo>
                  <a:lnTo>
                    <a:pt x="133" y="327"/>
                  </a:lnTo>
                  <a:lnTo>
                    <a:pt x="136" y="330"/>
                  </a:lnTo>
                  <a:lnTo>
                    <a:pt x="136" y="331"/>
                  </a:lnTo>
                  <a:lnTo>
                    <a:pt x="139" y="334"/>
                  </a:lnTo>
                  <a:lnTo>
                    <a:pt x="140" y="337"/>
                  </a:lnTo>
                  <a:lnTo>
                    <a:pt x="140" y="341"/>
                  </a:lnTo>
                  <a:lnTo>
                    <a:pt x="143" y="344"/>
                  </a:lnTo>
                  <a:lnTo>
                    <a:pt x="145" y="347"/>
                  </a:lnTo>
                  <a:lnTo>
                    <a:pt x="146" y="350"/>
                  </a:lnTo>
                  <a:lnTo>
                    <a:pt x="148" y="354"/>
                  </a:lnTo>
                  <a:lnTo>
                    <a:pt x="150" y="357"/>
                  </a:lnTo>
                  <a:lnTo>
                    <a:pt x="152" y="358"/>
                  </a:lnTo>
                  <a:lnTo>
                    <a:pt x="153" y="363"/>
                  </a:lnTo>
                  <a:lnTo>
                    <a:pt x="155" y="364"/>
                  </a:lnTo>
                  <a:lnTo>
                    <a:pt x="158" y="367"/>
                  </a:lnTo>
                  <a:lnTo>
                    <a:pt x="160" y="374"/>
                  </a:lnTo>
                  <a:lnTo>
                    <a:pt x="166" y="378"/>
                  </a:lnTo>
                  <a:lnTo>
                    <a:pt x="170" y="384"/>
                  </a:lnTo>
                  <a:lnTo>
                    <a:pt x="175" y="388"/>
                  </a:lnTo>
                  <a:lnTo>
                    <a:pt x="179" y="393"/>
                  </a:lnTo>
                  <a:lnTo>
                    <a:pt x="183" y="395"/>
                  </a:lnTo>
                  <a:lnTo>
                    <a:pt x="187" y="400"/>
                  </a:lnTo>
                  <a:lnTo>
                    <a:pt x="193" y="403"/>
                  </a:lnTo>
                  <a:lnTo>
                    <a:pt x="199" y="405"/>
                  </a:lnTo>
                  <a:lnTo>
                    <a:pt x="204" y="408"/>
                  </a:lnTo>
                  <a:lnTo>
                    <a:pt x="207" y="408"/>
                  </a:lnTo>
                  <a:lnTo>
                    <a:pt x="209" y="410"/>
                  </a:lnTo>
                  <a:lnTo>
                    <a:pt x="212" y="411"/>
                  </a:lnTo>
                  <a:lnTo>
                    <a:pt x="214" y="411"/>
                  </a:lnTo>
                  <a:lnTo>
                    <a:pt x="220" y="411"/>
                  </a:lnTo>
                  <a:lnTo>
                    <a:pt x="224" y="411"/>
                  </a:lnTo>
                  <a:lnTo>
                    <a:pt x="230" y="411"/>
                  </a:lnTo>
                  <a:lnTo>
                    <a:pt x="234" y="411"/>
                  </a:lnTo>
                  <a:lnTo>
                    <a:pt x="239" y="410"/>
                  </a:lnTo>
                  <a:lnTo>
                    <a:pt x="244" y="408"/>
                  </a:lnTo>
                  <a:lnTo>
                    <a:pt x="248" y="408"/>
                  </a:lnTo>
                  <a:lnTo>
                    <a:pt x="251" y="407"/>
                  </a:lnTo>
                  <a:lnTo>
                    <a:pt x="254" y="404"/>
                  </a:lnTo>
                  <a:lnTo>
                    <a:pt x="257" y="403"/>
                  </a:lnTo>
                  <a:lnTo>
                    <a:pt x="261" y="398"/>
                  </a:lnTo>
                  <a:lnTo>
                    <a:pt x="264" y="395"/>
                  </a:lnTo>
                  <a:lnTo>
                    <a:pt x="267" y="393"/>
                  </a:lnTo>
                  <a:lnTo>
                    <a:pt x="268" y="390"/>
                  </a:lnTo>
                  <a:lnTo>
                    <a:pt x="271" y="387"/>
                  </a:lnTo>
                  <a:lnTo>
                    <a:pt x="274" y="384"/>
                  </a:lnTo>
                  <a:lnTo>
                    <a:pt x="275" y="381"/>
                  </a:lnTo>
                  <a:lnTo>
                    <a:pt x="277" y="377"/>
                  </a:lnTo>
                  <a:lnTo>
                    <a:pt x="278" y="374"/>
                  </a:lnTo>
                  <a:lnTo>
                    <a:pt x="280" y="370"/>
                  </a:lnTo>
                  <a:lnTo>
                    <a:pt x="280" y="366"/>
                  </a:lnTo>
                  <a:lnTo>
                    <a:pt x="281" y="363"/>
                  </a:lnTo>
                  <a:lnTo>
                    <a:pt x="283" y="358"/>
                  </a:lnTo>
                  <a:lnTo>
                    <a:pt x="284" y="356"/>
                  </a:lnTo>
                  <a:lnTo>
                    <a:pt x="284" y="351"/>
                  </a:lnTo>
                  <a:lnTo>
                    <a:pt x="284" y="348"/>
                  </a:lnTo>
                  <a:lnTo>
                    <a:pt x="284" y="344"/>
                  </a:lnTo>
                  <a:lnTo>
                    <a:pt x="285" y="341"/>
                  </a:lnTo>
                  <a:lnTo>
                    <a:pt x="284" y="337"/>
                  </a:lnTo>
                  <a:lnTo>
                    <a:pt x="284" y="334"/>
                  </a:lnTo>
                  <a:lnTo>
                    <a:pt x="284" y="331"/>
                  </a:lnTo>
                  <a:lnTo>
                    <a:pt x="284" y="33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2539" name="Freeform 10"/>
            <p:cNvSpPr>
              <a:spLocks/>
            </p:cNvSpPr>
            <p:nvPr/>
          </p:nvSpPr>
          <p:spPr bwMode="auto">
            <a:xfrm>
              <a:off x="1776" y="912"/>
              <a:ext cx="314" cy="278"/>
            </a:xfrm>
            <a:custGeom>
              <a:avLst/>
              <a:gdLst>
                <a:gd name="T0" fmla="*/ 10 w 942"/>
                <a:gd name="T1" fmla="*/ 24 h 833"/>
                <a:gd name="T2" fmla="*/ 17 w 942"/>
                <a:gd name="T3" fmla="*/ 16 h 833"/>
                <a:gd name="T4" fmla="*/ 24 w 942"/>
                <a:gd name="T5" fmla="*/ 10 h 833"/>
                <a:gd name="T6" fmla="*/ 33 w 942"/>
                <a:gd name="T7" fmla="*/ 5 h 833"/>
                <a:gd name="T8" fmla="*/ 41 w 942"/>
                <a:gd name="T9" fmla="*/ 2 h 833"/>
                <a:gd name="T10" fmla="*/ 49 w 942"/>
                <a:gd name="T11" fmla="*/ 0 h 833"/>
                <a:gd name="T12" fmla="*/ 56 w 942"/>
                <a:gd name="T13" fmla="*/ 0 h 833"/>
                <a:gd name="T14" fmla="*/ 63 w 942"/>
                <a:gd name="T15" fmla="*/ 0 h 833"/>
                <a:gd name="T16" fmla="*/ 68 w 942"/>
                <a:gd name="T17" fmla="*/ 1 h 833"/>
                <a:gd name="T18" fmla="*/ 73 w 942"/>
                <a:gd name="T19" fmla="*/ 2 h 833"/>
                <a:gd name="T20" fmla="*/ 77 w 942"/>
                <a:gd name="T21" fmla="*/ 4 h 833"/>
                <a:gd name="T22" fmla="*/ 81 w 942"/>
                <a:gd name="T23" fmla="*/ 6 h 833"/>
                <a:gd name="T24" fmla="*/ 83 w 942"/>
                <a:gd name="T25" fmla="*/ 10 h 833"/>
                <a:gd name="T26" fmla="*/ 87 w 942"/>
                <a:gd name="T27" fmla="*/ 13 h 833"/>
                <a:gd name="T28" fmla="*/ 91 w 942"/>
                <a:gd name="T29" fmla="*/ 12 h 833"/>
                <a:gd name="T30" fmla="*/ 94 w 942"/>
                <a:gd name="T31" fmla="*/ 11 h 833"/>
                <a:gd name="T32" fmla="*/ 99 w 942"/>
                <a:gd name="T33" fmla="*/ 11 h 833"/>
                <a:gd name="T34" fmla="*/ 103 w 942"/>
                <a:gd name="T35" fmla="*/ 14 h 833"/>
                <a:gd name="T36" fmla="*/ 105 w 942"/>
                <a:gd name="T37" fmla="*/ 19 h 833"/>
                <a:gd name="T38" fmla="*/ 104 w 942"/>
                <a:gd name="T39" fmla="*/ 22 h 833"/>
                <a:gd name="T40" fmla="*/ 104 w 942"/>
                <a:gd name="T41" fmla="*/ 26 h 833"/>
                <a:gd name="T42" fmla="*/ 102 w 942"/>
                <a:gd name="T43" fmla="*/ 30 h 833"/>
                <a:gd name="T44" fmla="*/ 98 w 942"/>
                <a:gd name="T45" fmla="*/ 34 h 833"/>
                <a:gd name="T46" fmla="*/ 92 w 942"/>
                <a:gd name="T47" fmla="*/ 36 h 833"/>
                <a:gd name="T48" fmla="*/ 87 w 942"/>
                <a:gd name="T49" fmla="*/ 34 h 833"/>
                <a:gd name="T50" fmla="*/ 87 w 942"/>
                <a:gd name="T51" fmla="*/ 30 h 833"/>
                <a:gd name="T52" fmla="*/ 85 w 942"/>
                <a:gd name="T53" fmla="*/ 26 h 833"/>
                <a:gd name="T54" fmla="*/ 81 w 942"/>
                <a:gd name="T55" fmla="*/ 25 h 833"/>
                <a:gd name="T56" fmla="*/ 76 w 942"/>
                <a:gd name="T57" fmla="*/ 27 h 833"/>
                <a:gd name="T58" fmla="*/ 72 w 942"/>
                <a:gd name="T59" fmla="*/ 27 h 833"/>
                <a:gd name="T60" fmla="*/ 68 w 942"/>
                <a:gd name="T61" fmla="*/ 25 h 833"/>
                <a:gd name="T62" fmla="*/ 63 w 942"/>
                <a:gd name="T63" fmla="*/ 24 h 833"/>
                <a:gd name="T64" fmla="*/ 56 w 942"/>
                <a:gd name="T65" fmla="*/ 23 h 833"/>
                <a:gd name="T66" fmla="*/ 49 w 942"/>
                <a:gd name="T67" fmla="*/ 24 h 833"/>
                <a:gd name="T68" fmla="*/ 40 w 942"/>
                <a:gd name="T69" fmla="*/ 27 h 833"/>
                <a:gd name="T70" fmla="*/ 34 w 942"/>
                <a:gd name="T71" fmla="*/ 32 h 833"/>
                <a:gd name="T72" fmla="*/ 30 w 942"/>
                <a:gd name="T73" fmla="*/ 37 h 833"/>
                <a:gd name="T74" fmla="*/ 27 w 942"/>
                <a:gd name="T75" fmla="*/ 43 h 833"/>
                <a:gd name="T76" fmla="*/ 26 w 942"/>
                <a:gd name="T77" fmla="*/ 49 h 833"/>
                <a:gd name="T78" fmla="*/ 26 w 942"/>
                <a:gd name="T79" fmla="*/ 55 h 833"/>
                <a:gd name="T80" fmla="*/ 26 w 942"/>
                <a:gd name="T81" fmla="*/ 60 h 833"/>
                <a:gd name="T82" fmla="*/ 26 w 942"/>
                <a:gd name="T83" fmla="*/ 65 h 833"/>
                <a:gd name="T84" fmla="*/ 27 w 942"/>
                <a:gd name="T85" fmla="*/ 69 h 833"/>
                <a:gd name="T86" fmla="*/ 29 w 942"/>
                <a:gd name="T87" fmla="*/ 72 h 833"/>
                <a:gd name="T88" fmla="*/ 31 w 942"/>
                <a:gd name="T89" fmla="*/ 77 h 833"/>
                <a:gd name="T90" fmla="*/ 27 w 942"/>
                <a:gd name="T91" fmla="*/ 80 h 833"/>
                <a:gd name="T92" fmla="*/ 24 w 942"/>
                <a:gd name="T93" fmla="*/ 80 h 833"/>
                <a:gd name="T94" fmla="*/ 19 w 942"/>
                <a:gd name="T95" fmla="*/ 82 h 833"/>
                <a:gd name="T96" fmla="*/ 15 w 942"/>
                <a:gd name="T97" fmla="*/ 85 h 833"/>
                <a:gd name="T98" fmla="*/ 11 w 942"/>
                <a:gd name="T99" fmla="*/ 89 h 833"/>
                <a:gd name="T100" fmla="*/ 10 w 942"/>
                <a:gd name="T101" fmla="*/ 92 h 833"/>
                <a:gd name="T102" fmla="*/ 6 w 942"/>
                <a:gd name="T103" fmla="*/ 91 h 833"/>
                <a:gd name="T104" fmla="*/ 4 w 942"/>
                <a:gd name="T105" fmla="*/ 87 h 833"/>
                <a:gd name="T106" fmla="*/ 2 w 942"/>
                <a:gd name="T107" fmla="*/ 78 h 833"/>
                <a:gd name="T108" fmla="*/ 0 w 942"/>
                <a:gd name="T109" fmla="*/ 68 h 833"/>
                <a:gd name="T110" fmla="*/ 0 w 942"/>
                <a:gd name="T111" fmla="*/ 56 h 833"/>
                <a:gd name="T112" fmla="*/ 1 w 942"/>
                <a:gd name="T113" fmla="*/ 44 h 833"/>
                <a:gd name="T114" fmla="*/ 5 w 942"/>
                <a:gd name="T115" fmla="*/ 34 h 833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942" h="833">
                  <a:moveTo>
                    <a:pt x="44" y="304"/>
                  </a:moveTo>
                  <a:lnTo>
                    <a:pt x="47" y="294"/>
                  </a:lnTo>
                  <a:lnTo>
                    <a:pt x="53" y="284"/>
                  </a:lnTo>
                  <a:lnTo>
                    <a:pt x="57" y="274"/>
                  </a:lnTo>
                  <a:lnTo>
                    <a:pt x="61" y="265"/>
                  </a:lnTo>
                  <a:lnTo>
                    <a:pt x="67" y="255"/>
                  </a:lnTo>
                  <a:lnTo>
                    <a:pt x="72" y="246"/>
                  </a:lnTo>
                  <a:lnTo>
                    <a:pt x="77" y="238"/>
                  </a:lnTo>
                  <a:lnTo>
                    <a:pt x="84" y="229"/>
                  </a:lnTo>
                  <a:lnTo>
                    <a:pt x="88" y="220"/>
                  </a:lnTo>
                  <a:lnTo>
                    <a:pt x="94" y="212"/>
                  </a:lnTo>
                  <a:lnTo>
                    <a:pt x="99" y="202"/>
                  </a:lnTo>
                  <a:lnTo>
                    <a:pt x="107" y="195"/>
                  </a:lnTo>
                  <a:lnTo>
                    <a:pt x="112" y="188"/>
                  </a:lnTo>
                  <a:lnTo>
                    <a:pt x="118" y="181"/>
                  </a:lnTo>
                  <a:lnTo>
                    <a:pt x="125" y="172"/>
                  </a:lnTo>
                  <a:lnTo>
                    <a:pt x="131" y="165"/>
                  </a:lnTo>
                  <a:lnTo>
                    <a:pt x="136" y="158"/>
                  </a:lnTo>
                  <a:lnTo>
                    <a:pt x="144" y="152"/>
                  </a:lnTo>
                  <a:lnTo>
                    <a:pt x="149" y="145"/>
                  </a:lnTo>
                  <a:lnTo>
                    <a:pt x="158" y="138"/>
                  </a:lnTo>
                  <a:lnTo>
                    <a:pt x="162" y="132"/>
                  </a:lnTo>
                  <a:lnTo>
                    <a:pt x="171" y="127"/>
                  </a:lnTo>
                  <a:lnTo>
                    <a:pt x="178" y="119"/>
                  </a:lnTo>
                  <a:lnTo>
                    <a:pt x="185" y="114"/>
                  </a:lnTo>
                  <a:lnTo>
                    <a:pt x="192" y="108"/>
                  </a:lnTo>
                  <a:lnTo>
                    <a:pt x="198" y="104"/>
                  </a:lnTo>
                  <a:lnTo>
                    <a:pt x="206" y="98"/>
                  </a:lnTo>
                  <a:lnTo>
                    <a:pt x="212" y="92"/>
                  </a:lnTo>
                  <a:lnTo>
                    <a:pt x="220" y="87"/>
                  </a:lnTo>
                  <a:lnTo>
                    <a:pt x="226" y="82"/>
                  </a:lnTo>
                  <a:lnTo>
                    <a:pt x="234" y="78"/>
                  </a:lnTo>
                  <a:lnTo>
                    <a:pt x="242" y="74"/>
                  </a:lnTo>
                  <a:lnTo>
                    <a:pt x="249" y="70"/>
                  </a:lnTo>
                  <a:lnTo>
                    <a:pt x="256" y="65"/>
                  </a:lnTo>
                  <a:lnTo>
                    <a:pt x="264" y="61"/>
                  </a:lnTo>
                  <a:lnTo>
                    <a:pt x="271" y="57"/>
                  </a:lnTo>
                  <a:lnTo>
                    <a:pt x="278" y="53"/>
                  </a:lnTo>
                  <a:lnTo>
                    <a:pt x="287" y="50"/>
                  </a:lnTo>
                  <a:lnTo>
                    <a:pt x="294" y="47"/>
                  </a:lnTo>
                  <a:lnTo>
                    <a:pt x="301" y="44"/>
                  </a:lnTo>
                  <a:lnTo>
                    <a:pt x="310" y="40"/>
                  </a:lnTo>
                  <a:lnTo>
                    <a:pt x="317" y="37"/>
                  </a:lnTo>
                  <a:lnTo>
                    <a:pt x="324" y="34"/>
                  </a:lnTo>
                  <a:lnTo>
                    <a:pt x="332" y="31"/>
                  </a:lnTo>
                  <a:lnTo>
                    <a:pt x="340" y="28"/>
                  </a:lnTo>
                  <a:lnTo>
                    <a:pt x="348" y="27"/>
                  </a:lnTo>
                  <a:lnTo>
                    <a:pt x="355" y="24"/>
                  </a:lnTo>
                  <a:lnTo>
                    <a:pt x="362" y="21"/>
                  </a:lnTo>
                  <a:lnTo>
                    <a:pt x="371" y="20"/>
                  </a:lnTo>
                  <a:lnTo>
                    <a:pt x="378" y="17"/>
                  </a:lnTo>
                  <a:lnTo>
                    <a:pt x="385" y="16"/>
                  </a:lnTo>
                  <a:lnTo>
                    <a:pt x="394" y="14"/>
                  </a:lnTo>
                  <a:lnTo>
                    <a:pt x="401" y="11"/>
                  </a:lnTo>
                  <a:lnTo>
                    <a:pt x="408" y="10"/>
                  </a:lnTo>
                  <a:lnTo>
                    <a:pt x="415" y="9"/>
                  </a:lnTo>
                  <a:lnTo>
                    <a:pt x="423" y="9"/>
                  </a:lnTo>
                  <a:lnTo>
                    <a:pt x="429" y="6"/>
                  </a:lnTo>
                  <a:lnTo>
                    <a:pt x="438" y="6"/>
                  </a:lnTo>
                  <a:lnTo>
                    <a:pt x="445" y="4"/>
                  </a:lnTo>
                  <a:lnTo>
                    <a:pt x="452" y="4"/>
                  </a:lnTo>
                  <a:lnTo>
                    <a:pt x="459" y="3"/>
                  </a:lnTo>
                  <a:lnTo>
                    <a:pt x="466" y="3"/>
                  </a:lnTo>
                  <a:lnTo>
                    <a:pt x="473" y="1"/>
                  </a:lnTo>
                  <a:lnTo>
                    <a:pt x="482" y="1"/>
                  </a:lnTo>
                  <a:lnTo>
                    <a:pt x="487" y="1"/>
                  </a:lnTo>
                  <a:lnTo>
                    <a:pt x="492" y="0"/>
                  </a:lnTo>
                  <a:lnTo>
                    <a:pt x="497" y="0"/>
                  </a:lnTo>
                  <a:lnTo>
                    <a:pt x="503" y="0"/>
                  </a:lnTo>
                  <a:lnTo>
                    <a:pt x="507" y="0"/>
                  </a:lnTo>
                  <a:lnTo>
                    <a:pt x="514" y="0"/>
                  </a:lnTo>
                  <a:lnTo>
                    <a:pt x="519" y="0"/>
                  </a:lnTo>
                  <a:lnTo>
                    <a:pt x="526" y="0"/>
                  </a:lnTo>
                  <a:lnTo>
                    <a:pt x="531" y="0"/>
                  </a:lnTo>
                  <a:lnTo>
                    <a:pt x="536" y="0"/>
                  </a:lnTo>
                  <a:lnTo>
                    <a:pt x="541" y="1"/>
                  </a:lnTo>
                  <a:lnTo>
                    <a:pt x="547" y="1"/>
                  </a:lnTo>
                  <a:lnTo>
                    <a:pt x="551" y="1"/>
                  </a:lnTo>
                  <a:lnTo>
                    <a:pt x="557" y="3"/>
                  </a:lnTo>
                  <a:lnTo>
                    <a:pt x="563" y="3"/>
                  </a:lnTo>
                  <a:lnTo>
                    <a:pt x="568" y="4"/>
                  </a:lnTo>
                  <a:lnTo>
                    <a:pt x="573" y="4"/>
                  </a:lnTo>
                  <a:lnTo>
                    <a:pt x="578" y="6"/>
                  </a:lnTo>
                  <a:lnTo>
                    <a:pt x="583" y="6"/>
                  </a:lnTo>
                  <a:lnTo>
                    <a:pt x="588" y="6"/>
                  </a:lnTo>
                  <a:lnTo>
                    <a:pt x="594" y="7"/>
                  </a:lnTo>
                  <a:lnTo>
                    <a:pt x="598" y="9"/>
                  </a:lnTo>
                  <a:lnTo>
                    <a:pt x="604" y="9"/>
                  </a:lnTo>
                  <a:lnTo>
                    <a:pt x="608" y="9"/>
                  </a:lnTo>
                  <a:lnTo>
                    <a:pt x="614" y="10"/>
                  </a:lnTo>
                  <a:lnTo>
                    <a:pt x="618" y="11"/>
                  </a:lnTo>
                  <a:lnTo>
                    <a:pt x="622" y="11"/>
                  </a:lnTo>
                  <a:lnTo>
                    <a:pt x="628" y="14"/>
                  </a:lnTo>
                  <a:lnTo>
                    <a:pt x="632" y="16"/>
                  </a:lnTo>
                  <a:lnTo>
                    <a:pt x="637" y="16"/>
                  </a:lnTo>
                  <a:lnTo>
                    <a:pt x="642" y="17"/>
                  </a:lnTo>
                  <a:lnTo>
                    <a:pt x="647" y="18"/>
                  </a:lnTo>
                  <a:lnTo>
                    <a:pt x="651" y="20"/>
                  </a:lnTo>
                  <a:lnTo>
                    <a:pt x="654" y="21"/>
                  </a:lnTo>
                  <a:lnTo>
                    <a:pt x="658" y="21"/>
                  </a:lnTo>
                  <a:lnTo>
                    <a:pt x="662" y="23"/>
                  </a:lnTo>
                  <a:lnTo>
                    <a:pt x="666" y="24"/>
                  </a:lnTo>
                  <a:lnTo>
                    <a:pt x="671" y="24"/>
                  </a:lnTo>
                  <a:lnTo>
                    <a:pt x="675" y="27"/>
                  </a:lnTo>
                  <a:lnTo>
                    <a:pt x="678" y="28"/>
                  </a:lnTo>
                  <a:lnTo>
                    <a:pt x="681" y="30"/>
                  </a:lnTo>
                  <a:lnTo>
                    <a:pt x="685" y="30"/>
                  </a:lnTo>
                  <a:lnTo>
                    <a:pt x="688" y="31"/>
                  </a:lnTo>
                  <a:lnTo>
                    <a:pt x="691" y="33"/>
                  </a:lnTo>
                  <a:lnTo>
                    <a:pt x="695" y="34"/>
                  </a:lnTo>
                  <a:lnTo>
                    <a:pt x="698" y="36"/>
                  </a:lnTo>
                  <a:lnTo>
                    <a:pt x="701" y="37"/>
                  </a:lnTo>
                  <a:lnTo>
                    <a:pt x="703" y="38"/>
                  </a:lnTo>
                  <a:lnTo>
                    <a:pt x="709" y="40"/>
                  </a:lnTo>
                  <a:lnTo>
                    <a:pt x="715" y="44"/>
                  </a:lnTo>
                  <a:lnTo>
                    <a:pt x="718" y="47"/>
                  </a:lnTo>
                  <a:lnTo>
                    <a:pt x="722" y="50"/>
                  </a:lnTo>
                  <a:lnTo>
                    <a:pt x="725" y="51"/>
                  </a:lnTo>
                  <a:lnTo>
                    <a:pt x="729" y="54"/>
                  </a:lnTo>
                  <a:lnTo>
                    <a:pt x="730" y="57"/>
                  </a:lnTo>
                  <a:lnTo>
                    <a:pt x="732" y="58"/>
                  </a:lnTo>
                  <a:lnTo>
                    <a:pt x="732" y="61"/>
                  </a:lnTo>
                  <a:lnTo>
                    <a:pt x="733" y="64"/>
                  </a:lnTo>
                  <a:lnTo>
                    <a:pt x="735" y="67"/>
                  </a:lnTo>
                  <a:lnTo>
                    <a:pt x="736" y="71"/>
                  </a:lnTo>
                  <a:lnTo>
                    <a:pt x="737" y="74"/>
                  </a:lnTo>
                  <a:lnTo>
                    <a:pt x="739" y="78"/>
                  </a:lnTo>
                  <a:lnTo>
                    <a:pt x="740" y="81"/>
                  </a:lnTo>
                  <a:lnTo>
                    <a:pt x="745" y="87"/>
                  </a:lnTo>
                  <a:lnTo>
                    <a:pt x="746" y="90"/>
                  </a:lnTo>
                  <a:lnTo>
                    <a:pt x="750" y="95"/>
                  </a:lnTo>
                  <a:lnTo>
                    <a:pt x="753" y="100"/>
                  </a:lnTo>
                  <a:lnTo>
                    <a:pt x="759" y="104"/>
                  </a:lnTo>
                  <a:lnTo>
                    <a:pt x="762" y="107"/>
                  </a:lnTo>
                  <a:lnTo>
                    <a:pt x="767" y="111"/>
                  </a:lnTo>
                  <a:lnTo>
                    <a:pt x="769" y="112"/>
                  </a:lnTo>
                  <a:lnTo>
                    <a:pt x="772" y="114"/>
                  </a:lnTo>
                  <a:lnTo>
                    <a:pt x="777" y="115"/>
                  </a:lnTo>
                  <a:lnTo>
                    <a:pt x="779" y="117"/>
                  </a:lnTo>
                  <a:lnTo>
                    <a:pt x="784" y="118"/>
                  </a:lnTo>
                  <a:lnTo>
                    <a:pt x="790" y="118"/>
                  </a:lnTo>
                  <a:lnTo>
                    <a:pt x="793" y="118"/>
                  </a:lnTo>
                  <a:lnTo>
                    <a:pt x="796" y="118"/>
                  </a:lnTo>
                  <a:lnTo>
                    <a:pt x="799" y="118"/>
                  </a:lnTo>
                  <a:lnTo>
                    <a:pt x="803" y="117"/>
                  </a:lnTo>
                  <a:lnTo>
                    <a:pt x="806" y="115"/>
                  </a:lnTo>
                  <a:lnTo>
                    <a:pt x="808" y="114"/>
                  </a:lnTo>
                  <a:lnTo>
                    <a:pt x="813" y="114"/>
                  </a:lnTo>
                  <a:lnTo>
                    <a:pt x="816" y="112"/>
                  </a:lnTo>
                  <a:lnTo>
                    <a:pt x="818" y="111"/>
                  </a:lnTo>
                  <a:lnTo>
                    <a:pt x="821" y="110"/>
                  </a:lnTo>
                  <a:lnTo>
                    <a:pt x="824" y="108"/>
                  </a:lnTo>
                  <a:lnTo>
                    <a:pt x="828" y="107"/>
                  </a:lnTo>
                  <a:lnTo>
                    <a:pt x="831" y="105"/>
                  </a:lnTo>
                  <a:lnTo>
                    <a:pt x="834" y="104"/>
                  </a:lnTo>
                  <a:lnTo>
                    <a:pt x="838" y="102"/>
                  </a:lnTo>
                  <a:lnTo>
                    <a:pt x="841" y="100"/>
                  </a:lnTo>
                  <a:lnTo>
                    <a:pt x="845" y="100"/>
                  </a:lnTo>
                  <a:lnTo>
                    <a:pt x="848" y="98"/>
                  </a:lnTo>
                  <a:lnTo>
                    <a:pt x="850" y="97"/>
                  </a:lnTo>
                  <a:lnTo>
                    <a:pt x="854" y="97"/>
                  </a:lnTo>
                  <a:lnTo>
                    <a:pt x="855" y="94"/>
                  </a:lnTo>
                  <a:lnTo>
                    <a:pt x="861" y="92"/>
                  </a:lnTo>
                  <a:lnTo>
                    <a:pt x="862" y="92"/>
                  </a:lnTo>
                  <a:lnTo>
                    <a:pt x="865" y="92"/>
                  </a:lnTo>
                  <a:lnTo>
                    <a:pt x="871" y="92"/>
                  </a:lnTo>
                  <a:lnTo>
                    <a:pt x="875" y="92"/>
                  </a:lnTo>
                  <a:lnTo>
                    <a:pt x="880" y="95"/>
                  </a:lnTo>
                  <a:lnTo>
                    <a:pt x="887" y="97"/>
                  </a:lnTo>
                  <a:lnTo>
                    <a:pt x="892" y="98"/>
                  </a:lnTo>
                  <a:lnTo>
                    <a:pt x="897" y="101"/>
                  </a:lnTo>
                  <a:lnTo>
                    <a:pt x="901" y="102"/>
                  </a:lnTo>
                  <a:lnTo>
                    <a:pt x="905" y="105"/>
                  </a:lnTo>
                  <a:lnTo>
                    <a:pt x="909" y="108"/>
                  </a:lnTo>
                  <a:lnTo>
                    <a:pt x="914" y="111"/>
                  </a:lnTo>
                  <a:lnTo>
                    <a:pt x="916" y="114"/>
                  </a:lnTo>
                  <a:lnTo>
                    <a:pt x="921" y="117"/>
                  </a:lnTo>
                  <a:lnTo>
                    <a:pt x="924" y="119"/>
                  </a:lnTo>
                  <a:lnTo>
                    <a:pt x="926" y="124"/>
                  </a:lnTo>
                  <a:lnTo>
                    <a:pt x="928" y="128"/>
                  </a:lnTo>
                  <a:lnTo>
                    <a:pt x="931" y="131"/>
                  </a:lnTo>
                  <a:lnTo>
                    <a:pt x="932" y="135"/>
                  </a:lnTo>
                  <a:lnTo>
                    <a:pt x="935" y="139"/>
                  </a:lnTo>
                  <a:lnTo>
                    <a:pt x="936" y="144"/>
                  </a:lnTo>
                  <a:lnTo>
                    <a:pt x="939" y="148"/>
                  </a:lnTo>
                  <a:lnTo>
                    <a:pt x="939" y="154"/>
                  </a:lnTo>
                  <a:lnTo>
                    <a:pt x="939" y="158"/>
                  </a:lnTo>
                  <a:lnTo>
                    <a:pt x="941" y="164"/>
                  </a:lnTo>
                  <a:lnTo>
                    <a:pt x="941" y="168"/>
                  </a:lnTo>
                  <a:lnTo>
                    <a:pt x="941" y="171"/>
                  </a:lnTo>
                  <a:lnTo>
                    <a:pt x="941" y="174"/>
                  </a:lnTo>
                  <a:lnTo>
                    <a:pt x="941" y="176"/>
                  </a:lnTo>
                  <a:lnTo>
                    <a:pt x="942" y="181"/>
                  </a:lnTo>
                  <a:lnTo>
                    <a:pt x="941" y="183"/>
                  </a:lnTo>
                  <a:lnTo>
                    <a:pt x="941" y="186"/>
                  </a:lnTo>
                  <a:lnTo>
                    <a:pt x="941" y="189"/>
                  </a:lnTo>
                  <a:lnTo>
                    <a:pt x="941" y="192"/>
                  </a:lnTo>
                  <a:lnTo>
                    <a:pt x="939" y="195"/>
                  </a:lnTo>
                  <a:lnTo>
                    <a:pt x="939" y="198"/>
                  </a:lnTo>
                  <a:lnTo>
                    <a:pt x="939" y="201"/>
                  </a:lnTo>
                  <a:lnTo>
                    <a:pt x="939" y="205"/>
                  </a:lnTo>
                  <a:lnTo>
                    <a:pt x="936" y="208"/>
                  </a:lnTo>
                  <a:lnTo>
                    <a:pt x="936" y="210"/>
                  </a:lnTo>
                  <a:lnTo>
                    <a:pt x="936" y="215"/>
                  </a:lnTo>
                  <a:lnTo>
                    <a:pt x="935" y="218"/>
                  </a:lnTo>
                  <a:lnTo>
                    <a:pt x="934" y="220"/>
                  </a:lnTo>
                  <a:lnTo>
                    <a:pt x="934" y="225"/>
                  </a:lnTo>
                  <a:lnTo>
                    <a:pt x="934" y="228"/>
                  </a:lnTo>
                  <a:lnTo>
                    <a:pt x="934" y="233"/>
                  </a:lnTo>
                  <a:lnTo>
                    <a:pt x="932" y="235"/>
                  </a:lnTo>
                  <a:lnTo>
                    <a:pt x="931" y="238"/>
                  </a:lnTo>
                  <a:lnTo>
                    <a:pt x="931" y="240"/>
                  </a:lnTo>
                  <a:lnTo>
                    <a:pt x="929" y="243"/>
                  </a:lnTo>
                  <a:lnTo>
                    <a:pt x="928" y="246"/>
                  </a:lnTo>
                  <a:lnTo>
                    <a:pt x="926" y="249"/>
                  </a:lnTo>
                  <a:lnTo>
                    <a:pt x="926" y="252"/>
                  </a:lnTo>
                  <a:lnTo>
                    <a:pt x="925" y="255"/>
                  </a:lnTo>
                  <a:lnTo>
                    <a:pt x="924" y="259"/>
                  </a:lnTo>
                  <a:lnTo>
                    <a:pt x="921" y="265"/>
                  </a:lnTo>
                  <a:lnTo>
                    <a:pt x="918" y="270"/>
                  </a:lnTo>
                  <a:lnTo>
                    <a:pt x="915" y="274"/>
                  </a:lnTo>
                  <a:lnTo>
                    <a:pt x="911" y="279"/>
                  </a:lnTo>
                  <a:lnTo>
                    <a:pt x="908" y="283"/>
                  </a:lnTo>
                  <a:lnTo>
                    <a:pt x="904" y="289"/>
                  </a:lnTo>
                  <a:lnTo>
                    <a:pt x="901" y="292"/>
                  </a:lnTo>
                  <a:lnTo>
                    <a:pt x="897" y="296"/>
                  </a:lnTo>
                  <a:lnTo>
                    <a:pt x="892" y="299"/>
                  </a:lnTo>
                  <a:lnTo>
                    <a:pt x="889" y="302"/>
                  </a:lnTo>
                  <a:lnTo>
                    <a:pt x="885" y="306"/>
                  </a:lnTo>
                  <a:lnTo>
                    <a:pt x="880" y="309"/>
                  </a:lnTo>
                  <a:lnTo>
                    <a:pt x="877" y="310"/>
                  </a:lnTo>
                  <a:lnTo>
                    <a:pt x="871" y="313"/>
                  </a:lnTo>
                  <a:lnTo>
                    <a:pt x="867" y="316"/>
                  </a:lnTo>
                  <a:lnTo>
                    <a:pt x="862" y="317"/>
                  </a:lnTo>
                  <a:lnTo>
                    <a:pt x="858" y="319"/>
                  </a:lnTo>
                  <a:lnTo>
                    <a:pt x="853" y="320"/>
                  </a:lnTo>
                  <a:lnTo>
                    <a:pt x="848" y="321"/>
                  </a:lnTo>
                  <a:lnTo>
                    <a:pt x="843" y="321"/>
                  </a:lnTo>
                  <a:lnTo>
                    <a:pt x="837" y="323"/>
                  </a:lnTo>
                  <a:lnTo>
                    <a:pt x="831" y="323"/>
                  </a:lnTo>
                  <a:lnTo>
                    <a:pt x="827" y="323"/>
                  </a:lnTo>
                  <a:lnTo>
                    <a:pt x="821" y="321"/>
                  </a:lnTo>
                  <a:lnTo>
                    <a:pt x="816" y="320"/>
                  </a:lnTo>
                  <a:lnTo>
                    <a:pt x="811" y="320"/>
                  </a:lnTo>
                  <a:lnTo>
                    <a:pt x="807" y="319"/>
                  </a:lnTo>
                  <a:lnTo>
                    <a:pt x="803" y="317"/>
                  </a:lnTo>
                  <a:lnTo>
                    <a:pt x="799" y="313"/>
                  </a:lnTo>
                  <a:lnTo>
                    <a:pt x="794" y="311"/>
                  </a:lnTo>
                  <a:lnTo>
                    <a:pt x="791" y="310"/>
                  </a:lnTo>
                  <a:lnTo>
                    <a:pt x="787" y="304"/>
                  </a:lnTo>
                  <a:lnTo>
                    <a:pt x="784" y="300"/>
                  </a:lnTo>
                  <a:lnTo>
                    <a:pt x="783" y="296"/>
                  </a:lnTo>
                  <a:lnTo>
                    <a:pt x="781" y="293"/>
                  </a:lnTo>
                  <a:lnTo>
                    <a:pt x="780" y="290"/>
                  </a:lnTo>
                  <a:lnTo>
                    <a:pt x="779" y="287"/>
                  </a:lnTo>
                  <a:lnTo>
                    <a:pt x="779" y="283"/>
                  </a:lnTo>
                  <a:lnTo>
                    <a:pt x="779" y="280"/>
                  </a:lnTo>
                  <a:lnTo>
                    <a:pt x="779" y="277"/>
                  </a:lnTo>
                  <a:lnTo>
                    <a:pt x="779" y="274"/>
                  </a:lnTo>
                  <a:lnTo>
                    <a:pt x="779" y="270"/>
                  </a:lnTo>
                  <a:lnTo>
                    <a:pt x="777" y="267"/>
                  </a:lnTo>
                  <a:lnTo>
                    <a:pt x="777" y="265"/>
                  </a:lnTo>
                  <a:lnTo>
                    <a:pt x="777" y="260"/>
                  </a:lnTo>
                  <a:lnTo>
                    <a:pt x="776" y="257"/>
                  </a:lnTo>
                  <a:lnTo>
                    <a:pt x="774" y="255"/>
                  </a:lnTo>
                  <a:lnTo>
                    <a:pt x="773" y="252"/>
                  </a:lnTo>
                  <a:lnTo>
                    <a:pt x="772" y="249"/>
                  </a:lnTo>
                  <a:lnTo>
                    <a:pt x="769" y="243"/>
                  </a:lnTo>
                  <a:lnTo>
                    <a:pt x="766" y="239"/>
                  </a:lnTo>
                  <a:lnTo>
                    <a:pt x="762" y="236"/>
                  </a:lnTo>
                  <a:lnTo>
                    <a:pt x="759" y="235"/>
                  </a:lnTo>
                  <a:lnTo>
                    <a:pt x="756" y="233"/>
                  </a:lnTo>
                  <a:lnTo>
                    <a:pt x="753" y="233"/>
                  </a:lnTo>
                  <a:lnTo>
                    <a:pt x="749" y="230"/>
                  </a:lnTo>
                  <a:lnTo>
                    <a:pt x="746" y="229"/>
                  </a:lnTo>
                  <a:lnTo>
                    <a:pt x="743" y="229"/>
                  </a:lnTo>
                  <a:lnTo>
                    <a:pt x="739" y="229"/>
                  </a:lnTo>
                  <a:lnTo>
                    <a:pt x="735" y="226"/>
                  </a:lnTo>
                  <a:lnTo>
                    <a:pt x="730" y="226"/>
                  </a:lnTo>
                  <a:lnTo>
                    <a:pt x="725" y="226"/>
                  </a:lnTo>
                  <a:lnTo>
                    <a:pt x="722" y="228"/>
                  </a:lnTo>
                  <a:lnTo>
                    <a:pt x="716" y="229"/>
                  </a:lnTo>
                  <a:lnTo>
                    <a:pt x="713" y="229"/>
                  </a:lnTo>
                  <a:lnTo>
                    <a:pt x="709" y="232"/>
                  </a:lnTo>
                  <a:lnTo>
                    <a:pt x="705" y="233"/>
                  </a:lnTo>
                  <a:lnTo>
                    <a:pt x="701" y="235"/>
                  </a:lnTo>
                  <a:lnTo>
                    <a:pt x="696" y="238"/>
                  </a:lnTo>
                  <a:lnTo>
                    <a:pt x="691" y="239"/>
                  </a:lnTo>
                  <a:lnTo>
                    <a:pt x="685" y="242"/>
                  </a:lnTo>
                  <a:lnTo>
                    <a:pt x="683" y="243"/>
                  </a:lnTo>
                  <a:lnTo>
                    <a:pt x="681" y="245"/>
                  </a:lnTo>
                  <a:lnTo>
                    <a:pt x="678" y="246"/>
                  </a:lnTo>
                  <a:lnTo>
                    <a:pt x="675" y="247"/>
                  </a:lnTo>
                  <a:lnTo>
                    <a:pt x="672" y="246"/>
                  </a:lnTo>
                  <a:lnTo>
                    <a:pt x="669" y="246"/>
                  </a:lnTo>
                  <a:lnTo>
                    <a:pt x="666" y="246"/>
                  </a:lnTo>
                  <a:lnTo>
                    <a:pt x="662" y="245"/>
                  </a:lnTo>
                  <a:lnTo>
                    <a:pt x="656" y="243"/>
                  </a:lnTo>
                  <a:lnTo>
                    <a:pt x="651" y="242"/>
                  </a:lnTo>
                  <a:lnTo>
                    <a:pt x="649" y="240"/>
                  </a:lnTo>
                  <a:lnTo>
                    <a:pt x="647" y="239"/>
                  </a:lnTo>
                  <a:lnTo>
                    <a:pt x="644" y="238"/>
                  </a:lnTo>
                  <a:lnTo>
                    <a:pt x="641" y="236"/>
                  </a:lnTo>
                  <a:lnTo>
                    <a:pt x="637" y="236"/>
                  </a:lnTo>
                  <a:lnTo>
                    <a:pt x="632" y="233"/>
                  </a:lnTo>
                  <a:lnTo>
                    <a:pt x="628" y="233"/>
                  </a:lnTo>
                  <a:lnTo>
                    <a:pt x="625" y="230"/>
                  </a:lnTo>
                  <a:lnTo>
                    <a:pt x="621" y="229"/>
                  </a:lnTo>
                  <a:lnTo>
                    <a:pt x="617" y="228"/>
                  </a:lnTo>
                  <a:lnTo>
                    <a:pt x="614" y="226"/>
                  </a:lnTo>
                  <a:lnTo>
                    <a:pt x="610" y="225"/>
                  </a:lnTo>
                  <a:lnTo>
                    <a:pt x="604" y="223"/>
                  </a:lnTo>
                  <a:lnTo>
                    <a:pt x="600" y="220"/>
                  </a:lnTo>
                  <a:lnTo>
                    <a:pt x="597" y="220"/>
                  </a:lnTo>
                  <a:lnTo>
                    <a:pt x="591" y="218"/>
                  </a:lnTo>
                  <a:lnTo>
                    <a:pt x="585" y="218"/>
                  </a:lnTo>
                  <a:lnTo>
                    <a:pt x="581" y="216"/>
                  </a:lnTo>
                  <a:lnTo>
                    <a:pt x="575" y="215"/>
                  </a:lnTo>
                  <a:lnTo>
                    <a:pt x="571" y="213"/>
                  </a:lnTo>
                  <a:lnTo>
                    <a:pt x="566" y="212"/>
                  </a:lnTo>
                  <a:lnTo>
                    <a:pt x="560" y="210"/>
                  </a:lnTo>
                  <a:lnTo>
                    <a:pt x="554" y="210"/>
                  </a:lnTo>
                  <a:lnTo>
                    <a:pt x="550" y="210"/>
                  </a:lnTo>
                  <a:lnTo>
                    <a:pt x="543" y="208"/>
                  </a:lnTo>
                  <a:lnTo>
                    <a:pt x="537" y="208"/>
                  </a:lnTo>
                  <a:lnTo>
                    <a:pt x="531" y="208"/>
                  </a:lnTo>
                  <a:lnTo>
                    <a:pt x="526" y="208"/>
                  </a:lnTo>
                  <a:lnTo>
                    <a:pt x="519" y="206"/>
                  </a:lnTo>
                  <a:lnTo>
                    <a:pt x="513" y="206"/>
                  </a:lnTo>
                  <a:lnTo>
                    <a:pt x="507" y="206"/>
                  </a:lnTo>
                  <a:lnTo>
                    <a:pt x="500" y="206"/>
                  </a:lnTo>
                  <a:lnTo>
                    <a:pt x="494" y="206"/>
                  </a:lnTo>
                  <a:lnTo>
                    <a:pt x="487" y="206"/>
                  </a:lnTo>
                  <a:lnTo>
                    <a:pt x="482" y="208"/>
                  </a:lnTo>
                  <a:lnTo>
                    <a:pt x="475" y="209"/>
                  </a:lnTo>
                  <a:lnTo>
                    <a:pt x="467" y="209"/>
                  </a:lnTo>
                  <a:lnTo>
                    <a:pt x="460" y="210"/>
                  </a:lnTo>
                  <a:lnTo>
                    <a:pt x="453" y="212"/>
                  </a:lnTo>
                  <a:lnTo>
                    <a:pt x="446" y="212"/>
                  </a:lnTo>
                  <a:lnTo>
                    <a:pt x="439" y="215"/>
                  </a:lnTo>
                  <a:lnTo>
                    <a:pt x="432" y="216"/>
                  </a:lnTo>
                  <a:lnTo>
                    <a:pt x="425" y="218"/>
                  </a:lnTo>
                  <a:lnTo>
                    <a:pt x="418" y="220"/>
                  </a:lnTo>
                  <a:lnTo>
                    <a:pt x="411" y="223"/>
                  </a:lnTo>
                  <a:lnTo>
                    <a:pt x="404" y="226"/>
                  </a:lnTo>
                  <a:lnTo>
                    <a:pt x="395" y="229"/>
                  </a:lnTo>
                  <a:lnTo>
                    <a:pt x="388" y="233"/>
                  </a:lnTo>
                  <a:lnTo>
                    <a:pt x="379" y="236"/>
                  </a:lnTo>
                  <a:lnTo>
                    <a:pt x="372" y="242"/>
                  </a:lnTo>
                  <a:lnTo>
                    <a:pt x="364" y="245"/>
                  </a:lnTo>
                  <a:lnTo>
                    <a:pt x="357" y="249"/>
                  </a:lnTo>
                  <a:lnTo>
                    <a:pt x="351" y="252"/>
                  </a:lnTo>
                  <a:lnTo>
                    <a:pt x="344" y="257"/>
                  </a:lnTo>
                  <a:lnTo>
                    <a:pt x="340" y="260"/>
                  </a:lnTo>
                  <a:lnTo>
                    <a:pt x="332" y="265"/>
                  </a:lnTo>
                  <a:lnTo>
                    <a:pt x="327" y="269"/>
                  </a:lnTo>
                  <a:lnTo>
                    <a:pt x="323" y="273"/>
                  </a:lnTo>
                  <a:lnTo>
                    <a:pt x="318" y="277"/>
                  </a:lnTo>
                  <a:lnTo>
                    <a:pt x="314" y="282"/>
                  </a:lnTo>
                  <a:lnTo>
                    <a:pt x="308" y="286"/>
                  </a:lnTo>
                  <a:lnTo>
                    <a:pt x="304" y="292"/>
                  </a:lnTo>
                  <a:lnTo>
                    <a:pt x="300" y="296"/>
                  </a:lnTo>
                  <a:lnTo>
                    <a:pt x="296" y="300"/>
                  </a:lnTo>
                  <a:lnTo>
                    <a:pt x="290" y="304"/>
                  </a:lnTo>
                  <a:lnTo>
                    <a:pt x="288" y="310"/>
                  </a:lnTo>
                  <a:lnTo>
                    <a:pt x="284" y="314"/>
                  </a:lnTo>
                  <a:lnTo>
                    <a:pt x="280" y="320"/>
                  </a:lnTo>
                  <a:lnTo>
                    <a:pt x="277" y="324"/>
                  </a:lnTo>
                  <a:lnTo>
                    <a:pt x="273" y="330"/>
                  </a:lnTo>
                  <a:lnTo>
                    <a:pt x="270" y="334"/>
                  </a:lnTo>
                  <a:lnTo>
                    <a:pt x="269" y="338"/>
                  </a:lnTo>
                  <a:lnTo>
                    <a:pt x="264" y="346"/>
                  </a:lnTo>
                  <a:lnTo>
                    <a:pt x="263" y="350"/>
                  </a:lnTo>
                  <a:lnTo>
                    <a:pt x="260" y="356"/>
                  </a:lnTo>
                  <a:lnTo>
                    <a:pt x="259" y="361"/>
                  </a:lnTo>
                  <a:lnTo>
                    <a:pt x="254" y="366"/>
                  </a:lnTo>
                  <a:lnTo>
                    <a:pt x="253" y="373"/>
                  </a:lnTo>
                  <a:lnTo>
                    <a:pt x="250" y="377"/>
                  </a:lnTo>
                  <a:lnTo>
                    <a:pt x="249" y="383"/>
                  </a:lnTo>
                  <a:lnTo>
                    <a:pt x="247" y="387"/>
                  </a:lnTo>
                  <a:lnTo>
                    <a:pt x="246" y="393"/>
                  </a:lnTo>
                  <a:lnTo>
                    <a:pt x="243" y="398"/>
                  </a:lnTo>
                  <a:lnTo>
                    <a:pt x="243" y="404"/>
                  </a:lnTo>
                  <a:lnTo>
                    <a:pt x="242" y="408"/>
                  </a:lnTo>
                  <a:lnTo>
                    <a:pt x="240" y="414"/>
                  </a:lnTo>
                  <a:lnTo>
                    <a:pt x="239" y="420"/>
                  </a:lnTo>
                  <a:lnTo>
                    <a:pt x="239" y="425"/>
                  </a:lnTo>
                  <a:lnTo>
                    <a:pt x="237" y="431"/>
                  </a:lnTo>
                  <a:lnTo>
                    <a:pt x="236" y="437"/>
                  </a:lnTo>
                  <a:lnTo>
                    <a:pt x="236" y="441"/>
                  </a:lnTo>
                  <a:lnTo>
                    <a:pt x="234" y="447"/>
                  </a:lnTo>
                  <a:lnTo>
                    <a:pt x="233" y="454"/>
                  </a:lnTo>
                  <a:lnTo>
                    <a:pt x="233" y="458"/>
                  </a:lnTo>
                  <a:lnTo>
                    <a:pt x="233" y="464"/>
                  </a:lnTo>
                  <a:lnTo>
                    <a:pt x="233" y="469"/>
                  </a:lnTo>
                  <a:lnTo>
                    <a:pt x="232" y="474"/>
                  </a:lnTo>
                  <a:lnTo>
                    <a:pt x="232" y="479"/>
                  </a:lnTo>
                  <a:lnTo>
                    <a:pt x="232" y="485"/>
                  </a:lnTo>
                  <a:lnTo>
                    <a:pt x="232" y="491"/>
                  </a:lnTo>
                  <a:lnTo>
                    <a:pt x="230" y="495"/>
                  </a:lnTo>
                  <a:lnTo>
                    <a:pt x="230" y="499"/>
                  </a:lnTo>
                  <a:lnTo>
                    <a:pt x="230" y="505"/>
                  </a:lnTo>
                  <a:lnTo>
                    <a:pt x="230" y="511"/>
                  </a:lnTo>
                  <a:lnTo>
                    <a:pt x="230" y="515"/>
                  </a:lnTo>
                  <a:lnTo>
                    <a:pt x="230" y="519"/>
                  </a:lnTo>
                  <a:lnTo>
                    <a:pt x="230" y="525"/>
                  </a:lnTo>
                  <a:lnTo>
                    <a:pt x="232" y="529"/>
                  </a:lnTo>
                  <a:lnTo>
                    <a:pt x="232" y="535"/>
                  </a:lnTo>
                  <a:lnTo>
                    <a:pt x="232" y="539"/>
                  </a:lnTo>
                  <a:lnTo>
                    <a:pt x="232" y="543"/>
                  </a:lnTo>
                  <a:lnTo>
                    <a:pt x="232" y="548"/>
                  </a:lnTo>
                  <a:lnTo>
                    <a:pt x="232" y="552"/>
                  </a:lnTo>
                  <a:lnTo>
                    <a:pt x="233" y="556"/>
                  </a:lnTo>
                  <a:lnTo>
                    <a:pt x="233" y="560"/>
                  </a:lnTo>
                  <a:lnTo>
                    <a:pt x="233" y="566"/>
                  </a:lnTo>
                  <a:lnTo>
                    <a:pt x="233" y="569"/>
                  </a:lnTo>
                  <a:lnTo>
                    <a:pt x="233" y="573"/>
                  </a:lnTo>
                  <a:lnTo>
                    <a:pt x="233" y="576"/>
                  </a:lnTo>
                  <a:lnTo>
                    <a:pt x="234" y="580"/>
                  </a:lnTo>
                  <a:lnTo>
                    <a:pt x="234" y="585"/>
                  </a:lnTo>
                  <a:lnTo>
                    <a:pt x="236" y="589"/>
                  </a:lnTo>
                  <a:lnTo>
                    <a:pt x="236" y="592"/>
                  </a:lnTo>
                  <a:lnTo>
                    <a:pt x="237" y="596"/>
                  </a:lnTo>
                  <a:lnTo>
                    <a:pt x="239" y="599"/>
                  </a:lnTo>
                  <a:lnTo>
                    <a:pt x="239" y="603"/>
                  </a:lnTo>
                  <a:lnTo>
                    <a:pt x="239" y="606"/>
                  </a:lnTo>
                  <a:lnTo>
                    <a:pt x="240" y="610"/>
                  </a:lnTo>
                  <a:lnTo>
                    <a:pt x="242" y="613"/>
                  </a:lnTo>
                  <a:lnTo>
                    <a:pt x="242" y="616"/>
                  </a:lnTo>
                  <a:lnTo>
                    <a:pt x="243" y="620"/>
                  </a:lnTo>
                  <a:lnTo>
                    <a:pt x="244" y="623"/>
                  </a:lnTo>
                  <a:lnTo>
                    <a:pt x="246" y="626"/>
                  </a:lnTo>
                  <a:lnTo>
                    <a:pt x="246" y="629"/>
                  </a:lnTo>
                  <a:lnTo>
                    <a:pt x="247" y="631"/>
                  </a:lnTo>
                  <a:lnTo>
                    <a:pt x="249" y="634"/>
                  </a:lnTo>
                  <a:lnTo>
                    <a:pt x="250" y="637"/>
                  </a:lnTo>
                  <a:lnTo>
                    <a:pt x="251" y="640"/>
                  </a:lnTo>
                  <a:lnTo>
                    <a:pt x="253" y="643"/>
                  </a:lnTo>
                  <a:lnTo>
                    <a:pt x="254" y="646"/>
                  </a:lnTo>
                  <a:lnTo>
                    <a:pt x="257" y="651"/>
                  </a:lnTo>
                  <a:lnTo>
                    <a:pt x="259" y="656"/>
                  </a:lnTo>
                  <a:lnTo>
                    <a:pt x="261" y="660"/>
                  </a:lnTo>
                  <a:lnTo>
                    <a:pt x="264" y="666"/>
                  </a:lnTo>
                  <a:lnTo>
                    <a:pt x="267" y="670"/>
                  </a:lnTo>
                  <a:lnTo>
                    <a:pt x="269" y="674"/>
                  </a:lnTo>
                  <a:lnTo>
                    <a:pt x="270" y="678"/>
                  </a:lnTo>
                  <a:lnTo>
                    <a:pt x="273" y="681"/>
                  </a:lnTo>
                  <a:lnTo>
                    <a:pt x="273" y="684"/>
                  </a:lnTo>
                  <a:lnTo>
                    <a:pt x="276" y="688"/>
                  </a:lnTo>
                  <a:lnTo>
                    <a:pt x="276" y="691"/>
                  </a:lnTo>
                  <a:lnTo>
                    <a:pt x="277" y="694"/>
                  </a:lnTo>
                  <a:lnTo>
                    <a:pt x="277" y="700"/>
                  </a:lnTo>
                  <a:lnTo>
                    <a:pt x="277" y="704"/>
                  </a:lnTo>
                  <a:lnTo>
                    <a:pt x="276" y="707"/>
                  </a:lnTo>
                  <a:lnTo>
                    <a:pt x="271" y="711"/>
                  </a:lnTo>
                  <a:lnTo>
                    <a:pt x="266" y="713"/>
                  </a:lnTo>
                  <a:lnTo>
                    <a:pt x="261" y="714"/>
                  </a:lnTo>
                  <a:lnTo>
                    <a:pt x="257" y="714"/>
                  </a:lnTo>
                  <a:lnTo>
                    <a:pt x="251" y="715"/>
                  </a:lnTo>
                  <a:lnTo>
                    <a:pt x="247" y="715"/>
                  </a:lnTo>
                  <a:lnTo>
                    <a:pt x="242" y="715"/>
                  </a:lnTo>
                  <a:lnTo>
                    <a:pt x="239" y="715"/>
                  </a:lnTo>
                  <a:lnTo>
                    <a:pt x="237" y="715"/>
                  </a:lnTo>
                  <a:lnTo>
                    <a:pt x="233" y="715"/>
                  </a:lnTo>
                  <a:lnTo>
                    <a:pt x="232" y="717"/>
                  </a:lnTo>
                  <a:lnTo>
                    <a:pt x="227" y="717"/>
                  </a:lnTo>
                  <a:lnTo>
                    <a:pt x="223" y="718"/>
                  </a:lnTo>
                  <a:lnTo>
                    <a:pt x="220" y="718"/>
                  </a:lnTo>
                  <a:lnTo>
                    <a:pt x="216" y="720"/>
                  </a:lnTo>
                  <a:lnTo>
                    <a:pt x="212" y="721"/>
                  </a:lnTo>
                  <a:lnTo>
                    <a:pt x="207" y="722"/>
                  </a:lnTo>
                  <a:lnTo>
                    <a:pt x="203" y="725"/>
                  </a:lnTo>
                  <a:lnTo>
                    <a:pt x="199" y="727"/>
                  </a:lnTo>
                  <a:lnTo>
                    <a:pt x="193" y="728"/>
                  </a:lnTo>
                  <a:lnTo>
                    <a:pt x="188" y="731"/>
                  </a:lnTo>
                  <a:lnTo>
                    <a:pt x="185" y="734"/>
                  </a:lnTo>
                  <a:lnTo>
                    <a:pt x="182" y="734"/>
                  </a:lnTo>
                  <a:lnTo>
                    <a:pt x="179" y="735"/>
                  </a:lnTo>
                  <a:lnTo>
                    <a:pt x="176" y="738"/>
                  </a:lnTo>
                  <a:lnTo>
                    <a:pt x="172" y="740"/>
                  </a:lnTo>
                  <a:lnTo>
                    <a:pt x="169" y="741"/>
                  </a:lnTo>
                  <a:lnTo>
                    <a:pt x="165" y="742"/>
                  </a:lnTo>
                  <a:lnTo>
                    <a:pt x="162" y="745"/>
                  </a:lnTo>
                  <a:lnTo>
                    <a:pt x="159" y="747"/>
                  </a:lnTo>
                  <a:lnTo>
                    <a:pt x="155" y="750"/>
                  </a:lnTo>
                  <a:lnTo>
                    <a:pt x="152" y="752"/>
                  </a:lnTo>
                  <a:lnTo>
                    <a:pt x="149" y="757"/>
                  </a:lnTo>
                  <a:lnTo>
                    <a:pt x="144" y="758"/>
                  </a:lnTo>
                  <a:lnTo>
                    <a:pt x="139" y="761"/>
                  </a:lnTo>
                  <a:lnTo>
                    <a:pt x="136" y="762"/>
                  </a:lnTo>
                  <a:lnTo>
                    <a:pt x="134" y="765"/>
                  </a:lnTo>
                  <a:lnTo>
                    <a:pt x="131" y="768"/>
                  </a:lnTo>
                  <a:lnTo>
                    <a:pt x="126" y="771"/>
                  </a:lnTo>
                  <a:lnTo>
                    <a:pt x="125" y="772"/>
                  </a:lnTo>
                  <a:lnTo>
                    <a:pt x="122" y="775"/>
                  </a:lnTo>
                  <a:lnTo>
                    <a:pt x="117" y="779"/>
                  </a:lnTo>
                  <a:lnTo>
                    <a:pt x="114" y="784"/>
                  </a:lnTo>
                  <a:lnTo>
                    <a:pt x="108" y="788"/>
                  </a:lnTo>
                  <a:lnTo>
                    <a:pt x="105" y="792"/>
                  </a:lnTo>
                  <a:lnTo>
                    <a:pt x="102" y="796"/>
                  </a:lnTo>
                  <a:lnTo>
                    <a:pt x="99" y="799"/>
                  </a:lnTo>
                  <a:lnTo>
                    <a:pt x="98" y="802"/>
                  </a:lnTo>
                  <a:lnTo>
                    <a:pt x="97" y="808"/>
                  </a:lnTo>
                  <a:lnTo>
                    <a:pt x="94" y="809"/>
                  </a:lnTo>
                  <a:lnTo>
                    <a:pt x="94" y="812"/>
                  </a:lnTo>
                  <a:lnTo>
                    <a:pt x="92" y="816"/>
                  </a:lnTo>
                  <a:lnTo>
                    <a:pt x="92" y="819"/>
                  </a:lnTo>
                  <a:lnTo>
                    <a:pt x="90" y="822"/>
                  </a:lnTo>
                  <a:lnTo>
                    <a:pt x="90" y="826"/>
                  </a:lnTo>
                  <a:lnTo>
                    <a:pt x="87" y="831"/>
                  </a:lnTo>
                  <a:lnTo>
                    <a:pt x="85" y="832"/>
                  </a:lnTo>
                  <a:lnTo>
                    <a:pt x="82" y="833"/>
                  </a:lnTo>
                  <a:lnTo>
                    <a:pt x="78" y="833"/>
                  </a:lnTo>
                  <a:lnTo>
                    <a:pt x="77" y="833"/>
                  </a:lnTo>
                  <a:lnTo>
                    <a:pt x="74" y="833"/>
                  </a:lnTo>
                  <a:lnTo>
                    <a:pt x="71" y="832"/>
                  </a:lnTo>
                  <a:lnTo>
                    <a:pt x="68" y="832"/>
                  </a:lnTo>
                  <a:lnTo>
                    <a:pt x="64" y="829"/>
                  </a:lnTo>
                  <a:lnTo>
                    <a:pt x="60" y="825"/>
                  </a:lnTo>
                  <a:lnTo>
                    <a:pt x="57" y="822"/>
                  </a:lnTo>
                  <a:lnTo>
                    <a:pt x="55" y="819"/>
                  </a:lnTo>
                  <a:lnTo>
                    <a:pt x="53" y="818"/>
                  </a:lnTo>
                  <a:lnTo>
                    <a:pt x="51" y="815"/>
                  </a:lnTo>
                  <a:lnTo>
                    <a:pt x="48" y="809"/>
                  </a:lnTo>
                  <a:lnTo>
                    <a:pt x="47" y="805"/>
                  </a:lnTo>
                  <a:lnTo>
                    <a:pt x="44" y="799"/>
                  </a:lnTo>
                  <a:lnTo>
                    <a:pt x="43" y="795"/>
                  </a:lnTo>
                  <a:lnTo>
                    <a:pt x="40" y="789"/>
                  </a:lnTo>
                  <a:lnTo>
                    <a:pt x="40" y="785"/>
                  </a:lnTo>
                  <a:lnTo>
                    <a:pt x="36" y="779"/>
                  </a:lnTo>
                  <a:lnTo>
                    <a:pt x="34" y="772"/>
                  </a:lnTo>
                  <a:lnTo>
                    <a:pt x="31" y="765"/>
                  </a:lnTo>
                  <a:lnTo>
                    <a:pt x="30" y="759"/>
                  </a:lnTo>
                  <a:lnTo>
                    <a:pt x="28" y="751"/>
                  </a:lnTo>
                  <a:lnTo>
                    <a:pt x="27" y="744"/>
                  </a:lnTo>
                  <a:lnTo>
                    <a:pt x="24" y="735"/>
                  </a:lnTo>
                  <a:lnTo>
                    <a:pt x="21" y="728"/>
                  </a:lnTo>
                  <a:lnTo>
                    <a:pt x="20" y="721"/>
                  </a:lnTo>
                  <a:lnTo>
                    <a:pt x="18" y="713"/>
                  </a:lnTo>
                  <a:lnTo>
                    <a:pt x="16" y="704"/>
                  </a:lnTo>
                  <a:lnTo>
                    <a:pt x="16" y="694"/>
                  </a:lnTo>
                  <a:lnTo>
                    <a:pt x="13" y="686"/>
                  </a:lnTo>
                  <a:lnTo>
                    <a:pt x="13" y="677"/>
                  </a:lnTo>
                  <a:lnTo>
                    <a:pt x="10" y="667"/>
                  </a:lnTo>
                  <a:lnTo>
                    <a:pt x="9" y="657"/>
                  </a:lnTo>
                  <a:lnTo>
                    <a:pt x="7" y="649"/>
                  </a:lnTo>
                  <a:lnTo>
                    <a:pt x="6" y="639"/>
                  </a:lnTo>
                  <a:lnTo>
                    <a:pt x="6" y="629"/>
                  </a:lnTo>
                  <a:lnTo>
                    <a:pt x="4" y="619"/>
                  </a:lnTo>
                  <a:lnTo>
                    <a:pt x="3" y="607"/>
                  </a:lnTo>
                  <a:lnTo>
                    <a:pt x="3" y="599"/>
                  </a:lnTo>
                  <a:lnTo>
                    <a:pt x="1" y="589"/>
                  </a:lnTo>
                  <a:lnTo>
                    <a:pt x="0" y="577"/>
                  </a:lnTo>
                  <a:lnTo>
                    <a:pt x="0" y="567"/>
                  </a:lnTo>
                  <a:lnTo>
                    <a:pt x="0" y="556"/>
                  </a:lnTo>
                  <a:lnTo>
                    <a:pt x="0" y="545"/>
                  </a:lnTo>
                  <a:lnTo>
                    <a:pt x="0" y="535"/>
                  </a:lnTo>
                  <a:lnTo>
                    <a:pt x="0" y="525"/>
                  </a:lnTo>
                  <a:lnTo>
                    <a:pt x="0" y="513"/>
                  </a:lnTo>
                  <a:lnTo>
                    <a:pt x="0" y="502"/>
                  </a:lnTo>
                  <a:lnTo>
                    <a:pt x="0" y="492"/>
                  </a:lnTo>
                  <a:lnTo>
                    <a:pt x="1" y="482"/>
                  </a:lnTo>
                  <a:lnTo>
                    <a:pt x="3" y="469"/>
                  </a:lnTo>
                  <a:lnTo>
                    <a:pt x="3" y="459"/>
                  </a:lnTo>
                  <a:lnTo>
                    <a:pt x="4" y="448"/>
                  </a:lnTo>
                  <a:lnTo>
                    <a:pt x="6" y="438"/>
                  </a:lnTo>
                  <a:lnTo>
                    <a:pt x="9" y="427"/>
                  </a:lnTo>
                  <a:lnTo>
                    <a:pt x="9" y="415"/>
                  </a:lnTo>
                  <a:lnTo>
                    <a:pt x="11" y="405"/>
                  </a:lnTo>
                  <a:lnTo>
                    <a:pt x="13" y="394"/>
                  </a:lnTo>
                  <a:lnTo>
                    <a:pt x="16" y="384"/>
                  </a:lnTo>
                  <a:lnTo>
                    <a:pt x="18" y="374"/>
                  </a:lnTo>
                  <a:lnTo>
                    <a:pt x="21" y="363"/>
                  </a:lnTo>
                  <a:lnTo>
                    <a:pt x="24" y="354"/>
                  </a:lnTo>
                  <a:lnTo>
                    <a:pt x="27" y="343"/>
                  </a:lnTo>
                  <a:lnTo>
                    <a:pt x="30" y="333"/>
                  </a:lnTo>
                  <a:lnTo>
                    <a:pt x="34" y="324"/>
                  </a:lnTo>
                  <a:lnTo>
                    <a:pt x="40" y="313"/>
                  </a:lnTo>
                  <a:lnTo>
                    <a:pt x="44" y="304"/>
                  </a:lnTo>
                  <a:close/>
                </a:path>
              </a:pathLst>
            </a:custGeom>
            <a:solidFill>
              <a:srgbClr val="2A40E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2540" name="Freeform 11"/>
            <p:cNvSpPr>
              <a:spLocks/>
            </p:cNvSpPr>
            <p:nvPr/>
          </p:nvSpPr>
          <p:spPr bwMode="auto">
            <a:xfrm>
              <a:off x="1923" y="937"/>
              <a:ext cx="81" cy="29"/>
            </a:xfrm>
            <a:custGeom>
              <a:avLst/>
              <a:gdLst>
                <a:gd name="T0" fmla="*/ 9 w 243"/>
                <a:gd name="T1" fmla="*/ 0 h 87"/>
                <a:gd name="T2" fmla="*/ 10 w 243"/>
                <a:gd name="T3" fmla="*/ 0 h 87"/>
                <a:gd name="T4" fmla="*/ 12 w 243"/>
                <a:gd name="T5" fmla="*/ 0 h 87"/>
                <a:gd name="T6" fmla="*/ 13 w 243"/>
                <a:gd name="T7" fmla="*/ 0 h 87"/>
                <a:gd name="T8" fmla="*/ 14 w 243"/>
                <a:gd name="T9" fmla="*/ 0 h 87"/>
                <a:gd name="T10" fmla="*/ 15 w 243"/>
                <a:gd name="T11" fmla="*/ 0 h 87"/>
                <a:gd name="T12" fmla="*/ 17 w 243"/>
                <a:gd name="T13" fmla="*/ 0 h 87"/>
                <a:gd name="T14" fmla="*/ 18 w 243"/>
                <a:gd name="T15" fmla="*/ 0 h 87"/>
                <a:gd name="T16" fmla="*/ 19 w 243"/>
                <a:gd name="T17" fmla="*/ 1 h 87"/>
                <a:gd name="T18" fmla="*/ 21 w 243"/>
                <a:gd name="T19" fmla="*/ 1 h 87"/>
                <a:gd name="T20" fmla="*/ 22 w 243"/>
                <a:gd name="T21" fmla="*/ 2 h 87"/>
                <a:gd name="T22" fmla="*/ 24 w 243"/>
                <a:gd name="T23" fmla="*/ 3 h 87"/>
                <a:gd name="T24" fmla="*/ 25 w 243"/>
                <a:gd name="T25" fmla="*/ 3 h 87"/>
                <a:gd name="T26" fmla="*/ 26 w 243"/>
                <a:gd name="T27" fmla="*/ 4 h 87"/>
                <a:gd name="T28" fmla="*/ 27 w 243"/>
                <a:gd name="T29" fmla="*/ 5 h 87"/>
                <a:gd name="T30" fmla="*/ 26 w 243"/>
                <a:gd name="T31" fmla="*/ 6 h 87"/>
                <a:gd name="T32" fmla="*/ 25 w 243"/>
                <a:gd name="T33" fmla="*/ 7 h 87"/>
                <a:gd name="T34" fmla="*/ 24 w 243"/>
                <a:gd name="T35" fmla="*/ 7 h 87"/>
                <a:gd name="T36" fmla="*/ 23 w 243"/>
                <a:gd name="T37" fmla="*/ 6 h 87"/>
                <a:gd name="T38" fmla="*/ 22 w 243"/>
                <a:gd name="T39" fmla="*/ 6 h 87"/>
                <a:gd name="T40" fmla="*/ 20 w 243"/>
                <a:gd name="T41" fmla="*/ 6 h 87"/>
                <a:gd name="T42" fmla="*/ 19 w 243"/>
                <a:gd name="T43" fmla="*/ 6 h 87"/>
                <a:gd name="T44" fmla="*/ 18 w 243"/>
                <a:gd name="T45" fmla="*/ 5 h 87"/>
                <a:gd name="T46" fmla="*/ 16 w 243"/>
                <a:gd name="T47" fmla="*/ 5 h 87"/>
                <a:gd name="T48" fmla="*/ 15 w 243"/>
                <a:gd name="T49" fmla="*/ 5 h 87"/>
                <a:gd name="T50" fmla="*/ 13 w 243"/>
                <a:gd name="T51" fmla="*/ 6 h 87"/>
                <a:gd name="T52" fmla="*/ 11 w 243"/>
                <a:gd name="T53" fmla="*/ 6 h 87"/>
                <a:gd name="T54" fmla="*/ 10 w 243"/>
                <a:gd name="T55" fmla="*/ 7 h 87"/>
                <a:gd name="T56" fmla="*/ 9 w 243"/>
                <a:gd name="T57" fmla="*/ 7 h 87"/>
                <a:gd name="T58" fmla="*/ 7 w 243"/>
                <a:gd name="T59" fmla="*/ 8 h 87"/>
                <a:gd name="T60" fmla="*/ 6 w 243"/>
                <a:gd name="T61" fmla="*/ 9 h 87"/>
                <a:gd name="T62" fmla="*/ 5 w 243"/>
                <a:gd name="T63" fmla="*/ 9 h 87"/>
                <a:gd name="T64" fmla="*/ 4 w 243"/>
                <a:gd name="T65" fmla="*/ 9 h 87"/>
                <a:gd name="T66" fmla="*/ 3 w 243"/>
                <a:gd name="T67" fmla="*/ 10 h 87"/>
                <a:gd name="T68" fmla="*/ 1 w 243"/>
                <a:gd name="T69" fmla="*/ 9 h 87"/>
                <a:gd name="T70" fmla="*/ 0 w 243"/>
                <a:gd name="T71" fmla="*/ 8 h 87"/>
                <a:gd name="T72" fmla="*/ 0 w 243"/>
                <a:gd name="T73" fmla="*/ 7 h 87"/>
                <a:gd name="T74" fmla="*/ 0 w 243"/>
                <a:gd name="T75" fmla="*/ 6 h 87"/>
                <a:gd name="T76" fmla="*/ 1 w 243"/>
                <a:gd name="T77" fmla="*/ 4 h 87"/>
                <a:gd name="T78" fmla="*/ 2 w 243"/>
                <a:gd name="T79" fmla="*/ 4 h 87"/>
                <a:gd name="T80" fmla="*/ 3 w 243"/>
                <a:gd name="T81" fmla="*/ 3 h 87"/>
                <a:gd name="T82" fmla="*/ 4 w 243"/>
                <a:gd name="T83" fmla="*/ 2 h 87"/>
                <a:gd name="T84" fmla="*/ 5 w 243"/>
                <a:gd name="T85" fmla="*/ 2 h 87"/>
                <a:gd name="T86" fmla="*/ 7 w 243"/>
                <a:gd name="T87" fmla="*/ 1 h 87"/>
                <a:gd name="T88" fmla="*/ 8 w 243"/>
                <a:gd name="T89" fmla="*/ 1 h 87"/>
                <a:gd name="T90" fmla="*/ 9 w 243"/>
                <a:gd name="T91" fmla="*/ 1 h 8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243" h="87">
                  <a:moveTo>
                    <a:pt x="77" y="6"/>
                  </a:moveTo>
                  <a:lnTo>
                    <a:pt x="80" y="4"/>
                  </a:lnTo>
                  <a:lnTo>
                    <a:pt x="83" y="3"/>
                  </a:lnTo>
                  <a:lnTo>
                    <a:pt x="86" y="3"/>
                  </a:lnTo>
                  <a:lnTo>
                    <a:pt x="90" y="3"/>
                  </a:lnTo>
                  <a:lnTo>
                    <a:pt x="94" y="1"/>
                  </a:lnTo>
                  <a:lnTo>
                    <a:pt x="96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7" y="0"/>
                  </a:lnTo>
                  <a:lnTo>
                    <a:pt x="111" y="0"/>
                  </a:lnTo>
                  <a:lnTo>
                    <a:pt x="114" y="0"/>
                  </a:lnTo>
                  <a:lnTo>
                    <a:pt x="118" y="0"/>
                  </a:lnTo>
                  <a:lnTo>
                    <a:pt x="123" y="0"/>
                  </a:lnTo>
                  <a:lnTo>
                    <a:pt x="126" y="0"/>
                  </a:lnTo>
                  <a:lnTo>
                    <a:pt x="130" y="0"/>
                  </a:lnTo>
                  <a:lnTo>
                    <a:pt x="134" y="0"/>
                  </a:lnTo>
                  <a:lnTo>
                    <a:pt x="137" y="0"/>
                  </a:lnTo>
                  <a:lnTo>
                    <a:pt x="141" y="0"/>
                  </a:lnTo>
                  <a:lnTo>
                    <a:pt x="145" y="1"/>
                  </a:lnTo>
                  <a:lnTo>
                    <a:pt x="150" y="3"/>
                  </a:lnTo>
                  <a:lnTo>
                    <a:pt x="154" y="3"/>
                  </a:lnTo>
                  <a:lnTo>
                    <a:pt x="157" y="3"/>
                  </a:lnTo>
                  <a:lnTo>
                    <a:pt x="161" y="4"/>
                  </a:lnTo>
                  <a:lnTo>
                    <a:pt x="165" y="6"/>
                  </a:lnTo>
                  <a:lnTo>
                    <a:pt x="170" y="7"/>
                  </a:lnTo>
                  <a:lnTo>
                    <a:pt x="175" y="7"/>
                  </a:lnTo>
                  <a:lnTo>
                    <a:pt x="180" y="10"/>
                  </a:lnTo>
                  <a:lnTo>
                    <a:pt x="182" y="11"/>
                  </a:lnTo>
                  <a:lnTo>
                    <a:pt x="188" y="13"/>
                  </a:lnTo>
                  <a:lnTo>
                    <a:pt x="192" y="16"/>
                  </a:lnTo>
                  <a:lnTo>
                    <a:pt x="197" y="17"/>
                  </a:lnTo>
                  <a:lnTo>
                    <a:pt x="202" y="18"/>
                  </a:lnTo>
                  <a:lnTo>
                    <a:pt x="207" y="21"/>
                  </a:lnTo>
                  <a:lnTo>
                    <a:pt x="211" y="23"/>
                  </a:lnTo>
                  <a:lnTo>
                    <a:pt x="214" y="26"/>
                  </a:lnTo>
                  <a:lnTo>
                    <a:pt x="218" y="27"/>
                  </a:lnTo>
                  <a:lnTo>
                    <a:pt x="221" y="28"/>
                  </a:lnTo>
                  <a:lnTo>
                    <a:pt x="224" y="31"/>
                  </a:lnTo>
                  <a:lnTo>
                    <a:pt x="228" y="33"/>
                  </a:lnTo>
                  <a:lnTo>
                    <a:pt x="231" y="36"/>
                  </a:lnTo>
                  <a:lnTo>
                    <a:pt x="235" y="37"/>
                  </a:lnTo>
                  <a:lnTo>
                    <a:pt x="238" y="40"/>
                  </a:lnTo>
                  <a:lnTo>
                    <a:pt x="241" y="43"/>
                  </a:lnTo>
                  <a:lnTo>
                    <a:pt x="243" y="45"/>
                  </a:lnTo>
                  <a:lnTo>
                    <a:pt x="243" y="50"/>
                  </a:lnTo>
                  <a:lnTo>
                    <a:pt x="241" y="54"/>
                  </a:lnTo>
                  <a:lnTo>
                    <a:pt x="238" y="55"/>
                  </a:lnTo>
                  <a:lnTo>
                    <a:pt x="235" y="57"/>
                  </a:lnTo>
                  <a:lnTo>
                    <a:pt x="232" y="58"/>
                  </a:lnTo>
                  <a:lnTo>
                    <a:pt x="228" y="60"/>
                  </a:lnTo>
                  <a:lnTo>
                    <a:pt x="222" y="60"/>
                  </a:lnTo>
                  <a:lnTo>
                    <a:pt x="216" y="60"/>
                  </a:lnTo>
                  <a:lnTo>
                    <a:pt x="214" y="60"/>
                  </a:lnTo>
                  <a:lnTo>
                    <a:pt x="211" y="60"/>
                  </a:lnTo>
                  <a:lnTo>
                    <a:pt x="208" y="60"/>
                  </a:lnTo>
                  <a:lnTo>
                    <a:pt x="205" y="58"/>
                  </a:lnTo>
                  <a:lnTo>
                    <a:pt x="202" y="57"/>
                  </a:lnTo>
                  <a:lnTo>
                    <a:pt x="198" y="57"/>
                  </a:lnTo>
                  <a:lnTo>
                    <a:pt x="194" y="55"/>
                  </a:lnTo>
                  <a:lnTo>
                    <a:pt x="191" y="54"/>
                  </a:lnTo>
                  <a:lnTo>
                    <a:pt x="188" y="54"/>
                  </a:lnTo>
                  <a:lnTo>
                    <a:pt x="184" y="53"/>
                  </a:lnTo>
                  <a:lnTo>
                    <a:pt x="181" y="53"/>
                  </a:lnTo>
                  <a:lnTo>
                    <a:pt x="177" y="51"/>
                  </a:lnTo>
                  <a:lnTo>
                    <a:pt x="174" y="50"/>
                  </a:lnTo>
                  <a:lnTo>
                    <a:pt x="168" y="50"/>
                  </a:lnTo>
                  <a:lnTo>
                    <a:pt x="164" y="47"/>
                  </a:lnTo>
                  <a:lnTo>
                    <a:pt x="161" y="47"/>
                  </a:lnTo>
                  <a:lnTo>
                    <a:pt x="157" y="47"/>
                  </a:lnTo>
                  <a:lnTo>
                    <a:pt x="151" y="45"/>
                  </a:lnTo>
                  <a:lnTo>
                    <a:pt x="148" y="45"/>
                  </a:lnTo>
                  <a:lnTo>
                    <a:pt x="143" y="47"/>
                  </a:lnTo>
                  <a:lnTo>
                    <a:pt x="138" y="47"/>
                  </a:lnTo>
                  <a:lnTo>
                    <a:pt x="133" y="47"/>
                  </a:lnTo>
                  <a:lnTo>
                    <a:pt x="128" y="47"/>
                  </a:lnTo>
                  <a:lnTo>
                    <a:pt x="124" y="50"/>
                  </a:lnTo>
                  <a:lnTo>
                    <a:pt x="118" y="51"/>
                  </a:lnTo>
                  <a:lnTo>
                    <a:pt x="113" y="53"/>
                  </a:lnTo>
                  <a:lnTo>
                    <a:pt x="108" y="54"/>
                  </a:lnTo>
                  <a:lnTo>
                    <a:pt x="103" y="57"/>
                  </a:lnTo>
                  <a:lnTo>
                    <a:pt x="100" y="58"/>
                  </a:lnTo>
                  <a:lnTo>
                    <a:pt x="97" y="60"/>
                  </a:lnTo>
                  <a:lnTo>
                    <a:pt x="94" y="60"/>
                  </a:lnTo>
                  <a:lnTo>
                    <a:pt x="93" y="63"/>
                  </a:lnTo>
                  <a:lnTo>
                    <a:pt x="86" y="64"/>
                  </a:lnTo>
                  <a:lnTo>
                    <a:pt x="81" y="67"/>
                  </a:lnTo>
                  <a:lnTo>
                    <a:pt x="76" y="68"/>
                  </a:lnTo>
                  <a:lnTo>
                    <a:pt x="72" y="71"/>
                  </a:lnTo>
                  <a:lnTo>
                    <a:pt x="67" y="71"/>
                  </a:lnTo>
                  <a:lnTo>
                    <a:pt x="63" y="74"/>
                  </a:lnTo>
                  <a:lnTo>
                    <a:pt x="57" y="75"/>
                  </a:lnTo>
                  <a:lnTo>
                    <a:pt x="53" y="78"/>
                  </a:lnTo>
                  <a:lnTo>
                    <a:pt x="49" y="78"/>
                  </a:lnTo>
                  <a:lnTo>
                    <a:pt x="46" y="81"/>
                  </a:lnTo>
                  <a:lnTo>
                    <a:pt x="42" y="81"/>
                  </a:lnTo>
                  <a:lnTo>
                    <a:pt x="39" y="84"/>
                  </a:lnTo>
                  <a:lnTo>
                    <a:pt x="36" y="84"/>
                  </a:lnTo>
                  <a:lnTo>
                    <a:pt x="32" y="85"/>
                  </a:lnTo>
                  <a:lnTo>
                    <a:pt x="29" y="85"/>
                  </a:lnTo>
                  <a:lnTo>
                    <a:pt x="26" y="87"/>
                  </a:lnTo>
                  <a:lnTo>
                    <a:pt x="23" y="87"/>
                  </a:lnTo>
                  <a:lnTo>
                    <a:pt x="20" y="87"/>
                  </a:lnTo>
                  <a:lnTo>
                    <a:pt x="15" y="87"/>
                  </a:lnTo>
                  <a:lnTo>
                    <a:pt x="10" y="85"/>
                  </a:lnTo>
                  <a:lnTo>
                    <a:pt x="6" y="82"/>
                  </a:lnTo>
                  <a:lnTo>
                    <a:pt x="3" y="80"/>
                  </a:lnTo>
                  <a:lnTo>
                    <a:pt x="2" y="75"/>
                  </a:lnTo>
                  <a:lnTo>
                    <a:pt x="0" y="71"/>
                  </a:lnTo>
                  <a:lnTo>
                    <a:pt x="0" y="68"/>
                  </a:lnTo>
                  <a:lnTo>
                    <a:pt x="0" y="65"/>
                  </a:lnTo>
                  <a:lnTo>
                    <a:pt x="0" y="63"/>
                  </a:lnTo>
                  <a:lnTo>
                    <a:pt x="0" y="60"/>
                  </a:lnTo>
                  <a:lnTo>
                    <a:pt x="2" y="54"/>
                  </a:lnTo>
                  <a:lnTo>
                    <a:pt x="5" y="50"/>
                  </a:lnTo>
                  <a:lnTo>
                    <a:pt x="9" y="44"/>
                  </a:lnTo>
                  <a:lnTo>
                    <a:pt x="12" y="40"/>
                  </a:lnTo>
                  <a:lnTo>
                    <a:pt x="15" y="37"/>
                  </a:lnTo>
                  <a:lnTo>
                    <a:pt x="18" y="36"/>
                  </a:lnTo>
                  <a:lnTo>
                    <a:pt x="20" y="33"/>
                  </a:lnTo>
                  <a:lnTo>
                    <a:pt x="23" y="31"/>
                  </a:lnTo>
                  <a:lnTo>
                    <a:pt x="26" y="28"/>
                  </a:lnTo>
                  <a:lnTo>
                    <a:pt x="29" y="26"/>
                  </a:lnTo>
                  <a:lnTo>
                    <a:pt x="32" y="24"/>
                  </a:lnTo>
                  <a:lnTo>
                    <a:pt x="36" y="23"/>
                  </a:lnTo>
                  <a:lnTo>
                    <a:pt x="39" y="21"/>
                  </a:lnTo>
                  <a:lnTo>
                    <a:pt x="42" y="18"/>
                  </a:lnTo>
                  <a:lnTo>
                    <a:pt x="46" y="17"/>
                  </a:lnTo>
                  <a:lnTo>
                    <a:pt x="49" y="16"/>
                  </a:lnTo>
                  <a:lnTo>
                    <a:pt x="52" y="14"/>
                  </a:lnTo>
                  <a:lnTo>
                    <a:pt x="56" y="13"/>
                  </a:lnTo>
                  <a:lnTo>
                    <a:pt x="59" y="10"/>
                  </a:lnTo>
                  <a:lnTo>
                    <a:pt x="64" y="10"/>
                  </a:lnTo>
                  <a:lnTo>
                    <a:pt x="67" y="7"/>
                  </a:lnTo>
                  <a:lnTo>
                    <a:pt x="70" y="7"/>
                  </a:lnTo>
                  <a:lnTo>
                    <a:pt x="73" y="6"/>
                  </a:lnTo>
                  <a:lnTo>
                    <a:pt x="77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2541" name="Freeform 12"/>
            <p:cNvSpPr>
              <a:spLocks/>
            </p:cNvSpPr>
            <p:nvPr/>
          </p:nvSpPr>
          <p:spPr bwMode="auto">
            <a:xfrm>
              <a:off x="2190" y="1213"/>
              <a:ext cx="34" cy="110"/>
            </a:xfrm>
            <a:custGeom>
              <a:avLst/>
              <a:gdLst>
                <a:gd name="T0" fmla="*/ 2 w 102"/>
                <a:gd name="T1" fmla="*/ 12 h 330"/>
                <a:gd name="T2" fmla="*/ 2 w 102"/>
                <a:gd name="T3" fmla="*/ 13 h 330"/>
                <a:gd name="T4" fmla="*/ 2 w 102"/>
                <a:gd name="T5" fmla="*/ 14 h 330"/>
                <a:gd name="T6" fmla="*/ 2 w 102"/>
                <a:gd name="T7" fmla="*/ 16 h 330"/>
                <a:gd name="T8" fmla="*/ 2 w 102"/>
                <a:gd name="T9" fmla="*/ 17 h 330"/>
                <a:gd name="T10" fmla="*/ 2 w 102"/>
                <a:gd name="T11" fmla="*/ 19 h 330"/>
                <a:gd name="T12" fmla="*/ 2 w 102"/>
                <a:gd name="T13" fmla="*/ 20 h 330"/>
                <a:gd name="T14" fmla="*/ 2 w 102"/>
                <a:gd name="T15" fmla="*/ 22 h 330"/>
                <a:gd name="T16" fmla="*/ 2 w 102"/>
                <a:gd name="T17" fmla="*/ 23 h 330"/>
                <a:gd name="T18" fmla="*/ 2 w 102"/>
                <a:gd name="T19" fmla="*/ 25 h 330"/>
                <a:gd name="T20" fmla="*/ 2 w 102"/>
                <a:gd name="T21" fmla="*/ 27 h 330"/>
                <a:gd name="T22" fmla="*/ 2 w 102"/>
                <a:gd name="T23" fmla="*/ 28 h 330"/>
                <a:gd name="T24" fmla="*/ 2 w 102"/>
                <a:gd name="T25" fmla="*/ 29 h 330"/>
                <a:gd name="T26" fmla="*/ 2 w 102"/>
                <a:gd name="T27" fmla="*/ 30 h 330"/>
                <a:gd name="T28" fmla="*/ 2 w 102"/>
                <a:gd name="T29" fmla="*/ 32 h 330"/>
                <a:gd name="T30" fmla="*/ 2 w 102"/>
                <a:gd name="T31" fmla="*/ 33 h 330"/>
                <a:gd name="T32" fmla="*/ 2 w 102"/>
                <a:gd name="T33" fmla="*/ 34 h 330"/>
                <a:gd name="T34" fmla="*/ 3 w 102"/>
                <a:gd name="T35" fmla="*/ 35 h 330"/>
                <a:gd name="T36" fmla="*/ 4 w 102"/>
                <a:gd name="T37" fmla="*/ 36 h 330"/>
                <a:gd name="T38" fmla="*/ 5 w 102"/>
                <a:gd name="T39" fmla="*/ 36 h 330"/>
                <a:gd name="T40" fmla="*/ 7 w 102"/>
                <a:gd name="T41" fmla="*/ 36 h 330"/>
                <a:gd name="T42" fmla="*/ 8 w 102"/>
                <a:gd name="T43" fmla="*/ 36 h 330"/>
                <a:gd name="T44" fmla="*/ 9 w 102"/>
                <a:gd name="T45" fmla="*/ 35 h 330"/>
                <a:gd name="T46" fmla="*/ 10 w 102"/>
                <a:gd name="T47" fmla="*/ 34 h 330"/>
                <a:gd name="T48" fmla="*/ 11 w 102"/>
                <a:gd name="T49" fmla="*/ 33 h 330"/>
                <a:gd name="T50" fmla="*/ 11 w 102"/>
                <a:gd name="T51" fmla="*/ 31 h 330"/>
                <a:gd name="T52" fmla="*/ 11 w 102"/>
                <a:gd name="T53" fmla="*/ 30 h 330"/>
                <a:gd name="T54" fmla="*/ 11 w 102"/>
                <a:gd name="T55" fmla="*/ 28 h 330"/>
                <a:gd name="T56" fmla="*/ 11 w 102"/>
                <a:gd name="T57" fmla="*/ 27 h 330"/>
                <a:gd name="T58" fmla="*/ 11 w 102"/>
                <a:gd name="T59" fmla="*/ 25 h 330"/>
                <a:gd name="T60" fmla="*/ 11 w 102"/>
                <a:gd name="T61" fmla="*/ 24 h 330"/>
                <a:gd name="T62" fmla="*/ 11 w 102"/>
                <a:gd name="T63" fmla="*/ 23 h 330"/>
                <a:gd name="T64" fmla="*/ 11 w 102"/>
                <a:gd name="T65" fmla="*/ 22 h 330"/>
                <a:gd name="T66" fmla="*/ 10 w 102"/>
                <a:gd name="T67" fmla="*/ 21 h 330"/>
                <a:gd name="T68" fmla="*/ 10 w 102"/>
                <a:gd name="T69" fmla="*/ 19 h 330"/>
                <a:gd name="T70" fmla="*/ 10 w 102"/>
                <a:gd name="T71" fmla="*/ 18 h 330"/>
                <a:gd name="T72" fmla="*/ 9 w 102"/>
                <a:gd name="T73" fmla="*/ 16 h 330"/>
                <a:gd name="T74" fmla="*/ 9 w 102"/>
                <a:gd name="T75" fmla="*/ 14 h 330"/>
                <a:gd name="T76" fmla="*/ 8 w 102"/>
                <a:gd name="T77" fmla="*/ 13 h 330"/>
                <a:gd name="T78" fmla="*/ 8 w 102"/>
                <a:gd name="T79" fmla="*/ 11 h 330"/>
                <a:gd name="T80" fmla="*/ 7 w 102"/>
                <a:gd name="T81" fmla="*/ 9 h 330"/>
                <a:gd name="T82" fmla="*/ 7 w 102"/>
                <a:gd name="T83" fmla="*/ 8 h 330"/>
                <a:gd name="T84" fmla="*/ 6 w 102"/>
                <a:gd name="T85" fmla="*/ 6 h 330"/>
                <a:gd name="T86" fmla="*/ 6 w 102"/>
                <a:gd name="T87" fmla="*/ 5 h 330"/>
                <a:gd name="T88" fmla="*/ 5 w 102"/>
                <a:gd name="T89" fmla="*/ 3 h 330"/>
                <a:gd name="T90" fmla="*/ 4 w 102"/>
                <a:gd name="T91" fmla="*/ 2 h 330"/>
                <a:gd name="T92" fmla="*/ 4 w 102"/>
                <a:gd name="T93" fmla="*/ 2 h 330"/>
                <a:gd name="T94" fmla="*/ 3 w 102"/>
                <a:gd name="T95" fmla="*/ 0 h 330"/>
                <a:gd name="T96" fmla="*/ 2 w 102"/>
                <a:gd name="T97" fmla="*/ 0 h 330"/>
                <a:gd name="T98" fmla="*/ 0 w 102"/>
                <a:gd name="T99" fmla="*/ 2 h 330"/>
                <a:gd name="T100" fmla="*/ 0 w 102"/>
                <a:gd name="T101" fmla="*/ 2 h 330"/>
                <a:gd name="T102" fmla="*/ 0 w 102"/>
                <a:gd name="T103" fmla="*/ 4 h 330"/>
                <a:gd name="T104" fmla="*/ 0 w 102"/>
                <a:gd name="T105" fmla="*/ 5 h 330"/>
                <a:gd name="T106" fmla="*/ 0 w 102"/>
                <a:gd name="T107" fmla="*/ 6 h 330"/>
                <a:gd name="T108" fmla="*/ 1 w 102"/>
                <a:gd name="T109" fmla="*/ 7 h 330"/>
                <a:gd name="T110" fmla="*/ 1 w 102"/>
                <a:gd name="T111" fmla="*/ 9 h 330"/>
                <a:gd name="T112" fmla="*/ 2 w 102"/>
                <a:gd name="T113" fmla="*/ 9 h 330"/>
                <a:gd name="T114" fmla="*/ 2 w 102"/>
                <a:gd name="T115" fmla="*/ 11 h 33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02" h="330">
                  <a:moveTo>
                    <a:pt x="18" y="99"/>
                  </a:moveTo>
                  <a:lnTo>
                    <a:pt x="18" y="102"/>
                  </a:lnTo>
                  <a:lnTo>
                    <a:pt x="18" y="105"/>
                  </a:lnTo>
                  <a:lnTo>
                    <a:pt x="18" y="109"/>
                  </a:lnTo>
                  <a:lnTo>
                    <a:pt x="20" y="112"/>
                  </a:lnTo>
                  <a:lnTo>
                    <a:pt x="20" y="116"/>
                  </a:lnTo>
                  <a:lnTo>
                    <a:pt x="21" y="119"/>
                  </a:lnTo>
                  <a:lnTo>
                    <a:pt x="21" y="125"/>
                  </a:lnTo>
                  <a:lnTo>
                    <a:pt x="21" y="129"/>
                  </a:lnTo>
                  <a:lnTo>
                    <a:pt x="21" y="132"/>
                  </a:lnTo>
                  <a:lnTo>
                    <a:pt x="21" y="136"/>
                  </a:lnTo>
                  <a:lnTo>
                    <a:pt x="21" y="140"/>
                  </a:lnTo>
                  <a:lnTo>
                    <a:pt x="21" y="145"/>
                  </a:lnTo>
                  <a:lnTo>
                    <a:pt x="21" y="150"/>
                  </a:lnTo>
                  <a:lnTo>
                    <a:pt x="21" y="155"/>
                  </a:lnTo>
                  <a:lnTo>
                    <a:pt x="21" y="159"/>
                  </a:lnTo>
                  <a:lnTo>
                    <a:pt x="23" y="163"/>
                  </a:lnTo>
                  <a:lnTo>
                    <a:pt x="21" y="168"/>
                  </a:lnTo>
                  <a:lnTo>
                    <a:pt x="21" y="172"/>
                  </a:lnTo>
                  <a:lnTo>
                    <a:pt x="21" y="177"/>
                  </a:lnTo>
                  <a:lnTo>
                    <a:pt x="21" y="182"/>
                  </a:lnTo>
                  <a:lnTo>
                    <a:pt x="20" y="187"/>
                  </a:lnTo>
                  <a:lnTo>
                    <a:pt x="20" y="190"/>
                  </a:lnTo>
                  <a:lnTo>
                    <a:pt x="20" y="196"/>
                  </a:lnTo>
                  <a:lnTo>
                    <a:pt x="20" y="200"/>
                  </a:lnTo>
                  <a:lnTo>
                    <a:pt x="18" y="206"/>
                  </a:lnTo>
                  <a:lnTo>
                    <a:pt x="18" y="210"/>
                  </a:lnTo>
                  <a:lnTo>
                    <a:pt x="18" y="214"/>
                  </a:lnTo>
                  <a:lnTo>
                    <a:pt x="18" y="219"/>
                  </a:lnTo>
                  <a:lnTo>
                    <a:pt x="18" y="224"/>
                  </a:lnTo>
                  <a:lnTo>
                    <a:pt x="18" y="227"/>
                  </a:lnTo>
                  <a:lnTo>
                    <a:pt x="18" y="233"/>
                  </a:lnTo>
                  <a:lnTo>
                    <a:pt x="18" y="239"/>
                  </a:lnTo>
                  <a:lnTo>
                    <a:pt x="17" y="243"/>
                  </a:lnTo>
                  <a:lnTo>
                    <a:pt x="17" y="246"/>
                  </a:lnTo>
                  <a:lnTo>
                    <a:pt x="15" y="250"/>
                  </a:lnTo>
                  <a:lnTo>
                    <a:pt x="15" y="254"/>
                  </a:lnTo>
                  <a:lnTo>
                    <a:pt x="15" y="259"/>
                  </a:lnTo>
                  <a:lnTo>
                    <a:pt x="15" y="263"/>
                  </a:lnTo>
                  <a:lnTo>
                    <a:pt x="15" y="267"/>
                  </a:lnTo>
                  <a:lnTo>
                    <a:pt x="17" y="271"/>
                  </a:lnTo>
                  <a:lnTo>
                    <a:pt x="17" y="274"/>
                  </a:lnTo>
                  <a:lnTo>
                    <a:pt x="17" y="278"/>
                  </a:lnTo>
                  <a:lnTo>
                    <a:pt x="17" y="281"/>
                  </a:lnTo>
                  <a:lnTo>
                    <a:pt x="17" y="287"/>
                  </a:lnTo>
                  <a:lnTo>
                    <a:pt x="17" y="290"/>
                  </a:lnTo>
                  <a:lnTo>
                    <a:pt x="18" y="293"/>
                  </a:lnTo>
                  <a:lnTo>
                    <a:pt x="18" y="296"/>
                  </a:lnTo>
                  <a:lnTo>
                    <a:pt x="18" y="300"/>
                  </a:lnTo>
                  <a:lnTo>
                    <a:pt x="18" y="303"/>
                  </a:lnTo>
                  <a:lnTo>
                    <a:pt x="20" y="305"/>
                  </a:lnTo>
                  <a:lnTo>
                    <a:pt x="21" y="308"/>
                  </a:lnTo>
                  <a:lnTo>
                    <a:pt x="23" y="310"/>
                  </a:lnTo>
                  <a:lnTo>
                    <a:pt x="25" y="315"/>
                  </a:lnTo>
                  <a:lnTo>
                    <a:pt x="28" y="320"/>
                  </a:lnTo>
                  <a:lnTo>
                    <a:pt x="31" y="323"/>
                  </a:lnTo>
                  <a:lnTo>
                    <a:pt x="34" y="325"/>
                  </a:lnTo>
                  <a:lnTo>
                    <a:pt x="40" y="327"/>
                  </a:lnTo>
                  <a:lnTo>
                    <a:pt x="44" y="328"/>
                  </a:lnTo>
                  <a:lnTo>
                    <a:pt x="48" y="328"/>
                  </a:lnTo>
                  <a:lnTo>
                    <a:pt x="54" y="330"/>
                  </a:lnTo>
                  <a:lnTo>
                    <a:pt x="58" y="328"/>
                  </a:lnTo>
                  <a:lnTo>
                    <a:pt x="62" y="328"/>
                  </a:lnTo>
                  <a:lnTo>
                    <a:pt x="65" y="327"/>
                  </a:lnTo>
                  <a:lnTo>
                    <a:pt x="69" y="325"/>
                  </a:lnTo>
                  <a:lnTo>
                    <a:pt x="72" y="324"/>
                  </a:lnTo>
                  <a:lnTo>
                    <a:pt x="77" y="323"/>
                  </a:lnTo>
                  <a:lnTo>
                    <a:pt x="79" y="320"/>
                  </a:lnTo>
                  <a:lnTo>
                    <a:pt x="82" y="317"/>
                  </a:lnTo>
                  <a:lnTo>
                    <a:pt x="85" y="314"/>
                  </a:lnTo>
                  <a:lnTo>
                    <a:pt x="87" y="311"/>
                  </a:lnTo>
                  <a:lnTo>
                    <a:pt x="89" y="308"/>
                  </a:lnTo>
                  <a:lnTo>
                    <a:pt x="91" y="304"/>
                  </a:lnTo>
                  <a:lnTo>
                    <a:pt x="92" y="300"/>
                  </a:lnTo>
                  <a:lnTo>
                    <a:pt x="95" y="297"/>
                  </a:lnTo>
                  <a:lnTo>
                    <a:pt x="95" y="293"/>
                  </a:lnTo>
                  <a:lnTo>
                    <a:pt x="96" y="288"/>
                  </a:lnTo>
                  <a:lnTo>
                    <a:pt x="98" y="283"/>
                  </a:lnTo>
                  <a:lnTo>
                    <a:pt x="99" y="278"/>
                  </a:lnTo>
                  <a:lnTo>
                    <a:pt x="99" y="274"/>
                  </a:lnTo>
                  <a:lnTo>
                    <a:pt x="99" y="270"/>
                  </a:lnTo>
                  <a:lnTo>
                    <a:pt x="101" y="266"/>
                  </a:lnTo>
                  <a:lnTo>
                    <a:pt x="102" y="260"/>
                  </a:lnTo>
                  <a:lnTo>
                    <a:pt x="102" y="256"/>
                  </a:lnTo>
                  <a:lnTo>
                    <a:pt x="102" y="250"/>
                  </a:lnTo>
                  <a:lnTo>
                    <a:pt x="102" y="244"/>
                  </a:lnTo>
                  <a:lnTo>
                    <a:pt x="102" y="240"/>
                  </a:lnTo>
                  <a:lnTo>
                    <a:pt x="102" y="236"/>
                  </a:lnTo>
                  <a:lnTo>
                    <a:pt x="102" y="230"/>
                  </a:lnTo>
                  <a:lnTo>
                    <a:pt x="101" y="226"/>
                  </a:lnTo>
                  <a:lnTo>
                    <a:pt x="101" y="222"/>
                  </a:lnTo>
                  <a:lnTo>
                    <a:pt x="99" y="219"/>
                  </a:lnTo>
                  <a:lnTo>
                    <a:pt x="99" y="216"/>
                  </a:lnTo>
                  <a:lnTo>
                    <a:pt x="99" y="213"/>
                  </a:lnTo>
                  <a:lnTo>
                    <a:pt x="99" y="210"/>
                  </a:lnTo>
                  <a:lnTo>
                    <a:pt x="98" y="207"/>
                  </a:lnTo>
                  <a:lnTo>
                    <a:pt x="96" y="204"/>
                  </a:lnTo>
                  <a:lnTo>
                    <a:pt x="96" y="200"/>
                  </a:lnTo>
                  <a:lnTo>
                    <a:pt x="96" y="197"/>
                  </a:lnTo>
                  <a:lnTo>
                    <a:pt x="95" y="193"/>
                  </a:lnTo>
                  <a:lnTo>
                    <a:pt x="95" y="189"/>
                  </a:lnTo>
                  <a:lnTo>
                    <a:pt x="94" y="185"/>
                  </a:lnTo>
                  <a:lnTo>
                    <a:pt x="94" y="182"/>
                  </a:lnTo>
                  <a:lnTo>
                    <a:pt x="92" y="176"/>
                  </a:lnTo>
                  <a:lnTo>
                    <a:pt x="91" y="172"/>
                  </a:lnTo>
                  <a:lnTo>
                    <a:pt x="89" y="168"/>
                  </a:lnTo>
                  <a:lnTo>
                    <a:pt x="89" y="163"/>
                  </a:lnTo>
                  <a:lnTo>
                    <a:pt x="88" y="159"/>
                  </a:lnTo>
                  <a:lnTo>
                    <a:pt x="87" y="153"/>
                  </a:lnTo>
                  <a:lnTo>
                    <a:pt x="85" y="149"/>
                  </a:lnTo>
                  <a:lnTo>
                    <a:pt x="84" y="143"/>
                  </a:lnTo>
                  <a:lnTo>
                    <a:pt x="82" y="139"/>
                  </a:lnTo>
                  <a:lnTo>
                    <a:pt x="81" y="135"/>
                  </a:lnTo>
                  <a:lnTo>
                    <a:pt x="79" y="129"/>
                  </a:lnTo>
                  <a:lnTo>
                    <a:pt x="78" y="125"/>
                  </a:lnTo>
                  <a:lnTo>
                    <a:pt x="77" y="119"/>
                  </a:lnTo>
                  <a:lnTo>
                    <a:pt x="74" y="113"/>
                  </a:lnTo>
                  <a:lnTo>
                    <a:pt x="74" y="109"/>
                  </a:lnTo>
                  <a:lnTo>
                    <a:pt x="71" y="104"/>
                  </a:lnTo>
                  <a:lnTo>
                    <a:pt x="71" y="99"/>
                  </a:lnTo>
                  <a:lnTo>
                    <a:pt x="68" y="94"/>
                  </a:lnTo>
                  <a:lnTo>
                    <a:pt x="67" y="89"/>
                  </a:lnTo>
                  <a:lnTo>
                    <a:pt x="65" y="85"/>
                  </a:lnTo>
                  <a:lnTo>
                    <a:pt x="64" y="79"/>
                  </a:lnTo>
                  <a:lnTo>
                    <a:pt x="62" y="75"/>
                  </a:lnTo>
                  <a:lnTo>
                    <a:pt x="61" y="69"/>
                  </a:lnTo>
                  <a:lnTo>
                    <a:pt x="58" y="65"/>
                  </a:lnTo>
                  <a:lnTo>
                    <a:pt x="57" y="61"/>
                  </a:lnTo>
                  <a:lnTo>
                    <a:pt x="55" y="57"/>
                  </a:lnTo>
                  <a:lnTo>
                    <a:pt x="54" y="52"/>
                  </a:lnTo>
                  <a:lnTo>
                    <a:pt x="52" y="48"/>
                  </a:lnTo>
                  <a:lnTo>
                    <a:pt x="50" y="44"/>
                  </a:lnTo>
                  <a:lnTo>
                    <a:pt x="48" y="38"/>
                  </a:lnTo>
                  <a:lnTo>
                    <a:pt x="45" y="35"/>
                  </a:lnTo>
                  <a:lnTo>
                    <a:pt x="44" y="31"/>
                  </a:lnTo>
                  <a:lnTo>
                    <a:pt x="42" y="28"/>
                  </a:lnTo>
                  <a:lnTo>
                    <a:pt x="41" y="25"/>
                  </a:lnTo>
                  <a:lnTo>
                    <a:pt x="40" y="22"/>
                  </a:lnTo>
                  <a:lnTo>
                    <a:pt x="38" y="20"/>
                  </a:lnTo>
                  <a:lnTo>
                    <a:pt x="37" y="17"/>
                  </a:lnTo>
                  <a:lnTo>
                    <a:pt x="34" y="14"/>
                  </a:lnTo>
                  <a:lnTo>
                    <a:pt x="34" y="10"/>
                  </a:lnTo>
                  <a:lnTo>
                    <a:pt x="31" y="8"/>
                  </a:lnTo>
                  <a:lnTo>
                    <a:pt x="28" y="4"/>
                  </a:lnTo>
                  <a:lnTo>
                    <a:pt x="27" y="3"/>
                  </a:lnTo>
                  <a:lnTo>
                    <a:pt x="20" y="0"/>
                  </a:lnTo>
                  <a:lnTo>
                    <a:pt x="15" y="3"/>
                  </a:lnTo>
                  <a:lnTo>
                    <a:pt x="11" y="5"/>
                  </a:lnTo>
                  <a:lnTo>
                    <a:pt x="8" y="10"/>
                  </a:lnTo>
                  <a:lnTo>
                    <a:pt x="4" y="14"/>
                  </a:lnTo>
                  <a:lnTo>
                    <a:pt x="3" y="17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8"/>
                  </a:lnTo>
                  <a:lnTo>
                    <a:pt x="1" y="42"/>
                  </a:lnTo>
                  <a:lnTo>
                    <a:pt x="3" y="45"/>
                  </a:lnTo>
                  <a:lnTo>
                    <a:pt x="3" y="48"/>
                  </a:lnTo>
                  <a:lnTo>
                    <a:pt x="4" y="51"/>
                  </a:lnTo>
                  <a:lnTo>
                    <a:pt x="6" y="57"/>
                  </a:lnTo>
                  <a:lnTo>
                    <a:pt x="7" y="59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1" y="75"/>
                  </a:lnTo>
                  <a:lnTo>
                    <a:pt x="11" y="78"/>
                  </a:lnTo>
                  <a:lnTo>
                    <a:pt x="13" y="79"/>
                  </a:lnTo>
                  <a:lnTo>
                    <a:pt x="13" y="82"/>
                  </a:lnTo>
                  <a:lnTo>
                    <a:pt x="14" y="85"/>
                  </a:lnTo>
                  <a:lnTo>
                    <a:pt x="14" y="88"/>
                  </a:lnTo>
                  <a:lnTo>
                    <a:pt x="15" y="91"/>
                  </a:lnTo>
                  <a:lnTo>
                    <a:pt x="15" y="95"/>
                  </a:lnTo>
                  <a:lnTo>
                    <a:pt x="18" y="9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2542" name="Freeform 13"/>
            <p:cNvSpPr>
              <a:spLocks/>
            </p:cNvSpPr>
            <p:nvPr/>
          </p:nvSpPr>
          <p:spPr bwMode="auto">
            <a:xfrm>
              <a:off x="1899" y="1341"/>
              <a:ext cx="50" cy="73"/>
            </a:xfrm>
            <a:custGeom>
              <a:avLst/>
              <a:gdLst>
                <a:gd name="T0" fmla="*/ 0 w 151"/>
                <a:gd name="T1" fmla="*/ 8 h 219"/>
                <a:gd name="T2" fmla="*/ 1 w 151"/>
                <a:gd name="T3" fmla="*/ 9 h 219"/>
                <a:gd name="T4" fmla="*/ 1 w 151"/>
                <a:gd name="T5" fmla="*/ 10 h 219"/>
                <a:gd name="T6" fmla="*/ 2 w 151"/>
                <a:gd name="T7" fmla="*/ 12 h 219"/>
                <a:gd name="T8" fmla="*/ 3 w 151"/>
                <a:gd name="T9" fmla="*/ 14 h 219"/>
                <a:gd name="T10" fmla="*/ 4 w 151"/>
                <a:gd name="T11" fmla="*/ 15 h 219"/>
                <a:gd name="T12" fmla="*/ 4 w 151"/>
                <a:gd name="T13" fmla="*/ 16 h 219"/>
                <a:gd name="T14" fmla="*/ 5 w 151"/>
                <a:gd name="T15" fmla="*/ 18 h 219"/>
                <a:gd name="T16" fmla="*/ 6 w 151"/>
                <a:gd name="T17" fmla="*/ 20 h 219"/>
                <a:gd name="T18" fmla="*/ 7 w 151"/>
                <a:gd name="T19" fmla="*/ 21 h 219"/>
                <a:gd name="T20" fmla="*/ 8 w 151"/>
                <a:gd name="T21" fmla="*/ 22 h 219"/>
                <a:gd name="T22" fmla="*/ 9 w 151"/>
                <a:gd name="T23" fmla="*/ 23 h 219"/>
                <a:gd name="T24" fmla="*/ 11 w 151"/>
                <a:gd name="T25" fmla="*/ 23 h 219"/>
                <a:gd name="T26" fmla="*/ 12 w 151"/>
                <a:gd name="T27" fmla="*/ 24 h 219"/>
                <a:gd name="T28" fmla="*/ 13 w 151"/>
                <a:gd name="T29" fmla="*/ 24 h 219"/>
                <a:gd name="T30" fmla="*/ 14 w 151"/>
                <a:gd name="T31" fmla="*/ 24 h 219"/>
                <a:gd name="T32" fmla="*/ 15 w 151"/>
                <a:gd name="T33" fmla="*/ 24 h 219"/>
                <a:gd name="T34" fmla="*/ 16 w 151"/>
                <a:gd name="T35" fmla="*/ 24 h 219"/>
                <a:gd name="T36" fmla="*/ 17 w 151"/>
                <a:gd name="T37" fmla="*/ 22 h 219"/>
                <a:gd name="T38" fmla="*/ 16 w 151"/>
                <a:gd name="T39" fmla="*/ 21 h 219"/>
                <a:gd name="T40" fmla="*/ 15 w 151"/>
                <a:gd name="T41" fmla="*/ 20 h 219"/>
                <a:gd name="T42" fmla="*/ 15 w 151"/>
                <a:gd name="T43" fmla="*/ 19 h 219"/>
                <a:gd name="T44" fmla="*/ 14 w 151"/>
                <a:gd name="T45" fmla="*/ 18 h 219"/>
                <a:gd name="T46" fmla="*/ 13 w 151"/>
                <a:gd name="T47" fmla="*/ 17 h 219"/>
                <a:gd name="T48" fmla="*/ 13 w 151"/>
                <a:gd name="T49" fmla="*/ 16 h 219"/>
                <a:gd name="T50" fmla="*/ 12 w 151"/>
                <a:gd name="T51" fmla="*/ 14 h 219"/>
                <a:gd name="T52" fmla="*/ 11 w 151"/>
                <a:gd name="T53" fmla="*/ 13 h 219"/>
                <a:gd name="T54" fmla="*/ 11 w 151"/>
                <a:gd name="T55" fmla="*/ 12 h 219"/>
                <a:gd name="T56" fmla="*/ 10 w 151"/>
                <a:gd name="T57" fmla="*/ 10 h 219"/>
                <a:gd name="T58" fmla="*/ 9 w 151"/>
                <a:gd name="T59" fmla="*/ 9 h 219"/>
                <a:gd name="T60" fmla="*/ 9 w 151"/>
                <a:gd name="T61" fmla="*/ 7 h 219"/>
                <a:gd name="T62" fmla="*/ 8 w 151"/>
                <a:gd name="T63" fmla="*/ 6 h 219"/>
                <a:gd name="T64" fmla="*/ 7 w 151"/>
                <a:gd name="T65" fmla="*/ 5 h 219"/>
                <a:gd name="T66" fmla="*/ 7 w 151"/>
                <a:gd name="T67" fmla="*/ 4 h 219"/>
                <a:gd name="T68" fmla="*/ 6 w 151"/>
                <a:gd name="T69" fmla="*/ 3 h 219"/>
                <a:gd name="T70" fmla="*/ 5 w 151"/>
                <a:gd name="T71" fmla="*/ 2 h 219"/>
                <a:gd name="T72" fmla="*/ 4 w 151"/>
                <a:gd name="T73" fmla="*/ 0 h 219"/>
                <a:gd name="T74" fmla="*/ 3 w 151"/>
                <a:gd name="T75" fmla="*/ 0 h 219"/>
                <a:gd name="T76" fmla="*/ 2 w 151"/>
                <a:gd name="T77" fmla="*/ 1 h 219"/>
                <a:gd name="T78" fmla="*/ 1 w 151"/>
                <a:gd name="T79" fmla="*/ 2 h 219"/>
                <a:gd name="T80" fmla="*/ 1 w 151"/>
                <a:gd name="T81" fmla="*/ 3 h 219"/>
                <a:gd name="T82" fmla="*/ 0 w 151"/>
                <a:gd name="T83" fmla="*/ 5 h 219"/>
                <a:gd name="T84" fmla="*/ 0 w 151"/>
                <a:gd name="T85" fmla="*/ 6 h 219"/>
                <a:gd name="T86" fmla="*/ 0 w 151"/>
                <a:gd name="T87" fmla="*/ 7 h 21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51" h="219">
                  <a:moveTo>
                    <a:pt x="2" y="66"/>
                  </a:moveTo>
                  <a:lnTo>
                    <a:pt x="2" y="67"/>
                  </a:lnTo>
                  <a:lnTo>
                    <a:pt x="3" y="70"/>
                  </a:lnTo>
                  <a:lnTo>
                    <a:pt x="5" y="74"/>
                  </a:lnTo>
                  <a:lnTo>
                    <a:pt x="5" y="77"/>
                  </a:lnTo>
                  <a:lnTo>
                    <a:pt x="8" y="80"/>
                  </a:lnTo>
                  <a:lnTo>
                    <a:pt x="9" y="85"/>
                  </a:lnTo>
                  <a:lnTo>
                    <a:pt x="10" y="90"/>
                  </a:lnTo>
                  <a:lnTo>
                    <a:pt x="13" y="94"/>
                  </a:lnTo>
                  <a:lnTo>
                    <a:pt x="13" y="98"/>
                  </a:lnTo>
                  <a:lnTo>
                    <a:pt x="16" y="103"/>
                  </a:lnTo>
                  <a:lnTo>
                    <a:pt x="19" y="108"/>
                  </a:lnTo>
                  <a:lnTo>
                    <a:pt x="22" y="114"/>
                  </a:lnTo>
                  <a:lnTo>
                    <a:pt x="25" y="118"/>
                  </a:lnTo>
                  <a:lnTo>
                    <a:pt x="27" y="124"/>
                  </a:lnTo>
                  <a:lnTo>
                    <a:pt x="29" y="127"/>
                  </a:lnTo>
                  <a:lnTo>
                    <a:pt x="30" y="130"/>
                  </a:lnTo>
                  <a:lnTo>
                    <a:pt x="32" y="132"/>
                  </a:lnTo>
                  <a:lnTo>
                    <a:pt x="33" y="135"/>
                  </a:lnTo>
                  <a:lnTo>
                    <a:pt x="36" y="139"/>
                  </a:lnTo>
                  <a:lnTo>
                    <a:pt x="39" y="145"/>
                  </a:lnTo>
                  <a:lnTo>
                    <a:pt x="42" y="151"/>
                  </a:lnTo>
                  <a:lnTo>
                    <a:pt x="44" y="157"/>
                  </a:lnTo>
                  <a:lnTo>
                    <a:pt x="47" y="161"/>
                  </a:lnTo>
                  <a:lnTo>
                    <a:pt x="52" y="167"/>
                  </a:lnTo>
                  <a:lnTo>
                    <a:pt x="54" y="171"/>
                  </a:lnTo>
                  <a:lnTo>
                    <a:pt x="57" y="176"/>
                  </a:lnTo>
                  <a:lnTo>
                    <a:pt x="60" y="179"/>
                  </a:lnTo>
                  <a:lnTo>
                    <a:pt x="63" y="185"/>
                  </a:lnTo>
                  <a:lnTo>
                    <a:pt x="66" y="188"/>
                  </a:lnTo>
                  <a:lnTo>
                    <a:pt x="70" y="192"/>
                  </a:lnTo>
                  <a:lnTo>
                    <a:pt x="73" y="195"/>
                  </a:lnTo>
                  <a:lnTo>
                    <a:pt x="76" y="198"/>
                  </a:lnTo>
                  <a:lnTo>
                    <a:pt x="80" y="202"/>
                  </a:lnTo>
                  <a:lnTo>
                    <a:pt x="83" y="205"/>
                  </a:lnTo>
                  <a:lnTo>
                    <a:pt x="86" y="205"/>
                  </a:lnTo>
                  <a:lnTo>
                    <a:pt x="89" y="208"/>
                  </a:lnTo>
                  <a:lnTo>
                    <a:pt x="91" y="209"/>
                  </a:lnTo>
                  <a:lnTo>
                    <a:pt x="96" y="211"/>
                  </a:lnTo>
                  <a:lnTo>
                    <a:pt x="98" y="212"/>
                  </a:lnTo>
                  <a:lnTo>
                    <a:pt x="103" y="213"/>
                  </a:lnTo>
                  <a:lnTo>
                    <a:pt x="106" y="215"/>
                  </a:lnTo>
                  <a:lnTo>
                    <a:pt x="110" y="216"/>
                  </a:lnTo>
                  <a:lnTo>
                    <a:pt x="113" y="216"/>
                  </a:lnTo>
                  <a:lnTo>
                    <a:pt x="117" y="218"/>
                  </a:lnTo>
                  <a:lnTo>
                    <a:pt x="120" y="218"/>
                  </a:lnTo>
                  <a:lnTo>
                    <a:pt x="123" y="219"/>
                  </a:lnTo>
                  <a:lnTo>
                    <a:pt x="125" y="219"/>
                  </a:lnTo>
                  <a:lnTo>
                    <a:pt x="128" y="219"/>
                  </a:lnTo>
                  <a:lnTo>
                    <a:pt x="133" y="219"/>
                  </a:lnTo>
                  <a:lnTo>
                    <a:pt x="135" y="219"/>
                  </a:lnTo>
                  <a:lnTo>
                    <a:pt x="141" y="218"/>
                  </a:lnTo>
                  <a:lnTo>
                    <a:pt x="145" y="216"/>
                  </a:lnTo>
                  <a:lnTo>
                    <a:pt x="148" y="213"/>
                  </a:lnTo>
                  <a:lnTo>
                    <a:pt x="150" y="211"/>
                  </a:lnTo>
                  <a:lnTo>
                    <a:pt x="151" y="205"/>
                  </a:lnTo>
                  <a:lnTo>
                    <a:pt x="150" y="202"/>
                  </a:lnTo>
                  <a:lnTo>
                    <a:pt x="150" y="198"/>
                  </a:lnTo>
                  <a:lnTo>
                    <a:pt x="147" y="195"/>
                  </a:lnTo>
                  <a:lnTo>
                    <a:pt x="145" y="192"/>
                  </a:lnTo>
                  <a:lnTo>
                    <a:pt x="144" y="189"/>
                  </a:lnTo>
                  <a:lnTo>
                    <a:pt x="141" y="185"/>
                  </a:lnTo>
                  <a:lnTo>
                    <a:pt x="137" y="181"/>
                  </a:lnTo>
                  <a:lnTo>
                    <a:pt x="135" y="178"/>
                  </a:lnTo>
                  <a:lnTo>
                    <a:pt x="134" y="175"/>
                  </a:lnTo>
                  <a:lnTo>
                    <a:pt x="133" y="172"/>
                  </a:lnTo>
                  <a:lnTo>
                    <a:pt x="131" y="169"/>
                  </a:lnTo>
                  <a:lnTo>
                    <a:pt x="128" y="167"/>
                  </a:lnTo>
                  <a:lnTo>
                    <a:pt x="127" y="164"/>
                  </a:lnTo>
                  <a:lnTo>
                    <a:pt x="125" y="159"/>
                  </a:lnTo>
                  <a:lnTo>
                    <a:pt x="123" y="157"/>
                  </a:lnTo>
                  <a:lnTo>
                    <a:pt x="121" y="152"/>
                  </a:lnTo>
                  <a:lnTo>
                    <a:pt x="120" y="149"/>
                  </a:lnTo>
                  <a:lnTo>
                    <a:pt x="118" y="145"/>
                  </a:lnTo>
                  <a:lnTo>
                    <a:pt x="117" y="141"/>
                  </a:lnTo>
                  <a:lnTo>
                    <a:pt x="114" y="138"/>
                  </a:lnTo>
                  <a:lnTo>
                    <a:pt x="113" y="134"/>
                  </a:lnTo>
                  <a:lnTo>
                    <a:pt x="110" y="130"/>
                  </a:lnTo>
                  <a:lnTo>
                    <a:pt x="108" y="125"/>
                  </a:lnTo>
                  <a:lnTo>
                    <a:pt x="106" y="121"/>
                  </a:lnTo>
                  <a:lnTo>
                    <a:pt x="104" y="117"/>
                  </a:lnTo>
                  <a:lnTo>
                    <a:pt x="101" y="112"/>
                  </a:lnTo>
                  <a:lnTo>
                    <a:pt x="100" y="108"/>
                  </a:lnTo>
                  <a:lnTo>
                    <a:pt x="97" y="104"/>
                  </a:lnTo>
                  <a:lnTo>
                    <a:pt x="96" y="101"/>
                  </a:lnTo>
                  <a:lnTo>
                    <a:pt x="94" y="95"/>
                  </a:lnTo>
                  <a:lnTo>
                    <a:pt x="91" y="93"/>
                  </a:lnTo>
                  <a:lnTo>
                    <a:pt x="89" y="87"/>
                  </a:lnTo>
                  <a:lnTo>
                    <a:pt x="89" y="83"/>
                  </a:lnTo>
                  <a:lnTo>
                    <a:pt x="86" y="78"/>
                  </a:lnTo>
                  <a:lnTo>
                    <a:pt x="83" y="75"/>
                  </a:lnTo>
                  <a:lnTo>
                    <a:pt x="81" y="71"/>
                  </a:lnTo>
                  <a:lnTo>
                    <a:pt x="80" y="67"/>
                  </a:lnTo>
                  <a:lnTo>
                    <a:pt x="76" y="61"/>
                  </a:lnTo>
                  <a:lnTo>
                    <a:pt x="74" y="58"/>
                  </a:lnTo>
                  <a:lnTo>
                    <a:pt x="73" y="54"/>
                  </a:lnTo>
                  <a:lnTo>
                    <a:pt x="71" y="51"/>
                  </a:lnTo>
                  <a:lnTo>
                    <a:pt x="69" y="47"/>
                  </a:lnTo>
                  <a:lnTo>
                    <a:pt x="67" y="44"/>
                  </a:lnTo>
                  <a:lnTo>
                    <a:pt x="64" y="40"/>
                  </a:lnTo>
                  <a:lnTo>
                    <a:pt x="63" y="36"/>
                  </a:lnTo>
                  <a:lnTo>
                    <a:pt x="60" y="33"/>
                  </a:lnTo>
                  <a:lnTo>
                    <a:pt x="59" y="30"/>
                  </a:lnTo>
                  <a:lnTo>
                    <a:pt x="57" y="27"/>
                  </a:lnTo>
                  <a:lnTo>
                    <a:pt x="54" y="24"/>
                  </a:lnTo>
                  <a:lnTo>
                    <a:pt x="53" y="21"/>
                  </a:lnTo>
                  <a:lnTo>
                    <a:pt x="52" y="20"/>
                  </a:lnTo>
                  <a:lnTo>
                    <a:pt x="47" y="14"/>
                  </a:lnTo>
                  <a:lnTo>
                    <a:pt x="44" y="9"/>
                  </a:lnTo>
                  <a:lnTo>
                    <a:pt x="42" y="6"/>
                  </a:lnTo>
                  <a:lnTo>
                    <a:pt x="39" y="3"/>
                  </a:lnTo>
                  <a:lnTo>
                    <a:pt x="36" y="2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5" y="4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4"/>
                  </a:lnTo>
                  <a:lnTo>
                    <a:pt x="10" y="17"/>
                  </a:lnTo>
                  <a:lnTo>
                    <a:pt x="8" y="20"/>
                  </a:lnTo>
                  <a:lnTo>
                    <a:pt x="5" y="24"/>
                  </a:lnTo>
                  <a:lnTo>
                    <a:pt x="5" y="29"/>
                  </a:lnTo>
                  <a:lnTo>
                    <a:pt x="2" y="33"/>
                  </a:lnTo>
                  <a:lnTo>
                    <a:pt x="2" y="36"/>
                  </a:lnTo>
                  <a:lnTo>
                    <a:pt x="0" y="41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0" y="54"/>
                  </a:lnTo>
                  <a:lnTo>
                    <a:pt x="2" y="60"/>
                  </a:lnTo>
                  <a:lnTo>
                    <a:pt x="2" y="66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A475945-733A-97BF-E857-1D68AF836D65}"/>
              </a:ext>
            </a:extLst>
          </p:cNvPr>
          <p:cNvSpPr txBox="1"/>
          <p:nvPr/>
        </p:nvSpPr>
        <p:spPr>
          <a:xfrm>
            <a:off x="4014490" y="3434190"/>
            <a:ext cx="2113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0" dirty="0">
                <a:latin typeface="Consolas" charset="0"/>
                <a:ea typeface="Consolas" charset="0"/>
                <a:cs typeface="Consolas" charset="0"/>
              </a:rPr>
              <a:t>&amp; </a:t>
            </a:r>
            <a:r>
              <a:rPr lang="en-US" altLang="en-US" b="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release guard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BE7C22-C43A-FA93-2F07-CF341B12DB6F}"/>
              </a:ext>
            </a:extLst>
          </p:cNvPr>
          <p:cNvSpPr/>
          <p:nvPr/>
        </p:nvSpPr>
        <p:spPr bwMode="auto">
          <a:xfrm>
            <a:off x="1688912" y="2945580"/>
            <a:ext cx="264289" cy="1612106"/>
          </a:xfrm>
          <a:prstGeom prst="leftBrace">
            <a:avLst/>
          </a:prstGeom>
          <a:solidFill>
            <a:schemeClr val="bg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4CB70A6E-CD01-DE5C-E373-7FA88144D855}"/>
              </a:ext>
            </a:extLst>
          </p:cNvPr>
          <p:cNvSpPr/>
          <p:nvPr/>
        </p:nvSpPr>
        <p:spPr bwMode="auto">
          <a:xfrm flipH="1">
            <a:off x="10987454" y="2973254"/>
            <a:ext cx="275491" cy="1096691"/>
          </a:xfrm>
          <a:prstGeom prst="leftBrace">
            <a:avLst/>
          </a:prstGeom>
          <a:solidFill>
            <a:schemeClr val="bg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98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10582"/>
            <a:ext cx="12192000" cy="5547418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spcBef>
                <a:spcPct val="20000"/>
              </a:spcBef>
            </a:pPr>
            <a:r>
              <a:rPr lang="en-US" altLang="ko-KR">
                <a:ea typeface="굴림" panose="020B0600000101010101" pitchFamily="34" charset="-127"/>
              </a:rPr>
              <a:t>What about </a:t>
            </a:r>
            <a:r>
              <a:rPr lang="en-US" altLang="ko-KR" b="1">
                <a:ea typeface="굴림" panose="020B0600000101010101" pitchFamily="34" charset="-127"/>
              </a:rPr>
              <a:t>release </a:t>
            </a:r>
            <a:r>
              <a:rPr lang="en-US" altLang="ko-KR" b="1">
                <a:solidFill>
                  <a:srgbClr val="FF0000"/>
                </a:solidFill>
                <a:ea typeface="굴림" panose="020B0600000101010101" pitchFamily="34" charset="-127"/>
              </a:rPr>
              <a:t>guard</a:t>
            </a:r>
            <a:r>
              <a:rPr lang="en-US" altLang="ko-KR" b="1">
                <a:ea typeface="굴림" panose="020B0600000101010101" pitchFamily="34" charset="-127"/>
              </a:rPr>
              <a:t> </a:t>
            </a:r>
            <a:r>
              <a:rPr lang="en-US" altLang="ko-KR">
                <a:ea typeface="굴림" panose="020B0600000101010101" pitchFamily="34" charset="-127"/>
              </a:rPr>
              <a:t>when going to sleep?</a:t>
            </a:r>
          </a:p>
          <a:p>
            <a:pPr>
              <a:spcBef>
                <a:spcPct val="20000"/>
              </a:spcBef>
            </a:pPr>
            <a:endParaRPr lang="en-US" altLang="ko-KR" sz="4000">
              <a:ea typeface="굴림" panose="020B0600000101010101" pitchFamily="34" charset="-127"/>
            </a:endParaRPr>
          </a:p>
          <a:p>
            <a:pPr>
              <a:spcBef>
                <a:spcPct val="20000"/>
              </a:spcBef>
            </a:pPr>
            <a:endParaRPr lang="en-US" altLang="ko-KR">
              <a:ea typeface="굴림" panose="020B0600000101010101" pitchFamily="34" charset="-127"/>
            </a:endParaRPr>
          </a:p>
          <a:p>
            <a:pPr>
              <a:spcBef>
                <a:spcPct val="20000"/>
              </a:spcBef>
            </a:pPr>
            <a:endParaRPr lang="en-US" altLang="ko-KR">
              <a:ea typeface="굴림" panose="020B0600000101010101" pitchFamily="34" charset="-127"/>
            </a:endParaRPr>
          </a:p>
          <a:p>
            <a:pPr marL="0" indent="0">
              <a:spcBef>
                <a:spcPct val="20000"/>
              </a:spcBef>
              <a:buNone/>
            </a:pPr>
            <a:endParaRPr lang="en-US" altLang="ko-KR">
              <a:ea typeface="굴림" panose="020B0600000101010101" pitchFamily="34" charset="-127"/>
            </a:endParaRPr>
          </a:p>
          <a:p>
            <a:pPr>
              <a:spcBef>
                <a:spcPct val="20000"/>
              </a:spcBef>
            </a:pPr>
            <a:endParaRPr lang="en-US" altLang="ko-KR">
              <a:ea typeface="굴림" panose="020B0600000101010101" pitchFamily="34" charset="-127"/>
            </a:endParaRPr>
          </a:p>
          <a:p>
            <a:pPr>
              <a:spcBef>
                <a:spcPct val="20000"/>
              </a:spcBef>
            </a:pPr>
            <a:endParaRPr lang="en-US" altLang="ko-KR">
              <a:ea typeface="굴림" panose="020B0600000101010101" pitchFamily="34" charset="-127"/>
            </a:endParaRPr>
          </a:p>
          <a:p>
            <a:pPr>
              <a:spcBef>
                <a:spcPct val="20000"/>
              </a:spcBef>
            </a:pPr>
            <a:r>
              <a:rPr lang="en-US" altLang="ko-KR">
                <a:ea typeface="굴림" panose="020B0600000101010101" pitchFamily="34" charset="-127"/>
              </a:rPr>
              <a:t>Before Putting thread on the wait queue?</a:t>
            </a:r>
          </a:p>
          <a:p>
            <a:pPr lvl="1">
              <a:spcBef>
                <a:spcPct val="20000"/>
              </a:spcBef>
            </a:pPr>
            <a:r>
              <a:rPr lang="en-US" altLang="ko-KR">
                <a:ea typeface="굴림" panose="020B0600000101010101" pitchFamily="34" charset="-127"/>
              </a:rPr>
              <a:t>Release can check the queue and not wake up thread </a:t>
            </a:r>
            <a:r>
              <a:rPr lang="en-US" altLang="ko-KR">
                <a:ea typeface="굴림" panose="020B0600000101010101" pitchFamily="34" charset="-127"/>
                <a:sym typeface="Wingdings" panose="05000000000000000000" pitchFamily="2" charset="2"/>
              </a:rPr>
              <a:t> </a:t>
            </a:r>
            <a:r>
              <a:rPr lang="en-US" altLang="ko-KR" b="1">
                <a:ea typeface="굴림" panose="020B0600000101010101" pitchFamily="34" charset="-127"/>
                <a:sym typeface="Wingdings" panose="05000000000000000000" pitchFamily="2" charset="2"/>
              </a:rPr>
              <a:t>missing wake-up</a:t>
            </a:r>
            <a:endParaRPr lang="en-US" altLang="ko-KR" b="1">
              <a:ea typeface="굴림" panose="020B0600000101010101" pitchFamily="34" charset="-127"/>
            </a:endParaRPr>
          </a:p>
          <a:p>
            <a:pPr>
              <a:spcBef>
                <a:spcPct val="20000"/>
              </a:spcBef>
            </a:pPr>
            <a:r>
              <a:rPr lang="en-US" altLang="ko-KR">
                <a:ea typeface="굴림" panose="020B0600000101010101" pitchFamily="34" charset="-127"/>
              </a:rPr>
              <a:t>After putting the thread on the wait queue</a:t>
            </a:r>
          </a:p>
          <a:p>
            <a:pPr lvl="1">
              <a:spcBef>
                <a:spcPct val="20000"/>
              </a:spcBef>
            </a:pPr>
            <a:r>
              <a:rPr lang="en-US" altLang="ko-KR">
                <a:ea typeface="굴림" panose="020B0600000101010101" pitchFamily="34" charset="-127"/>
              </a:rPr>
              <a:t>Release puts the thread on the ready queue, but the thread still thinks it needs to go to sleep</a:t>
            </a:r>
          </a:p>
          <a:p>
            <a:pPr lvl="1">
              <a:spcBef>
                <a:spcPct val="20000"/>
              </a:spcBef>
            </a:pPr>
            <a:r>
              <a:rPr lang="en-US" altLang="ko-KR" b="1">
                <a:ea typeface="굴림" panose="020B0600000101010101" pitchFamily="34" charset="-127"/>
              </a:rPr>
              <a:t>Miss wakeup </a:t>
            </a:r>
            <a:r>
              <a:rPr lang="en-US" altLang="ko-KR">
                <a:ea typeface="굴림" panose="020B0600000101010101" pitchFamily="34" charset="-127"/>
              </a:rPr>
              <a:t>and still holds lock (</a:t>
            </a:r>
            <a:r>
              <a:rPr lang="en-US" altLang="ko-KR" b="1">
                <a:ea typeface="굴림" panose="020B0600000101010101" pitchFamily="34" charset="-127"/>
              </a:rPr>
              <a:t>deadlock</a:t>
            </a:r>
            <a:r>
              <a:rPr lang="en-US" altLang="ko-KR">
                <a:ea typeface="굴림" panose="020B0600000101010101" pitchFamily="34" charset="-127"/>
              </a:rPr>
              <a:t>!)</a:t>
            </a:r>
          </a:p>
          <a:p>
            <a:pPr>
              <a:spcBef>
                <a:spcPct val="20000"/>
              </a:spcBef>
            </a:pPr>
            <a:r>
              <a:rPr lang="en-US" altLang="ko-KR">
                <a:ea typeface="굴림" panose="020B0600000101010101" pitchFamily="34" charset="-127"/>
              </a:rPr>
              <a:t>Want to put it after </a:t>
            </a:r>
            <a:r>
              <a:rPr lang="en-US" altLang="ko-KR">
                <a:latin typeface="Consolas" charset="0"/>
                <a:ea typeface="Consolas" charset="0"/>
                <a:cs typeface="Consolas" charset="0"/>
              </a:rPr>
              <a:t>sleep()</a:t>
            </a:r>
            <a:r>
              <a:rPr lang="en-US" altLang="ko-KR">
                <a:ea typeface="굴림" panose="020B0600000101010101" pitchFamily="34" charset="-127"/>
              </a:rPr>
              <a:t>. But </a:t>
            </a:r>
            <a:r>
              <a:rPr lang="en-US" altLang="ko-KR" b="1">
                <a:ea typeface="굴림" panose="020B0600000101010101" pitchFamily="34" charset="-127"/>
              </a:rPr>
              <a:t>– </a:t>
            </a:r>
            <a:r>
              <a:rPr lang="en-US" altLang="ko-KR" b="1">
                <a:solidFill>
                  <a:srgbClr val="FF0000"/>
                </a:solidFill>
                <a:ea typeface="굴림" panose="020B0600000101010101" pitchFamily="34" charset="-127"/>
              </a:rPr>
              <a:t>how</a:t>
            </a:r>
            <a:r>
              <a:rPr lang="en-US" altLang="ko-KR" b="1">
                <a:ea typeface="굴림" panose="020B0600000101010101" pitchFamily="34" charset="-127"/>
              </a:rPr>
              <a:t>?</a:t>
            </a:r>
          </a:p>
          <a:p>
            <a:pPr lvl="1">
              <a:spcBef>
                <a:spcPct val="20000"/>
              </a:spcBef>
            </a:pPr>
            <a:r>
              <a:rPr lang="en-US" altLang="ko-KR">
                <a:ea typeface="굴림" panose="020B0600000101010101" pitchFamily="34" charset="-127"/>
              </a:rPr>
              <a:t>In Sleep: </a:t>
            </a:r>
            <a:r>
              <a:rPr lang="en-US" altLang="ko-KR" b="1">
                <a:ea typeface="굴림" panose="020B0600000101010101" pitchFamily="34" charset="-127"/>
              </a:rPr>
              <a:t>Protect </a:t>
            </a:r>
            <a:r>
              <a:rPr lang="en-US" altLang="ko-KR">
                <a:ea typeface="굴림" panose="020B0600000101010101" pitchFamily="34" charset="-127"/>
              </a:rPr>
              <a:t>the process queue(s) then </a:t>
            </a:r>
            <a:r>
              <a:rPr lang="en-US" altLang="ko-KR" b="1">
                <a:ea typeface="굴림" panose="020B0600000101010101" pitchFamily="34" charset="-127"/>
              </a:rPr>
              <a:t>release </a:t>
            </a:r>
            <a:r>
              <a:rPr lang="en-US" altLang="ko-KR">
                <a:ea typeface="굴림" panose="020B0600000101010101" pitchFamily="34" charset="-127"/>
              </a:rPr>
              <a:t>the guard. This ensures </a:t>
            </a:r>
            <a:r>
              <a:rPr lang="en-US" altLang="ko-KR" b="1">
                <a:ea typeface="굴림" panose="020B0600000101010101" pitchFamily="34" charset="-127"/>
              </a:rPr>
              <a:t>no missing wake-up </a:t>
            </a:r>
            <a:r>
              <a:rPr lang="en-US" altLang="ko-KR">
                <a:ea typeface="굴림" panose="020B0600000101010101" pitchFamily="34" charset="-127"/>
              </a:rPr>
              <a:t>even if release is called.</a:t>
            </a:r>
          </a:p>
          <a:p>
            <a:pPr marL="0" indent="0">
              <a:spcBef>
                <a:spcPct val="20000"/>
              </a:spcBef>
              <a:buNone/>
            </a:pPr>
            <a:endParaRPr lang="en-US" altLang="ko-KR">
              <a:ea typeface="굴림" panose="020B0600000101010101" pitchFamily="34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453656" y="622471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</a:endParaRPr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994F159F-F9FE-C9D8-B10F-790455F9DFBA}"/>
              </a:ext>
            </a:extLst>
          </p:cNvPr>
          <p:cNvGrpSpPr>
            <a:grpSpLocks/>
          </p:cNvGrpSpPr>
          <p:nvPr/>
        </p:nvGrpSpPr>
        <p:grpSpPr bwMode="auto">
          <a:xfrm>
            <a:off x="5164201" y="2782542"/>
            <a:ext cx="3335407" cy="460800"/>
            <a:chOff x="1022" y="1344"/>
            <a:chExt cx="1858" cy="256"/>
          </a:xfrm>
        </p:grpSpPr>
        <p:sp>
          <p:nvSpPr>
            <p:cNvPr id="4" name="Text Box 5">
              <a:extLst>
                <a:ext uri="{FF2B5EF4-FFF2-40B4-BE49-F238E27FC236}">
                  <a16:creationId xmlns:a16="http://schemas.microsoft.com/office/drawing/2014/main" id="{15DD983D-DE3F-42C7-BC6E-F49326396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2" y="1344"/>
              <a:ext cx="1235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" charset="0"/>
                  <a:ea typeface="Gill Sans" charset="0"/>
                  <a:cs typeface="Gill Sans" charset="0"/>
                </a:rPr>
                <a:t>Release Position</a:t>
              </a:r>
            </a:p>
          </p:txBody>
        </p:sp>
        <p:sp>
          <p:nvSpPr>
            <p:cNvPr id="5" name="Line 6">
              <a:extLst>
                <a:ext uri="{FF2B5EF4-FFF2-40B4-BE49-F238E27FC236}">
                  <a16:creationId xmlns:a16="http://schemas.microsoft.com/office/drawing/2014/main" id="{C653973A-051B-6068-8222-6881F5783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488"/>
              <a:ext cx="62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6" name="Group 9">
            <a:extLst>
              <a:ext uri="{FF2B5EF4-FFF2-40B4-BE49-F238E27FC236}">
                <a16:creationId xmlns:a16="http://schemas.microsoft.com/office/drawing/2014/main" id="{EDA9A5BF-E7E0-659C-01E4-7F757982BBA9}"/>
              </a:ext>
            </a:extLst>
          </p:cNvPr>
          <p:cNvGrpSpPr>
            <a:grpSpLocks/>
          </p:cNvGrpSpPr>
          <p:nvPr/>
        </p:nvGrpSpPr>
        <p:grpSpPr bwMode="auto">
          <a:xfrm>
            <a:off x="5164001" y="3036542"/>
            <a:ext cx="3335604" cy="460800"/>
            <a:chOff x="1021" y="1344"/>
            <a:chExt cx="1859" cy="256"/>
          </a:xfrm>
        </p:grpSpPr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F33EE37C-5F60-C9FB-7742-DE174BF24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1" y="1344"/>
              <a:ext cx="1236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" charset="0"/>
                  <a:ea typeface="Gill Sans" charset="0"/>
                  <a:cs typeface="Gill Sans" charset="0"/>
                </a:rPr>
                <a:t>Release Position</a:t>
              </a:r>
            </a:p>
          </p:txBody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7530AD72-3624-427C-87A3-B55A35140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488"/>
              <a:ext cx="62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id="{4291DA46-5C42-046F-3060-F8CC52C3893E}"/>
              </a:ext>
            </a:extLst>
          </p:cNvPr>
          <p:cNvGrpSpPr>
            <a:grpSpLocks/>
          </p:cNvGrpSpPr>
          <p:nvPr/>
        </p:nvGrpSpPr>
        <p:grpSpPr bwMode="auto">
          <a:xfrm>
            <a:off x="5164001" y="3315942"/>
            <a:ext cx="3335604" cy="460800"/>
            <a:chOff x="1021" y="1344"/>
            <a:chExt cx="1859" cy="256"/>
          </a:xfrm>
        </p:grpSpPr>
        <p:sp>
          <p:nvSpPr>
            <p:cNvPr id="10" name="Text Box 13">
              <a:extLst>
                <a:ext uri="{FF2B5EF4-FFF2-40B4-BE49-F238E27FC236}">
                  <a16:creationId xmlns:a16="http://schemas.microsoft.com/office/drawing/2014/main" id="{C6490447-9130-C3A4-6418-93A9088677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1" y="1344"/>
              <a:ext cx="1236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" charset="0"/>
                  <a:ea typeface="Gill Sans" charset="0"/>
                  <a:cs typeface="Gill Sans" charset="0"/>
                </a:rPr>
                <a:t>Release Position</a:t>
              </a:r>
            </a:p>
          </p:txBody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A4DFBFEA-05A5-A423-0B24-1C7ECFA2A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488"/>
              <a:ext cx="62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15" name="Text Box 4">
            <a:extLst>
              <a:ext uri="{FF2B5EF4-FFF2-40B4-BE49-F238E27FC236}">
                <a16:creationId xmlns:a16="http://schemas.microsoft.com/office/drawing/2014/main" id="{A43510A7-874C-01D0-AEA8-E17FE8D53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7645" y="1310583"/>
            <a:ext cx="442435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err="1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SpinLock</a:t>
            </a:r>
            <a:r>
              <a:rPr lang="en-US" altLang="en-US" b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 guard = FREE; </a:t>
            </a:r>
          </a:p>
          <a:p>
            <a:r>
              <a:rPr lang="en-US" altLang="en-US" b="0">
                <a:solidFill>
                  <a:srgbClr val="233AE1"/>
                </a:solidFill>
                <a:latin typeface="Consolas" charset="0"/>
                <a:ea typeface="Consolas" charset="0"/>
                <a:cs typeface="Consolas" charset="0"/>
              </a:rPr>
              <a:t>int </a:t>
            </a:r>
            <a:r>
              <a:rPr lang="en-US" altLang="en-US" b="0" err="1">
                <a:solidFill>
                  <a:srgbClr val="233AE1"/>
                </a:solidFill>
                <a:latin typeface="Consolas" charset="0"/>
                <a:ea typeface="Consolas" charset="0"/>
                <a:cs typeface="Consolas" charset="0"/>
              </a:rPr>
              <a:t>mylock</a:t>
            </a:r>
            <a:r>
              <a:rPr lang="en-US" altLang="en-US" b="0">
                <a:solidFill>
                  <a:srgbClr val="233AE1"/>
                </a:solidFill>
                <a:latin typeface="Consolas" charset="0"/>
                <a:ea typeface="Consolas" charset="0"/>
                <a:cs typeface="Consolas" charset="0"/>
              </a:rPr>
              <a:t> = FREE; </a:t>
            </a:r>
          </a:p>
          <a:p>
            <a:pPr algn="l">
              <a:spcBef>
                <a:spcPts val="0"/>
              </a:spcBef>
            </a:pPr>
            <a:endParaRPr lang="en-US" altLang="en-US" b="0">
              <a:latin typeface="Consolas" charset="0"/>
              <a:ea typeface="Consolas" charset="0"/>
              <a:cs typeface="Consolas" charset="0"/>
            </a:endParaRPr>
          </a:p>
          <a:p>
            <a:pPr algn="l">
              <a:spcBef>
                <a:spcPts val="0"/>
              </a:spcBef>
            </a:pPr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acquire(</a:t>
            </a:r>
            <a:r>
              <a:rPr lang="en-US" altLang="en-US" b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 *</a:t>
            </a:r>
            <a:r>
              <a:rPr lang="en-US" altLang="en-US" b="0" err="1">
                <a:latin typeface="Consolas" charset="0"/>
                <a:ea typeface="Consolas" charset="0"/>
                <a:cs typeface="Consolas" charset="0"/>
              </a:rPr>
              <a:t>thelock</a:t>
            </a:r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algn="l"/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altLang="en-US" b="0" err="1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acquire_spinlock</a:t>
            </a:r>
            <a:r>
              <a:rPr lang="en-US" altLang="en-US" b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(&amp;guard)</a:t>
            </a:r>
          </a:p>
          <a:p>
            <a:pPr algn="l"/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altLang="en-US">
                <a:latin typeface="Consolas" charset="0"/>
                <a:ea typeface="Consolas" charset="0"/>
                <a:cs typeface="Consolas" charset="0"/>
              </a:rPr>
              <a:t>while</a:t>
            </a:r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 (</a:t>
            </a:r>
            <a:r>
              <a:rPr lang="en-US" altLang="en-US" b="0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*</a:t>
            </a:r>
            <a:r>
              <a:rPr lang="en-US" altLang="en-US" b="0" err="1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thelock</a:t>
            </a:r>
            <a:r>
              <a:rPr lang="en-US" altLang="en-US" b="0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 == BUSY</a:t>
            </a:r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algn="l"/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		put thread on wait queue;</a:t>
            </a:r>
          </a:p>
          <a:p>
            <a:pPr algn="l"/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		go to sleep()</a:t>
            </a:r>
          </a:p>
          <a:p>
            <a:pPr algn="l"/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altLang="en-US" b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// guard == BUSY on wakeup!</a:t>
            </a:r>
            <a:endParaRPr lang="en-US" altLang="en-US" b="0">
              <a:latin typeface="Consolas" charset="0"/>
              <a:ea typeface="Consolas" charset="0"/>
              <a:cs typeface="Consolas" charset="0"/>
            </a:endParaRPr>
          </a:p>
          <a:p>
            <a:pPr algn="l"/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	} </a:t>
            </a:r>
          </a:p>
          <a:p>
            <a:pPr algn="l"/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altLang="en-US" b="0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*</a:t>
            </a:r>
            <a:r>
              <a:rPr lang="en-US" altLang="en-US" b="0" err="1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thelock</a:t>
            </a:r>
            <a:r>
              <a:rPr lang="en-US" altLang="en-US" b="0">
                <a:solidFill>
                  <a:srgbClr val="2A40E2"/>
                </a:solidFill>
                <a:latin typeface="Consolas" charset="0"/>
                <a:ea typeface="Consolas" charset="0"/>
                <a:cs typeface="Consolas" charset="0"/>
              </a:rPr>
              <a:t> = BUSY;</a:t>
            </a:r>
            <a:endParaRPr lang="en-US" altLang="en-US" b="0">
              <a:latin typeface="Consolas" charset="0"/>
              <a:ea typeface="Consolas" charset="0"/>
              <a:cs typeface="Consolas" charset="0"/>
            </a:endParaRPr>
          </a:p>
          <a:p>
            <a:pPr algn="l"/>
            <a:r>
              <a:rPr lang="en-US" altLang="en-US" b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altLang="en-US" b="0" err="1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release_spinlock</a:t>
            </a:r>
            <a:r>
              <a:rPr lang="en-US" altLang="en-US" b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(&amp;guard);</a:t>
            </a:r>
          </a:p>
          <a:p>
            <a:pPr algn="l"/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	}</a:t>
            </a:r>
            <a:br>
              <a:rPr lang="en-US" altLang="en-US" b="0">
                <a:latin typeface="Consolas" charset="0"/>
                <a:ea typeface="Consolas" charset="0"/>
                <a:cs typeface="Consolas" charset="0"/>
              </a:rPr>
            </a:br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ED5A50-F2E2-0792-E5BD-1F0FE8D6B771}"/>
              </a:ext>
            </a:extLst>
          </p:cNvPr>
          <p:cNvSpPr txBox="1"/>
          <p:nvPr/>
        </p:nvSpPr>
        <p:spPr>
          <a:xfrm>
            <a:off x="10078666" y="3233276"/>
            <a:ext cx="2113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0">
                <a:latin typeface="Consolas" charset="0"/>
                <a:ea typeface="Consolas" charset="0"/>
                <a:cs typeface="Consolas" charset="0"/>
              </a:rPr>
              <a:t>&amp; </a:t>
            </a:r>
            <a:r>
              <a:rPr lang="en-US" altLang="en-US" b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release guard</a:t>
            </a:r>
            <a:endParaRPr lang="en-AE">
              <a:solidFill>
                <a:srgbClr val="FF0000"/>
              </a:solidFill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438EA4E-13E6-F8DA-4F77-2ED36F38D2D7}"/>
              </a:ext>
            </a:extLst>
          </p:cNvPr>
          <p:cNvSpPr txBox="1">
            <a:spLocks noChangeArrowheads="1"/>
          </p:cNvSpPr>
          <p:nvPr/>
        </p:nvSpPr>
        <p:spPr>
          <a:xfrm>
            <a:off x="41957" y="10773"/>
            <a:ext cx="10058400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Blocking: </a:t>
            </a:r>
            <a:r>
              <a:rPr lang="en-US" b="1" dirty="0" err="1"/>
              <a:t>SleepLock</a:t>
            </a:r>
            <a:endParaRPr lang="en-US" altLang="ko-KR" dirty="0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63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mph" presetSubtype="0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20673"/>
            <a:ext cx="12192000" cy="5602157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spcBef>
                <a:spcPct val="20000"/>
              </a:spcBef>
            </a:pPr>
            <a:r>
              <a:rPr lang="en-US" altLang="ko-KR" sz="2400" b="1">
                <a:solidFill>
                  <a:srgbClr val="00B050"/>
                </a:solidFill>
                <a:ea typeface="굴림" panose="020B0600000101010101" pitchFamily="34" charset="-127"/>
              </a:rPr>
              <a:t>Positives</a:t>
            </a:r>
            <a:endParaRPr lang="en-US" altLang="ko-KR">
              <a:ea typeface="굴림" panose="020B0600000101010101" pitchFamily="34" charset="-127"/>
            </a:endParaRPr>
          </a:p>
          <a:p>
            <a:pPr lvl="1">
              <a:spcBef>
                <a:spcPct val="20000"/>
              </a:spcBef>
            </a:pPr>
            <a:r>
              <a:rPr lang="en-US" altLang="ko-KR" sz="2000">
                <a:ea typeface="굴림" panose="020B0600000101010101" pitchFamily="34" charset="-127"/>
              </a:rPr>
              <a:t>Machine can receive </a:t>
            </a:r>
            <a:r>
              <a:rPr lang="en-US" altLang="ko-KR" sz="2000" b="1">
                <a:ea typeface="굴림" panose="020B0600000101010101" pitchFamily="34" charset="-127"/>
              </a:rPr>
              <a:t>interrupts</a:t>
            </a:r>
          </a:p>
          <a:p>
            <a:pPr lvl="1">
              <a:spcBef>
                <a:spcPct val="20000"/>
              </a:spcBef>
            </a:pPr>
            <a:r>
              <a:rPr lang="en-US" altLang="ko-KR" sz="2000" b="1">
                <a:ea typeface="굴림" panose="020B0600000101010101" pitchFamily="34" charset="-127"/>
              </a:rPr>
              <a:t>User</a:t>
            </a:r>
            <a:r>
              <a:rPr lang="en-US" altLang="ko-KR" sz="2000">
                <a:ea typeface="굴림" panose="020B0600000101010101" pitchFamily="34" charset="-127"/>
              </a:rPr>
              <a:t> code can use this lock</a:t>
            </a:r>
          </a:p>
          <a:p>
            <a:pPr lvl="1">
              <a:spcBef>
                <a:spcPct val="20000"/>
              </a:spcBef>
            </a:pPr>
            <a:r>
              <a:rPr lang="en-US" altLang="ko-KR" sz="2000">
                <a:ea typeface="굴림" panose="020B0600000101010101" pitchFamily="34" charset="-127"/>
              </a:rPr>
              <a:t>Works on a </a:t>
            </a:r>
            <a:r>
              <a:rPr lang="en-US" altLang="ko-KR" sz="2000" b="1">
                <a:ea typeface="굴림" panose="020B0600000101010101" pitchFamily="34" charset="-127"/>
              </a:rPr>
              <a:t>multiprocessor</a:t>
            </a:r>
          </a:p>
          <a:p>
            <a:pPr lvl="1">
              <a:spcBef>
                <a:spcPct val="20000"/>
              </a:spcBef>
            </a:pPr>
            <a:r>
              <a:rPr lang="en-US" altLang="ko-KR" sz="2000">
                <a:ea typeface="굴림" panose="020B0600000101010101" pitchFamily="34" charset="-127"/>
              </a:rPr>
              <a:t>No </a:t>
            </a:r>
            <a:r>
              <a:rPr lang="en-US" altLang="ko-KR" sz="2000" b="1">
                <a:ea typeface="굴림" panose="020B0600000101010101" pitchFamily="34" charset="-127"/>
              </a:rPr>
              <a:t>Busy-Waiting</a:t>
            </a:r>
          </a:p>
          <a:p>
            <a:pPr>
              <a:spcBef>
                <a:spcPct val="20000"/>
              </a:spcBef>
            </a:pPr>
            <a:r>
              <a:rPr lang="en-US" altLang="ko-KR" sz="2400" b="1">
                <a:solidFill>
                  <a:srgbClr val="FF0000"/>
                </a:solidFill>
                <a:ea typeface="굴림" panose="020B0600000101010101" pitchFamily="34" charset="-127"/>
              </a:rPr>
              <a:t>Negatives</a:t>
            </a:r>
            <a:endParaRPr lang="en-US" altLang="ko-KR" sz="2000" b="1">
              <a:ea typeface="굴림" panose="020B0600000101010101" pitchFamily="34" charset="-127"/>
              <a:sym typeface="Symbol" panose="05050102010706020507" pitchFamily="18" charset="2"/>
            </a:endParaRPr>
          </a:p>
          <a:p>
            <a:pPr lvl="1">
              <a:spcBef>
                <a:spcPct val="20000"/>
              </a:spcBef>
            </a:pPr>
            <a:r>
              <a:rPr lang="en-US" altLang="ko-KR" sz="2000">
                <a:ea typeface="굴림" panose="020B0600000101010101" pitchFamily="34" charset="-127"/>
                <a:sym typeface="Symbol" panose="05050102010706020507" pitchFamily="18" charset="2"/>
              </a:rPr>
              <a:t>Need </a:t>
            </a:r>
            <a:r>
              <a:rPr lang="en-US" altLang="ko-KR" sz="2000" b="1">
                <a:solidFill>
                  <a:srgbClr val="FF0000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system call </a:t>
            </a:r>
            <a:r>
              <a:rPr lang="en-US" altLang="ko-KR" sz="2000">
                <a:ea typeface="굴림" panose="020B0600000101010101" pitchFamily="34" charset="-127"/>
                <a:sym typeface="Symbol" panose="05050102010706020507" pitchFamily="18" charset="2"/>
              </a:rPr>
              <a:t>in sleep() &amp; wakeup()</a:t>
            </a:r>
          </a:p>
          <a:p>
            <a:pPr lvl="2">
              <a:spcBef>
                <a:spcPct val="20000"/>
              </a:spcBef>
            </a:pPr>
            <a:r>
              <a:rPr lang="en-US" sz="1800" kern="0"/>
              <a:t>Min System call ~ 25x cost of function call</a:t>
            </a:r>
          </a:p>
          <a:p>
            <a:pPr lvl="1">
              <a:spcBef>
                <a:spcPct val="20000"/>
              </a:spcBef>
            </a:pPr>
            <a:endParaRPr lang="en-US" altLang="ko-KR" sz="2000">
              <a:ea typeface="굴림" panose="020B0600000101010101" pitchFamily="34" charset="-127"/>
              <a:sym typeface="Symbol" panose="05050102010706020507" pitchFamily="18" charset="2"/>
            </a:endParaRPr>
          </a:p>
        </p:txBody>
      </p:sp>
      <p:pic>
        <p:nvPicPr>
          <p:cNvPr id="6" name="Picture 5" descr="A graph with green and red bars&#10;&#10;Description automatically generated">
            <a:extLst>
              <a:ext uri="{FF2B5EF4-FFF2-40B4-BE49-F238E27FC236}">
                <a16:creationId xmlns:a16="http://schemas.microsoft.com/office/drawing/2014/main" id="{7495C9CC-994D-93D7-F83F-8A7519476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597" y="4279989"/>
            <a:ext cx="8919708" cy="25428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60200A-1C96-FF45-370A-6D4DC046635B}"/>
              </a:ext>
            </a:extLst>
          </p:cNvPr>
          <p:cNvSpPr txBox="1"/>
          <p:nvPr/>
        </p:nvSpPr>
        <p:spPr>
          <a:xfrm>
            <a:off x="3928606" y="2273278"/>
            <a:ext cx="44586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Usually used for </a:t>
            </a:r>
          </a:p>
          <a:p>
            <a:pPr algn="ctr"/>
            <a:r>
              <a:rPr lang="en-US" sz="2800" b="1">
                <a:solidFill>
                  <a:srgbClr val="FF0000"/>
                </a:solidFill>
              </a:rPr>
              <a:t>long-time</a:t>
            </a:r>
            <a:r>
              <a:rPr lang="en-US" sz="2800" b="1"/>
              <a:t> critical section</a:t>
            </a:r>
            <a:endParaRPr lang="en-AE" sz="2800" b="1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42CDD5-D8B3-FF1C-A2E1-68277F3562C2}"/>
              </a:ext>
            </a:extLst>
          </p:cNvPr>
          <p:cNvSpPr txBox="1">
            <a:spLocks noChangeArrowheads="1"/>
          </p:cNvSpPr>
          <p:nvPr/>
        </p:nvSpPr>
        <p:spPr>
          <a:xfrm>
            <a:off x="41957" y="10773"/>
            <a:ext cx="10058400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Blocking: </a:t>
            </a:r>
            <a:r>
              <a:rPr lang="en-US" b="1" dirty="0" err="1"/>
              <a:t>SleepLock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787C25-9F32-6205-A158-160F2D93BD62}"/>
              </a:ext>
            </a:extLst>
          </p:cNvPr>
          <p:cNvSpPr/>
          <p:nvPr/>
        </p:nvSpPr>
        <p:spPr bwMode="auto">
          <a:xfrm>
            <a:off x="0" y="4702517"/>
            <a:ext cx="12192000" cy="2120314"/>
          </a:xfrm>
          <a:prstGeom prst="roundRect">
            <a:avLst/>
          </a:prstGeom>
          <a:solidFill>
            <a:schemeClr val="bg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>
              <a:lnSpc>
                <a:spcPct val="150000"/>
              </a:lnSpc>
            </a:pPr>
            <a:r>
              <a:rPr kumimoji="0" lang="en-US" sz="3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EX: </a:t>
            </a:r>
            <a:r>
              <a:rPr kumimoji="0" lang="en-US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INITIALIZING 2D MATRIX</a:t>
            </a:r>
            <a:r>
              <a:rPr kumimoji="0" lang="en-US" sz="3200" b="1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>
                <a:latin typeface="Calibri" panose="020F0502020204030204" pitchFamily="34" charset="0"/>
                <a:cs typeface="Calibri" panose="020F0502020204030204" pitchFamily="34" charset="0"/>
              </a:rPr>
              <a:t>2000x2000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</a:pPr>
            <a:r>
              <a: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kumimoji="0" lang="en-US" sz="2400" b="1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CALL RANDOM FUNCTION </a:t>
            </a:r>
            <a:r>
              <a:rPr kumimoji="0" lang="en-US" sz="2400" b="1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 </a:t>
            </a:r>
            <a:r>
              <a:rPr kumimoji="0" lang="en-US" sz="2400" b="1" i="0" u="none" strike="noStrike" cap="none" normalizeH="0">
                <a:ln>
                  <a:noFill/>
                </a:ln>
                <a:solidFill>
                  <a:srgbClr val="FCB91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190</a:t>
            </a:r>
            <a:r>
              <a:rPr kumimoji="0" lang="en-US" sz="2400" b="1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secs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</a:pPr>
            <a:r>
              <a:rPr lang="en-US" sz="2400" b="1" baseline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USER-SIDE RANDOM FUNCTION	</a:t>
            </a:r>
            <a:r>
              <a:rPr lang="en-US" sz="2400" b="1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  </a:t>
            </a:r>
            <a:r>
              <a:rPr lang="en-US" sz="2400" b="1" baseline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 </a:t>
            </a:r>
            <a:r>
              <a:rPr lang="en-US" sz="2400" b="1" baseline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5</a:t>
            </a:r>
            <a:r>
              <a:rPr lang="en-US" sz="2400" b="1" baseline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secs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144215-65C8-5532-3E9B-F25DBAE5CC55}"/>
                  </a:ext>
                </a:extLst>
              </p:cNvPr>
              <p:cNvSpPr txBox="1"/>
              <p:nvPr/>
            </p:nvSpPr>
            <p:spPr>
              <a:xfrm>
                <a:off x="7229239" y="5692627"/>
                <a:ext cx="4419600" cy="753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ct val="150000"/>
                  </a:lnSpc>
                </a:pPr>
                <a:r>
                  <a:rPr lang="en-US" sz="3200" b="1"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SPEEDUP FACTOR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≈</m:t>
                    </m:r>
                  </m:oMath>
                </a14:m>
                <a:r>
                  <a:rPr lang="en-US" sz="3200" b="1"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 </a:t>
                </a:r>
                <a:r>
                  <a:rPr lang="en-US" sz="3200" b="1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38x</a:t>
                </a:r>
                <a:r>
                  <a:rPr lang="en-US" sz="3200" b="1"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 </a:t>
                </a:r>
                <a:endParaRPr kumimoji="0" lang="en-AE" sz="32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144215-65C8-5532-3E9B-F25DBAE5C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239" y="5692627"/>
                <a:ext cx="4419600" cy="753411"/>
              </a:xfrm>
              <a:prstGeom prst="rect">
                <a:avLst/>
              </a:prstGeom>
              <a:blipFill>
                <a:blip r:embed="rId4"/>
                <a:stretch>
                  <a:fillRect l="-3586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360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3" grpId="0" uiExpand="1" build="p"/>
      <p:bldP spid="7" grpId="0"/>
      <p:bldP spid="8" grpId="0" animBg="1"/>
      <p:bldP spid="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3791"/>
            <a:ext cx="12192000" cy="5844209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solidFill>
                  <a:srgbClr val="5C5962"/>
                </a:solidFill>
                <a:latin typeface="+mj-lt"/>
              </a:rPr>
              <a:t>Complete implementation of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SpinLock</a:t>
            </a:r>
            <a:r>
              <a:rPr lang="en-US" b="1" dirty="0">
                <a:solidFill>
                  <a:srgbClr val="5C5962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5C5962"/>
                </a:solidFill>
                <a:latin typeface="+mj-lt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+mj-lt"/>
              </a:rPr>
              <a:t>kern/conc/</a:t>
            </a:r>
            <a:r>
              <a:rPr lang="en-US" sz="1800" dirty="0" err="1">
                <a:solidFill>
                  <a:srgbClr val="FF0000"/>
                </a:solidFill>
                <a:latin typeface="+mj-lt"/>
              </a:rPr>
              <a:t>kspinlock.h</a:t>
            </a:r>
            <a:r>
              <a:rPr lang="en-US" sz="1800" dirty="0">
                <a:solidFill>
                  <a:srgbClr val="FF0000"/>
                </a:solidFill>
                <a:latin typeface="+mj-lt"/>
              </a:rPr>
              <a:t> &amp; .c</a:t>
            </a:r>
            <a:r>
              <a:rPr lang="en-US" sz="1800" dirty="0">
                <a:solidFill>
                  <a:srgbClr val="5C5962"/>
                </a:solidFill>
                <a:latin typeface="+mj-lt"/>
              </a:rPr>
              <a:t>)</a:t>
            </a:r>
            <a:endParaRPr lang="en-US" dirty="0">
              <a:solidFill>
                <a:srgbClr val="5C5962"/>
              </a:solidFill>
              <a:latin typeface="+mj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SpinLock</a:t>
            </a:r>
            <a:r>
              <a:rPr lang="en-US" b="1" dirty="0">
                <a:solidFill>
                  <a:srgbClr val="5C5962"/>
                </a:solidFill>
              </a:rPr>
              <a:t> </a:t>
            </a:r>
            <a:r>
              <a:rPr lang="en-US" dirty="0">
                <a:solidFill>
                  <a:srgbClr val="5C5962"/>
                </a:solidFill>
              </a:rPr>
              <a:t>to protect ANY process queue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cpu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sched.h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1100" dirty="0">
              <a:latin typeface="+mj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+mj-lt"/>
              </a:rPr>
              <a:t>Struct declaration of the </a:t>
            </a:r>
            <a:r>
              <a:rPr lang="en-A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SleepLock</a:t>
            </a:r>
            <a:r>
              <a:rPr lang="en-A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>
                <a:solidFill>
                  <a:srgbClr val="FF0000"/>
                </a:solidFill>
              </a:rPr>
              <a:t>kern/conc/</a:t>
            </a:r>
            <a:r>
              <a:rPr lang="en-US" sz="1800" dirty="0" err="1">
                <a:solidFill>
                  <a:srgbClr val="FF0000"/>
                </a:solidFill>
              </a:rPr>
              <a:t>sleeplock.h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11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Struct declaration of the </a:t>
            </a:r>
            <a:r>
              <a:rPr lang="en-AE" b="1" dirty="0">
                <a:latin typeface="Courier New" panose="02070309020205020404" pitchFamily="49" charset="0"/>
                <a:cs typeface="Courier New" panose="02070309020205020404" pitchFamily="49" charset="0"/>
              </a:rPr>
              <a:t>Channel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>
                <a:solidFill>
                  <a:srgbClr val="FF0000"/>
                </a:solidFill>
              </a:rPr>
              <a:t>kern/conc/</a:t>
            </a:r>
            <a:r>
              <a:rPr lang="en-US" sz="1800" dirty="0" err="1">
                <a:solidFill>
                  <a:srgbClr val="FF0000"/>
                </a:solidFill>
              </a:rPr>
              <a:t>channel.h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AE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71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4CFE94-E046-E8D2-87A9-09666E7CE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2338"/>
            <a:ext cx="9808454" cy="13259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A0A5F4-8CB2-8872-D65D-455A7E3EE246}"/>
              </a:ext>
            </a:extLst>
          </p:cNvPr>
          <p:cNvSpPr txBox="1"/>
          <p:nvPr/>
        </p:nvSpPr>
        <p:spPr>
          <a:xfrm>
            <a:off x="3883714" y="1939972"/>
            <a:ext cx="2884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err="1">
                <a:solidFill>
                  <a:srgbClr val="000000"/>
                </a:solidFill>
                <a:latin typeface="Consolas" panose="020B0609020204030204" pitchFamily="49" charset="0"/>
              </a:rPr>
              <a:t>ProcessQueues.qlock</a:t>
            </a:r>
            <a:endParaRPr lang="en-AE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289E8D-CF0E-2C52-FEA7-28B3E318E5A5}"/>
              </a:ext>
            </a:extLst>
          </p:cNvPr>
          <p:cNvSpPr txBox="1"/>
          <p:nvPr/>
        </p:nvSpPr>
        <p:spPr>
          <a:xfrm>
            <a:off x="8939515" y="883370"/>
            <a:ext cx="3576578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4F81BD"/>
              </a:buClr>
              <a:buSzPct val="100000"/>
              <a:buFont typeface="+mj-lt"/>
              <a:buAutoNum type="arabicPeriod" startAt="5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C5962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Process Status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200"/>
              </a:spcAft>
              <a:buClr>
                <a:srgbClr val="4F81BD"/>
              </a:buClr>
              <a:buSzPct val="100000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C5962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inc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/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environment_definitions.h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C5962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)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5C5962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8DFC839-1262-FA7C-688A-10FD267F48E4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Blocking: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Data Structures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E173A1-831D-F288-F4BF-21D5DA278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45104"/>
            <a:ext cx="10107436" cy="2381582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76E7060-225B-93FF-DC69-688EDBEF244E}"/>
              </a:ext>
            </a:extLst>
          </p:cNvPr>
          <p:cNvSpPr/>
          <p:nvPr/>
        </p:nvSpPr>
        <p:spPr bwMode="auto">
          <a:xfrm>
            <a:off x="514675" y="3808529"/>
            <a:ext cx="1745810" cy="254731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5792DE-9B5E-E4CA-1C68-C87E7092CF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863"/>
          <a:stretch/>
        </p:blipFill>
        <p:spPr>
          <a:xfrm>
            <a:off x="8939515" y="1640659"/>
            <a:ext cx="3233823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6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1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212671"/>
            <a:ext cx="11155678" cy="5012266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>
                <a:solidFill>
                  <a:srgbClr val="5C5962"/>
                </a:solidFill>
                <a:latin typeface="+mj-lt"/>
              </a:rPr>
              <a:t>Initialize the </a:t>
            </a:r>
            <a:r>
              <a:rPr lang="en-AE" b="1" err="1">
                <a:latin typeface="Courier New" panose="02070309020205020404" pitchFamily="49" charset="0"/>
                <a:cs typeface="Courier New" panose="02070309020205020404" pitchFamily="49" charset="0"/>
              </a:rPr>
              <a:t>SleepLock</a:t>
            </a:r>
            <a:r>
              <a:rPr lang="en-AE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>
                <a:solidFill>
                  <a:srgbClr val="5C5962"/>
                </a:solidFill>
              </a:rPr>
              <a:t>(</a:t>
            </a:r>
            <a:r>
              <a:rPr lang="en-US" sz="1800">
                <a:solidFill>
                  <a:srgbClr val="FF0000"/>
                </a:solidFill>
              </a:rPr>
              <a:t>kern/conc/</a:t>
            </a:r>
            <a:r>
              <a:rPr lang="en-US" sz="1800" err="1">
                <a:solidFill>
                  <a:srgbClr val="FF0000"/>
                </a:solidFill>
              </a:rPr>
              <a:t>sleeplock.c</a:t>
            </a:r>
            <a:r>
              <a:rPr lang="en-US" sz="1800">
                <a:solidFill>
                  <a:srgbClr val="5C5962"/>
                </a:solidFill>
              </a:rPr>
              <a:t>)</a:t>
            </a:r>
            <a:endParaRPr lang="en-US">
              <a:solidFill>
                <a:srgbClr val="5C5962"/>
              </a:solidFill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>
              <a:solidFill>
                <a:srgbClr val="5C5962"/>
              </a:solidFill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>
              <a:solidFill>
                <a:srgbClr val="5C5962"/>
              </a:solidFill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1600">
              <a:solidFill>
                <a:srgbClr val="5C5962"/>
              </a:solidFill>
              <a:latin typeface="+mj-lt"/>
            </a:endParaRPr>
          </a:p>
          <a:p>
            <a:pPr marL="457200" lvl="0" indent="-457200">
              <a:lnSpc>
                <a:spcPct val="150000"/>
              </a:lnSpc>
              <a:buClr>
                <a:srgbClr val="4F81BD"/>
              </a:buClr>
              <a:buFont typeface="+mj-lt"/>
              <a:buAutoNum type="arabicPeriod"/>
            </a:pPr>
            <a:r>
              <a:rPr lang="en-US">
                <a:solidFill>
                  <a:srgbClr val="5C5962"/>
                </a:solidFill>
                <a:latin typeface="+mj-lt"/>
              </a:rPr>
              <a:t>Check whether the lock is held or not? </a:t>
            </a:r>
            <a:r>
              <a:rPr lang="en-US" sz="1800">
                <a:solidFill>
                  <a:srgbClr val="5C5962"/>
                </a:solidFill>
              </a:rPr>
              <a:t>(</a:t>
            </a:r>
            <a:r>
              <a:rPr lang="en-US" sz="1800">
                <a:solidFill>
                  <a:srgbClr val="FF0000"/>
                </a:solidFill>
              </a:rPr>
              <a:t>kern/conc/</a:t>
            </a:r>
            <a:r>
              <a:rPr lang="en-US" sz="1800" err="1">
                <a:solidFill>
                  <a:srgbClr val="FF0000"/>
                </a:solidFill>
              </a:rPr>
              <a:t>sleeplock.c</a:t>
            </a:r>
            <a:r>
              <a:rPr lang="en-US" sz="1800">
                <a:solidFill>
                  <a:srgbClr val="5C5962"/>
                </a:solidFill>
              </a:rPr>
              <a:t>)</a:t>
            </a:r>
            <a:endParaRPr lang="en-US">
              <a:solidFill>
                <a:srgbClr val="5C596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>
              <a:solidFill>
                <a:srgbClr val="5C5962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72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6B829B-F3AF-E4CE-ACCC-066AD0D03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38" y="1757567"/>
            <a:ext cx="6323406" cy="19806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E352E5-5F77-3EA6-F6CB-513FB2E82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525" y="4175164"/>
            <a:ext cx="7240634" cy="2049773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972F11C4-067E-DBC7-215A-69AA42246C80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Blocking: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390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2" y="1212671"/>
            <a:ext cx="11934345" cy="5012266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>
                <a:solidFill>
                  <a:srgbClr val="5C5962"/>
                </a:solidFill>
                <a:latin typeface="+mj-lt"/>
              </a:rPr>
              <a:t>Get the current running process </a:t>
            </a:r>
            <a:r>
              <a:rPr lang="en-US" sz="1800">
                <a:solidFill>
                  <a:srgbClr val="5C5962"/>
                </a:solidFill>
              </a:rPr>
              <a:t>(</a:t>
            </a:r>
            <a:r>
              <a:rPr lang="en-US" sz="1800">
                <a:solidFill>
                  <a:srgbClr val="FF0000"/>
                </a:solidFill>
              </a:rPr>
              <a:t>kern/proc/</a:t>
            </a:r>
            <a:r>
              <a:rPr lang="en-US" sz="1800" err="1">
                <a:solidFill>
                  <a:srgbClr val="FF0000"/>
                </a:solidFill>
              </a:rPr>
              <a:t>user_environment..c</a:t>
            </a:r>
            <a:r>
              <a:rPr lang="en-US" sz="1800">
                <a:solidFill>
                  <a:srgbClr val="5C5962"/>
                </a:solidFill>
              </a:rPr>
              <a:t>)</a:t>
            </a:r>
            <a:endParaRPr lang="en-US">
              <a:solidFill>
                <a:srgbClr val="5C5962"/>
              </a:solidFill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endParaRPr lang="en-US" sz="500">
              <a:solidFill>
                <a:srgbClr val="5C5962"/>
              </a:solidFill>
              <a:latin typeface="+mj-lt"/>
            </a:endParaRPr>
          </a:p>
          <a:p>
            <a:pPr marL="457200" lvl="0" indent="-457200">
              <a:lnSpc>
                <a:spcPct val="150000"/>
              </a:lnSpc>
              <a:buClr>
                <a:srgbClr val="4F81BD"/>
              </a:buClr>
              <a:buFont typeface="+mj-lt"/>
              <a:buAutoNum type="arabicPeriod" startAt="3"/>
            </a:pPr>
            <a:r>
              <a:rPr lang="en-US">
                <a:solidFill>
                  <a:srgbClr val="5C5962"/>
                </a:solidFill>
                <a:latin typeface="+mj-lt"/>
              </a:rPr>
              <a:t>Insert a process into the ready queue </a:t>
            </a:r>
            <a:r>
              <a:rPr lang="en-US" sz="1800">
                <a:solidFill>
                  <a:srgbClr val="5C5962"/>
                </a:solidFill>
              </a:rPr>
              <a:t>(</a:t>
            </a:r>
            <a:r>
              <a:rPr lang="en-US" sz="1800">
                <a:solidFill>
                  <a:srgbClr val="FF0000"/>
                </a:solidFill>
              </a:rPr>
              <a:t>kern/</a:t>
            </a:r>
            <a:r>
              <a:rPr lang="en-US" sz="1800" err="1">
                <a:solidFill>
                  <a:srgbClr val="FF0000"/>
                </a:solidFill>
              </a:rPr>
              <a:t>cpu</a:t>
            </a:r>
            <a:r>
              <a:rPr lang="en-US" sz="1800">
                <a:solidFill>
                  <a:srgbClr val="FF0000"/>
                </a:solidFill>
              </a:rPr>
              <a:t>/</a:t>
            </a:r>
            <a:r>
              <a:rPr lang="en-US" sz="1800" err="1">
                <a:solidFill>
                  <a:srgbClr val="FF0000"/>
                </a:solidFill>
              </a:rPr>
              <a:t>sched_helpers.c</a:t>
            </a:r>
            <a:r>
              <a:rPr lang="en-US" sz="1800">
                <a:solidFill>
                  <a:srgbClr val="5C5962"/>
                </a:solidFill>
              </a:rPr>
              <a:t>)</a:t>
            </a:r>
            <a:endParaRPr lang="en-US">
              <a:solidFill>
                <a:srgbClr val="5C5962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endParaRPr lang="en-US" sz="700">
              <a:solidFill>
                <a:srgbClr val="5C5962"/>
              </a:solidFill>
              <a:latin typeface="+mj-lt"/>
            </a:endParaRPr>
          </a:p>
          <a:p>
            <a:pPr marL="457200" lvl="0" indent="-457200">
              <a:lnSpc>
                <a:spcPct val="150000"/>
              </a:lnSpc>
              <a:buClr>
                <a:srgbClr val="4F81BD"/>
              </a:buClr>
              <a:buFont typeface="+mj-lt"/>
              <a:buAutoNum type="arabicPeriod" startAt="3"/>
            </a:pPr>
            <a:r>
              <a:rPr lang="en-US">
                <a:solidFill>
                  <a:srgbClr val="5C5962"/>
                </a:solidFill>
                <a:latin typeface="+mj-lt"/>
              </a:rPr>
              <a:t>Queues functions: </a:t>
            </a:r>
            <a:r>
              <a:rPr lang="en-US" sz="1800">
                <a:solidFill>
                  <a:srgbClr val="5C5962"/>
                </a:solidFill>
              </a:rPr>
              <a:t>(</a:t>
            </a:r>
            <a:r>
              <a:rPr lang="en-US" sz="1800">
                <a:solidFill>
                  <a:srgbClr val="FF0000"/>
                </a:solidFill>
              </a:rPr>
              <a:t>kern/</a:t>
            </a:r>
            <a:r>
              <a:rPr lang="en-US" sz="1800" err="1">
                <a:solidFill>
                  <a:srgbClr val="FF0000"/>
                </a:solidFill>
              </a:rPr>
              <a:t>cpu</a:t>
            </a:r>
            <a:r>
              <a:rPr lang="en-US" sz="1800">
                <a:solidFill>
                  <a:srgbClr val="FF0000"/>
                </a:solidFill>
              </a:rPr>
              <a:t>/</a:t>
            </a:r>
            <a:r>
              <a:rPr lang="en-US" sz="1800" err="1">
                <a:solidFill>
                  <a:srgbClr val="FF0000"/>
                </a:solidFill>
              </a:rPr>
              <a:t>sched_helpers.c</a:t>
            </a:r>
            <a:r>
              <a:rPr lang="en-US" sz="1800">
                <a:solidFill>
                  <a:srgbClr val="5C5962"/>
                </a:solidFill>
              </a:rPr>
              <a:t>)</a:t>
            </a:r>
            <a:endParaRPr lang="en-US">
              <a:solidFill>
                <a:srgbClr val="5C5962"/>
              </a:solidFill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endParaRPr lang="en-US">
              <a:solidFill>
                <a:srgbClr val="5C5962"/>
              </a:solidFill>
              <a:latin typeface="+mj-lt"/>
            </a:endParaRPr>
          </a:p>
          <a:p>
            <a:pPr marL="457200" lvl="0" indent="-457200">
              <a:lnSpc>
                <a:spcPct val="150000"/>
              </a:lnSpc>
              <a:buClr>
                <a:srgbClr val="4F81BD"/>
              </a:buClr>
              <a:buFont typeface="+mj-lt"/>
              <a:buAutoNum type="arabicPeriod" startAt="3"/>
            </a:pPr>
            <a:endParaRPr lang="en-US">
              <a:solidFill>
                <a:srgbClr val="5C5962"/>
              </a:solidFill>
              <a:latin typeface="+mj-lt"/>
            </a:endParaRPr>
          </a:p>
          <a:p>
            <a:pPr marL="457200" lvl="0" indent="-457200">
              <a:lnSpc>
                <a:spcPct val="150000"/>
              </a:lnSpc>
              <a:buClr>
                <a:srgbClr val="4F81BD"/>
              </a:buClr>
              <a:buFont typeface="+mj-lt"/>
              <a:buAutoNum type="arabicPeriod" startAt="3"/>
            </a:pPr>
            <a:r>
              <a:rPr lang="en-US">
                <a:solidFill>
                  <a:srgbClr val="5C5962"/>
                </a:solidFill>
                <a:latin typeface="+mj-lt"/>
              </a:rPr>
              <a:t>Invoke the scheduler to context switch into the next ready queue (if any) </a:t>
            </a:r>
            <a:r>
              <a:rPr lang="en-US" sz="1800">
                <a:solidFill>
                  <a:srgbClr val="5C5962"/>
                </a:solidFill>
              </a:rPr>
              <a:t>(</a:t>
            </a:r>
            <a:r>
              <a:rPr lang="en-US" sz="1800">
                <a:solidFill>
                  <a:srgbClr val="FF0000"/>
                </a:solidFill>
              </a:rPr>
              <a:t>kern/proc/</a:t>
            </a:r>
            <a:r>
              <a:rPr lang="en-US" sz="1800" err="1">
                <a:solidFill>
                  <a:srgbClr val="FF0000"/>
                </a:solidFill>
              </a:rPr>
              <a:t>user_environment..c</a:t>
            </a:r>
            <a:r>
              <a:rPr lang="en-US" sz="1800">
                <a:solidFill>
                  <a:srgbClr val="5C5962"/>
                </a:solidFill>
              </a:rPr>
              <a:t>)</a:t>
            </a:r>
            <a:endParaRPr lang="en-US">
              <a:solidFill>
                <a:srgbClr val="5C5962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endParaRPr lang="en-US">
              <a:solidFill>
                <a:srgbClr val="5C5962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73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3E3B-1DBB-F50F-F100-838DB16342F4}"/>
              </a:ext>
            </a:extLst>
          </p:cNvPr>
          <p:cNvSpPr txBox="1"/>
          <p:nvPr/>
        </p:nvSpPr>
        <p:spPr>
          <a:xfrm>
            <a:off x="3286163" y="1720151"/>
            <a:ext cx="6097656" cy="461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>
                <a:solidFill>
                  <a:srgbClr val="0066FF"/>
                </a:solidFill>
                <a:latin typeface="Consolas" panose="020B0609020204030204" pitchFamily="49" charset="0"/>
              </a:rPr>
              <a:t>struct</a:t>
            </a:r>
            <a:r>
              <a:rPr lang="en-US">
                <a:solidFill>
                  <a:srgbClr val="535353"/>
                </a:solidFill>
                <a:latin typeface="Consolas" panose="020B0609020204030204" pitchFamily="49" charset="0"/>
              </a:rPr>
              <a:t> Env*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err="1">
                <a:solidFill>
                  <a:srgbClr val="000000"/>
                </a:solidFill>
                <a:latin typeface="Consolas" panose="020B0609020204030204" pitchFamily="49" charset="0"/>
              </a:rPr>
              <a:t>get_cpu_proc</a:t>
            </a:r>
            <a:r>
              <a:rPr lang="en-US" b="1">
                <a:solidFill>
                  <a:srgbClr val="787878"/>
                </a:solidFill>
                <a:latin typeface="Consolas" panose="020B0609020204030204" pitchFamily="49" charset="0"/>
              </a:rPr>
              <a:t>()</a:t>
            </a:r>
            <a:r>
              <a:rPr lang="en-US" b="1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  <a:endParaRPr lang="en-US">
              <a:solidFill>
                <a:srgbClr val="5C5962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A8507-FB3A-0D5C-C780-3AC68AAA2783}"/>
              </a:ext>
            </a:extLst>
          </p:cNvPr>
          <p:cNvSpPr txBox="1"/>
          <p:nvPr/>
        </p:nvSpPr>
        <p:spPr>
          <a:xfrm>
            <a:off x="3286163" y="2632550"/>
            <a:ext cx="6097656" cy="461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>
                <a:solidFill>
                  <a:srgbClr val="0066FF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rgbClr val="535353"/>
                </a:solidFill>
                <a:latin typeface="Consolas" panose="020B0609020204030204" pitchFamily="49" charset="0"/>
              </a:rPr>
              <a:t> </a:t>
            </a:r>
            <a:r>
              <a:rPr lang="en-US" b="1" err="1">
                <a:solidFill>
                  <a:srgbClr val="000000"/>
                </a:solidFill>
                <a:latin typeface="Consolas" panose="020B0609020204030204" pitchFamily="49" charset="0"/>
              </a:rPr>
              <a:t>sched_insert_ready</a:t>
            </a:r>
            <a:r>
              <a:rPr lang="en-US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66FF"/>
                </a:solidFill>
                <a:latin typeface="Consolas" panose="020B0609020204030204" pitchFamily="49" charset="0"/>
              </a:rPr>
              <a:t>struct</a:t>
            </a:r>
            <a:r>
              <a:rPr lang="en-US">
                <a:solidFill>
                  <a:srgbClr val="535353"/>
                </a:solidFill>
                <a:latin typeface="Consolas" panose="020B0609020204030204" pitchFamily="49" charset="0"/>
              </a:rPr>
              <a:t> Env*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p</a:t>
            </a:r>
            <a:r>
              <a:rPr lang="en-US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r>
              <a:rPr lang="en-US" b="1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  <a:endParaRPr lang="en-US">
              <a:solidFill>
                <a:srgbClr val="5C5962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B37C57-3AFD-A0FB-FF89-C73FE5856BAC}"/>
              </a:ext>
            </a:extLst>
          </p:cNvPr>
          <p:cNvSpPr txBox="1"/>
          <p:nvPr/>
        </p:nvSpPr>
        <p:spPr>
          <a:xfrm>
            <a:off x="1779557" y="3544949"/>
            <a:ext cx="8080513" cy="1292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fr-FR" sz="1800" err="1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fr-FR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800" b="1" err="1">
                <a:solidFill>
                  <a:srgbClr val="000000"/>
                </a:solidFill>
                <a:latin typeface="Consolas" panose="020B0609020204030204" pitchFamily="49" charset="0"/>
              </a:rPr>
              <a:t>queue_size</a:t>
            </a:r>
            <a:r>
              <a:rPr lang="fr-FR" sz="18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fr-FR" sz="1800" b="1" err="1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fr-FR" sz="18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800" b="1" err="1">
                <a:solidFill>
                  <a:srgbClr val="000000"/>
                </a:solidFill>
                <a:latin typeface="Consolas" panose="020B0609020204030204" pitchFamily="49" charset="0"/>
              </a:rPr>
              <a:t>Env_Queue</a:t>
            </a:r>
            <a:r>
              <a:rPr lang="fr-FR" sz="18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fr-FR" sz="1800" b="1">
                <a:solidFill>
                  <a:srgbClr val="000000"/>
                </a:solidFill>
                <a:latin typeface="Consolas" panose="020B0609020204030204" pitchFamily="49" charset="0"/>
              </a:rPr>
              <a:t> queue</a:t>
            </a:r>
            <a:r>
              <a:rPr lang="fr-FR" sz="18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r>
              <a:rPr lang="fr-FR" sz="1800" b="1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en-US" sz="18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1800" b="1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err="1">
                <a:solidFill>
                  <a:srgbClr val="000000"/>
                </a:solidFill>
                <a:latin typeface="Consolas" panose="020B0609020204030204" pitchFamily="49" charset="0"/>
              </a:rPr>
              <a:t>Env_Queue</a:t>
            </a:r>
            <a:r>
              <a:rPr lang="en-US" sz="18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queue</a:t>
            </a:r>
            <a:r>
              <a:rPr lang="en-US" sz="18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Env</a:t>
            </a:r>
            <a:r>
              <a:rPr lang="en-US" sz="18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env</a:t>
            </a:r>
            <a:r>
              <a:rPr lang="en-US" sz="18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r>
              <a:rPr lang="en-US" sz="1800" b="1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lang="fr-FR" sz="1800" err="1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fr-FR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800" err="1">
                <a:solidFill>
                  <a:srgbClr val="000000"/>
                </a:solidFill>
                <a:latin typeface="Consolas" panose="020B0609020204030204" pitchFamily="49" charset="0"/>
              </a:rPr>
              <a:t>Env</a:t>
            </a:r>
            <a:r>
              <a:rPr lang="fr-FR" sz="180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fr-FR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800" b="1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fr-FR" sz="18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fr-FR" sz="1800" b="1" err="1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fr-FR" sz="18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800" b="1" err="1">
                <a:solidFill>
                  <a:srgbClr val="000000"/>
                </a:solidFill>
                <a:latin typeface="Consolas" panose="020B0609020204030204" pitchFamily="49" charset="0"/>
              </a:rPr>
              <a:t>Env_Queue</a:t>
            </a:r>
            <a:r>
              <a:rPr lang="fr-FR" sz="18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fr-FR" sz="1800" b="1">
                <a:solidFill>
                  <a:srgbClr val="000000"/>
                </a:solidFill>
                <a:latin typeface="Consolas" panose="020B0609020204030204" pitchFamily="49" charset="0"/>
              </a:rPr>
              <a:t> queue</a:t>
            </a:r>
            <a:r>
              <a:rPr lang="fr-FR" sz="18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r>
              <a:rPr lang="fr-FR" sz="1800" b="1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  <a:endParaRPr lang="en-A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E5FACE-3F59-D820-6CD5-8E55524FF149}"/>
              </a:ext>
            </a:extLst>
          </p:cNvPr>
          <p:cNvSpPr txBox="1"/>
          <p:nvPr/>
        </p:nvSpPr>
        <p:spPr>
          <a:xfrm>
            <a:off x="3286163" y="5426749"/>
            <a:ext cx="5599871" cy="461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>
                <a:solidFill>
                  <a:srgbClr val="0066FF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rgbClr val="535353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sched</a:t>
            </a:r>
            <a:r>
              <a:rPr lang="en-US" b="1">
                <a:solidFill>
                  <a:srgbClr val="787878"/>
                </a:solidFill>
                <a:latin typeface="Consolas" panose="020B0609020204030204" pitchFamily="49" charset="0"/>
              </a:rPr>
              <a:t>()</a:t>
            </a:r>
            <a:r>
              <a:rPr lang="en-US" b="1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  <a:endParaRPr lang="en-US">
              <a:solidFill>
                <a:srgbClr val="5C5962"/>
              </a:solidFill>
              <a:latin typeface="+mj-lt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0BAE21C-7911-B5BE-6B9F-327B442ED5C8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Blocking: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344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#13:</a:t>
            </a:r>
            <a:r>
              <a:rPr lang="en-US" dirty="0"/>
              <a:t> Sleep on Channel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488469" cy="5012266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sleep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Channel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chan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spinlock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lk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Description: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Should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block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the current running process on the given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chan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and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schedule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a next ready one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It should </a:t>
            </a:r>
            <a:r>
              <a:rPr lang="en-US" sz="2000" b="1" dirty="0"/>
              <a:t>release</a:t>
            </a:r>
            <a:r>
              <a:rPr lang="en-US" sz="2000" dirty="0"/>
              <a:t> the given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lk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/>
              <a:t>before being blocked so that other process(es) can use it</a:t>
            </a:r>
            <a:endParaRPr lang="en-US" sz="2000" dirty="0"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It should </a:t>
            </a:r>
            <a:r>
              <a:rPr lang="en-US" sz="2000" b="1" dirty="0"/>
              <a:t>reacquire </a:t>
            </a:r>
            <a:r>
              <a:rPr lang="en-US" sz="2000" dirty="0"/>
              <a:t>the given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lk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/>
              <a:t>again when awakened.</a:t>
            </a:r>
          </a:p>
          <a:p>
            <a:pPr marL="201168" lvl="1" indent="0" algn="just">
              <a:lnSpc>
                <a:spcPct val="150000"/>
              </a:lnSpc>
              <a:buNone/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6D2F47-12FB-AB2F-37E7-3CB44203BDC4}"/>
              </a:ext>
            </a:extLst>
          </p:cNvPr>
          <p:cNvSpPr txBox="1"/>
          <p:nvPr/>
        </p:nvSpPr>
        <p:spPr>
          <a:xfrm>
            <a:off x="781870" y="5445499"/>
            <a:ext cx="10689220" cy="4616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GENERAL NOTE</a:t>
            </a:r>
            <a:r>
              <a:rPr lang="en-US" sz="2400" b="1"/>
              <a:t>:</a:t>
            </a:r>
            <a:r>
              <a:rPr lang="en-US" sz="2400"/>
              <a:t> make sure to protect any process queue using the suitable lock</a:t>
            </a:r>
            <a:endParaRPr lang="en-AE" sz="2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E57005E-EF16-16D1-9934-8B6AFEA19504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Blocking: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88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#14:</a:t>
            </a:r>
            <a:r>
              <a:rPr lang="en-US" dirty="0"/>
              <a:t> Wake-up ONE in Channel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115203" cy="5012266"/>
          </a:xfrm>
        </p:spPr>
        <p:txBody>
          <a:bodyPr>
            <a:normAutofit/>
          </a:bodyPr>
          <a:lstStyle/>
          <a:p>
            <a:pPr algn="ctr"/>
            <a:r>
              <a:rPr lang="en-US" sz="240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Consolas" panose="020B0609020204030204" pitchFamily="49" charset="0"/>
              </a:rPr>
              <a:t>wakeup_one</a:t>
            </a:r>
            <a:r>
              <a:rPr lang="en-US" sz="24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Channel </a:t>
            </a:r>
            <a:r>
              <a:rPr lang="en-US" sz="24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err="1">
                <a:solidFill>
                  <a:srgbClr val="000000"/>
                </a:solidFill>
                <a:latin typeface="Consolas" panose="020B0609020204030204" pitchFamily="49" charset="0"/>
              </a:rPr>
              <a:t>chan</a:t>
            </a:r>
            <a:r>
              <a:rPr lang="en-US" sz="24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US" sz="2400" b="1">
              <a:solidFill>
                <a:srgbClr val="A36622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b="1"/>
              <a:t>Description:</a:t>
            </a:r>
          </a:p>
          <a:p>
            <a:pPr lvl="1" algn="just"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  <a:latin typeface="+mj-lt"/>
              </a:rPr>
              <a:t>Should </a:t>
            </a:r>
            <a:r>
              <a:rPr lang="en-US" sz="2000" b="1">
                <a:solidFill>
                  <a:schemeClr val="tx1"/>
                </a:solidFill>
                <a:latin typeface="+mj-lt"/>
              </a:rPr>
              <a:t>wake-up ONE blocked</a:t>
            </a:r>
            <a:r>
              <a:rPr lang="en-US" sz="2000">
                <a:solidFill>
                  <a:schemeClr val="tx1"/>
                </a:solidFill>
                <a:latin typeface="+mj-lt"/>
              </a:rPr>
              <a:t> process in the given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chan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+mj-lt"/>
              </a:rPr>
              <a:t>and change it to </a:t>
            </a:r>
            <a:r>
              <a:rPr lang="en-US" sz="2000" b="1">
                <a:solidFill>
                  <a:schemeClr val="tx1"/>
                </a:solidFill>
                <a:latin typeface="+mj-lt"/>
              </a:rPr>
              <a:t>ready</a:t>
            </a:r>
          </a:p>
          <a:p>
            <a:pPr lvl="1" algn="just">
              <a:lnSpc>
                <a:spcPct val="150000"/>
              </a:lnSpc>
            </a:pPr>
            <a:endParaRPr lang="en-US" sz="2000"/>
          </a:p>
          <a:p>
            <a:pPr lvl="1" algn="just">
              <a:lnSpc>
                <a:spcPct val="150000"/>
              </a:lnSpc>
            </a:pPr>
            <a:endParaRPr lang="en-US" sz="2000"/>
          </a:p>
          <a:p>
            <a:pPr marL="201168" lvl="1" indent="0" algn="just">
              <a:lnSpc>
                <a:spcPct val="150000"/>
              </a:lnSpc>
              <a:buNone/>
            </a:pPr>
            <a:endParaRPr lang="en-US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99414AC-6095-23B4-A388-9E0CCD4414A1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Blocking: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3EB0E-73F2-1B9F-1BDB-D554BB1137FA}"/>
              </a:ext>
            </a:extLst>
          </p:cNvPr>
          <p:cNvSpPr txBox="1"/>
          <p:nvPr/>
        </p:nvSpPr>
        <p:spPr>
          <a:xfrm>
            <a:off x="781870" y="5445499"/>
            <a:ext cx="10689220" cy="4616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GENERAL NOTE</a:t>
            </a:r>
            <a:r>
              <a:rPr lang="en-US" sz="2400" b="1"/>
              <a:t>:</a:t>
            </a:r>
            <a:r>
              <a:rPr lang="en-US" sz="2400"/>
              <a:t> make sure to protect any process queue using the suitable lock</a:t>
            </a:r>
            <a:endParaRPr lang="en-AE" sz="2400"/>
          </a:p>
        </p:txBody>
      </p:sp>
    </p:spTree>
    <p:extLst>
      <p:ext uri="{BB962C8B-B14F-4D97-AF65-F5344CB8AC3E}">
        <p14:creationId xmlns:p14="http://schemas.microsoft.com/office/powerpoint/2010/main" val="38050551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#15:</a:t>
            </a:r>
            <a:r>
              <a:rPr lang="en-US" dirty="0"/>
              <a:t> Wake-up ALL in Channel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115203" cy="5012266"/>
          </a:xfrm>
        </p:spPr>
        <p:txBody>
          <a:bodyPr>
            <a:normAutofit/>
          </a:bodyPr>
          <a:lstStyle/>
          <a:p>
            <a:pPr algn="ctr"/>
            <a:r>
              <a:rPr lang="en-US" sz="240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Consolas" panose="020B0609020204030204" pitchFamily="49" charset="0"/>
              </a:rPr>
              <a:t>wakeup_all</a:t>
            </a:r>
            <a:r>
              <a:rPr lang="en-US" sz="24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Channel </a:t>
            </a:r>
            <a:r>
              <a:rPr lang="en-US" sz="24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err="1">
                <a:solidFill>
                  <a:srgbClr val="000000"/>
                </a:solidFill>
                <a:latin typeface="Consolas" panose="020B0609020204030204" pitchFamily="49" charset="0"/>
              </a:rPr>
              <a:t>chan</a:t>
            </a:r>
            <a:r>
              <a:rPr lang="en-US" sz="24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US" sz="2400" b="1">
              <a:solidFill>
                <a:srgbClr val="A36622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b="1"/>
              <a:t>Description:</a:t>
            </a:r>
          </a:p>
          <a:p>
            <a:pPr lvl="1" algn="just"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  <a:latin typeface="+mj-lt"/>
              </a:rPr>
              <a:t>Should </a:t>
            </a:r>
            <a:r>
              <a:rPr lang="en-US" sz="2000" b="1">
                <a:solidFill>
                  <a:schemeClr val="tx1"/>
                </a:solidFill>
                <a:latin typeface="+mj-lt"/>
              </a:rPr>
              <a:t>wake-up ALL blocked</a:t>
            </a:r>
            <a:r>
              <a:rPr lang="en-US" sz="2000">
                <a:solidFill>
                  <a:schemeClr val="tx1"/>
                </a:solidFill>
                <a:latin typeface="+mj-lt"/>
              </a:rPr>
              <a:t> process(es) in the given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chan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+mj-lt"/>
              </a:rPr>
              <a:t>and change them to </a:t>
            </a:r>
            <a:r>
              <a:rPr lang="en-US" sz="2000" b="1">
                <a:solidFill>
                  <a:schemeClr val="tx1"/>
                </a:solidFill>
                <a:latin typeface="+mj-lt"/>
              </a:rPr>
              <a:t>ready</a:t>
            </a:r>
          </a:p>
          <a:p>
            <a:pPr lvl="1" algn="just">
              <a:lnSpc>
                <a:spcPct val="150000"/>
              </a:lnSpc>
            </a:pPr>
            <a:endParaRPr lang="en-US" sz="2000"/>
          </a:p>
          <a:p>
            <a:pPr marL="201168" lvl="1" indent="0" algn="just">
              <a:lnSpc>
                <a:spcPct val="150000"/>
              </a:lnSpc>
              <a:buNone/>
            </a:pPr>
            <a:endParaRPr lang="en-US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01F6A50-62E9-CDDD-5178-D2CCE54D0946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Blocking: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2DE58E-418F-1115-212A-D92935550CEA}"/>
              </a:ext>
            </a:extLst>
          </p:cNvPr>
          <p:cNvSpPr txBox="1"/>
          <p:nvPr/>
        </p:nvSpPr>
        <p:spPr>
          <a:xfrm>
            <a:off x="781870" y="5445499"/>
            <a:ext cx="10689220" cy="4616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GENERAL NOTE</a:t>
            </a:r>
            <a:r>
              <a:rPr lang="en-US" sz="2400" b="1"/>
              <a:t>:</a:t>
            </a:r>
            <a:r>
              <a:rPr lang="en-US" sz="2400"/>
              <a:t> make sure to protect any process queue using the suitable lock</a:t>
            </a:r>
            <a:endParaRPr lang="en-AE" sz="2400"/>
          </a:p>
        </p:txBody>
      </p:sp>
    </p:spTree>
    <p:extLst>
      <p:ext uri="{BB962C8B-B14F-4D97-AF65-F5344CB8AC3E}">
        <p14:creationId xmlns:p14="http://schemas.microsoft.com/office/powerpoint/2010/main" val="12159601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#16:</a:t>
            </a:r>
            <a:r>
              <a:rPr lang="en-US" dirty="0"/>
              <a:t> Acquire Sleep Lock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115203" cy="5012266"/>
          </a:xfrm>
        </p:spPr>
        <p:txBody>
          <a:bodyPr>
            <a:normAutofit/>
          </a:bodyPr>
          <a:lstStyle/>
          <a:p>
            <a:pPr algn="ctr"/>
            <a:r>
              <a:rPr lang="en-US" sz="240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Consolas" panose="020B0609020204030204" pitchFamily="49" charset="0"/>
              </a:rPr>
              <a:t>acquire_sleeplock</a:t>
            </a:r>
            <a:r>
              <a:rPr lang="en-US" sz="24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Consolas" panose="020B0609020204030204" pitchFamily="49" charset="0"/>
              </a:rPr>
              <a:t>sleeplock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err="1">
                <a:solidFill>
                  <a:srgbClr val="000000"/>
                </a:solidFill>
                <a:latin typeface="Consolas" panose="020B0609020204030204" pitchFamily="49" charset="0"/>
              </a:rPr>
              <a:t>lk</a:t>
            </a:r>
            <a:r>
              <a:rPr lang="en-US" sz="24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US" sz="2400" b="1">
              <a:solidFill>
                <a:srgbClr val="A36622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b="1"/>
              <a:t>Description:</a:t>
            </a:r>
          </a:p>
          <a:p>
            <a:pPr lvl="1" algn="just"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  <a:latin typeface="+mj-lt"/>
              </a:rPr>
              <a:t>Should </a:t>
            </a:r>
            <a:r>
              <a:rPr lang="en-US" sz="2000" b="1">
                <a:solidFill>
                  <a:schemeClr val="tx1"/>
                </a:solidFill>
                <a:latin typeface="+mj-lt"/>
              </a:rPr>
              <a:t>acquire </a:t>
            </a:r>
            <a:r>
              <a:rPr lang="en-US" sz="2000">
                <a:solidFill>
                  <a:schemeClr val="tx1"/>
                </a:solidFill>
                <a:latin typeface="+mj-lt"/>
              </a:rPr>
              <a:t>the given sleep lock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lk</a:t>
            </a:r>
            <a:endParaRPr lang="en-US" sz="2000" b="1">
              <a:solidFill>
                <a:schemeClr val="tx1"/>
              </a:solidFill>
              <a:latin typeface="+mj-lt"/>
            </a:endParaRPr>
          </a:p>
          <a:p>
            <a:pPr lvl="1" algn="just">
              <a:lnSpc>
                <a:spcPct val="150000"/>
              </a:lnSpc>
            </a:pPr>
            <a:r>
              <a:rPr lang="en-US" sz="2000"/>
              <a:t>If successfully acquired, continue</a:t>
            </a:r>
          </a:p>
          <a:p>
            <a:pPr lvl="1" algn="just">
              <a:lnSpc>
                <a:spcPct val="150000"/>
              </a:lnSpc>
            </a:pPr>
            <a:r>
              <a:rPr lang="en-US" sz="2000"/>
              <a:t>If failed, block the process on the corresponding channel</a:t>
            </a:r>
          </a:p>
          <a:p>
            <a:pPr lvl="1" algn="just">
              <a:lnSpc>
                <a:spcPct val="150000"/>
              </a:lnSpc>
            </a:pPr>
            <a:r>
              <a:rPr lang="en-US" sz="2000"/>
              <a:t>Refer to the previously explained pseudocode</a:t>
            </a:r>
          </a:p>
          <a:p>
            <a:pPr marL="201168" lvl="1" indent="0" algn="just">
              <a:lnSpc>
                <a:spcPct val="150000"/>
              </a:lnSpc>
              <a:buNone/>
            </a:pPr>
            <a:endParaRPr lang="en-US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3DFB65-F6D2-516C-16D3-A40ACBDE1561}"/>
              </a:ext>
            </a:extLst>
          </p:cNvPr>
          <p:cNvSpPr txBox="1"/>
          <p:nvPr/>
        </p:nvSpPr>
        <p:spPr>
          <a:xfrm>
            <a:off x="781870" y="5445499"/>
            <a:ext cx="10689220" cy="4616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GENERAL NOTE</a:t>
            </a:r>
            <a:r>
              <a:rPr lang="en-US" sz="2400" b="1"/>
              <a:t>:</a:t>
            </a:r>
            <a:r>
              <a:rPr lang="en-US" sz="2400"/>
              <a:t> make sure to protect any process queue using the suitable lock</a:t>
            </a:r>
            <a:endParaRPr lang="en-AE" sz="240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06E1BDA-255F-A5D0-AB88-7C9934983B0E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Blocking: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792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#17:</a:t>
            </a:r>
            <a:r>
              <a:rPr lang="en-US" dirty="0"/>
              <a:t> Release Sleep Lock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115203" cy="5012266"/>
          </a:xfrm>
        </p:spPr>
        <p:txBody>
          <a:bodyPr>
            <a:normAutofit/>
          </a:bodyPr>
          <a:lstStyle/>
          <a:p>
            <a:pPr algn="ctr"/>
            <a:r>
              <a:rPr lang="en-US" sz="240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Consolas" panose="020B0609020204030204" pitchFamily="49" charset="0"/>
              </a:rPr>
              <a:t>release_sleeplock</a:t>
            </a:r>
            <a:r>
              <a:rPr lang="en-US" sz="24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Consolas" panose="020B0609020204030204" pitchFamily="49" charset="0"/>
              </a:rPr>
              <a:t>sleeplock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err="1">
                <a:solidFill>
                  <a:srgbClr val="000000"/>
                </a:solidFill>
                <a:latin typeface="Consolas" panose="020B0609020204030204" pitchFamily="49" charset="0"/>
              </a:rPr>
              <a:t>lk</a:t>
            </a:r>
            <a:r>
              <a:rPr lang="en-US" sz="24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US" sz="2400" b="1">
              <a:solidFill>
                <a:srgbClr val="A36622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b="1"/>
              <a:t>Description:</a:t>
            </a:r>
          </a:p>
          <a:p>
            <a:pPr lvl="1" algn="just"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  <a:latin typeface="+mj-lt"/>
              </a:rPr>
              <a:t>Should </a:t>
            </a:r>
            <a:r>
              <a:rPr lang="en-US" sz="2000" b="1">
                <a:solidFill>
                  <a:schemeClr val="tx1"/>
                </a:solidFill>
                <a:latin typeface="+mj-lt"/>
              </a:rPr>
              <a:t>release </a:t>
            </a:r>
            <a:r>
              <a:rPr lang="en-US" sz="2000">
                <a:solidFill>
                  <a:schemeClr val="tx1"/>
                </a:solidFill>
                <a:latin typeface="+mj-lt"/>
              </a:rPr>
              <a:t>the given sleep lock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lk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/>
              <a:t>by </a:t>
            </a:r>
            <a:r>
              <a:rPr lang="en-US" sz="2000" b="1"/>
              <a:t>waken-up ALL blocked </a:t>
            </a:r>
            <a:r>
              <a:rPr lang="en-US" sz="2000"/>
              <a:t>processes on it</a:t>
            </a:r>
          </a:p>
          <a:p>
            <a:pPr lvl="1" algn="just">
              <a:lnSpc>
                <a:spcPct val="150000"/>
              </a:lnSpc>
            </a:pPr>
            <a:r>
              <a:rPr lang="en-US" sz="2000"/>
              <a:t>Refer to the previously explained pseudocode</a:t>
            </a:r>
          </a:p>
          <a:p>
            <a:pPr marL="201168" lvl="1" indent="0" algn="just">
              <a:lnSpc>
                <a:spcPct val="150000"/>
              </a:lnSpc>
              <a:buNone/>
            </a:pPr>
            <a:endParaRPr lang="en-US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D69577-3C82-F760-3877-A53FB6A0652A}"/>
              </a:ext>
            </a:extLst>
          </p:cNvPr>
          <p:cNvSpPr txBox="1"/>
          <p:nvPr/>
        </p:nvSpPr>
        <p:spPr>
          <a:xfrm>
            <a:off x="781870" y="5445499"/>
            <a:ext cx="10689220" cy="4616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GENERAL NOTE</a:t>
            </a:r>
            <a:r>
              <a:rPr lang="en-US" sz="2400" b="1"/>
              <a:t>:</a:t>
            </a:r>
            <a:r>
              <a:rPr lang="en-US" sz="2400"/>
              <a:t> make sure to protect any process queue using the suitable lock</a:t>
            </a:r>
            <a:endParaRPr lang="en-AE" sz="240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68E2A8-E2F9-D997-98F3-B384CC091734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Blocking: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05196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ChangeArrowheads="1"/>
          </p:cNvSpPr>
          <p:nvPr/>
        </p:nvSpPr>
        <p:spPr bwMode="auto">
          <a:xfrm>
            <a:off x="2226425" y="405245"/>
            <a:ext cx="7739149" cy="279847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anchor="ctr"/>
          <a:lstStyle/>
          <a:p>
            <a:pPr algn="ctr" eaLnBrk="0" hangingPunct="0"/>
            <a:r>
              <a:rPr lang="en-US" sz="4400" dirty="0">
                <a:solidFill>
                  <a:schemeClr val="tx2"/>
                </a:solidFill>
              </a:rPr>
              <a:t>NEXT, IT’S </a:t>
            </a:r>
            <a:r>
              <a:rPr lang="en-US" sz="4400" b="1" dirty="0">
                <a:solidFill>
                  <a:schemeClr val="tx2"/>
                </a:solidFill>
              </a:rPr>
              <a:t>YOUR TURN</a:t>
            </a:r>
            <a:r>
              <a:rPr lang="en-US" sz="4400" dirty="0">
                <a:solidFill>
                  <a:schemeClr val="tx2"/>
                </a:solidFill>
              </a:rPr>
              <a:t>...</a:t>
            </a:r>
          </a:p>
          <a:p>
            <a:pPr algn="ctr" eaLnBrk="0" hangingPunct="0">
              <a:lnSpc>
                <a:spcPct val="200000"/>
              </a:lnSpc>
            </a:pPr>
            <a:endParaRPr lang="en-US" sz="1400" dirty="0">
              <a:solidFill>
                <a:schemeClr val="tx2"/>
              </a:solidFill>
            </a:endParaRPr>
          </a:p>
          <a:p>
            <a:pPr algn="ctr" eaLnBrk="0" hangingPunct="0">
              <a:lnSpc>
                <a:spcPct val="200000"/>
              </a:lnSpc>
            </a:pP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 </a:t>
            </a:r>
            <a:r>
              <a:rPr lang="en-US" sz="2800" dirty="0">
                <a:solidFill>
                  <a:schemeClr val="tx2"/>
                </a:solidFill>
              </a:rPr>
              <a:t>Enjoy </a:t>
            </a:r>
            <a:r>
              <a:rPr lang="en-US" sz="2800" b="1" dirty="0">
                <a:solidFill>
                  <a:schemeClr val="tx2"/>
                </a:solidFill>
              </a:rPr>
              <a:t>developing </a:t>
            </a:r>
            <a:r>
              <a:rPr lang="en-US" sz="2800" dirty="0">
                <a:solidFill>
                  <a:schemeClr val="tx2"/>
                </a:solidFill>
              </a:rPr>
              <a:t>your </a:t>
            </a:r>
            <a:r>
              <a:rPr lang="en-US" sz="2800" b="1" dirty="0">
                <a:solidFill>
                  <a:srgbClr val="FF0000"/>
                </a:solidFill>
              </a:rPr>
              <a:t>own OS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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38915" name="Picture 7" descr="girls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3429000"/>
            <a:ext cx="2317750" cy="231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9869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A75FAA3A6A85498CEA72B235095206" ma:contentTypeVersion="3" ma:contentTypeDescription="Create a new document." ma:contentTypeScope="" ma:versionID="72a44a82d73191e9c43e3c60289de1c3">
  <xsd:schema xmlns:xsd="http://www.w3.org/2001/XMLSchema" xmlns:xs="http://www.w3.org/2001/XMLSchema" xmlns:p="http://schemas.microsoft.com/office/2006/metadata/properties" xmlns:ns2="447c295b-992c-42e3-9042-79d4fdce0b45" targetNamespace="http://schemas.microsoft.com/office/2006/metadata/properties" ma:root="true" ma:fieldsID="0e740011ee714eba83319f1c05a554b2" ns2:_="">
    <xsd:import namespace="447c295b-992c-42e3-9042-79d4fdce0b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c295b-992c-42e3-9042-79d4fdce0b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734C444-9F90-494B-8E23-3C66E818107A}"/>
</file>

<file path=customXml/itemProps2.xml><?xml version="1.0" encoding="utf-8"?>
<ds:datastoreItem xmlns:ds="http://schemas.openxmlformats.org/officeDocument/2006/customXml" ds:itemID="{756F90A5-EB14-4B07-91D5-F8BFFD59384B}"/>
</file>

<file path=customXml/itemProps3.xml><?xml version="1.0" encoding="utf-8"?>
<ds:datastoreItem xmlns:ds="http://schemas.openxmlformats.org/officeDocument/2006/customXml" ds:itemID="{A3B6631A-E18E-495B-A698-C8E08AC02827}"/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28887</TotalTime>
  <Words>6655</Words>
  <Application>Microsoft Office PowerPoint</Application>
  <PresentationFormat>Widescreen</PresentationFormat>
  <Paragraphs>1459</Paragraphs>
  <Slides>79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79</vt:i4>
      </vt:variant>
    </vt:vector>
  </HeadingPairs>
  <TitlesOfParts>
    <vt:vector size="94" baseType="lpstr">
      <vt:lpstr>굴림</vt:lpstr>
      <vt:lpstr>Arial</vt:lpstr>
      <vt:lpstr>Calibri</vt:lpstr>
      <vt:lpstr>Cambria</vt:lpstr>
      <vt:lpstr>Cambria Math</vt:lpstr>
      <vt:lpstr>Comic Sans MS</vt:lpstr>
      <vt:lpstr>Consolas</vt:lpstr>
      <vt:lpstr>Courier New</vt:lpstr>
      <vt:lpstr>Gill Sans</vt:lpstr>
      <vt:lpstr>Gill Sans Light</vt:lpstr>
      <vt:lpstr>Symbol</vt:lpstr>
      <vt:lpstr>Times New Roman</vt:lpstr>
      <vt:lpstr>Wingdings</vt:lpstr>
      <vt:lpstr>Retrospect</vt:lpstr>
      <vt:lpstr>Office Theme</vt:lpstr>
      <vt:lpstr>OS’26-27 Project </vt:lpstr>
      <vt:lpstr>Agenda</vt:lpstr>
      <vt:lpstr>Agenda</vt:lpstr>
      <vt:lpstr>Project Overview</vt:lpstr>
      <vt:lpstr>Dynamic Allocator</vt:lpstr>
      <vt:lpstr>Objective</vt:lpstr>
      <vt:lpstr>Dynamic Allocator – Functions </vt:lpstr>
      <vt:lpstr>Dynamic Allocator – Idea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Dynamic Allocator – Pros &amp; Cons</vt:lpstr>
      <vt:lpstr>Dynamic Allocator – Given Data</vt:lpstr>
      <vt:lpstr>Dynamic Allocator – Given Data</vt:lpstr>
      <vt:lpstr>Dynamic Allocator – Given Functions</vt:lpstr>
      <vt:lpstr>#1: Get Block Size</vt:lpstr>
      <vt:lpstr>#2: Allocate</vt:lpstr>
      <vt:lpstr>#2: Allocate</vt:lpstr>
      <vt:lpstr>#3: Free</vt:lpstr>
      <vt:lpstr>Kernel Heap</vt:lpstr>
      <vt:lpstr>Objective</vt:lpstr>
      <vt:lpstr>Kernel Heap</vt:lpstr>
      <vt:lpstr>Kernel Heap – Functions </vt:lpstr>
      <vt:lpstr>PowerPoint Presentation</vt:lpstr>
      <vt:lpstr>PowerPoint Presentation</vt:lpstr>
      <vt:lpstr>PowerPoint Presentation</vt:lpstr>
      <vt:lpstr>PowerPoint Presentation</vt:lpstr>
      <vt:lpstr>Kernel Heap – Allocation Types? </vt:lpstr>
      <vt:lpstr>Kernel Heap – Block Allocator </vt:lpstr>
      <vt:lpstr>Kernel Heap – Page Allocator </vt:lpstr>
      <vt:lpstr>Kernel Heap – Page Allocator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Kernel Heap – Given Functions</vt:lpstr>
      <vt:lpstr>#4: create_buddy_space()</vt:lpstr>
      <vt:lpstr>#5: delete_buddy_space()</vt:lpstr>
      <vt:lpstr>#6: kmalloc()</vt:lpstr>
      <vt:lpstr>#7: kfree()</vt:lpstr>
      <vt:lpstr>#8: kheap_physical_address()</vt:lpstr>
      <vt:lpstr>#9: kheap_virtual_address()</vt:lpstr>
      <vt:lpstr>BONUS#1: krealloc()</vt:lpstr>
      <vt:lpstr>Fault Handler I (Placement)</vt:lpstr>
      <vt:lpstr>Objective</vt:lpstr>
      <vt:lpstr>PowerPoint Presentation</vt:lpstr>
      <vt:lpstr>Working Set: Structure</vt:lpstr>
      <vt:lpstr>Working Set: Functions [GIVEN]</vt:lpstr>
      <vt:lpstr>Working Set: Functions [GIVEN]</vt:lpstr>
      <vt:lpstr>Working Set: Functions [GIVEN]</vt:lpstr>
      <vt:lpstr>#10: Kernel Dyn. Alloc. for a Process</vt:lpstr>
      <vt:lpstr>Fault Handler I: Overview</vt:lpstr>
      <vt:lpstr>Fault Handler I: Overview</vt:lpstr>
      <vt:lpstr>#11: Check Invalid Pointers</vt:lpstr>
      <vt:lpstr>#12: Placement</vt:lpstr>
      <vt:lpstr>Blocking</vt:lpstr>
      <vt:lpstr>Objective</vt:lpstr>
      <vt:lpstr>Blocking</vt:lpstr>
      <vt:lpstr>Blocking</vt:lpstr>
      <vt:lpstr>Blocking: Intro</vt:lpstr>
      <vt:lpstr>Blocking: SleepLock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#13: Sleep on Channel</vt:lpstr>
      <vt:lpstr>#14: Wake-up ONE in Channel</vt:lpstr>
      <vt:lpstr>#15: Wake-up ALL in Channel</vt:lpstr>
      <vt:lpstr>#16: Acquire Sleep Lock</vt:lpstr>
      <vt:lpstr>#17: Release Sleep Lock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OS’22 Project</dc:title>
  <dc:creator>ghada hamed ali</dc:creator>
  <cp:lastModifiedBy>Ahmed Salah ELDin</cp:lastModifiedBy>
  <cp:revision>1024</cp:revision>
  <dcterms:created xsi:type="dcterms:W3CDTF">2022-10-12T14:36:57Z</dcterms:created>
  <dcterms:modified xsi:type="dcterms:W3CDTF">2026-10-12T04:14:33Z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0x010100E7A75FAA3A6A85498CEA72B235095206</vt:lpwstr>
  </property>
</Properties>
</file>