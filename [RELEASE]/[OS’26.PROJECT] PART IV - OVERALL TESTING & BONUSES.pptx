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1707" r:id="rId4"/>
    <p:sldId id="1854" r:id="rId5"/>
    <p:sldId id="477" r:id="rId6"/>
    <p:sldId id="258" r:id="rId7"/>
    <p:sldId id="541" r:id="rId8"/>
    <p:sldId id="1246" r:id="rId9"/>
    <p:sldId id="1741" r:id="rId10"/>
    <p:sldId id="1247" r:id="rId11"/>
    <p:sldId id="1855" r:id="rId12"/>
    <p:sldId id="543" r:id="rId13"/>
    <p:sldId id="1248" r:id="rId14"/>
    <p:sldId id="1750" r:id="rId15"/>
    <p:sldId id="1751" r:id="rId16"/>
    <p:sldId id="1710" r:id="rId17"/>
    <p:sldId id="1753" r:id="rId18"/>
    <p:sldId id="287" r:id="rId19"/>
    <p:sldId id="1754" r:id="rId20"/>
    <p:sldId id="447" r:id="rId21"/>
    <p:sldId id="387" r:id="rId22"/>
    <p:sldId id="1749" r:id="rId23"/>
    <p:sldId id="525" r:id="rId24"/>
    <p:sldId id="318" r:id="rId25"/>
    <p:sldId id="407" r:id="rId26"/>
    <p:sldId id="174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57DA-D723-4124-B22B-C8A3DC9AAA70}">
          <p14:sldIdLst>
            <p14:sldId id="256"/>
            <p14:sldId id="257"/>
            <p14:sldId id="1707"/>
            <p14:sldId id="1854"/>
          </p14:sldIdLst>
        </p14:section>
        <p14:section name="Overall Testing" id="{983D029D-6640-43EA-B004-F4FA6FE3ABF1}">
          <p14:sldIdLst>
            <p14:sldId id="477"/>
            <p14:sldId id="258"/>
            <p14:sldId id="541"/>
            <p14:sldId id="1246"/>
            <p14:sldId id="1741"/>
            <p14:sldId id="1247"/>
            <p14:sldId id="1855"/>
            <p14:sldId id="543"/>
            <p14:sldId id="1248"/>
            <p14:sldId id="1750"/>
            <p14:sldId id="1751"/>
            <p14:sldId id="1710"/>
            <p14:sldId id="1753"/>
          </p14:sldIdLst>
        </p14:section>
        <p14:section name="Bonuses" id="{FB3D5471-6AA8-4A2D-A03E-8DAA67BD442F}">
          <p14:sldIdLst>
            <p14:sldId id="287"/>
            <p14:sldId id="1754"/>
            <p14:sldId id="447"/>
            <p14:sldId id="387"/>
            <p14:sldId id="1749"/>
            <p14:sldId id="525"/>
          </p14:sldIdLst>
        </p14:section>
        <p14:section name="Challenges" id="{DDE2B0CE-4D39-4626-A162-10D577436B60}">
          <p14:sldIdLst>
            <p14:sldId id="318"/>
            <p14:sldId id="407"/>
            <p14:sldId id="17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E923"/>
    <a:srgbClr val="0066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9EDBE-B79B-4003-BCC8-787AAB4A21B3}" v="7" dt="2026-10-16T23:50:33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03" autoAdjust="0"/>
  </p:normalViewPr>
  <p:slideViewPr>
    <p:cSldViewPr snapToGrid="0">
      <p:cViewPr varScale="1">
        <p:scale>
          <a:sx n="74" d="100"/>
          <a:sy n="74" d="100"/>
        </p:scale>
        <p:origin x="9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Salah ELDin" userId="68850134-226f-4097-a9a8-787fd6814b0e" providerId="ADAL" clId="{413A41C2-4AE9-464D-8388-CF86B67ED8CF}"/>
    <pc:docChg chg="custSel addSld modSld">
      <pc:chgData name="Ahmed Salah ELDin" userId="68850134-226f-4097-a9a8-787fd6814b0e" providerId="ADAL" clId="{413A41C2-4AE9-464D-8388-CF86B67ED8CF}" dt="2026-10-16T23:50:35.239" v="89" actId="20577"/>
      <pc:docMkLst>
        <pc:docMk/>
      </pc:docMkLst>
      <pc:sldChg chg="modSp add mod">
        <pc:chgData name="Ahmed Salah ELDin" userId="68850134-226f-4097-a9a8-787fd6814b0e" providerId="ADAL" clId="{413A41C2-4AE9-464D-8388-CF86B67ED8CF}" dt="2026-10-16T23:50:35.239" v="89" actId="20577"/>
        <pc:sldMkLst>
          <pc:docMk/>
          <pc:sldMk cId="1916742329" sldId="1855"/>
        </pc:sldMkLst>
        <pc:graphicFrameChg chg="mod modGraphic">
          <ac:chgData name="Ahmed Salah ELDin" userId="68850134-226f-4097-a9a8-787fd6814b0e" providerId="ADAL" clId="{413A41C2-4AE9-464D-8388-CF86B67ED8CF}" dt="2026-10-16T23:50:35.239" v="89" actId="20577"/>
          <ac:graphicFrameMkLst>
            <pc:docMk/>
            <pc:sldMk cId="1916742329" sldId="1855"/>
            <ac:graphicFrameMk id="5" creationId="{2BC8514D-B621-C721-E104-1E8062970E1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6DBDB-0F3D-4109-A58A-C28AD499EF33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6D04-5011-4B5C-B00A-65685CFA9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C1FF-0AC5-64D0-C971-661AE8FD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F490A-71F3-3F29-1CF1-BB4F3CB2A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4E55A-EC01-0CEF-FF8F-952B411B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Inshaa’ALLAH</a:t>
            </a:r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5526B-AF12-CFD7-2063-F3599FDC6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95C63-9540-4739-B9F5-60777EA6CC14}" type="slidenum">
              <a:rPr kumimoji="0" lang="ar-E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ar-E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38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5033A-9A5A-4DF7-BD42-F7C63168BAA9}" type="slidenum">
              <a:rPr lang="ar-EG" smtClean="0"/>
              <a:pPr>
                <a:defRPr/>
              </a:pPr>
              <a:t>26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1967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14C3-5790-45F3-968A-E9170C0AEB62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F11C-1F9A-458C-BFCD-11278D270FD7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A729-173D-4100-9E93-E750DC9C7B4C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4902-8201-431E-872A-E02958C7C1ED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F2CA-6856-47AD-8FEF-A7F04EC7FA05}" type="datetime1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FF5E-8A22-4D2F-A7DB-15AEDD690145}" type="datetime1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D14-7D5B-43FF-AD9A-7E175364C69D}" type="datetime1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2F64E6-D37A-4076-885E-33767E7CCBCE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FC57-5D34-4C65-9BD8-CF64D8739E0B}" type="datetime1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8998-9E6E-4D5F-B785-6A36BB5236AB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25EB-7E9A-4088-BC0E-41A20DAE8FD1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B8E24-D3D3-4496-AB4A-F6A693EC6685}" type="datetime1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2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mp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TERIALS/FOS%20BONUS%20TEMPLATE.docx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mp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44F-A993-07CB-D1DD-01EB55906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OS’26-27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10DF-2536-BB92-0FC3-80368303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918" y="4455620"/>
            <a:ext cx="10307782" cy="1643428"/>
          </a:xfrm>
        </p:spPr>
        <p:txBody>
          <a:bodyPr>
            <a:normAutofit/>
          </a:bodyPr>
          <a:lstStyle/>
          <a:p>
            <a:pPr algn="ctr"/>
            <a:r>
              <a:rPr lang="en-US" sz="3900" dirty="0"/>
              <a:t>PART IV: </a:t>
            </a:r>
            <a:r>
              <a:rPr lang="en-US" sz="4000" b="1" dirty="0"/>
              <a:t>OVERALL TESTING &amp; BONUSES</a:t>
            </a:r>
            <a:endParaRPr lang="en-US" sz="39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BA8C-5654-AF8F-C60C-0CBCB05A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72D-765F-870E-3632-73E0D2B6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71A-C9D0-5A9A-5A1E-FE77062D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0: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I: PREREQUISITES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II: GROUP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III: INDIVIDUAL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IV: OVERALL TESTING &amp; BONUSES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EB8-E269-680F-9D36-3D32E91A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6E4-01C6-BB48-07BD-E3BC786A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A26D-23AF-3E30-49D2-D4ED592D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B0A-81CC-05B1-F8D2-B887BC13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IV: OVERALL TESTING &amp; BONUSES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Overall Testing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Bonuses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BC8B-427C-D9AC-D220-60F6A3B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F6EB-F953-AEB7-2A2C-4B3E6986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5C22-E23B-B21B-C99B-7AFD8F18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ar-E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9498AF-CE41-0668-71E6-EF9CCC299F65}"/>
              </a:ext>
            </a:extLst>
          </p:cNvPr>
          <p:cNvSpPr/>
          <p:nvPr/>
        </p:nvSpPr>
        <p:spPr>
          <a:xfrm>
            <a:off x="235394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711B7D-73E8-243A-31DA-9384B3799524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A501FE-6541-0E5B-EA7B-CAFADA432564}"/>
              </a:ext>
            </a:extLst>
          </p:cNvPr>
          <p:cNvSpPr/>
          <p:nvPr/>
        </p:nvSpPr>
        <p:spPr>
          <a:xfrm>
            <a:off x="420658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A2B86E-477E-12A4-28DE-256BD700C394}"/>
              </a:ext>
            </a:extLst>
          </p:cNvPr>
          <p:cNvSpPr/>
          <p:nvPr/>
        </p:nvSpPr>
        <p:spPr>
          <a:xfrm>
            <a:off x="6192182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Individual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Module#4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A070B49-C9A1-3811-5F83-5C28ED908CF2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rot="5400000">
            <a:off x="3215515" y="740890"/>
            <a:ext cx="859648" cy="4952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C0881B7-1E26-E07D-3F77-EBF24905F33E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5400000">
            <a:off x="4208313" y="1733688"/>
            <a:ext cx="859648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9D74E62-3919-3F30-A525-448A22615FC2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rot="5400000">
            <a:off x="5201111" y="2726486"/>
            <a:ext cx="859648" cy="981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6ED024C-A8B6-E8C1-1993-5F0F06AAB661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rot="16200000" flipH="1">
            <a:off x="6193909" y="2715486"/>
            <a:ext cx="859648" cy="1003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57F3D94-48CD-FBE2-88BF-A64E2F469915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3229415" y="2501037"/>
            <a:ext cx="831849" cy="49529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E3CAD53-4F81-7FEA-3B39-962E7B966814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rot="16200000" flipH="1">
            <a:off x="4222213" y="3493835"/>
            <a:ext cx="831849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D4AE1B-7A40-B951-1272-FF4CF00FD37E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215011" y="4486633"/>
            <a:ext cx="831849" cy="981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C615811-67F2-C39A-92DE-86598CE06D25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5400000">
            <a:off x="6207810" y="4475635"/>
            <a:ext cx="831849" cy="1003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570B16-13CB-13A5-D062-07A69954A9F2}"/>
              </a:ext>
            </a:extLst>
          </p:cNvPr>
          <p:cNvSpPr/>
          <p:nvPr/>
        </p:nvSpPr>
        <p:spPr>
          <a:xfrm>
            <a:off x="2220989" y="1873161"/>
            <a:ext cx="7801689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Prerequisite Modules </a:t>
            </a:r>
          </a:p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Dyn. </a:t>
            </a:r>
            <a:r>
              <a:rPr lang="en-US" sz="2400" b="1" dirty="0" err="1">
                <a:solidFill>
                  <a:prstClr val="black"/>
                </a:solidFill>
                <a:latin typeface="Calibri"/>
              </a:rPr>
              <a:t>Alloc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, Kern Heap, Fault Handl. 1, Blocking</a:t>
            </a:r>
            <a:endParaRPr lang="en-A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4D5948-1F01-E24D-6EC3-5A8B35AB2C8B}"/>
              </a:ext>
            </a:extLst>
          </p:cNvPr>
          <p:cNvSpPr/>
          <p:nvPr/>
        </p:nvSpPr>
        <p:spPr>
          <a:xfrm>
            <a:off x="229044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[M#1]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Fault Handl. 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85C003-E175-FBC1-4372-AF29BE75EA9A}"/>
              </a:ext>
            </a:extLst>
          </p:cNvPr>
          <p:cNvSpPr/>
          <p:nvPr/>
        </p:nvSpPr>
        <p:spPr>
          <a:xfrm>
            <a:off x="2220990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[M#2]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User Heap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BB2234-93BF-CE48-C282-4A6D245BCBE6}"/>
              </a:ext>
            </a:extLst>
          </p:cNvPr>
          <p:cNvSpPr/>
          <p:nvPr/>
        </p:nvSpPr>
        <p:spPr>
          <a:xfrm>
            <a:off x="4212936" y="365355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[M#3]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CPU Sched.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F30DDF-2898-DD09-F6A6-E279EB770583}"/>
              </a:ext>
            </a:extLst>
          </p:cNvPr>
          <p:cNvSpPr/>
          <p:nvPr/>
        </p:nvSpPr>
        <p:spPr>
          <a:xfrm>
            <a:off x="6198532" y="3650583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[M#4]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#1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DB7F7A0-FC9E-3DFD-5F14-3BA80514D089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16200000" flipH="1">
            <a:off x="7178883" y="1730511"/>
            <a:ext cx="853297" cy="2967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0DE23C5-10F0-1F81-CD00-DFB05A2C65E6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86432" y="3490661"/>
            <a:ext cx="838200" cy="2967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9C183B-8430-B4CB-7E7D-17864BA9B3AF}"/>
              </a:ext>
            </a:extLst>
          </p:cNvPr>
          <p:cNvSpPr/>
          <p:nvPr/>
        </p:nvSpPr>
        <p:spPr>
          <a:xfrm>
            <a:off x="8155779" y="3640858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[M#5]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IPC #2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DA88ED-2DBD-A70A-46C0-56E6D2C57724}"/>
              </a:ext>
            </a:extLst>
          </p:cNvPr>
          <p:cNvSpPr/>
          <p:nvPr/>
        </p:nvSpPr>
        <p:spPr>
          <a:xfrm>
            <a:off x="3154440" y="5393458"/>
            <a:ext cx="5934789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[TW]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&amp; Overall Testing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Scenarios &amp; Bonuses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E962792-C65E-FED7-7247-23C25D8A7C9B}"/>
              </a:ext>
            </a:extLst>
          </p:cNvPr>
          <p:cNvSpPr/>
          <p:nvPr/>
        </p:nvSpPr>
        <p:spPr>
          <a:xfrm>
            <a:off x="10157026" y="3647209"/>
            <a:ext cx="18669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lvl="0" algn="ctr" defTabSz="914400"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[M#6]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lvl="0" algn="ctr" defTabSz="914400">
              <a:defRPr/>
            </a:pPr>
            <a:r>
              <a:rPr lang="en-US" sz="2000" b="1" dirty="0">
                <a:solidFill>
                  <a:prstClr val="black"/>
                </a:solidFill>
                <a:latin typeface="Calibri"/>
              </a:rPr>
              <a:t>Shared Memory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E891A64-BC41-7A39-5713-28B80FADE5FB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16200000" flipH="1">
            <a:off x="8176331" y="733064"/>
            <a:ext cx="859648" cy="4968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3B82689-FDBF-B721-9AC6-E139BA3342B4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 rot="5400000">
            <a:off x="8190232" y="2493213"/>
            <a:ext cx="831849" cy="49686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39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1E923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Testing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IV: overall testing &amp; bonuses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 descr="A digital clock with numbers&#10;&#10;AI-generated content may be incorrect.">
            <a:extLst>
              <a:ext uri="{FF2B5EF4-FFF2-40B4-BE49-F238E27FC236}">
                <a16:creationId xmlns:a16="http://schemas.microsoft.com/office/drawing/2014/main" id="{66E6CBC9-23A7-2740-E484-436D3326E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2C1C-768E-67BA-CE7E-057E322C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D3C8C65-1369-EE38-B323-45647228EE27}"/>
              </a:ext>
            </a:extLst>
          </p:cNvPr>
          <p:cNvSpPr/>
          <p:nvPr/>
        </p:nvSpPr>
        <p:spPr>
          <a:xfrm>
            <a:off x="1154084" y="2270926"/>
            <a:ext cx="10058400" cy="2924072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dirty="0"/>
              <a:t>Testing the </a:t>
            </a:r>
            <a:r>
              <a:rPr lang="en-US" sz="2400" b="1" dirty="0"/>
              <a:t>entire project </a:t>
            </a:r>
            <a:r>
              <a:rPr lang="en-US" sz="2400" dirty="0"/>
              <a:t>and the </a:t>
            </a:r>
            <a:r>
              <a:rPr lang="en-US" sz="2400" b="1" u="sng" dirty="0">
                <a:solidFill>
                  <a:srgbClr val="FF0000"/>
                </a:solidFill>
              </a:rPr>
              <a:t>interaction</a:t>
            </a:r>
            <a:r>
              <a:rPr lang="en-US" sz="2400" dirty="0"/>
              <a:t> between different modules</a:t>
            </a:r>
            <a:endParaRPr lang="en-US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E487D-FCB8-AE5A-2ADD-FA62E1A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2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7CE6-DEC7-A16D-3DE0-C849E7B9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Intro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A520-8A46-2B13-D959-6C8F24993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1094720" cy="45135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GIVEN </a:t>
            </a:r>
            <a:endParaRPr lang="en-US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Set of </a:t>
            </a:r>
            <a:r>
              <a:rPr lang="en-US" sz="2200" b="1" dirty="0"/>
              <a:t>ready-made C programs </a:t>
            </a:r>
            <a:r>
              <a:rPr lang="en-US" sz="2200" dirty="0"/>
              <a:t>to test the entire project in different scenarios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REQUIRED</a:t>
            </a:r>
            <a:endParaRPr lang="en-US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Use these programs to </a:t>
            </a:r>
            <a:r>
              <a:rPr lang="en-US" sz="2200" b="1" dirty="0"/>
              <a:t>test &amp; validate </a:t>
            </a:r>
            <a:r>
              <a:rPr lang="en-US" sz="2200" dirty="0"/>
              <a:t>that the entire project will run successfully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EVALUATION</a:t>
            </a:r>
            <a:endParaRPr lang="en-US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200" b="1" dirty="0"/>
              <a:t>FIVE </a:t>
            </a:r>
            <a:r>
              <a:rPr lang="en-US" sz="2200" b="1" dirty="0">
                <a:solidFill>
                  <a:srgbClr val="FF0000"/>
                </a:solidFill>
              </a:rPr>
              <a:t>UNSEEN </a:t>
            </a:r>
            <a:r>
              <a:rPr lang="en-US" sz="2200" b="1" dirty="0"/>
              <a:t>Scenarios </a:t>
            </a:r>
            <a:r>
              <a:rPr lang="en-US" sz="2200" dirty="0"/>
              <a:t>(1 mark/each). </a:t>
            </a:r>
            <a:endParaRPr lang="en-US" sz="2200" b="1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F593-4FCF-1E1D-88DC-34EF9E75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5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7CE6-DEC7-A16D-3DE0-C849E7B9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Programs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11E9FF-F006-1ECA-366F-91411F8BB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7080508"/>
              </p:ext>
            </p:extLst>
          </p:nvPr>
        </p:nvGraphicFramePr>
        <p:xfrm>
          <a:off x="1076416" y="3190982"/>
          <a:ext cx="10079264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23">
                  <a:extLst>
                    <a:ext uri="{9D8B030D-6E8A-4147-A177-3AD203B41FA5}">
                      <a16:colId xmlns:a16="http://schemas.microsoft.com/office/drawing/2014/main" val="805329556"/>
                    </a:ext>
                  </a:extLst>
                </a:gridCol>
                <a:gridCol w="6414355">
                  <a:extLst>
                    <a:ext uri="{9D8B030D-6E8A-4147-A177-3AD203B41FA5}">
                      <a16:colId xmlns:a16="http://schemas.microsoft.com/office/drawing/2014/main" val="1084286516"/>
                    </a:ext>
                  </a:extLst>
                </a:gridCol>
                <a:gridCol w="3296386">
                  <a:extLst>
                    <a:ext uri="{9D8B030D-6E8A-4147-A177-3AD203B41FA5}">
                      <a16:colId xmlns:a16="http://schemas.microsoft.com/office/drawing/2014/main" val="2173592607"/>
                    </a:ext>
                  </a:extLst>
                </a:gridCol>
              </a:tblGrid>
              <a:tr h="257131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Params to Play With!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27559"/>
                  </a:ext>
                </a:extLst>
              </a:tr>
              <a:tr h="73969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fos_factorial.c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(fact):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calculate the factorial of the given integer (recursive code)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Input integer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982527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fos_fibonacci.c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(fib):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calculate the Fibonacci value of the given index (recursive code)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Fibonacci index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072842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arrayOperations_Master.c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arrop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test the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shared memory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IPC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modules by creating &amp; initializing a shared array, then run 3 programs that apply different operations on this array (quicksort, 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mergesort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statistics). The four processes use IPC for sync.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Array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Ident.,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7947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F593-4FCF-1E1D-88DC-34EF9E75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5F053-E8A1-6931-1960-4A7A44B1DC25}"/>
              </a:ext>
            </a:extLst>
          </p:cNvPr>
          <p:cNvSpPr txBox="1"/>
          <p:nvPr/>
        </p:nvSpPr>
        <p:spPr>
          <a:xfrm>
            <a:off x="1097280" y="1737359"/>
            <a:ext cx="10371494" cy="1888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To run each program: 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	&lt;prog name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WS Size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[&lt;2</a:t>
            </a:r>
            <a:r>
              <a:rPr lang="en-US" baseline="30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Size&gt;]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To load multiple programs: 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&lt;prog name&gt; &lt;WS Size&gt; [&lt; 2</a:t>
            </a:r>
            <a:r>
              <a:rPr lang="en-US" baseline="30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Size&gt;]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		...</a:t>
            </a:r>
          </a:p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							</a:t>
            </a:r>
            <a:r>
              <a:rPr lang="en-US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runall</a:t>
            </a:r>
            <a:endParaRPr lang="en-US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8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16A5-D00C-9D04-8DD8-053848E2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D776-A9D2-4045-AB38-81C526BF4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Programs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E34DEF5-B04E-46A8-A907-21EE9729E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590012"/>
              </p:ext>
            </p:extLst>
          </p:nvPr>
        </p:nvGraphicFramePr>
        <p:xfrm>
          <a:off x="1076416" y="3190982"/>
          <a:ext cx="1007926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23">
                  <a:extLst>
                    <a:ext uri="{9D8B030D-6E8A-4147-A177-3AD203B41FA5}">
                      <a16:colId xmlns:a16="http://schemas.microsoft.com/office/drawing/2014/main" val="805329556"/>
                    </a:ext>
                  </a:extLst>
                </a:gridCol>
                <a:gridCol w="6414355">
                  <a:extLst>
                    <a:ext uri="{9D8B030D-6E8A-4147-A177-3AD203B41FA5}">
                      <a16:colId xmlns:a16="http://schemas.microsoft.com/office/drawing/2014/main" val="1084286516"/>
                    </a:ext>
                  </a:extLst>
                </a:gridCol>
                <a:gridCol w="3296386">
                  <a:extLst>
                    <a:ext uri="{9D8B030D-6E8A-4147-A177-3AD203B41FA5}">
                      <a16:colId xmlns:a16="http://schemas.microsoft.com/office/drawing/2014/main" val="2173592607"/>
                    </a:ext>
                  </a:extLst>
                </a:gridCol>
              </a:tblGrid>
              <a:tr h="257131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Params to Play With!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27559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quicksort_noleakage.c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(qs1):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apply the quick-sort recursive algorithm to sort a pre-initialized array of the given size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malloc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()). The created array will be deleted every time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Array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Desc,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072842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quicksort_leakage.c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(qs2):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apply the quick-sort recursive algorithm to sort a pre-initialized array of the given size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malloc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()). The created array will NOT be deleted, leading to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memory leakage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Array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Desc,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7947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2E080-21E3-A82A-FB46-A6FED9A5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E7AA5-40D7-8F7C-C4C2-6D9B526087F7}"/>
              </a:ext>
            </a:extLst>
          </p:cNvPr>
          <p:cNvSpPr txBox="1"/>
          <p:nvPr/>
        </p:nvSpPr>
        <p:spPr>
          <a:xfrm>
            <a:off x="1097280" y="1737359"/>
            <a:ext cx="10233635" cy="1888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run each program: 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	&lt;prog name&gt; &lt;WS Size&gt; [&lt;2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load multiple programs: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load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&lt;prog name&gt; &lt;WS Size&gt; [&lt;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		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runall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7CE6-DEC7-A16D-3DE0-C849E7B9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Programs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11E9FF-F006-1ECA-366F-91411F8BB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25112"/>
              </p:ext>
            </p:extLst>
          </p:nvPr>
        </p:nvGraphicFramePr>
        <p:xfrm>
          <a:off x="1076416" y="3190982"/>
          <a:ext cx="1007926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23">
                  <a:extLst>
                    <a:ext uri="{9D8B030D-6E8A-4147-A177-3AD203B41FA5}">
                      <a16:colId xmlns:a16="http://schemas.microsoft.com/office/drawing/2014/main" val="805329556"/>
                    </a:ext>
                  </a:extLst>
                </a:gridCol>
                <a:gridCol w="6414355">
                  <a:extLst>
                    <a:ext uri="{9D8B030D-6E8A-4147-A177-3AD203B41FA5}">
                      <a16:colId xmlns:a16="http://schemas.microsoft.com/office/drawing/2014/main" val="1084286516"/>
                    </a:ext>
                  </a:extLst>
                </a:gridCol>
                <a:gridCol w="3296386">
                  <a:extLst>
                    <a:ext uri="{9D8B030D-6E8A-4147-A177-3AD203B41FA5}">
                      <a16:colId xmlns:a16="http://schemas.microsoft.com/office/drawing/2014/main" val="2173592607"/>
                    </a:ext>
                  </a:extLst>
                </a:gridCol>
              </a:tblGrid>
              <a:tr h="257131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Params to Play With!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27559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mergesort_noleakage.c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(ms1):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apply the merge-sort recursive algorithm to sort a pre-initialized array of the given size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malloc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()). The auxiliary arrays in the “Merge” function are deleted every time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Array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Desc,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77283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mergesort_leakage.c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(ms2):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apply the merge-sort recursive algorithm to sort a pre-initialized array of the given size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malloc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()). The auxiliary arrays in the “Merge” function are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deleted (i.e. causing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memory leakage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Array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Desc,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594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F593-4FCF-1E1D-88DC-34EF9E75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3ABBC-4786-8FF1-6B3A-154AFECA3B77}"/>
              </a:ext>
            </a:extLst>
          </p:cNvPr>
          <p:cNvSpPr txBox="1"/>
          <p:nvPr/>
        </p:nvSpPr>
        <p:spPr>
          <a:xfrm>
            <a:off x="1097280" y="1737359"/>
            <a:ext cx="1023363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run each program: 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	&lt;prog name&gt; &lt;WS Size&gt; [&lt;2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load multiple programs: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load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&lt;prog name&gt; &lt;WS Size&gt; [&lt;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		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runall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7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6E86-9A7C-95D3-42FA-E7B23782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5687-331F-176D-1F49-156350EE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Programs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C8514D-B621-C721-E104-1E8062970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876656"/>
              </p:ext>
            </p:extLst>
          </p:nvPr>
        </p:nvGraphicFramePr>
        <p:xfrm>
          <a:off x="1076416" y="3190982"/>
          <a:ext cx="10079264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23">
                  <a:extLst>
                    <a:ext uri="{9D8B030D-6E8A-4147-A177-3AD203B41FA5}">
                      <a16:colId xmlns:a16="http://schemas.microsoft.com/office/drawing/2014/main" val="805329556"/>
                    </a:ext>
                  </a:extLst>
                </a:gridCol>
                <a:gridCol w="6414355">
                  <a:extLst>
                    <a:ext uri="{9D8B030D-6E8A-4147-A177-3AD203B41FA5}">
                      <a16:colId xmlns:a16="http://schemas.microsoft.com/office/drawing/2014/main" val="1084286516"/>
                    </a:ext>
                  </a:extLst>
                </a:gridCol>
                <a:gridCol w="3296386">
                  <a:extLst>
                    <a:ext uri="{9D8B030D-6E8A-4147-A177-3AD203B41FA5}">
                      <a16:colId xmlns:a16="http://schemas.microsoft.com/office/drawing/2014/main" val="2173592607"/>
                    </a:ext>
                  </a:extLst>
                </a:gridCol>
              </a:tblGrid>
              <a:tr h="257131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Params to Play With!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27559"/>
                  </a:ext>
                </a:extLst>
              </a:tr>
              <a:tr h="257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en-A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matrix_operations.c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6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matops</a:t>
                      </a:r>
                      <a:r>
                        <a:rPr kumimoji="0" lang="en-US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Matrix Operations (+, -, ×)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 two square matrices with NO memory leakage (using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malloc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 &amp; </a:t>
                      </a: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()). 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Matrix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err="1"/>
                        <a:t>Initializ</a:t>
                      </a:r>
                      <a:r>
                        <a:rPr lang="en-US" sz="1600" dirty="0"/>
                        <a:t>. (</a:t>
                      </a:r>
                      <a:r>
                        <a:rPr lang="en-US" sz="1600" dirty="0" err="1"/>
                        <a:t>Asc</a:t>
                      </a:r>
                      <a:r>
                        <a:rPr lang="en-US" sz="1600" dirty="0"/>
                        <a:t>, Desc, Random)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Working set size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/>
                        <a:t>Priority</a:t>
                      </a:r>
                      <a:endParaRPr lang="en-A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772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97FDD-D327-857D-E6F8-E93BD07A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3AB30-900E-B287-EBA2-7DCDC57ACF07}"/>
              </a:ext>
            </a:extLst>
          </p:cNvPr>
          <p:cNvSpPr txBox="1"/>
          <p:nvPr/>
        </p:nvSpPr>
        <p:spPr>
          <a:xfrm>
            <a:off x="1097280" y="1737359"/>
            <a:ext cx="1023363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run each program: 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	&lt;prog name&gt; &lt;WS Size&gt; [&lt;2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To load multiple programs: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load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&lt;prog name&gt; &lt;WS Size&gt; [&lt;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List Size&gt;]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		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FOS&gt;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runall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4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DA57-9021-1FD7-EA05-0B125FA4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27212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53D8-971C-9E79-568E-912EDCC7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34321" cy="46140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Possible Scenarios: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b="1" dirty="0"/>
              <a:t>Run Single Program </a:t>
            </a:r>
            <a:r>
              <a:rPr lang="en-US" sz="2400" dirty="0"/>
              <a:t>with Different Params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Can be used to test </a:t>
            </a:r>
            <a:r>
              <a:rPr lang="en-US" sz="2000" b="1" dirty="0"/>
              <a:t>ALL</a:t>
            </a:r>
            <a:r>
              <a:rPr lang="en-US" sz="2000" dirty="0"/>
              <a:t> Modules </a:t>
            </a:r>
            <a:r>
              <a:rPr lang="en-US" sz="2000" b="1" dirty="0"/>
              <a:t>except</a:t>
            </a:r>
            <a:r>
              <a:rPr lang="en-US" sz="2000" dirty="0"/>
              <a:t> CPU scheduling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To Run any program:</a:t>
            </a:r>
          </a:p>
          <a:p>
            <a:pPr marL="475488" lvl="2" indent="0">
              <a:lnSpc>
                <a:spcPct val="120000"/>
              </a:lnSpc>
              <a:buNone/>
            </a:pPr>
            <a:r>
              <a:rPr lang="en-US" sz="1800" b="1" dirty="0"/>
              <a:t>	</a:t>
            </a:r>
            <a:r>
              <a:rPr lang="en-US" sz="1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FOS&gt;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&lt;prog name&gt; &lt;WS Size&gt; [&lt;2</a:t>
            </a:r>
            <a:r>
              <a:rPr lang="en-US" sz="1800" baseline="30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Size&gt;]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92608" lvl="1" indent="0">
              <a:lnSpc>
                <a:spcPct val="120000"/>
              </a:lnSpc>
              <a:buNone/>
            </a:pPr>
            <a:r>
              <a:rPr lang="en-US" sz="2200" dirty="0"/>
              <a:t>Examples for Some Scenarios</a:t>
            </a:r>
          </a:p>
          <a:p>
            <a:pPr marL="932688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Test the same program with </a:t>
            </a:r>
            <a:r>
              <a:rPr lang="en-US" sz="1800" b="1" dirty="0"/>
              <a:t>different WS sizes </a:t>
            </a:r>
            <a:r>
              <a:rPr lang="en-US" sz="1800" dirty="0"/>
              <a:t>(very small, medium, and very large)</a:t>
            </a:r>
          </a:p>
          <a:p>
            <a:pPr marL="932688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Compare </a:t>
            </a:r>
            <a:r>
              <a:rPr lang="en-US" sz="1800" b="1" dirty="0"/>
              <a:t>different replacement </a:t>
            </a:r>
            <a:r>
              <a:rPr lang="en-US" sz="1800" dirty="0"/>
              <a:t>algorithms on same WS sizes</a:t>
            </a:r>
          </a:p>
          <a:p>
            <a:pPr marL="932688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Compare </a:t>
            </a:r>
            <a:r>
              <a:rPr lang="en-US" sz="1800" b="1" dirty="0"/>
              <a:t>mem-leakage</a:t>
            </a:r>
            <a:r>
              <a:rPr lang="en-US" sz="1800" dirty="0"/>
              <a:t> program </a:t>
            </a:r>
            <a:r>
              <a:rPr lang="en-US" sz="1800" b="1" dirty="0"/>
              <a:t>vs. non-leaky </a:t>
            </a:r>
            <a:r>
              <a:rPr lang="en-US" sz="1800" dirty="0"/>
              <a:t>one</a:t>
            </a:r>
          </a:p>
          <a:p>
            <a:pPr marL="475488" lvl="2" indent="0">
              <a:lnSpc>
                <a:spcPct val="120000"/>
              </a:lnSpc>
              <a:buNone/>
            </a:pPr>
            <a:r>
              <a:rPr lang="en-US" sz="1800" dirty="0"/>
              <a:t>	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0F135-3909-2D1C-E0B9-8721F1A6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3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DA57-9021-1FD7-EA05-0B125FA4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27212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53D8-971C-9E79-568E-912EDCC7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505441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Possible Scenarios: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 startAt="2"/>
            </a:pPr>
            <a:r>
              <a:rPr lang="en-US" sz="2400" b="1" dirty="0"/>
              <a:t>Run Multi-Programs </a:t>
            </a:r>
            <a:r>
              <a:rPr lang="en-US" sz="2400" dirty="0"/>
              <a:t>at the Same Time with Different Params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Can be used to test </a:t>
            </a:r>
            <a:r>
              <a:rPr lang="en-US" sz="2000" b="1" dirty="0"/>
              <a:t>ALL</a:t>
            </a:r>
            <a:r>
              <a:rPr lang="en-US" sz="2000" dirty="0"/>
              <a:t> Modules </a:t>
            </a:r>
            <a:r>
              <a:rPr lang="en-US" sz="2000" b="1" dirty="0"/>
              <a:t>including</a:t>
            </a:r>
            <a:r>
              <a:rPr lang="en-US" sz="2000" dirty="0"/>
              <a:t> CPU scheduling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To load multiple programs &amp; run them at once: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	</a:t>
            </a:r>
            <a:r>
              <a:rPr lang="en-US" sz="1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&lt;prog name&gt; &lt;WS Size&gt; &lt;2</a:t>
            </a:r>
            <a:r>
              <a:rPr lang="en-US" sz="1800" baseline="30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Size&gt;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	</a:t>
            </a:r>
            <a:r>
              <a:rPr lang="en-US" sz="1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loadN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&lt;N&gt; &lt;prog name&gt; &lt;WS Size&gt; &lt;2</a:t>
            </a:r>
            <a:r>
              <a:rPr lang="en-US" sz="1800" baseline="30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Size&gt;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75488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	…</a:t>
            </a:r>
          </a:p>
          <a:p>
            <a:pPr marL="475488" lvl="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FOS&gt; </a:t>
            </a:r>
            <a:r>
              <a:rPr lang="en-US" sz="18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runall</a:t>
            </a:r>
            <a:endParaRPr lang="en-US" sz="2000" dirty="0"/>
          </a:p>
          <a:p>
            <a:pPr marL="292608" lvl="1" indent="0">
              <a:lnSpc>
                <a:spcPct val="120000"/>
              </a:lnSpc>
              <a:buNone/>
            </a:pPr>
            <a:r>
              <a:rPr lang="en-US" sz="2200" dirty="0"/>
              <a:t>Examples for Some Scenarios</a:t>
            </a:r>
          </a:p>
          <a:p>
            <a:pPr marL="932688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Run </a:t>
            </a:r>
            <a:r>
              <a:rPr lang="en-US" sz="1800" b="1" dirty="0"/>
              <a:t>instances of the same program </a:t>
            </a:r>
            <a:r>
              <a:rPr lang="en-US" sz="1800" dirty="0"/>
              <a:t>with different inputs. Play with the starvation threshold. </a:t>
            </a:r>
          </a:p>
          <a:p>
            <a:pPr marL="932688" lvl="2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Run </a:t>
            </a:r>
            <a:r>
              <a:rPr lang="en-US" sz="1800" b="1" dirty="0"/>
              <a:t>set of programs </a:t>
            </a:r>
            <a:r>
              <a:rPr lang="en-US" sz="1800" dirty="0"/>
              <a:t>with different params &amp; inputs. Play with the starvation threshold.</a:t>
            </a:r>
          </a:p>
          <a:p>
            <a:pPr marL="475488" lvl="2" indent="0">
              <a:lnSpc>
                <a:spcPct val="120000"/>
              </a:lnSpc>
              <a:buNone/>
            </a:pPr>
            <a:r>
              <a:rPr lang="en-US" sz="1800" dirty="0"/>
              <a:t>	...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0F135-3909-2D1C-E0B9-8721F1A6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06CE-6BEA-FB0A-E6B4-0ECBA823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7853-B076-C376-5313-5872AB53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27212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A633-780D-5A41-D4D5-047A2A9E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505441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Possible Scenarios: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en-US" sz="2400" b="1" dirty="0"/>
              <a:t>Internal Kernel Functionalities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SleepLock</a:t>
            </a:r>
            <a:r>
              <a:rPr lang="en-US" dirty="0">
                <a:solidFill>
                  <a:schemeClr val="tx1"/>
                </a:solidFill>
              </a:rPr>
              <a:t> &amp; Channel sleep/wakeup are currently used in the FOS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Lock the Console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Allow the user program to </a:t>
            </a:r>
            <a:r>
              <a:rPr lang="en-US" b="1" dirty="0">
                <a:solidFill>
                  <a:schemeClr val="tx1"/>
                </a:solidFill>
              </a:rPr>
              <a:t>print message(s) and receive input </a:t>
            </a:r>
            <a:r>
              <a:rPr lang="en-US" dirty="0">
                <a:solidFill>
                  <a:schemeClr val="tx1"/>
                </a:solidFill>
              </a:rPr>
              <a:t>in a </a:t>
            </a:r>
            <a:r>
              <a:rPr lang="en-US" b="1" dirty="0">
                <a:solidFill>
                  <a:schemeClr val="tx1"/>
                </a:solidFill>
              </a:rPr>
              <a:t>critical section 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So, </a:t>
            </a:r>
            <a:r>
              <a:rPr lang="en-US" b="1" dirty="0">
                <a:solidFill>
                  <a:schemeClr val="tx1"/>
                </a:solidFill>
              </a:rPr>
              <a:t>no other processes </a:t>
            </a:r>
            <a:r>
              <a:rPr lang="en-US" dirty="0">
                <a:solidFill>
                  <a:schemeClr val="tx1"/>
                </a:solidFill>
              </a:rPr>
              <a:t>can receive inputs or print messages while another process do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Allow Interrupt-based Keyboard Input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While a process waiting for a </a:t>
            </a:r>
            <a:r>
              <a:rPr lang="en-US" b="1" dirty="0">
                <a:solidFill>
                  <a:schemeClr val="tx1"/>
                </a:solidFill>
              </a:rPr>
              <a:t>keyboard input</a:t>
            </a:r>
            <a:r>
              <a:rPr lang="en-US" dirty="0">
                <a:solidFill>
                  <a:schemeClr val="tx1"/>
                </a:solidFill>
              </a:rPr>
              <a:t>, it’s slept (i.e. </a:t>
            </a:r>
            <a:r>
              <a:rPr lang="en-US" b="1" dirty="0">
                <a:solidFill>
                  <a:schemeClr val="tx1"/>
                </a:solidFill>
              </a:rPr>
              <a:t>blocked</a:t>
            </a:r>
            <a:r>
              <a:rPr lang="en-US" dirty="0">
                <a:solidFill>
                  <a:schemeClr val="tx1"/>
                </a:solidFill>
              </a:rPr>
              <a:t>) until the input is received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Upon receiving a char, an </a:t>
            </a:r>
            <a:r>
              <a:rPr lang="en-US" b="1" dirty="0">
                <a:solidFill>
                  <a:schemeClr val="tx1"/>
                </a:solidFill>
              </a:rPr>
              <a:t>interrupt</a:t>
            </a:r>
            <a:r>
              <a:rPr lang="en-US" dirty="0">
                <a:solidFill>
                  <a:schemeClr val="tx1"/>
                </a:solidFill>
              </a:rPr>
              <a:t> is issued to allow the process to get this char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Allow Interrupt-based Disk Access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While a process waiting for a </a:t>
            </a:r>
            <a:r>
              <a:rPr lang="en-US" b="1" dirty="0">
                <a:solidFill>
                  <a:schemeClr val="tx1"/>
                </a:solidFill>
              </a:rPr>
              <a:t>faulted page</a:t>
            </a:r>
            <a:r>
              <a:rPr lang="en-US" dirty="0">
                <a:solidFill>
                  <a:schemeClr val="tx1"/>
                </a:solidFill>
              </a:rPr>
              <a:t>, it’s slept (i.e. </a:t>
            </a:r>
            <a:r>
              <a:rPr lang="en-US" b="1" dirty="0">
                <a:solidFill>
                  <a:schemeClr val="tx1"/>
                </a:solidFill>
              </a:rPr>
              <a:t>blocked</a:t>
            </a:r>
            <a:r>
              <a:rPr lang="en-US" dirty="0">
                <a:solidFill>
                  <a:schemeClr val="tx1"/>
                </a:solidFill>
              </a:rPr>
              <a:t>) until the fault is handled</a:t>
            </a:r>
          </a:p>
          <a:p>
            <a:pPr marL="749808" lvl="1" indent="-457200"/>
            <a:r>
              <a:rPr lang="en-US" dirty="0">
                <a:solidFill>
                  <a:schemeClr val="tx1"/>
                </a:solidFill>
              </a:rPr>
              <a:t>Upon loading from disk, an </a:t>
            </a:r>
            <a:r>
              <a:rPr lang="en-US" b="1" dirty="0">
                <a:solidFill>
                  <a:schemeClr val="tx1"/>
                </a:solidFill>
              </a:rPr>
              <a:t>interrupt</a:t>
            </a:r>
            <a:r>
              <a:rPr lang="en-US" dirty="0">
                <a:solidFill>
                  <a:schemeClr val="tx1"/>
                </a:solidFill>
              </a:rPr>
              <a:t> is issued to allow the kernel thread to get the content</a:t>
            </a:r>
          </a:p>
          <a:p>
            <a:pPr marL="749808" lvl="1" indent="-4572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1A47C-E307-668D-7B68-03DFB8FD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13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2BAD-C21B-48D0-554A-BD5CE776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1EA5-5985-0825-2CA4-2E815D46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27212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C8E6-1485-7D54-A427-F464D5EE4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1094721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Possible Scenarios: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en-US" sz="2400" b="1" dirty="0"/>
              <a:t>Internal Kernel Functionalities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SleepLock</a:t>
            </a:r>
            <a:r>
              <a:rPr lang="en-US" dirty="0">
                <a:solidFill>
                  <a:schemeClr val="tx1"/>
                </a:solidFill>
              </a:rPr>
              <a:t> &amp; Channel sleep/wakeup are currently used in the FOS to:</a:t>
            </a:r>
          </a:p>
          <a:p>
            <a:pPr marL="0" indent="0">
              <a:buNone/>
            </a:pPr>
            <a:r>
              <a:rPr lang="en-AE" dirty="0">
                <a:solidFill>
                  <a:schemeClr val="tx1"/>
                </a:solidFill>
              </a:rPr>
              <a:t>To test the correct functionality of them for the </a:t>
            </a:r>
            <a:r>
              <a:rPr lang="en-AE" b="1" dirty="0">
                <a:solidFill>
                  <a:schemeClr val="tx1"/>
                </a:solidFill>
              </a:rPr>
              <a:t>first 2 points (Console Lock &amp; KB Interrupt)</a:t>
            </a:r>
            <a:r>
              <a:rPr lang="en-AE" dirty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AE" dirty="0">
                <a:solidFill>
                  <a:schemeClr val="tx1"/>
                </a:solidFill>
              </a:rPr>
              <a:t>Change the method of handling both points from INTERRUPT-based into SLEEP-based, as follows</a:t>
            </a:r>
          </a:p>
          <a:p>
            <a:pPr marL="749808" lvl="1" indent="-4572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88FEF-C609-BC17-B3C8-02B91919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3A59D24-486F-5873-FAAB-61B884868331}"/>
              </a:ext>
            </a:extLst>
          </p:cNvPr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AD7CF-F0A2-4383-A038-D82EAAF254E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FE50E-6856-2068-E1A9-C8E046D1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7" y="4512553"/>
            <a:ext cx="3787457" cy="23186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B562A9-A338-5EEA-6EF6-A887CF97F322}"/>
              </a:ext>
            </a:extLst>
          </p:cNvPr>
          <p:cNvSpPr/>
          <p:nvPr/>
        </p:nvSpPr>
        <p:spPr>
          <a:xfrm>
            <a:off x="3006180" y="4545703"/>
            <a:ext cx="836616" cy="234642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C60CF5-29F5-47E1-FFC9-3A63B3E1F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896" y="4512553"/>
            <a:ext cx="4029624" cy="23123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A12413-8C09-E0AC-21C0-7AE7D5857FB5}"/>
              </a:ext>
            </a:extLst>
          </p:cNvPr>
          <p:cNvSpPr/>
          <p:nvPr/>
        </p:nvSpPr>
        <p:spPr>
          <a:xfrm>
            <a:off x="9304737" y="4502907"/>
            <a:ext cx="1019882" cy="277438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8F0C55D-5A10-26F1-DCAD-749E447CE97E}"/>
              </a:ext>
            </a:extLst>
          </p:cNvPr>
          <p:cNvSpPr/>
          <p:nvPr/>
        </p:nvSpPr>
        <p:spPr>
          <a:xfrm>
            <a:off x="4896091" y="5464757"/>
            <a:ext cx="114321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CF4F82-D54D-7B05-8966-315F11DAB6F9}"/>
              </a:ext>
            </a:extLst>
          </p:cNvPr>
          <p:cNvSpPr txBox="1"/>
          <p:nvPr/>
        </p:nvSpPr>
        <p:spPr>
          <a:xfrm>
            <a:off x="4244097" y="4456960"/>
            <a:ext cx="248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kern/cons/</a:t>
            </a:r>
            <a:r>
              <a:rPr lang="en-US" sz="1800" dirty="0" err="1">
                <a:solidFill>
                  <a:srgbClr val="FF0000"/>
                </a:solidFill>
              </a:rPr>
              <a:t>console.h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9BF701-0C59-1067-FB2F-2296797A6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649" y="5889783"/>
            <a:ext cx="2947685" cy="2421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4E7E46-220A-43F5-0AD7-B5643F1DBFFA}"/>
              </a:ext>
            </a:extLst>
          </p:cNvPr>
          <p:cNvSpPr/>
          <p:nvPr/>
        </p:nvSpPr>
        <p:spPr>
          <a:xfrm>
            <a:off x="2701636" y="5874153"/>
            <a:ext cx="1488398" cy="234642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F7D303-AA5F-F577-F976-38BB6D853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161" y="5892581"/>
            <a:ext cx="4029625" cy="2345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CE73C7-FBC5-6C6D-AE30-D180168CBF6D}"/>
              </a:ext>
            </a:extLst>
          </p:cNvPr>
          <p:cNvSpPr/>
          <p:nvPr/>
        </p:nvSpPr>
        <p:spPr>
          <a:xfrm>
            <a:off x="8949250" y="5846634"/>
            <a:ext cx="1019882" cy="277438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2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/>
      <p:bldP spid="8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6D846E-7CC9-454B-49D6-FC54D6C27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6997"/>
            <a:ext cx="12192000" cy="5839157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</a:rPr>
              <a:t>Run the following </a:t>
            </a:r>
            <a:r>
              <a:rPr lang="en-AE" dirty="0">
                <a:solidFill>
                  <a:schemeClr val="tx1"/>
                </a:solidFill>
              </a:rPr>
              <a:t>THREE programs</a:t>
            </a:r>
          </a:p>
          <a:p>
            <a:pPr marL="749808" lvl="1" indent="-457200"/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 load </a:t>
            </a:r>
            <a:r>
              <a:rPr lang="en-AE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A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3000</a:t>
            </a:r>
            <a:r>
              <a:rPr lang="en-AE" dirty="0">
                <a:solidFill>
                  <a:schemeClr val="tx1"/>
                </a:solidFill>
              </a:rPr>
              <a:t>	//apply </a:t>
            </a:r>
            <a:r>
              <a:rPr lang="en-AE" dirty="0" err="1">
                <a:solidFill>
                  <a:schemeClr val="tx1"/>
                </a:solidFill>
              </a:rPr>
              <a:t>mergesort</a:t>
            </a:r>
            <a:r>
              <a:rPr lang="en-AE" dirty="0">
                <a:solidFill>
                  <a:schemeClr val="tx1"/>
                </a:solidFill>
              </a:rPr>
              <a:t> on array of size 800,000</a:t>
            </a:r>
          </a:p>
          <a:p>
            <a:pPr marL="749808" lvl="1" indent="-457200"/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 load fib </a:t>
            </a:r>
            <a:r>
              <a:rPr lang="en-A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AE" dirty="0">
                <a:solidFill>
                  <a:schemeClr val="tx1"/>
                </a:solidFill>
              </a:rPr>
              <a:t>		//calculate the </a:t>
            </a:r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AE" dirty="0" err="1">
                <a:solidFill>
                  <a:schemeClr val="tx1"/>
                </a:solidFill>
              </a:rPr>
              <a:t>ibonacci</a:t>
            </a:r>
            <a:r>
              <a:rPr lang="en-AE" dirty="0">
                <a:solidFill>
                  <a:schemeClr val="tx1"/>
                </a:solidFill>
              </a:rPr>
              <a:t> at the given index</a:t>
            </a:r>
          </a:p>
          <a:p>
            <a:pPr marL="749808" lvl="1" indent="-457200"/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 load fib </a:t>
            </a:r>
            <a:r>
              <a:rPr lang="en-A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</a:t>
            </a:r>
            <a:r>
              <a:rPr lang="en-AE" dirty="0">
                <a:solidFill>
                  <a:schemeClr val="tx1"/>
                </a:solidFill>
              </a:rPr>
              <a:t>		//calculate the </a:t>
            </a:r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AE" dirty="0" err="1">
                <a:solidFill>
                  <a:schemeClr val="tx1"/>
                </a:solidFill>
              </a:rPr>
              <a:t>ibonacci</a:t>
            </a:r>
            <a:r>
              <a:rPr lang="en-AE" dirty="0">
                <a:solidFill>
                  <a:schemeClr val="tx1"/>
                </a:solidFill>
              </a:rPr>
              <a:t> at the given index</a:t>
            </a:r>
          </a:p>
          <a:p>
            <a:pPr marL="749808" lvl="1" indent="-457200"/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FOS&gt; </a:t>
            </a:r>
            <a:r>
              <a:rPr lang="en-AE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runall</a:t>
            </a:r>
            <a:r>
              <a:rPr lang="en-AE" dirty="0">
                <a:solidFill>
                  <a:schemeClr val="tx1"/>
                </a:solidFill>
              </a:rPr>
              <a:t>			//</a:t>
            </a:r>
            <a:r>
              <a:rPr lang="en-US" dirty="0">
                <a:solidFill>
                  <a:schemeClr val="tx1"/>
                </a:solidFill>
              </a:rPr>
              <a:t>run all processes</a:t>
            </a:r>
            <a:endParaRPr lang="en-AE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AE" dirty="0">
                <a:solidFill>
                  <a:schemeClr val="tx1"/>
                </a:solidFill>
              </a:rPr>
              <a:t>During the run, do the following:</a:t>
            </a:r>
          </a:p>
          <a:p>
            <a:pPr marL="749808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AE" dirty="0">
                <a:solidFill>
                  <a:schemeClr val="tx1"/>
                </a:solidFill>
              </a:rPr>
              <a:t>hen prompting for the Fibonacci index of the </a:t>
            </a:r>
            <a:r>
              <a:rPr lang="en-AE" b="1" dirty="0">
                <a:solidFill>
                  <a:schemeClr val="tx1"/>
                </a:solidFill>
              </a:rPr>
              <a:t>FIRST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</a:t>
            </a:r>
            <a:r>
              <a:rPr lang="en-AE" b="1" dirty="0">
                <a:solidFill>
                  <a:schemeClr val="tx1"/>
                </a:solidFill>
              </a:rPr>
              <a:t> </a:t>
            </a:r>
            <a:r>
              <a:rPr lang="en-AE" dirty="0">
                <a:solidFill>
                  <a:schemeClr val="tx1"/>
                </a:solidFill>
              </a:rPr>
              <a:t>program:</a:t>
            </a:r>
            <a:endParaRPr lang="en-AE" b="1" dirty="0">
              <a:solidFill>
                <a:schemeClr val="tx1"/>
              </a:solidFill>
            </a:endParaRPr>
          </a:p>
          <a:p>
            <a:pPr marL="749808" lvl="1" indent="-457200">
              <a:buFont typeface="+mj-lt"/>
              <a:buAutoNum type="alphaLcParenR"/>
            </a:pPr>
            <a:endParaRPr lang="en-AE" dirty="0">
              <a:solidFill>
                <a:schemeClr val="tx1"/>
              </a:solidFill>
            </a:endParaRPr>
          </a:p>
          <a:p>
            <a:pPr marL="749808" lvl="1" indent="-457200"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AE" dirty="0">
                <a:solidFill>
                  <a:schemeClr val="tx1"/>
                </a:solidFill>
              </a:rPr>
              <a:t>hen prompting for the Fibonacci index of the </a:t>
            </a:r>
            <a:r>
              <a:rPr lang="en-AE" b="1" dirty="0">
                <a:solidFill>
                  <a:schemeClr val="tx1"/>
                </a:solidFill>
              </a:rPr>
              <a:t>SECOND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</a:t>
            </a:r>
            <a:r>
              <a:rPr lang="en-AE" b="1" dirty="0">
                <a:solidFill>
                  <a:schemeClr val="tx1"/>
                </a:solidFill>
              </a:rPr>
              <a:t> </a:t>
            </a:r>
            <a:r>
              <a:rPr lang="en-AE" dirty="0">
                <a:solidFill>
                  <a:schemeClr val="tx1"/>
                </a:solidFill>
              </a:rPr>
              <a:t>program: write</a:t>
            </a:r>
            <a:endParaRPr lang="en-AE" b="1" dirty="0">
              <a:solidFill>
                <a:schemeClr val="tx1"/>
              </a:solidFill>
            </a:endParaRPr>
          </a:p>
          <a:p>
            <a:pPr marL="749808" lvl="1" indent="-457200">
              <a:buFont typeface="+mj-lt"/>
              <a:buAutoNum type="alphaLcParenR"/>
            </a:pPr>
            <a:endParaRPr lang="en-AE" dirty="0">
              <a:solidFill>
                <a:schemeClr val="tx1"/>
              </a:solidFill>
            </a:endParaRPr>
          </a:p>
          <a:p>
            <a:pPr marL="749808" lvl="1" indent="-457200">
              <a:buFont typeface="+mj-lt"/>
              <a:buAutoNum type="alphaLcParenR"/>
            </a:pPr>
            <a:endParaRPr lang="en-AE" dirty="0">
              <a:solidFill>
                <a:schemeClr val="tx1"/>
              </a:solidFill>
            </a:endParaRPr>
          </a:p>
          <a:p>
            <a:pPr marL="749808" lvl="1" indent="-457200">
              <a:lnSpc>
                <a:spcPct val="100000"/>
              </a:lnSpc>
              <a:buFont typeface="+mj-lt"/>
              <a:buAutoNum type="alphaLcParenR"/>
            </a:pPr>
            <a:r>
              <a:rPr lang="en-AE" dirty="0">
                <a:solidFill>
                  <a:schemeClr val="tx1"/>
                </a:solidFill>
              </a:rPr>
              <a:t>Upon pressing Enter, BOTH </a:t>
            </a:r>
            <a:r>
              <a:rPr lang="en-AE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AE" dirty="0">
                <a:solidFill>
                  <a:schemeClr val="tx1"/>
                </a:solidFill>
              </a:rPr>
              <a:t> and first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</a:t>
            </a:r>
            <a:r>
              <a:rPr lang="en-AE" dirty="0">
                <a:solidFill>
                  <a:schemeClr val="tx1"/>
                </a:solidFill>
              </a:rPr>
              <a:t> are </a:t>
            </a:r>
            <a:r>
              <a:rPr lang="en-AE" b="1" dirty="0">
                <a:solidFill>
                  <a:srgbClr val="FF0000"/>
                </a:solidFill>
              </a:rPr>
              <a:t>finished </a:t>
            </a:r>
            <a:r>
              <a:rPr lang="en-AE" b="1" u="sng" dirty="0">
                <a:solidFill>
                  <a:srgbClr val="FF0000"/>
                </a:solidFill>
              </a:rPr>
              <a:t>IMMEDIATELY</a:t>
            </a:r>
            <a:r>
              <a:rPr lang="en-AE" b="1" dirty="0">
                <a:solidFill>
                  <a:srgbClr val="FF0000"/>
                </a:solidFill>
              </a:rPr>
              <a:t> without any delay </a:t>
            </a:r>
            <a:r>
              <a:rPr lang="en-AE" dirty="0">
                <a:solidFill>
                  <a:schemeClr val="tx1"/>
                </a:solidFill>
              </a:rPr>
              <a:t>since both are actually running during the previous </a:t>
            </a:r>
            <a:r>
              <a:rPr lang="en-AE" b="1" dirty="0">
                <a:solidFill>
                  <a:schemeClr val="tx1"/>
                </a:solidFill>
              </a:rPr>
              <a:t>30sec waiting period</a:t>
            </a:r>
          </a:p>
          <a:p>
            <a:pPr marL="749808" lvl="1" indent="-457200">
              <a:lnSpc>
                <a:spcPct val="100000"/>
              </a:lnSpc>
              <a:buFont typeface="+mj-lt"/>
              <a:buAutoNum type="alphaLcParenR"/>
            </a:pPr>
            <a:r>
              <a:rPr lang="en-AE" dirty="0">
                <a:solidFill>
                  <a:schemeClr val="tx1"/>
                </a:solidFill>
              </a:rPr>
              <a:t>After ~60sec, the second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</a:t>
            </a:r>
            <a:r>
              <a:rPr lang="en-AE" dirty="0">
                <a:solidFill>
                  <a:schemeClr val="tx1"/>
                </a:solidFill>
              </a:rPr>
              <a:t> will be finished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E" dirty="0">
                <a:solidFill>
                  <a:schemeClr val="tx1"/>
                </a:solidFill>
              </a:rPr>
              <a:t>Repeat steps 2 &amp; 3 but without the changes in step1 (i.e. using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LCK_INT</a:t>
            </a:r>
            <a:r>
              <a:rPr lang="en-AE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E" dirty="0">
                <a:solidFill>
                  <a:schemeClr val="tx1"/>
                </a:solidFill>
              </a:rPr>
              <a:t>instead of </a:t>
            </a:r>
            <a:r>
              <a:rPr lang="en-AE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LCK_SLEEP</a:t>
            </a:r>
            <a:r>
              <a:rPr lang="en-AE" dirty="0">
                <a:solidFill>
                  <a:schemeClr val="tx1"/>
                </a:solidFill>
              </a:rPr>
              <a:t>): at step 3.c), note all programs will be </a:t>
            </a:r>
            <a:r>
              <a:rPr lang="en-AE" b="1" dirty="0">
                <a:solidFill>
                  <a:schemeClr val="tx1"/>
                </a:solidFill>
              </a:rPr>
              <a:t>running for a </a:t>
            </a:r>
            <a:r>
              <a:rPr lang="en-AE" b="1" dirty="0" err="1">
                <a:solidFill>
                  <a:schemeClr val="tx1"/>
                </a:solidFill>
              </a:rPr>
              <a:t>notic</a:t>
            </a:r>
            <a:r>
              <a:rPr lang="en-US" b="1" dirty="0">
                <a:solidFill>
                  <a:schemeClr val="tx1"/>
                </a:solidFill>
              </a:rPr>
              <a:t>e</a:t>
            </a:r>
            <a:r>
              <a:rPr lang="en-AE" b="1" dirty="0">
                <a:solidFill>
                  <a:schemeClr val="tx1"/>
                </a:solidFill>
              </a:rPr>
              <a:t>able period </a:t>
            </a:r>
            <a:r>
              <a:rPr lang="en-AE" dirty="0">
                <a:solidFill>
                  <a:schemeClr val="tx1"/>
                </a:solidFill>
              </a:rPr>
              <a:t>of time before any of them is finished</a:t>
            </a:r>
          </a:p>
          <a:p>
            <a:pPr marL="457200" indent="-457200">
              <a:buFont typeface="+mj-lt"/>
              <a:buAutoNum type="arabicPeriod" startAt="2"/>
            </a:pPr>
            <a:endParaRPr lang="en-AE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CA1CC9-6BC3-7B38-1FAD-677E8A3FFAC9}"/>
              </a:ext>
            </a:extLst>
          </p:cNvPr>
          <p:cNvGrpSpPr/>
          <p:nvPr/>
        </p:nvGrpSpPr>
        <p:grpSpPr>
          <a:xfrm>
            <a:off x="2783288" y="4033777"/>
            <a:ext cx="6117098" cy="604988"/>
            <a:chOff x="2783288" y="4499448"/>
            <a:chExt cx="6117098" cy="604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91E3C11-6DB1-563D-5011-25C3DF59A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3288" y="4499448"/>
              <a:ext cx="6117098" cy="604988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61BECB-1D39-4402-C8E4-5A2187D8A0D8}"/>
                </a:ext>
              </a:extLst>
            </p:cNvPr>
            <p:cNvSpPr/>
            <p:nvPr/>
          </p:nvSpPr>
          <p:spPr>
            <a:xfrm>
              <a:off x="8518967" y="4809689"/>
              <a:ext cx="381419" cy="294747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09CEA9-02B3-6219-169E-80F1FB21E1C0}"/>
              </a:ext>
            </a:extLst>
          </p:cNvPr>
          <p:cNvGrpSpPr/>
          <p:nvPr/>
        </p:nvGrpSpPr>
        <p:grpSpPr>
          <a:xfrm>
            <a:off x="2783288" y="3429000"/>
            <a:ext cx="5147186" cy="310241"/>
            <a:chOff x="2783288" y="3879794"/>
            <a:chExt cx="5147186" cy="31024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D214DD8-ECE8-6FFA-9A6D-9F89BE6D2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3288" y="3879794"/>
              <a:ext cx="5147186" cy="310241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2B512A-A0E3-469B-AA61-A1BEE9A285AE}"/>
                </a:ext>
              </a:extLst>
            </p:cNvPr>
            <p:cNvSpPr/>
            <p:nvPr/>
          </p:nvSpPr>
          <p:spPr>
            <a:xfrm>
              <a:off x="7592992" y="3879794"/>
              <a:ext cx="337482" cy="310241"/>
            </a:xfrm>
            <a:prstGeom prst="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75E863E-5D40-E02C-F918-2F728224E025}"/>
              </a:ext>
            </a:extLst>
          </p:cNvPr>
          <p:cNvSpPr txBox="1"/>
          <p:nvPr/>
        </p:nvSpPr>
        <p:spPr>
          <a:xfrm>
            <a:off x="7541160" y="342900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35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4893C3-F1E5-F577-EDA5-5356E64F4601}"/>
              </a:ext>
            </a:extLst>
          </p:cNvPr>
          <p:cNvSpPr txBox="1"/>
          <p:nvPr/>
        </p:nvSpPr>
        <p:spPr>
          <a:xfrm>
            <a:off x="8481088" y="430672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38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115D06-669C-0647-21A6-DE1E008917FB}"/>
              </a:ext>
            </a:extLst>
          </p:cNvPr>
          <p:cNvSpPr txBox="1"/>
          <p:nvPr/>
        </p:nvSpPr>
        <p:spPr>
          <a:xfrm>
            <a:off x="7982306" y="3405366"/>
            <a:ext cx="139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Press Enter</a:t>
            </a:r>
            <a:endParaRPr lang="en-A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12C36-4774-D2DD-FB50-BC4ACF11E529}"/>
              </a:ext>
            </a:extLst>
          </p:cNvPr>
          <p:cNvSpPr txBox="1"/>
          <p:nvPr/>
        </p:nvSpPr>
        <p:spPr>
          <a:xfrm>
            <a:off x="8900386" y="4306725"/>
            <a:ext cx="192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>
                <a:solidFill>
                  <a:srgbClr val="FF0000"/>
                </a:solidFill>
              </a:rPr>
              <a:t>WAIT</a:t>
            </a:r>
            <a:r>
              <a:rPr lang="en-AE" b="1" dirty="0"/>
              <a:t> for ~30sec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11FCA7-03C0-F5C3-0ACD-4DB2FDF9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46"/>
            <a:ext cx="10227212" cy="80444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38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90DD9-5055-2E1A-C9B7-464EF5BE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CDD-2475-60F4-B9A4-F50867F3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27212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Project ENTIRE Tests: </a:t>
            </a:r>
            <a:r>
              <a:rPr lang="fr-FR" b="1" dirty="0">
                <a:solidFill>
                  <a:schemeClr val="tx1"/>
                </a:solidFill>
              </a:rPr>
              <a:t>Scenarios</a:t>
            </a:r>
            <a:endParaRPr lang="en-US" sz="33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1863A-5F27-8C97-91DD-A12F7C4A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1094721" cy="5012266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Possible Scenarios: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en-US" sz="2400" b="1" dirty="0"/>
              <a:t>Internal Kernel Functionalities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SleepLock</a:t>
            </a:r>
            <a:r>
              <a:rPr lang="en-US" dirty="0">
                <a:solidFill>
                  <a:schemeClr val="tx1"/>
                </a:solidFill>
              </a:rPr>
              <a:t> &amp; Channel sleep/wakeup are currently used in the FOS to:</a:t>
            </a:r>
          </a:p>
          <a:p>
            <a:pPr marL="0" indent="0">
              <a:buNone/>
            </a:pPr>
            <a:r>
              <a:rPr lang="en-AE" dirty="0">
                <a:solidFill>
                  <a:schemeClr val="tx1"/>
                </a:solidFill>
              </a:rPr>
              <a:t>To test the correct functionality of them for the </a:t>
            </a:r>
            <a:r>
              <a:rPr lang="en-AE" b="1" dirty="0">
                <a:solidFill>
                  <a:schemeClr val="tx1"/>
                </a:solidFill>
              </a:rPr>
              <a:t>3</a:t>
            </a:r>
            <a:r>
              <a:rPr lang="en-AE" b="1" baseline="30000" dirty="0">
                <a:solidFill>
                  <a:schemeClr val="tx1"/>
                </a:solidFill>
              </a:rPr>
              <a:t>rd</a:t>
            </a:r>
            <a:r>
              <a:rPr lang="en-AE" b="1" dirty="0">
                <a:solidFill>
                  <a:schemeClr val="tx1"/>
                </a:solidFill>
              </a:rPr>
              <a:t> points (DISK Interrupt)</a:t>
            </a:r>
            <a:r>
              <a:rPr lang="en-AE" dirty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AE" dirty="0">
                <a:solidFill>
                  <a:schemeClr val="tx1"/>
                </a:solidFill>
              </a:rPr>
              <a:t>Change the method of handling the disk from </a:t>
            </a:r>
            <a:r>
              <a:rPr lang="en-US" dirty="0"/>
              <a:t>PROGRAMMED-I/O </a:t>
            </a:r>
            <a:r>
              <a:rPr lang="en-AE" dirty="0">
                <a:solidFill>
                  <a:schemeClr val="tx1"/>
                </a:solidFill>
              </a:rPr>
              <a:t>into INTERRUPT-based:</a:t>
            </a:r>
          </a:p>
          <a:p>
            <a:pPr marL="457200" indent="-457200">
              <a:buFont typeface="+mj-lt"/>
              <a:buAutoNum type="arabicPeriod"/>
            </a:pPr>
            <a:endParaRPr lang="en-AE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AE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Run any set of programs with </a:t>
            </a:r>
            <a:r>
              <a:rPr lang="en-US" b="1" dirty="0">
                <a:solidFill>
                  <a:schemeClr val="tx1"/>
                </a:solidFill>
              </a:rPr>
              <a:t>small working set </a:t>
            </a:r>
            <a:r>
              <a:rPr lang="en-US" dirty="0">
                <a:solidFill>
                  <a:schemeClr val="tx1"/>
                </a:solidFill>
              </a:rPr>
              <a:t>size and observe the difference in </a:t>
            </a:r>
            <a:r>
              <a:rPr lang="en-US" b="1" dirty="0">
                <a:solidFill>
                  <a:schemeClr val="tx1"/>
                </a:solidFill>
              </a:rPr>
              <a:t>response time </a:t>
            </a:r>
            <a:r>
              <a:rPr lang="en-US" dirty="0">
                <a:solidFill>
                  <a:schemeClr val="tx1"/>
                </a:solidFill>
              </a:rPr>
              <a:t>between the two modes (</a:t>
            </a:r>
            <a:r>
              <a:rPr lang="en-US" dirty="0"/>
              <a:t>PROGRAMMED-I/O </a:t>
            </a:r>
            <a:r>
              <a:rPr lang="en-AE" dirty="0">
                <a:solidFill>
                  <a:schemeClr val="tx1"/>
                </a:solidFill>
              </a:rPr>
              <a:t>&amp; INTERRUPT-based)</a:t>
            </a:r>
          </a:p>
          <a:p>
            <a:pPr marL="457200" indent="-457200">
              <a:buFont typeface="+mj-lt"/>
              <a:buAutoNum type="arabicPeriod"/>
            </a:pPr>
            <a:endParaRPr lang="en-AE" dirty="0">
              <a:solidFill>
                <a:schemeClr val="tx1"/>
              </a:solidFill>
            </a:endParaRPr>
          </a:p>
          <a:p>
            <a:pPr marL="749808" lvl="1" indent="-4572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1B3E8-E45E-AEB5-0F60-EDB340AE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0D312EE-A8E4-1D92-9627-0174B12F92C7}"/>
              </a:ext>
            </a:extLst>
          </p:cNvPr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AD7CF-F0A2-4383-A038-D82EAAF254E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3F686A4-B719-44AF-D503-9214BAAEC311}"/>
              </a:ext>
            </a:extLst>
          </p:cNvPr>
          <p:cNvSpPr/>
          <p:nvPr/>
        </p:nvSpPr>
        <p:spPr>
          <a:xfrm>
            <a:off x="5890395" y="4715075"/>
            <a:ext cx="114321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15E752-A3C4-E7AE-0D53-0B80687AA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4559342"/>
            <a:ext cx="4572638" cy="3238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4E5D05-E686-3D42-C06B-8B12C87F9985}"/>
              </a:ext>
            </a:extLst>
          </p:cNvPr>
          <p:cNvSpPr/>
          <p:nvPr/>
        </p:nvSpPr>
        <p:spPr>
          <a:xfrm>
            <a:off x="3946083" y="4589155"/>
            <a:ext cx="1703797" cy="251840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E277E4-54F6-16B0-BF28-00BE9885964A}"/>
              </a:ext>
            </a:extLst>
          </p:cNvPr>
          <p:cNvSpPr txBox="1"/>
          <p:nvPr/>
        </p:nvSpPr>
        <p:spPr>
          <a:xfrm>
            <a:off x="5791897" y="4359971"/>
            <a:ext cx="248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C5962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inc</a:t>
            </a:r>
            <a:r>
              <a:rPr lang="en-US" sz="1800" dirty="0">
                <a:solidFill>
                  <a:srgbClr val="FF0000"/>
                </a:solidFill>
              </a:rPr>
              <a:t>/</a:t>
            </a:r>
            <a:r>
              <a:rPr lang="en-US" sz="1800" dirty="0" err="1">
                <a:solidFill>
                  <a:srgbClr val="FF0000"/>
                </a:solidFill>
              </a:rPr>
              <a:t>disk.h</a:t>
            </a:r>
            <a:r>
              <a:rPr lang="en-US" sz="1800" dirty="0">
                <a:solidFill>
                  <a:srgbClr val="5C5962"/>
                </a:solidFill>
              </a:rPr>
              <a:t>)</a:t>
            </a:r>
            <a:endParaRPr lang="en-US" dirty="0">
              <a:solidFill>
                <a:srgbClr val="5C5962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0F9EDA-1BAC-AEBD-AF05-179EF66C6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77" y="4559342"/>
            <a:ext cx="3982006" cy="2857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C1B0A0-4EE0-9595-757E-DFB5C185D985}"/>
              </a:ext>
            </a:extLst>
          </p:cNvPr>
          <p:cNvSpPr/>
          <p:nvPr/>
        </p:nvSpPr>
        <p:spPr>
          <a:xfrm>
            <a:off x="10106916" y="4574046"/>
            <a:ext cx="1217578" cy="285791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71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13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Picture 3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824670CE-DC56-9221-6CA8-BF6B85309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832" y="0"/>
            <a:ext cx="976168" cy="9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9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DBB5-3401-81CD-A550-B3BE5ABD5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6519-978C-EB39-02BD-64CD1750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E475-E8D0-1DD7-DC9E-ADF219887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2120"/>
            <a:ext cx="11267901" cy="5135880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3000" b="1" dirty="0"/>
              <a:t>1. Kernel Heap: Realloc 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Attempts to resize the allocated space at given virtual address to "</a:t>
            </a:r>
            <a:r>
              <a:rPr lang="en-US" sz="2400" b="1" dirty="0">
                <a:solidFill>
                  <a:schemeClr val="tx1"/>
                </a:solidFill>
              </a:rPr>
              <a:t>new size</a:t>
            </a:r>
            <a:r>
              <a:rPr lang="en-US" sz="2400" dirty="0">
                <a:solidFill>
                  <a:schemeClr val="tx1"/>
                </a:solidFill>
              </a:rPr>
              <a:t>" bytes, possibly moving it in the heap.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If </a:t>
            </a:r>
            <a:r>
              <a:rPr lang="en-US" sz="2400" b="1" dirty="0">
                <a:solidFill>
                  <a:schemeClr val="tx1"/>
                </a:solidFill>
              </a:rPr>
              <a:t>successful</a:t>
            </a:r>
            <a:r>
              <a:rPr lang="en-US" sz="2400" dirty="0">
                <a:solidFill>
                  <a:schemeClr val="tx1"/>
                </a:solidFill>
              </a:rPr>
              <a:t>, returns the </a:t>
            </a:r>
            <a:r>
              <a:rPr lang="en-US" sz="2400" b="1" dirty="0">
                <a:solidFill>
                  <a:schemeClr val="tx1"/>
                </a:solidFill>
              </a:rPr>
              <a:t>new virtual address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On </a:t>
            </a:r>
            <a:r>
              <a:rPr lang="en-US" sz="2400" b="1" dirty="0">
                <a:solidFill>
                  <a:schemeClr val="tx1"/>
                </a:solidFill>
              </a:rPr>
              <a:t>failure</a:t>
            </a:r>
            <a:r>
              <a:rPr lang="en-US" sz="2400" dirty="0">
                <a:solidFill>
                  <a:schemeClr val="tx1"/>
                </a:solidFill>
              </a:rPr>
              <a:t>, returns a </a:t>
            </a:r>
            <a:r>
              <a:rPr lang="en-US" sz="2400" b="1" dirty="0">
                <a:solidFill>
                  <a:schemeClr val="tx1"/>
                </a:solidFill>
              </a:rPr>
              <a:t>NULL </a:t>
            </a:r>
            <a:r>
              <a:rPr lang="en-US" sz="2400" dirty="0">
                <a:solidFill>
                  <a:schemeClr val="tx1"/>
                </a:solidFill>
              </a:rPr>
              <a:t>pointer, and the old virtual address remains valid.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 call with </a:t>
            </a:r>
            <a:r>
              <a:rPr lang="en-US" sz="2400" dirty="0" err="1">
                <a:solidFill>
                  <a:schemeClr val="tx1"/>
                </a:solidFill>
              </a:rPr>
              <a:t>virtual_address</a:t>
            </a:r>
            <a:r>
              <a:rPr lang="en-US" sz="2400" dirty="0">
                <a:solidFill>
                  <a:schemeClr val="tx1"/>
                </a:solidFill>
              </a:rPr>
              <a:t> = null is equivalent to </a:t>
            </a:r>
            <a:r>
              <a:rPr lang="en-US" sz="2400" dirty="0" err="1">
                <a:solidFill>
                  <a:schemeClr val="tx1"/>
                </a:solidFill>
              </a:rPr>
              <a:t>kmalloc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 call with </a:t>
            </a:r>
            <a:r>
              <a:rPr lang="en-US" sz="2400" dirty="0" err="1">
                <a:solidFill>
                  <a:schemeClr val="tx1"/>
                </a:solidFill>
              </a:rPr>
              <a:t>new_size</a:t>
            </a:r>
            <a:r>
              <a:rPr lang="en-US" sz="2400" dirty="0">
                <a:solidFill>
                  <a:schemeClr val="tx1"/>
                </a:solidFill>
              </a:rPr>
              <a:t> = zero is equivalent to </a:t>
            </a:r>
            <a:r>
              <a:rPr lang="en-US" sz="2400" dirty="0" err="1">
                <a:solidFill>
                  <a:schemeClr val="tx1"/>
                </a:solidFill>
              </a:rPr>
              <a:t>kfree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  <a:p>
            <a:pPr marL="544068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It should work in </a:t>
            </a:r>
            <a:r>
              <a:rPr lang="en-US" sz="2400" b="1" dirty="0">
                <a:solidFill>
                  <a:schemeClr val="tx1"/>
                </a:solidFill>
              </a:rPr>
              <a:t>[</a:t>
            </a:r>
            <a:r>
              <a:rPr lang="en-US" sz="2400" b="1" dirty="0">
                <a:solidFill>
                  <a:srgbClr val="00B050"/>
                </a:solidFill>
              </a:rPr>
              <a:t>BLOCK ALLOCATOR</a:t>
            </a:r>
            <a:r>
              <a:rPr lang="en-US" sz="2400" b="1" dirty="0">
                <a:solidFill>
                  <a:schemeClr val="tx1"/>
                </a:solidFill>
              </a:rPr>
              <a:t>] , [</a:t>
            </a:r>
            <a:r>
              <a:rPr lang="en-US" sz="2400" b="1" dirty="0">
                <a:solidFill>
                  <a:srgbClr val="FF0000"/>
                </a:solidFill>
              </a:rPr>
              <a:t>PAGE ALLOCATOR</a:t>
            </a:r>
            <a:r>
              <a:rPr lang="en-US" sz="2400" b="1" dirty="0">
                <a:solidFill>
                  <a:schemeClr val="tx1"/>
                </a:solidFill>
              </a:rPr>
              <a:t>] </a:t>
            </a:r>
            <a:r>
              <a:rPr lang="en-US" sz="2400" dirty="0">
                <a:solidFill>
                  <a:schemeClr val="tx1"/>
                </a:solidFill>
              </a:rPr>
              <a:t>and </a:t>
            </a:r>
            <a:r>
              <a:rPr lang="en-US" sz="2400" b="1" dirty="0">
                <a:solidFill>
                  <a:schemeClr val="tx1"/>
                </a:solidFill>
              </a:rPr>
              <a:t>CROSS-ALLOCATORS</a:t>
            </a:r>
            <a:endParaRPr lang="ar-E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85048-5A2C-A0EC-8DBD-C1C8A709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DBFD957-FC0A-8C47-CB19-4CE3A0605AC6}"/>
              </a:ext>
            </a:extLst>
          </p:cNvPr>
          <p:cNvSpPr>
            <a:spLocks noChangeAspect="1"/>
          </p:cNvSpPr>
          <p:nvPr/>
        </p:nvSpPr>
        <p:spPr>
          <a:xfrm>
            <a:off x="10373590" y="1216386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251A2A29-56B2-D687-FDE9-4AF2ABDC59EA}"/>
              </a:ext>
            </a:extLst>
          </p:cNvPr>
          <p:cNvSpPr>
            <a:spLocks noChangeAspect="1"/>
          </p:cNvSpPr>
          <p:nvPr/>
        </p:nvSpPr>
        <p:spPr>
          <a:xfrm>
            <a:off x="10911840" y="1216386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15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722120"/>
            <a:ext cx="10115202" cy="4876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2. Freeing RAM when it's Full</a:t>
            </a:r>
          </a:p>
          <a:p>
            <a:pPr lvl="1">
              <a:lnSpc>
                <a:spcPct val="160000"/>
              </a:lnSpc>
            </a:pPr>
            <a:r>
              <a:rPr lang="en-US" sz="2400" dirty="0">
                <a:solidFill>
                  <a:schemeClr val="tx1"/>
                </a:solidFill>
              </a:rPr>
              <a:t>When allocating new frame, if there's no free frame, then you should:</a:t>
            </a:r>
          </a:p>
          <a:p>
            <a:pPr lvl="2">
              <a:lnSpc>
                <a:spcPct val="160000"/>
              </a:lnSpc>
            </a:pPr>
            <a:r>
              <a:rPr lang="en-US" sz="2000" dirty="0">
                <a:solidFill>
                  <a:schemeClr val="tx1"/>
                </a:solidFill>
              </a:rPr>
              <a:t>Free at least 1 frame from </a:t>
            </a:r>
            <a:r>
              <a:rPr lang="en-US" sz="2000" b="1" dirty="0">
                <a:solidFill>
                  <a:schemeClr val="tx1"/>
                </a:solidFill>
              </a:rPr>
              <a:t>EACH</a:t>
            </a:r>
            <a:r>
              <a:rPr lang="en-US" sz="2000" dirty="0">
                <a:solidFill>
                  <a:schemeClr val="tx1"/>
                </a:solidFill>
              </a:rPr>
              <a:t> process:</a:t>
            </a:r>
          </a:p>
          <a:p>
            <a:pPr lvl="3">
              <a:lnSpc>
                <a:spcPct val="160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Case LRU</a:t>
            </a:r>
            <a:r>
              <a:rPr lang="en-US" sz="2000" dirty="0">
                <a:solidFill>
                  <a:schemeClr val="tx1"/>
                </a:solidFill>
              </a:rPr>
              <a:t>: the LRU from second list of user working set</a:t>
            </a:r>
          </a:p>
          <a:p>
            <a:pPr lvl="3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Case FIFO</a:t>
            </a:r>
            <a:r>
              <a:rPr lang="en-US" sz="2000" dirty="0">
                <a:solidFill>
                  <a:schemeClr val="tx1"/>
                </a:solidFill>
              </a:rPr>
              <a:t>: the FIFO from active list of user working set</a:t>
            </a:r>
          </a:p>
          <a:p>
            <a:pPr>
              <a:lnSpc>
                <a:spcPct val="150000"/>
              </a:lnSpc>
            </a:pPr>
            <a:endParaRPr lang="ar-E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4A0145E-3073-4A61-9518-20643E61E64B}"/>
              </a:ext>
            </a:extLst>
          </p:cNvPr>
          <p:cNvSpPr>
            <a:spLocks noChangeAspect="1"/>
          </p:cNvSpPr>
          <p:nvPr/>
        </p:nvSpPr>
        <p:spPr>
          <a:xfrm>
            <a:off x="10373590" y="1216386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4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737360"/>
            <a:ext cx="10353503" cy="512064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800" b="1" dirty="0"/>
              <a:t>3. Free the Entire Process (</a:t>
            </a:r>
            <a:r>
              <a:rPr lang="en-US" sz="2800" b="1" dirty="0" err="1"/>
              <a:t>env_free</a:t>
            </a:r>
            <a:r>
              <a:rPr lang="en-US" sz="2800" b="1" dirty="0"/>
              <a:t>) V.1 </a:t>
            </a:r>
            <a:r>
              <a:rPr lang="en-US" dirty="0"/>
              <a:t>(without public mailbox &amp; shares)</a:t>
            </a:r>
            <a:endParaRPr lang="en-US" sz="2800" dirty="0"/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Local mailbox 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All pages in the page working set(s)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Elements of working set(s)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All page tables in the entire user virtual memory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Directory table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User kernel stack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All pages from page file, this code </a:t>
            </a:r>
            <a:r>
              <a:rPr lang="en-US" sz="2400" b="1" i="1" dirty="0"/>
              <a:t>is already</a:t>
            </a:r>
            <a:r>
              <a:rPr lang="en-US" sz="2400" dirty="0"/>
              <a:t> written for you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F694CD2C-353E-499A-BAD0-E68E5713A8C6}"/>
              </a:ext>
            </a:extLst>
          </p:cNvPr>
          <p:cNvSpPr>
            <a:spLocks noChangeAspect="1"/>
          </p:cNvSpPr>
          <p:nvPr/>
        </p:nvSpPr>
        <p:spPr>
          <a:xfrm>
            <a:off x="10373590" y="1205265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4E01-C8CB-80EE-7D08-0264F31C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0C9E-CEC4-D7FE-0A84-542231E4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29F2-E48D-FE90-DA6D-8FF413767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768532"/>
            <a:ext cx="10353503" cy="497516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800" b="1" dirty="0"/>
              <a:t>4. Free the Entire Process (</a:t>
            </a:r>
            <a:r>
              <a:rPr lang="en-US" sz="2800" b="1" dirty="0" err="1"/>
              <a:t>env_free</a:t>
            </a:r>
            <a:r>
              <a:rPr lang="en-US" sz="2800" b="1" dirty="0"/>
              <a:t>) V.2 </a:t>
            </a:r>
            <a:r>
              <a:rPr lang="en-US" dirty="0"/>
              <a:t>(including public mailbox &amp; shares)</a:t>
            </a:r>
            <a:endParaRPr lang="en-US" sz="2800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Local mailbox</a:t>
            </a:r>
            <a:endParaRPr lang="en-US" sz="2400" dirty="0"/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All pages in the page working set(s)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Elements of working set(s)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/>
              <a:t>ALL shared objects owned by this env (if any)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 dirty="0"/>
              <a:t>ALL mailboxes 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owned by this env </a:t>
            </a:r>
            <a:r>
              <a:rPr lang="en-US" sz="2400" b="1" dirty="0"/>
              <a:t>(if any)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All page tables in the entire user virtual memory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Directory table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User kernel stack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All pages from page file, this code </a:t>
            </a:r>
            <a:r>
              <a:rPr lang="en-US" sz="2400" b="1" i="1" dirty="0"/>
              <a:t>is already</a:t>
            </a:r>
            <a:r>
              <a:rPr lang="en-US" sz="2400" dirty="0"/>
              <a:t> written for you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74AA3-CF7E-4705-41BF-A3A95E07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7A0E5D3-20D2-9D82-F164-5733F8C3BD50}"/>
              </a:ext>
            </a:extLst>
          </p:cNvPr>
          <p:cNvSpPr>
            <a:spLocks noChangeAspect="1"/>
          </p:cNvSpPr>
          <p:nvPr/>
        </p:nvSpPr>
        <p:spPr>
          <a:xfrm>
            <a:off x="10373590" y="1205265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6F0F8F57-3CA6-8D39-28EA-607B11797186}"/>
              </a:ext>
            </a:extLst>
          </p:cNvPr>
          <p:cNvSpPr>
            <a:spLocks noChangeAspect="1"/>
          </p:cNvSpPr>
          <p:nvPr/>
        </p:nvSpPr>
        <p:spPr>
          <a:xfrm>
            <a:off x="10794135" y="1205265"/>
            <a:ext cx="365760" cy="36576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5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C35D-44B1-E1B8-0ABC-09C143A6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4131-5D5E-8BCB-2795-7CF5D296A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115203" cy="4516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5. FOS Enhancement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If you </a:t>
            </a:r>
            <a:r>
              <a:rPr lang="en-US" sz="2400" b="1" dirty="0"/>
              <a:t>discover</a:t>
            </a:r>
            <a:r>
              <a:rPr lang="en-US" sz="2400" dirty="0"/>
              <a:t> any </a:t>
            </a:r>
            <a:r>
              <a:rPr lang="en-US" sz="2400" b="1" dirty="0"/>
              <a:t>issue</a:t>
            </a:r>
            <a:r>
              <a:rPr lang="en-US" sz="2400" dirty="0"/>
              <a:t> in the FOS:</a:t>
            </a:r>
          </a:p>
          <a:p>
            <a:pPr marL="841248" lvl="2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Performance</a:t>
            </a:r>
            <a:r>
              <a:rPr lang="en-US" sz="2000" dirty="0"/>
              <a:t> issue</a:t>
            </a:r>
          </a:p>
          <a:p>
            <a:pPr marL="841248" lvl="2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Security/Protection </a:t>
            </a:r>
            <a:r>
              <a:rPr lang="en-US" sz="2000" dirty="0"/>
              <a:t>issue</a:t>
            </a:r>
          </a:p>
          <a:p>
            <a:pPr marL="841248" lvl="2" indent="-4572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Any other </a:t>
            </a:r>
            <a:r>
              <a:rPr lang="en-US" sz="2000" b="1" dirty="0"/>
              <a:t>design/technical issue </a:t>
            </a:r>
            <a:r>
              <a:rPr lang="en-US" sz="2000" dirty="0"/>
              <a:t>to act as a real 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Try to </a:t>
            </a:r>
            <a:r>
              <a:rPr lang="en-US" sz="2400" b="1" dirty="0"/>
              <a:t>get a solution </a:t>
            </a:r>
            <a:r>
              <a:rPr lang="en-US" sz="2400" dirty="0"/>
              <a:t>for it. (no implementation, just the solution idea)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Fill-up </a:t>
            </a:r>
            <a:r>
              <a:rPr lang="en-US" sz="2400" dirty="0">
                <a:hlinkClick r:id="rId2" action="ppaction://hlinkfile"/>
              </a:rPr>
              <a:t>this document </a:t>
            </a:r>
            <a:r>
              <a:rPr lang="en-US" sz="2400" dirty="0"/>
              <a:t>with TWO main sections: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 The </a:t>
            </a:r>
            <a:r>
              <a:rPr lang="en-US" sz="2000" b="1" dirty="0"/>
              <a:t>issue </a:t>
            </a:r>
            <a:r>
              <a:rPr lang="en-US" sz="2000" dirty="0"/>
              <a:t>explained in a detailed and clear way.</a:t>
            </a:r>
          </a:p>
          <a:p>
            <a:pPr marL="658368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 The </a:t>
            </a:r>
            <a:r>
              <a:rPr lang="en-US" sz="2000" b="1" dirty="0"/>
              <a:t>solution </a:t>
            </a:r>
            <a:r>
              <a:rPr lang="en-US" sz="2000" dirty="0"/>
              <a:t>explained in a detailed and clear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BA300-C8B2-6FDA-C566-651634CF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2FA801-C8ED-7D2A-4536-401C5D3C64B1}"/>
              </a:ext>
            </a:extLst>
          </p:cNvPr>
          <p:cNvSpPr/>
          <p:nvPr/>
        </p:nvSpPr>
        <p:spPr>
          <a:xfrm>
            <a:off x="7609840" y="4897120"/>
            <a:ext cx="3602643" cy="14647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DELIVERY</a:t>
            </a:r>
            <a:r>
              <a:rPr lang="en-US" sz="2400" b="1" dirty="0"/>
              <a:t>: Discuss it with the Lecturer in online session </a:t>
            </a:r>
            <a:r>
              <a:rPr lang="en-US" sz="2400" b="1" dirty="0" err="1"/>
              <a:t>isA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38383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" name="Picture 3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5FEF4674-520E-D87B-A2F9-83B866EEB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832" y="0"/>
            <a:ext cx="976168" cy="9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41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b="1" dirty="0"/>
              <a:t>System Hibernate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Add a command to hibernate the system by: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Saving</a:t>
            </a:r>
            <a:r>
              <a:rPr lang="en-US" sz="2400" dirty="0"/>
              <a:t> the status of:</a:t>
            </a:r>
          </a:p>
          <a:p>
            <a:pPr lvl="6">
              <a:lnSpc>
                <a:spcPct val="100000"/>
              </a:lnSpc>
            </a:pPr>
            <a:r>
              <a:rPr lang="en-US" sz="2400" dirty="0"/>
              <a:t>Main memory</a:t>
            </a:r>
          </a:p>
          <a:p>
            <a:pPr lvl="6">
              <a:lnSpc>
                <a:spcPct val="100000"/>
              </a:lnSpc>
            </a:pPr>
            <a:r>
              <a:rPr lang="en-US" sz="2400" dirty="0"/>
              <a:t>Page file</a:t>
            </a:r>
          </a:p>
          <a:p>
            <a:pPr lvl="6">
              <a:lnSpc>
                <a:spcPct val="100000"/>
              </a:lnSpc>
            </a:pPr>
            <a:r>
              <a:rPr lang="en-US" sz="2400" dirty="0"/>
              <a:t>Kernel data structures (Env’s, Shares, Mailboxes...)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Close</a:t>
            </a:r>
            <a:r>
              <a:rPr lang="en-US" sz="2400" dirty="0"/>
              <a:t> the system</a:t>
            </a:r>
          </a:p>
          <a:p>
            <a:pPr marL="57150" indent="0">
              <a:lnSpc>
                <a:spcPct val="100000"/>
              </a:lnSpc>
              <a:buNone/>
            </a:pPr>
            <a:r>
              <a:rPr lang="en-US" sz="2400" dirty="0"/>
              <a:t>When opened again, without recompilation, the system is restored.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2226425" y="405245"/>
            <a:ext cx="7739149" cy="27984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 eaLnBrk="0" hangingPunct="0"/>
            <a:r>
              <a:rPr lang="en-US" sz="4400" b="1" dirty="0">
                <a:solidFill>
                  <a:schemeClr val="tx2"/>
                </a:solidFill>
              </a:rPr>
              <a:t>THE END</a:t>
            </a:r>
          </a:p>
          <a:p>
            <a:pPr algn="ctr" eaLnBrk="0" hangingPunct="0">
              <a:lnSpc>
                <a:spcPct val="200000"/>
              </a:lnSpc>
            </a:pPr>
            <a:endParaRPr lang="en-US" sz="1400" dirty="0">
              <a:solidFill>
                <a:schemeClr val="tx2"/>
              </a:solidFill>
            </a:endParaRPr>
          </a:p>
          <a:p>
            <a:pPr algn="ctr" eaLnBrk="0" hangingPunct="0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 </a:t>
            </a:r>
            <a:r>
              <a:rPr lang="en-US" sz="2800" dirty="0">
                <a:solidFill>
                  <a:schemeClr val="tx2"/>
                </a:solidFill>
              </a:rPr>
              <a:t>Enjoy </a:t>
            </a:r>
            <a:r>
              <a:rPr lang="en-US" sz="2800" b="1" dirty="0">
                <a:solidFill>
                  <a:schemeClr val="tx2"/>
                </a:solidFill>
              </a:rPr>
              <a:t>developing </a:t>
            </a:r>
            <a:r>
              <a:rPr lang="en-US" sz="2800" dirty="0">
                <a:solidFill>
                  <a:schemeClr val="tx2"/>
                </a:solidFill>
              </a:rPr>
              <a:t>your </a:t>
            </a:r>
            <a:r>
              <a:rPr lang="en-US" sz="2800" b="1" dirty="0">
                <a:solidFill>
                  <a:srgbClr val="FF0000"/>
                </a:solidFill>
              </a:rPr>
              <a:t>own OS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8915" name="Picture 7" descr="girl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429000"/>
            <a:ext cx="2317750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338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A75FAA3A6A85498CEA72B235095206" ma:contentTypeVersion="3" ma:contentTypeDescription="Create a new document." ma:contentTypeScope="" ma:versionID="72a44a82d73191e9c43e3c60289de1c3">
  <xsd:schema xmlns:xsd="http://www.w3.org/2001/XMLSchema" xmlns:xs="http://www.w3.org/2001/XMLSchema" xmlns:p="http://schemas.microsoft.com/office/2006/metadata/properties" xmlns:ns2="447c295b-992c-42e3-9042-79d4fdce0b45" targetNamespace="http://schemas.microsoft.com/office/2006/metadata/properties" ma:root="true" ma:fieldsID="0e740011ee714eba83319f1c05a554b2" ns2:_="">
    <xsd:import namespace="447c295b-992c-42e3-9042-79d4fdce0b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295b-992c-42e3-9042-79d4fdce0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F21669-0093-471A-BE23-4C07FE254EB4}"/>
</file>

<file path=customXml/itemProps2.xml><?xml version="1.0" encoding="utf-8"?>
<ds:datastoreItem xmlns:ds="http://schemas.openxmlformats.org/officeDocument/2006/customXml" ds:itemID="{7ED18601-2888-4A0A-A4E5-ED239D5EDBCD}"/>
</file>

<file path=customXml/itemProps3.xml><?xml version="1.0" encoding="utf-8"?>
<ds:datastoreItem xmlns:ds="http://schemas.openxmlformats.org/officeDocument/2006/customXml" ds:itemID="{0CC37147-1E2D-4E40-AF2C-4EF1E2632D95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16631</TotalTime>
  <Words>2104</Words>
  <Application>Microsoft Office PowerPoint</Application>
  <PresentationFormat>Widescreen</PresentationFormat>
  <Paragraphs>283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Cambria</vt:lpstr>
      <vt:lpstr>Courier New</vt:lpstr>
      <vt:lpstr>Wingdings</vt:lpstr>
      <vt:lpstr>Retrospect</vt:lpstr>
      <vt:lpstr>OS’26-27 Project </vt:lpstr>
      <vt:lpstr>Agenda</vt:lpstr>
      <vt:lpstr>Agenda</vt:lpstr>
      <vt:lpstr>Project Overview</vt:lpstr>
      <vt:lpstr>Overall Testing</vt:lpstr>
      <vt:lpstr>Objective</vt:lpstr>
      <vt:lpstr>Project ENTIRE Tests: Intro</vt:lpstr>
      <vt:lpstr>Project ENTIRE Tests: Programs</vt:lpstr>
      <vt:lpstr>Project ENTIRE Tests: Programs</vt:lpstr>
      <vt:lpstr>Project ENTIRE Tests: Programs</vt:lpstr>
      <vt:lpstr>Project ENTIRE Tests: Programs</vt:lpstr>
      <vt:lpstr>Project ENTIRE Tests: Scenarios</vt:lpstr>
      <vt:lpstr>Project ENTIRE Tests: Scenarios</vt:lpstr>
      <vt:lpstr>Project ENTIRE Tests: Scenarios</vt:lpstr>
      <vt:lpstr>Project ENTIRE Tests: Scenarios</vt:lpstr>
      <vt:lpstr>Project ENTIRE Tests: Scenarios</vt:lpstr>
      <vt:lpstr>Project ENTIRE Tests: Scenarios</vt:lpstr>
      <vt:lpstr>Bonuses</vt:lpstr>
      <vt:lpstr>Bonuses</vt:lpstr>
      <vt:lpstr>Bonuses</vt:lpstr>
      <vt:lpstr>Bonuses</vt:lpstr>
      <vt:lpstr>Bonuses</vt:lpstr>
      <vt:lpstr>Bonuses</vt:lpstr>
      <vt:lpstr>CHALLENGES</vt:lpstr>
      <vt:lpstr>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OS’22 Project</dc:title>
  <dc:creator>ghada hamed ali</dc:creator>
  <cp:lastModifiedBy>Ahmed Salah ELDin</cp:lastModifiedBy>
  <cp:revision>925</cp:revision>
  <dcterms:created xsi:type="dcterms:W3CDTF">2022-10-12T14:36:57Z</dcterms:created>
  <dcterms:modified xsi:type="dcterms:W3CDTF">2026-10-16T23:50:35Z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0x010100E7A75FAA3A6A85498CEA72B235095206</vt:lpwstr>
  </property>
</Properties>
</file>